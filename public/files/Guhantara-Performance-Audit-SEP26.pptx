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324"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325" r:id="rId45"/>
    <p:sldId id="298" r:id="rId46"/>
    <p:sldId id="299" r:id="rId47"/>
    <p:sldId id="300" r:id="rId48"/>
    <p:sldId id="301" r:id="rId49"/>
    <p:sldId id="302" r:id="rId50"/>
    <p:sldId id="303" r:id="rId51"/>
    <p:sldId id="326"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27" r:id="rId68"/>
    <p:sldId id="328" r:id="rId69"/>
    <p:sldId id="319" r:id="rId70"/>
    <p:sldId id="320" r:id="rId71"/>
    <p:sldId id="321" r:id="rId72"/>
    <p:sldId id="322" r:id="rId73"/>
    <p:sldId id="323" r:id="rId7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5" d="100"/>
          <a:sy n="85" d="100"/>
        </p:scale>
        <p:origin x="56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276687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the number, not the pleasantries. The whole deck is built to answer one question: what did the spend buy? The honest answer is that nobody can currently say, and that is the finding worth paying to fix.</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Establish standing before making claims. The last card is the pivot: the biggest thing we could not audit is the thing they most need built.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the room should remember. Say it once, pause, move on. Do not soften it: they already suspect it, which is why we were asked for this audit.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to fifteen seconds. Its job is to tell the room that the audit covers everything, including the parts agencies usually skip.</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money, then take away the certainty. The "zero" card is deliberately blunt: it is not an accusation about performance, it is a statement about instrumentation.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complaints are consistent and they are all one complaint: too many people on peak days. Overcrowding, hygiene slipping, buffet queues, prices that feel high for what arrives. The praise is equally consistent: food variety, staff, rain dance, tunnel trek.</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reframes reviews as a marketing cost. It also sets up the later argument that fixing peak-day capacity is part of the brief, not somebody else's job.</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cave is not a 13% better lawn. That line is worth saying out loud here.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distance between where the marketing sits and where the architecture belongs is the entire argument for the rebrand.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space on the property carries a Sanskrit name with a meaning, and none of it appears anywhere in the advertising. A 700-seat underground amphitheatre is a cultural venue being treated as a games facility.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the account caveat here: Guhantara does not have its own ad account. Three resorts are advertised from one account, filtered by campaign name. That alone limits what Meta can learn.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let this be heard as "your agency wasted half the money". Say it precisely: half the spend ran through periods where the account was not set up to record an outcome, so nobody can say whether it worked. The honest version is more damning and more fixable.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pattern is not gradual decline. It is on-and-off tracking. Point at the run of rust bars in mid-2026 and note that spend was heavy in exactly those months.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January 2026 is the proof that the media can work: 242 leads at 236 rupees. Use it as the benchmark we intend to return to, not as a stick.</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commercially significant number in the Meta audit. It is also the cheapest to fix, and the fix is mostly on the website, not in the ad account.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 short and let the number sit. If anyone in the room defends the current setup, this is the number that ends the argument without anyone needing to be blamed.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careful to present the +631 as what the historical numbers imply, not a promise. Efficiency usually degrades as you scale a segment.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18-24 deserves a separate treatment rather than a cut: they are the audience that films and shares, which is worth something the lead count does not capture. Say that, then say it should be funded as reach, not as lead generation.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Instagram's OBC to LPV is 25.90% against Facebook's 35.22%, so Instagram is winning despite a worse landing rate. Fix the landing page and Instagram gets better still.</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easiest win in the deck and it can be actioned the same afternoon. Do not oversell it; it is worth less than the OBC fix.</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 also has the best landing rate of the group at 35.87%, so it is not failing at everything. It is simply the most expensive way this account buys a lead.</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Flagging the small sample size ourselves is what makes the rest of the deck credible. We are not cherry-picking a winner, we are pointing at an untested one.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shared-ad-account point came from the client's own team. It explains a lot of the volatility and it is a prerequisite, not a nice-to-have.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the Meta section by deliberately deflating it. The room should leave this slide understanding that media optimisation is the cheap part.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on the last card. Nobody acquires a 1,499-rupee booking for 60 rupees. The moment you say that, the room understands the rest of the section.</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precise about what we know and do not know. We have not seen the conversion action definitions. What we have is four pieces of evidence from the output that make the current definitions indefensible.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Demand Gen is almost certainly firing a different, looser conversion action than Search. Until that is unpicked, blended account reporting is meaningless.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client has been reported to on blended Google conversions, every number they have been shown since March is distorted by this one month.</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hinge of the deck. Two independent platforms breaking the same way points downstream, to the shared website and measurement layer.</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reliable values there is no return-on-ad-spend figure for Google, and any that has been reported was built on this.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Rising cost per conversion plus falling volume plus a very high top-of-page share is the classic signature of an account leaning on a narrow set of terms.</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Label this honestly. Overclaiming here would undermine the four proofs that came before it, which are solid.</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Setting the expectation that conversions will crash is essential. If we do not say it now, the first clean month looks like a disaster.</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argument the whole audit has been building toward. Slow down here.</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Resolve to one pixel, one dataset, one set of standard events. Do it before any structural media change, or the before-and-after comparison is worthless.</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is drawn as a ghost on purpose. It is the only step that produces revenue, and it is the only one the business cannot see.</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not verified the embed is possible on their plan. Present it as the preferred route with a named fallback, not as a settled fact.</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it once, clockwise. Then point out that the only missing pieces are a CRM, an embedded booking flow and a server-side event.</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aggregator point is the commercial argument that lands with an owner, more than any marketing argument on this slide.</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Deliberately refusing to quote an industry qualified-lead benchmark is the honest move. Anyone can find a number online; nobody can find one for an underground cave resort in Bangalore.</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Sourcing the prices to a third party and saying to verify them is deliberate. It stops a pricing challenge in the room from undermining the recommendation.</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named owner is the make-or-break condition. Ask for the name in the room.</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Showing that half the week-one list is the client's own responsibility builds trust. It also protects us if those items slip.</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section that separates a media audit from a growth audit. Most agencies stop at the ad account.</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client takes one action from this presentation, it is this one. It costs nothing and it is losing money every day it runs.</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44% figure is why retargeting and a content library matter more than a single burst campaign for the stay product.</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measured. The point is not that the logo is ugly, it is that it is not doing any work.</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rate in the engine also does not compute: Lithic with all meals shows 11,800 struck through and 8,400 after a 20% discount, which would be 9,440. Likely a mis-keyed rate; worth flagging to the client separately.</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client directly whether the "people looking" counts are live. It is a small thing that can undo a premium repositioning.</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pages is the minimum. The corporate page is the one that pays for the weekday strategy.</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content order, not a layout. Make that clear so nobody reviews it as a design.</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client asked specifically for landing page testing. This slide answers that ask directly and gives them a running order.</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clearly that we have not seen the creative-level data. We are working from the client's observation and the cost-per-lead trend, which is enough to recommend a cadence but not to grade individual assets.</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card connects creative back to the review problem. Reach is solvable with content; conversion is not, while the rating sits at 3.7.</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corporate observation came from the client. The age data supports it. Together they are the strongest positive story in the deck: something here already works and has never been funded properly.</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this clearly as a hypothesis from review language. It is persuasive and it is not yet proven.</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bridge from audit to brand work. It absolves the individuals and indicts the strategy, which is how you keep a room on side.</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the decision in the room. Everything downstream is blocked on it.</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client raised weekday fill as one of their four asks. Answer it head-on and do not hedge: the discount approach has been tried and has not worked.</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Label these as hypotheses. They are reasoned from the property's assets and the age data, not measured.</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the loop again on measurement. By now the room should be expecting it.</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oversell the similarity. The transferable thing is the acquisition system, not the product.</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Placeholders: we still need the Supperclub timeframe, total spend, cost per sign-up at start and end, channel split, best-performing audience, and what failed. Fill these before this deck goes to the client.</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Refusing to promise a percentage is the most credible thing in this deck. Say it plainly and do not let anyone talk you into a figure in the room.</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Getting agreement on this slide before signing protects the relationship at the first review.</a:t>
            </a: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Naming what is out of scope, especially the rating, is what stops us being held responsible for something we cannot control.</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hard for the founder interview. It is the cheapest and most defensible brand asset available.</a:t>
            </a:r>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the asset, not the faults. The room should leave feeling that they own something rare and have been underselling it, which is a far better place to start a relationship than feeling audited.</a:t>
            </a:r>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hyperlink" Target="https://www.cghearth.com/" TargetMode="External"/><Relationship Id="rId2" Type="http://schemas.openxmlformats.org/officeDocument/2006/relationships/hyperlink" Target="https://aldovia.in/" TargetMode="External"/><Relationship Id="rId1" Type="http://schemas.openxmlformats.org/officeDocument/2006/relationships/slideLayout" Target="../slideLayouts/slideLayout1.xml"/><Relationship Id="rId4" Type="http://schemas.openxmlformats.org/officeDocument/2006/relationships/hyperlink" Target="https://www.discoveryvillage.in/" TargetMode="Externa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140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200" dirty="0">
                <a:solidFill>
                  <a:srgbClr val="C9A63C"/>
                </a:solidFill>
                <a:latin typeface="Arial" pitchFamily="34" charset="0"/>
                <a:ea typeface="Arial" pitchFamily="34" charset="-122"/>
                <a:cs typeface="Arial" pitchFamily="34" charset="-120"/>
              </a:rPr>
              <a:t>ALTTRED NEXXUS  ×  GUHANTARA</a:t>
            </a:r>
            <a:endParaRPr lang="en-US" sz="1200" dirty="0"/>
          </a:p>
        </p:txBody>
      </p:sp>
      <p:sp>
        <p:nvSpPr>
          <p:cNvPr id="3" name="Text 1"/>
          <p:cNvSpPr/>
          <p:nvPr/>
        </p:nvSpPr>
        <p:spPr>
          <a:xfrm>
            <a:off x="812800" y="1934210"/>
            <a:ext cx="10883392" cy="2057400"/>
          </a:xfrm>
          <a:prstGeom prst="rect">
            <a:avLst/>
          </a:prstGeom>
          <a:noFill/>
          <a:ln/>
        </p:spPr>
        <p:txBody>
          <a:bodyPr wrap="square" lIns="0" tIns="0" rIns="0" bIns="0" rtlCol="0" anchor="t">
            <a:normAutofit/>
          </a:bodyPr>
          <a:lstStyle/>
          <a:p>
            <a:pPr marL="0" indent="0" algn="l">
              <a:lnSpc>
                <a:spcPts val="8000"/>
              </a:lnSpc>
              <a:buNone/>
            </a:pPr>
            <a:r>
              <a:rPr lang="en-US" sz="8000" dirty="0">
                <a:solidFill>
                  <a:srgbClr val="F7F3EA"/>
                </a:solidFill>
                <a:latin typeface="Georgia" pitchFamily="34" charset="0"/>
                <a:ea typeface="Georgia" pitchFamily="34" charset="-122"/>
                <a:cs typeface="Georgia" pitchFamily="34" charset="-120"/>
              </a:rPr>
              <a:t>The account,</a:t>
            </a:r>
            <a:endParaRPr lang="en-US" sz="8000" dirty="0"/>
          </a:p>
          <a:p>
            <a:pPr marL="0" indent="0" algn="l">
              <a:lnSpc>
                <a:spcPts val="8000"/>
              </a:lnSpc>
              <a:buNone/>
            </a:pPr>
            <a:r>
              <a:rPr lang="en-US" sz="8000" dirty="0">
                <a:solidFill>
                  <a:srgbClr val="F7F3EA"/>
                </a:solidFill>
                <a:latin typeface="Georgia" pitchFamily="34" charset="0"/>
                <a:ea typeface="Georgia" pitchFamily="34" charset="-122"/>
                <a:cs typeface="Georgia" pitchFamily="34" charset="-120"/>
              </a:rPr>
              <a:t>opened up</a:t>
            </a:r>
            <a:endParaRPr lang="en-US" sz="8000" dirty="0"/>
          </a:p>
        </p:txBody>
      </p:sp>
      <p:sp>
        <p:nvSpPr>
          <p:cNvPr id="4" name="Text 2"/>
          <p:cNvSpPr/>
          <p:nvPr/>
        </p:nvSpPr>
        <p:spPr>
          <a:xfrm>
            <a:off x="812800" y="4169410"/>
            <a:ext cx="8502650" cy="779780"/>
          </a:xfrm>
          <a:prstGeom prst="rect">
            <a:avLst/>
          </a:prstGeom>
          <a:noFill/>
          <a:ln/>
        </p:spPr>
        <p:txBody>
          <a:bodyPr wrap="square" lIns="0" tIns="0" rIns="0" bIns="0" rtlCol="0" anchor="t">
            <a:normAutofit/>
          </a:bodyPr>
          <a:lstStyle/>
          <a:p>
            <a:pPr marL="0" indent="0" algn="l">
              <a:lnSpc>
                <a:spcPts val="2970"/>
              </a:lnSpc>
              <a:buNone/>
            </a:pPr>
            <a:r>
              <a:rPr lang="en-US" sz="2200" dirty="0">
                <a:solidFill>
                  <a:srgbClr val="A79C89"/>
                </a:solidFill>
                <a:latin typeface="Arial" pitchFamily="34" charset="0"/>
                <a:ea typeface="Arial" pitchFamily="34" charset="-122"/>
                <a:cs typeface="Arial" pitchFamily="34" charset="-120"/>
              </a:rPr>
              <a:t>A full audit of the brand, the website, the Meta account and the Google account — and what ₹45.65 lakh actually bought.</a:t>
            </a:r>
            <a:endParaRPr lang="en-US" sz="2200" dirty="0"/>
          </a:p>
        </p:txBody>
      </p:sp>
      <p:sp>
        <p:nvSpPr>
          <p:cNvPr id="5" name="Text 3"/>
          <p:cNvSpPr/>
          <p:nvPr/>
        </p:nvSpPr>
        <p:spPr>
          <a:xfrm>
            <a:off x="812800" y="5831840"/>
            <a:ext cx="263557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79C89"/>
                </a:solidFill>
                <a:latin typeface="Arial" pitchFamily="34" charset="0"/>
                <a:ea typeface="Arial" pitchFamily="34" charset="-122"/>
                <a:cs typeface="Arial" pitchFamily="34" charset="-120"/>
              </a:rPr>
              <a:t>1 January 2025 – 29 September 2026</a:t>
            </a:r>
            <a:endParaRPr lang="en-US" sz="1200" dirty="0"/>
          </a:p>
        </p:txBody>
      </p:sp>
      <p:sp>
        <p:nvSpPr>
          <p:cNvPr id="6" name="Text 4"/>
          <p:cNvSpPr/>
          <p:nvPr/>
        </p:nvSpPr>
        <p:spPr>
          <a:xfrm>
            <a:off x="9371171" y="5831840"/>
            <a:ext cx="206827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79C89"/>
                </a:solidFill>
                <a:latin typeface="Arial" pitchFamily="34" charset="0"/>
                <a:ea typeface="Arial" pitchFamily="34" charset="-122"/>
                <a:cs typeface="Arial" pitchFamily="34" charset="-120"/>
              </a:rPr>
              <a:t>Prepared 29 September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3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665480"/>
          </a:xfrm>
          <a:prstGeom prst="rect">
            <a:avLst/>
          </a:prstGeom>
          <a:noFill/>
          <a:ln/>
        </p:spPr>
        <p:txBody>
          <a:bodyPr wrap="square" lIns="0" tIns="0" rIns="0" bIns="0" rtlCol="0" anchor="t">
            <a:normAutofit/>
          </a:bodyPr>
          <a:lstStyle/>
          <a:p>
            <a:pPr marL="0" indent="0" algn="l">
              <a:lnSpc>
                <a:spcPts val="5040"/>
              </a:lnSpc>
              <a:buNone/>
            </a:pPr>
            <a:r>
              <a:rPr lang="en-US" sz="4800" dirty="0">
                <a:solidFill>
                  <a:srgbClr val="17140F"/>
                </a:solidFill>
                <a:latin typeface="Georgia" pitchFamily="34" charset="0"/>
                <a:ea typeface="Georgia" pitchFamily="34" charset="-122"/>
                <a:cs typeface="Georgia" pitchFamily="34" charset="-120"/>
              </a:rPr>
              <a:t>What we looked at</a:t>
            </a:r>
            <a:endParaRPr lang="en-US" sz="4800" dirty="0"/>
          </a:p>
        </p:txBody>
      </p:sp>
      <p:sp>
        <p:nvSpPr>
          <p:cNvPr id="3" name="Shape 1"/>
          <p:cNvSpPr/>
          <p:nvPr/>
        </p:nvSpPr>
        <p:spPr>
          <a:xfrm>
            <a:off x="815975" y="1811655"/>
            <a:ext cx="5149850" cy="1668780"/>
          </a:xfrm>
          <a:prstGeom prst="roundRect">
            <a:avLst>
              <a:gd name="adj" fmla="val 5898"/>
            </a:avLst>
          </a:prstGeom>
          <a:solidFill>
            <a:srgbClr val="FFFFFF"/>
          </a:solidFill>
          <a:ln w="6350">
            <a:solidFill>
              <a:srgbClr val="DDD5C5"/>
            </a:solidFill>
            <a:prstDash val="solid"/>
          </a:ln>
        </p:spPr>
      </p:sp>
      <p:sp>
        <p:nvSpPr>
          <p:cNvPr id="4" name="Text 2"/>
          <p:cNvSpPr/>
          <p:nvPr/>
        </p:nvSpPr>
        <p:spPr>
          <a:xfrm>
            <a:off x="1097280" y="2092960"/>
            <a:ext cx="4724857"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B54A28"/>
                </a:solidFill>
                <a:latin typeface="Arial" pitchFamily="34" charset="0"/>
                <a:ea typeface="Arial" pitchFamily="34" charset="-122"/>
                <a:cs typeface="Arial" pitchFamily="34" charset="-120"/>
              </a:rPr>
              <a:t>The accounts</a:t>
            </a:r>
            <a:endParaRPr lang="en-US" sz="1600" dirty="0"/>
          </a:p>
        </p:txBody>
      </p:sp>
      <p:sp>
        <p:nvSpPr>
          <p:cNvPr id="5" name="Text 3"/>
          <p:cNvSpPr/>
          <p:nvPr/>
        </p:nvSpPr>
        <p:spPr>
          <a:xfrm>
            <a:off x="1097280" y="2425700"/>
            <a:ext cx="4724857" cy="798830"/>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5C5344"/>
                </a:solidFill>
                <a:latin typeface="Arial" pitchFamily="34" charset="0"/>
                <a:ea typeface="Arial" pitchFamily="34" charset="-122"/>
                <a:cs typeface="Arial" pitchFamily="34" charset="-120"/>
              </a:rPr>
              <a:t>21 months of Meta, broken out by month, age, gender, platform and placement. 19 months of Google, by month and by campaign type. Same window for both.</a:t>
            </a:r>
            <a:endParaRPr lang="en-US" sz="1400" dirty="0"/>
          </a:p>
        </p:txBody>
      </p:sp>
      <p:sp>
        <p:nvSpPr>
          <p:cNvPr id="6" name="Shape 4"/>
          <p:cNvSpPr/>
          <p:nvPr/>
        </p:nvSpPr>
        <p:spPr>
          <a:xfrm>
            <a:off x="6226175" y="1811655"/>
            <a:ext cx="5149850" cy="1668780"/>
          </a:xfrm>
          <a:prstGeom prst="roundRect">
            <a:avLst>
              <a:gd name="adj" fmla="val 5898"/>
            </a:avLst>
          </a:prstGeom>
          <a:solidFill>
            <a:srgbClr val="FFFFFF"/>
          </a:solidFill>
          <a:ln w="6350">
            <a:solidFill>
              <a:srgbClr val="DDD5C5"/>
            </a:solidFill>
            <a:prstDash val="solid"/>
          </a:ln>
        </p:spPr>
      </p:sp>
      <p:sp>
        <p:nvSpPr>
          <p:cNvPr id="7" name="Text 5"/>
          <p:cNvSpPr/>
          <p:nvPr/>
        </p:nvSpPr>
        <p:spPr>
          <a:xfrm>
            <a:off x="6507480" y="2092960"/>
            <a:ext cx="4724857"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B54A28"/>
                </a:solidFill>
                <a:latin typeface="Arial" pitchFamily="34" charset="0"/>
                <a:ea typeface="Arial" pitchFamily="34" charset="-122"/>
                <a:cs typeface="Arial" pitchFamily="34" charset="-120"/>
              </a:rPr>
              <a:t>The property</a:t>
            </a:r>
            <a:endParaRPr lang="en-US" sz="1600" dirty="0"/>
          </a:p>
        </p:txBody>
      </p:sp>
      <p:sp>
        <p:nvSpPr>
          <p:cNvPr id="8" name="Text 6"/>
          <p:cNvSpPr/>
          <p:nvPr/>
        </p:nvSpPr>
        <p:spPr>
          <a:xfrm>
            <a:off x="6507480" y="2425700"/>
            <a:ext cx="4724857" cy="798830"/>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5C5344"/>
                </a:solidFill>
                <a:latin typeface="Arial" pitchFamily="34" charset="0"/>
                <a:ea typeface="Arial" pitchFamily="34" charset="-122"/>
                <a:cs typeface="Arial" pitchFamily="34" charset="-120"/>
              </a:rPr>
              <a:t>The website, the booking engine, live room rates, 21,392 Google reviews, 317 TripAdvisor reviews and the twenty competing resorts on Kanakapura Road.</a:t>
            </a:r>
            <a:endParaRPr lang="en-US" sz="1400" dirty="0"/>
          </a:p>
        </p:txBody>
      </p:sp>
      <p:sp>
        <p:nvSpPr>
          <p:cNvPr id="9" name="Shape 7"/>
          <p:cNvSpPr/>
          <p:nvPr/>
        </p:nvSpPr>
        <p:spPr>
          <a:xfrm>
            <a:off x="815975" y="3740785"/>
            <a:ext cx="5149850" cy="1668780"/>
          </a:xfrm>
          <a:prstGeom prst="roundRect">
            <a:avLst>
              <a:gd name="adj" fmla="val 5898"/>
            </a:avLst>
          </a:prstGeom>
          <a:solidFill>
            <a:srgbClr val="FFFFFF"/>
          </a:solidFill>
          <a:ln w="6350">
            <a:solidFill>
              <a:srgbClr val="DDD5C5"/>
            </a:solidFill>
            <a:prstDash val="solid"/>
          </a:ln>
        </p:spPr>
      </p:sp>
      <p:sp>
        <p:nvSpPr>
          <p:cNvPr id="10" name="Text 8"/>
          <p:cNvSpPr/>
          <p:nvPr/>
        </p:nvSpPr>
        <p:spPr>
          <a:xfrm>
            <a:off x="1097280" y="4022090"/>
            <a:ext cx="4724857"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B54A28"/>
                </a:solidFill>
                <a:latin typeface="Arial" pitchFamily="34" charset="0"/>
                <a:ea typeface="Arial" pitchFamily="34" charset="-122"/>
                <a:cs typeface="Arial" pitchFamily="34" charset="-120"/>
              </a:rPr>
              <a:t>The category</a:t>
            </a:r>
            <a:endParaRPr lang="en-US" sz="1600" dirty="0"/>
          </a:p>
        </p:txBody>
      </p:sp>
      <p:sp>
        <p:nvSpPr>
          <p:cNvPr id="11" name="Text 9"/>
          <p:cNvSpPr/>
          <p:nvPr/>
        </p:nvSpPr>
        <p:spPr>
          <a:xfrm>
            <a:off x="1097280" y="4354830"/>
            <a:ext cx="4724857" cy="798830"/>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5C5344"/>
                </a:solidFill>
                <a:latin typeface="Arial" pitchFamily="34" charset="0"/>
                <a:ea typeface="Arial" pitchFamily="34" charset="-122"/>
                <a:cs typeface="Arial" pitchFamily="34" charset="-120"/>
              </a:rPr>
              <a:t>Hospitality social benchmarks for 2025–26, Indian travel discovery research, and how the properties that command a premium are positioned.</a:t>
            </a:r>
            <a:endParaRPr lang="en-US" sz="1400" dirty="0"/>
          </a:p>
        </p:txBody>
      </p:sp>
      <p:sp>
        <p:nvSpPr>
          <p:cNvPr id="12" name="Shape 10"/>
          <p:cNvSpPr/>
          <p:nvPr/>
        </p:nvSpPr>
        <p:spPr>
          <a:xfrm>
            <a:off x="6226175" y="3740785"/>
            <a:ext cx="5149850" cy="1668780"/>
          </a:xfrm>
          <a:prstGeom prst="roundRect">
            <a:avLst>
              <a:gd name="adj" fmla="val 5898"/>
            </a:avLst>
          </a:prstGeom>
          <a:solidFill>
            <a:srgbClr val="FFFFFF"/>
          </a:solidFill>
          <a:ln w="6350">
            <a:solidFill>
              <a:srgbClr val="DDD5C5"/>
            </a:solidFill>
            <a:prstDash val="solid"/>
          </a:ln>
        </p:spPr>
      </p:sp>
      <p:sp>
        <p:nvSpPr>
          <p:cNvPr id="13" name="Text 11"/>
          <p:cNvSpPr/>
          <p:nvPr/>
        </p:nvSpPr>
        <p:spPr>
          <a:xfrm>
            <a:off x="6507480" y="4022090"/>
            <a:ext cx="4724857"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B54A28"/>
                </a:solidFill>
                <a:latin typeface="Arial" pitchFamily="34" charset="0"/>
                <a:ea typeface="Arial" pitchFamily="34" charset="-122"/>
                <a:cs typeface="Arial" pitchFamily="34" charset="-120"/>
              </a:rPr>
              <a:t>What we could not see</a:t>
            </a:r>
            <a:endParaRPr lang="en-US" sz="1600" dirty="0"/>
          </a:p>
        </p:txBody>
      </p:sp>
      <p:sp>
        <p:nvSpPr>
          <p:cNvPr id="14" name="Text 12"/>
          <p:cNvSpPr/>
          <p:nvPr/>
        </p:nvSpPr>
        <p:spPr>
          <a:xfrm>
            <a:off x="6507480" y="4354830"/>
            <a:ext cx="4724857" cy="798830"/>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5C5344"/>
                </a:solidFill>
                <a:latin typeface="Arial" pitchFamily="34" charset="0"/>
                <a:ea typeface="Arial" pitchFamily="34" charset="-122"/>
                <a:cs typeface="Arial" pitchFamily="34" charset="-120"/>
              </a:rPr>
              <a:t>Any CRM, because there is none. Any booking data, because none is captured. Which is the finding, not a gap in the audit.</a:t>
            </a:r>
            <a:endParaRPr lang="en-US" sz="1400" dirty="0"/>
          </a:p>
        </p:txBody>
      </p:sp>
      <p:sp>
        <p:nvSpPr>
          <p:cNvPr id="15" name="Text 13"/>
          <p:cNvSpPr/>
          <p:nvPr/>
        </p:nvSpPr>
        <p:spPr>
          <a:xfrm>
            <a:off x="812800" y="6238241"/>
            <a:ext cx="616352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071"/>
                </a:solidFill>
                <a:latin typeface="Arial" pitchFamily="34" charset="0"/>
                <a:ea typeface="Arial" pitchFamily="34" charset="-122"/>
                <a:cs typeface="Arial" pitchFamily="34" charset="-120"/>
              </a:rPr>
              <a:t>Every figure in this deck comes from the client's own accounts or a named public source.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C9A63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5349"/>
          </a:xfrm>
          <a:prstGeom prst="rect">
            <a:avLst/>
          </a:prstGeom>
          <a:noFill/>
          <a:ln/>
        </p:spPr>
        <p:txBody>
          <a:bodyPr wrap="square" lIns="0" tIns="0" rIns="0" bIns="0" rtlCol="0" anchor="t">
            <a:normAutofit/>
          </a:bodyPr>
          <a:lstStyle/>
          <a:p>
            <a:pPr marL="0" indent="0" algn="l">
              <a:lnSpc>
                <a:spcPts val="1819"/>
              </a:lnSpc>
              <a:buNone/>
            </a:pPr>
            <a:r>
              <a:rPr lang="en-US" sz="1299" kern="0" spc="200" dirty="0">
                <a:solidFill>
                  <a:srgbClr val="17140F"/>
                </a:solidFill>
                <a:latin typeface="Arial" pitchFamily="34" charset="0"/>
                <a:ea typeface="Arial" pitchFamily="34" charset="-122"/>
                <a:cs typeface="Arial" pitchFamily="34" charset="-120"/>
              </a:rPr>
              <a:t>THE FINDING</a:t>
            </a:r>
            <a:endParaRPr lang="en-US" sz="1299" dirty="0"/>
          </a:p>
        </p:txBody>
      </p:sp>
      <p:sp>
        <p:nvSpPr>
          <p:cNvPr id="3" name="Text 1"/>
          <p:cNvSpPr/>
          <p:nvPr/>
        </p:nvSpPr>
        <p:spPr>
          <a:xfrm>
            <a:off x="812800" y="1347550"/>
            <a:ext cx="10464800" cy="3826907"/>
          </a:xfrm>
          <a:prstGeom prst="rect">
            <a:avLst/>
          </a:prstGeom>
          <a:noFill/>
          <a:ln/>
        </p:spPr>
        <p:txBody>
          <a:bodyPr wrap="square" lIns="0" tIns="0" rIns="0" bIns="0" rtlCol="0" anchor="t">
            <a:normAutofit/>
          </a:bodyPr>
          <a:lstStyle/>
          <a:p>
            <a:pPr marL="0" indent="0" algn="l">
              <a:lnSpc>
                <a:spcPts val="6217"/>
              </a:lnSpc>
              <a:buNone/>
            </a:pPr>
            <a:r>
              <a:rPr lang="en-US" sz="5756" dirty="0">
                <a:solidFill>
                  <a:srgbClr val="17140F"/>
                </a:solidFill>
                <a:latin typeface="Georgia" pitchFamily="34" charset="0"/>
                <a:ea typeface="Georgia" pitchFamily="34" charset="-122"/>
                <a:cs typeface="Georgia" pitchFamily="34" charset="-120"/>
              </a:rPr>
              <a:t>Guhantara has the demand of a category leader, the positioning of a commodity, and no way to tell which of its rupees worked.</a:t>
            </a:r>
            <a:endParaRPr lang="en-US" sz="5756" dirty="0"/>
          </a:p>
        </p:txBody>
      </p:sp>
      <p:sp>
        <p:nvSpPr>
          <p:cNvPr id="4" name="Text 2"/>
          <p:cNvSpPr/>
          <p:nvPr/>
        </p:nvSpPr>
        <p:spPr>
          <a:xfrm>
            <a:off x="812800" y="5453856"/>
            <a:ext cx="9483725" cy="616744"/>
          </a:xfrm>
          <a:prstGeom prst="rect">
            <a:avLst/>
          </a:prstGeom>
          <a:noFill/>
          <a:ln/>
        </p:spPr>
        <p:txBody>
          <a:bodyPr wrap="square" lIns="0" tIns="0" rIns="0" bIns="0" rtlCol="0" anchor="t">
            <a:normAutofit/>
          </a:bodyPr>
          <a:lstStyle/>
          <a:p>
            <a:pPr marL="0" indent="0" algn="l">
              <a:lnSpc>
                <a:spcPts val="2331"/>
              </a:lnSpc>
              <a:buNone/>
            </a:pPr>
            <a:r>
              <a:rPr lang="en-US" sz="1665" dirty="0">
                <a:solidFill>
                  <a:srgbClr val="17140F"/>
                </a:solidFill>
                <a:latin typeface="Arial" pitchFamily="34" charset="0"/>
                <a:ea typeface="Arial" pitchFamily="34" charset="-122"/>
                <a:cs typeface="Arial" pitchFamily="34" charset="-120"/>
              </a:rPr>
              <a:t>Three problems, one root. Everything that follows is evidence for that sentence and a plan to change it.</a:t>
            </a:r>
            <a:endParaRPr lang="en-US" sz="166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7140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710962"/>
          </a:xfrm>
          <a:prstGeom prst="rect">
            <a:avLst/>
          </a:prstGeom>
          <a:noFill/>
          <a:ln/>
        </p:spPr>
        <p:txBody>
          <a:bodyPr wrap="square" lIns="0" tIns="0" rIns="0" bIns="0" rtlCol="0" anchor="t">
            <a:normAutofit/>
          </a:bodyPr>
          <a:lstStyle/>
          <a:p>
            <a:pPr marL="0" indent="0" algn="l">
              <a:lnSpc>
                <a:spcPts val="5416"/>
              </a:lnSpc>
              <a:buNone/>
            </a:pPr>
            <a:r>
              <a:rPr lang="en-US" sz="4710" dirty="0">
                <a:solidFill>
                  <a:srgbClr val="C9A63C"/>
                </a:solidFill>
                <a:latin typeface="Georgia" pitchFamily="34" charset="0"/>
                <a:ea typeface="Georgia" pitchFamily="34" charset="-122"/>
                <a:cs typeface="Georgia" pitchFamily="34" charset="-120"/>
              </a:rPr>
              <a:t>What follows</a:t>
            </a:r>
            <a:endParaRPr lang="en-US" sz="4710" dirty="0"/>
          </a:p>
        </p:txBody>
      </p:sp>
      <p:sp>
        <p:nvSpPr>
          <p:cNvPr id="3" name="Shape 1"/>
          <p:cNvSpPr/>
          <p:nvPr/>
        </p:nvSpPr>
        <p:spPr>
          <a:xfrm>
            <a:off x="812800" y="1809513"/>
            <a:ext cx="3369707" cy="0"/>
          </a:xfrm>
          <a:prstGeom prst="line">
            <a:avLst/>
          </a:prstGeom>
          <a:noFill/>
          <a:ln w="12700">
            <a:solidFill>
              <a:srgbClr val="C9A63C"/>
            </a:solidFill>
            <a:prstDash val="solid"/>
          </a:ln>
        </p:spPr>
      </p:sp>
      <p:sp>
        <p:nvSpPr>
          <p:cNvPr id="4" name="Text 2"/>
          <p:cNvSpPr/>
          <p:nvPr/>
        </p:nvSpPr>
        <p:spPr>
          <a:xfrm>
            <a:off x="812800" y="1965722"/>
            <a:ext cx="3470798" cy="231775"/>
          </a:xfrm>
          <a:prstGeom prst="rect">
            <a:avLst/>
          </a:prstGeom>
          <a:noFill/>
          <a:ln/>
        </p:spPr>
        <p:txBody>
          <a:bodyPr wrap="square" lIns="0" tIns="0" rIns="0" bIns="0" rtlCol="0" anchor="t">
            <a:normAutofit/>
          </a:bodyPr>
          <a:lstStyle/>
          <a:p>
            <a:pPr marL="0" indent="0" algn="l">
              <a:lnSpc>
                <a:spcPts val="1675"/>
              </a:lnSpc>
              <a:buNone/>
            </a:pPr>
            <a:r>
              <a:rPr lang="en-US" sz="1196" dirty="0">
                <a:solidFill>
                  <a:srgbClr val="C9A63C"/>
                </a:solidFill>
                <a:latin typeface="Arial" pitchFamily="34" charset="0"/>
                <a:ea typeface="Arial" pitchFamily="34" charset="-122"/>
                <a:cs typeface="Arial" pitchFamily="34" charset="-120"/>
              </a:rPr>
              <a:t>01</a:t>
            </a:r>
            <a:endParaRPr lang="en-US" sz="1196" dirty="0"/>
          </a:p>
        </p:txBody>
      </p:sp>
      <p:sp>
        <p:nvSpPr>
          <p:cNvPr id="5" name="Text 3"/>
          <p:cNvSpPr/>
          <p:nvPr/>
        </p:nvSpPr>
        <p:spPr>
          <a:xfrm>
            <a:off x="812800" y="2235597"/>
            <a:ext cx="3470798" cy="276066"/>
          </a:xfrm>
          <a:prstGeom prst="rect">
            <a:avLst/>
          </a:prstGeom>
          <a:noFill/>
          <a:ln/>
        </p:spPr>
        <p:txBody>
          <a:bodyPr wrap="square" lIns="0" tIns="0" rIns="0" bIns="0" rtlCol="0" anchor="t">
            <a:normAutofit/>
          </a:bodyPr>
          <a:lstStyle/>
          <a:p>
            <a:pPr marL="0" indent="0" algn="l">
              <a:lnSpc>
                <a:spcPts val="1970"/>
              </a:lnSpc>
              <a:buNone/>
            </a:pPr>
            <a:r>
              <a:rPr lang="en-US" sz="1642" dirty="0">
                <a:solidFill>
                  <a:srgbClr val="F7F3EA"/>
                </a:solidFill>
                <a:latin typeface="Arial" pitchFamily="34" charset="0"/>
                <a:ea typeface="Arial" pitchFamily="34" charset="-122"/>
                <a:cs typeface="Arial" pitchFamily="34" charset="-120"/>
              </a:rPr>
              <a:t>The business problem</a:t>
            </a:r>
            <a:endParaRPr lang="en-US" sz="1642" dirty="0"/>
          </a:p>
        </p:txBody>
      </p:sp>
      <p:sp>
        <p:nvSpPr>
          <p:cNvPr id="6" name="Text 4"/>
          <p:cNvSpPr/>
          <p:nvPr/>
        </p:nvSpPr>
        <p:spPr>
          <a:xfrm>
            <a:off x="812800" y="2549764"/>
            <a:ext cx="3470798" cy="472678"/>
          </a:xfrm>
          <a:prstGeom prst="rect">
            <a:avLst/>
          </a:prstGeom>
          <a:noFill/>
          <a:ln/>
        </p:spPr>
        <p:txBody>
          <a:bodyPr wrap="square" lIns="0" tIns="0" rIns="0" bIns="0" rtlCol="0" anchor="t">
            <a:normAutofit/>
          </a:bodyPr>
          <a:lstStyle/>
          <a:p>
            <a:pPr marL="0" indent="0" algn="l">
              <a:lnSpc>
                <a:spcPts val="1757"/>
              </a:lnSpc>
              <a:buNone/>
            </a:pPr>
            <a:r>
              <a:rPr lang="en-US" sz="1255" dirty="0">
                <a:solidFill>
                  <a:srgbClr val="A79C89"/>
                </a:solidFill>
                <a:latin typeface="Arial" pitchFamily="34" charset="0"/>
                <a:ea typeface="Arial" pitchFamily="34" charset="-122"/>
                <a:cs typeface="Arial" pitchFamily="34" charset="-120"/>
              </a:rPr>
              <a:t>Demand without a brand, and a budget nobody can trace.</a:t>
            </a:r>
            <a:endParaRPr lang="en-US" sz="1255" dirty="0"/>
          </a:p>
        </p:txBody>
      </p:sp>
      <p:sp>
        <p:nvSpPr>
          <p:cNvPr id="7" name="Shape 5"/>
          <p:cNvSpPr/>
          <p:nvPr/>
        </p:nvSpPr>
        <p:spPr>
          <a:xfrm>
            <a:off x="4411107" y="1809513"/>
            <a:ext cx="3369707" cy="0"/>
          </a:xfrm>
          <a:prstGeom prst="line">
            <a:avLst/>
          </a:prstGeom>
          <a:noFill/>
          <a:ln w="12700">
            <a:solidFill>
              <a:srgbClr val="C9A63C"/>
            </a:solidFill>
            <a:prstDash val="solid"/>
          </a:ln>
        </p:spPr>
      </p:sp>
      <p:sp>
        <p:nvSpPr>
          <p:cNvPr id="8" name="Text 6"/>
          <p:cNvSpPr/>
          <p:nvPr/>
        </p:nvSpPr>
        <p:spPr>
          <a:xfrm>
            <a:off x="4411107" y="1965722"/>
            <a:ext cx="3470798" cy="231775"/>
          </a:xfrm>
          <a:prstGeom prst="rect">
            <a:avLst/>
          </a:prstGeom>
          <a:noFill/>
          <a:ln/>
        </p:spPr>
        <p:txBody>
          <a:bodyPr wrap="square" lIns="0" tIns="0" rIns="0" bIns="0" rtlCol="0" anchor="t">
            <a:normAutofit/>
          </a:bodyPr>
          <a:lstStyle/>
          <a:p>
            <a:pPr marL="0" indent="0" algn="l">
              <a:lnSpc>
                <a:spcPts val="1675"/>
              </a:lnSpc>
              <a:buNone/>
            </a:pPr>
            <a:r>
              <a:rPr lang="en-US" sz="1196" dirty="0">
                <a:solidFill>
                  <a:srgbClr val="C9A63C"/>
                </a:solidFill>
                <a:latin typeface="Arial" pitchFamily="34" charset="0"/>
                <a:ea typeface="Arial" pitchFamily="34" charset="-122"/>
                <a:cs typeface="Arial" pitchFamily="34" charset="-120"/>
              </a:rPr>
              <a:t>02</a:t>
            </a:r>
            <a:endParaRPr lang="en-US" sz="1196" dirty="0"/>
          </a:p>
        </p:txBody>
      </p:sp>
      <p:sp>
        <p:nvSpPr>
          <p:cNvPr id="9" name="Text 7"/>
          <p:cNvSpPr/>
          <p:nvPr/>
        </p:nvSpPr>
        <p:spPr>
          <a:xfrm>
            <a:off x="4411107" y="2235597"/>
            <a:ext cx="3470798" cy="276066"/>
          </a:xfrm>
          <a:prstGeom prst="rect">
            <a:avLst/>
          </a:prstGeom>
          <a:noFill/>
          <a:ln/>
        </p:spPr>
        <p:txBody>
          <a:bodyPr wrap="square" lIns="0" tIns="0" rIns="0" bIns="0" rtlCol="0" anchor="t">
            <a:normAutofit/>
          </a:bodyPr>
          <a:lstStyle/>
          <a:p>
            <a:pPr marL="0" indent="0" algn="l">
              <a:lnSpc>
                <a:spcPts val="1970"/>
              </a:lnSpc>
              <a:buNone/>
            </a:pPr>
            <a:r>
              <a:rPr lang="en-US" sz="1642" dirty="0">
                <a:solidFill>
                  <a:srgbClr val="F7F3EA"/>
                </a:solidFill>
                <a:latin typeface="Arial" pitchFamily="34" charset="0"/>
                <a:ea typeface="Arial" pitchFamily="34" charset="-122"/>
                <a:cs typeface="Arial" pitchFamily="34" charset="-120"/>
              </a:rPr>
              <a:t>The Meta account</a:t>
            </a:r>
            <a:endParaRPr lang="en-US" sz="1642" dirty="0"/>
          </a:p>
        </p:txBody>
      </p:sp>
      <p:sp>
        <p:nvSpPr>
          <p:cNvPr id="10" name="Text 8"/>
          <p:cNvSpPr/>
          <p:nvPr/>
        </p:nvSpPr>
        <p:spPr>
          <a:xfrm>
            <a:off x="4411107" y="2549764"/>
            <a:ext cx="3470798" cy="472678"/>
          </a:xfrm>
          <a:prstGeom prst="rect">
            <a:avLst/>
          </a:prstGeom>
          <a:noFill/>
          <a:ln/>
        </p:spPr>
        <p:txBody>
          <a:bodyPr wrap="square" lIns="0" tIns="0" rIns="0" bIns="0" rtlCol="0" anchor="t">
            <a:normAutofit/>
          </a:bodyPr>
          <a:lstStyle/>
          <a:p>
            <a:pPr marL="0" indent="0" algn="l">
              <a:lnSpc>
                <a:spcPts val="1757"/>
              </a:lnSpc>
              <a:buNone/>
            </a:pPr>
            <a:r>
              <a:rPr lang="en-US" sz="1255" dirty="0">
                <a:solidFill>
                  <a:srgbClr val="A79C89"/>
                </a:solidFill>
                <a:latin typeface="Arial" pitchFamily="34" charset="0"/>
                <a:ea typeface="Arial" pitchFamily="34" charset="-122"/>
                <a:cs typeface="Arial" pitchFamily="34" charset="-120"/>
              </a:rPr>
              <a:t>₹14.94L, 1,259 leads, and half the spend running blind.</a:t>
            </a:r>
            <a:endParaRPr lang="en-US" sz="1255" dirty="0"/>
          </a:p>
        </p:txBody>
      </p:sp>
      <p:sp>
        <p:nvSpPr>
          <p:cNvPr id="11" name="Shape 9"/>
          <p:cNvSpPr/>
          <p:nvPr/>
        </p:nvSpPr>
        <p:spPr>
          <a:xfrm>
            <a:off x="8009414" y="1809513"/>
            <a:ext cx="3369707" cy="0"/>
          </a:xfrm>
          <a:prstGeom prst="line">
            <a:avLst/>
          </a:prstGeom>
          <a:noFill/>
          <a:ln w="12700">
            <a:solidFill>
              <a:srgbClr val="C9A63C"/>
            </a:solidFill>
            <a:prstDash val="solid"/>
          </a:ln>
        </p:spPr>
      </p:sp>
      <p:sp>
        <p:nvSpPr>
          <p:cNvPr id="12" name="Text 10"/>
          <p:cNvSpPr/>
          <p:nvPr/>
        </p:nvSpPr>
        <p:spPr>
          <a:xfrm>
            <a:off x="8009414" y="1965722"/>
            <a:ext cx="3470798" cy="231775"/>
          </a:xfrm>
          <a:prstGeom prst="rect">
            <a:avLst/>
          </a:prstGeom>
          <a:noFill/>
          <a:ln/>
        </p:spPr>
        <p:txBody>
          <a:bodyPr wrap="square" lIns="0" tIns="0" rIns="0" bIns="0" rtlCol="0" anchor="t">
            <a:normAutofit/>
          </a:bodyPr>
          <a:lstStyle/>
          <a:p>
            <a:pPr marL="0" indent="0" algn="l">
              <a:lnSpc>
                <a:spcPts val="1675"/>
              </a:lnSpc>
              <a:buNone/>
            </a:pPr>
            <a:r>
              <a:rPr lang="en-US" sz="1196" dirty="0">
                <a:solidFill>
                  <a:srgbClr val="C9A63C"/>
                </a:solidFill>
                <a:latin typeface="Arial" pitchFamily="34" charset="0"/>
                <a:ea typeface="Arial" pitchFamily="34" charset="-122"/>
                <a:cs typeface="Arial" pitchFamily="34" charset="-120"/>
              </a:rPr>
              <a:t>03</a:t>
            </a:r>
            <a:endParaRPr lang="en-US" sz="1196" dirty="0"/>
          </a:p>
        </p:txBody>
      </p:sp>
      <p:sp>
        <p:nvSpPr>
          <p:cNvPr id="13" name="Text 11"/>
          <p:cNvSpPr/>
          <p:nvPr/>
        </p:nvSpPr>
        <p:spPr>
          <a:xfrm>
            <a:off x="8009414" y="2235597"/>
            <a:ext cx="3470798" cy="276066"/>
          </a:xfrm>
          <a:prstGeom prst="rect">
            <a:avLst/>
          </a:prstGeom>
          <a:noFill/>
          <a:ln/>
        </p:spPr>
        <p:txBody>
          <a:bodyPr wrap="square" lIns="0" tIns="0" rIns="0" bIns="0" rtlCol="0" anchor="t">
            <a:normAutofit/>
          </a:bodyPr>
          <a:lstStyle/>
          <a:p>
            <a:pPr marL="0" indent="0" algn="l">
              <a:lnSpc>
                <a:spcPts val="1970"/>
              </a:lnSpc>
              <a:buNone/>
            </a:pPr>
            <a:r>
              <a:rPr lang="en-US" sz="1642" dirty="0">
                <a:solidFill>
                  <a:srgbClr val="F7F3EA"/>
                </a:solidFill>
                <a:latin typeface="Arial" pitchFamily="34" charset="0"/>
                <a:ea typeface="Arial" pitchFamily="34" charset="-122"/>
                <a:cs typeface="Arial" pitchFamily="34" charset="-120"/>
              </a:rPr>
              <a:t>The Google account</a:t>
            </a:r>
            <a:endParaRPr lang="en-US" sz="1642" dirty="0"/>
          </a:p>
        </p:txBody>
      </p:sp>
      <p:sp>
        <p:nvSpPr>
          <p:cNvPr id="14" name="Text 12"/>
          <p:cNvSpPr/>
          <p:nvPr/>
        </p:nvSpPr>
        <p:spPr>
          <a:xfrm>
            <a:off x="8009414" y="2549764"/>
            <a:ext cx="3470798" cy="472678"/>
          </a:xfrm>
          <a:prstGeom prst="rect">
            <a:avLst/>
          </a:prstGeom>
          <a:noFill/>
          <a:ln/>
        </p:spPr>
        <p:txBody>
          <a:bodyPr wrap="square" lIns="0" tIns="0" rIns="0" bIns="0" rtlCol="0" anchor="t">
            <a:normAutofit/>
          </a:bodyPr>
          <a:lstStyle/>
          <a:p>
            <a:pPr marL="0" indent="0" algn="l">
              <a:lnSpc>
                <a:spcPts val="1757"/>
              </a:lnSpc>
              <a:buNone/>
            </a:pPr>
            <a:r>
              <a:rPr lang="en-US" sz="1255" dirty="0">
                <a:solidFill>
                  <a:srgbClr val="A79C89"/>
                </a:solidFill>
                <a:latin typeface="Arial" pitchFamily="34" charset="0"/>
                <a:ea typeface="Arial" pitchFamily="34" charset="-122"/>
                <a:cs typeface="Arial" pitchFamily="34" charset="-120"/>
              </a:rPr>
              <a:t>₹30.72L, and a conversion number that is not real.</a:t>
            </a:r>
            <a:endParaRPr lang="en-US" sz="1255" dirty="0"/>
          </a:p>
        </p:txBody>
      </p:sp>
      <p:sp>
        <p:nvSpPr>
          <p:cNvPr id="15" name="Shape 13"/>
          <p:cNvSpPr/>
          <p:nvPr/>
        </p:nvSpPr>
        <p:spPr>
          <a:xfrm>
            <a:off x="812800" y="3231992"/>
            <a:ext cx="3369707" cy="0"/>
          </a:xfrm>
          <a:prstGeom prst="line">
            <a:avLst/>
          </a:prstGeom>
          <a:noFill/>
          <a:ln w="12700">
            <a:solidFill>
              <a:srgbClr val="C9A63C"/>
            </a:solidFill>
            <a:prstDash val="solid"/>
          </a:ln>
        </p:spPr>
      </p:sp>
      <p:sp>
        <p:nvSpPr>
          <p:cNvPr id="16" name="Text 14"/>
          <p:cNvSpPr/>
          <p:nvPr/>
        </p:nvSpPr>
        <p:spPr>
          <a:xfrm>
            <a:off x="812800" y="3388201"/>
            <a:ext cx="3470798" cy="231775"/>
          </a:xfrm>
          <a:prstGeom prst="rect">
            <a:avLst/>
          </a:prstGeom>
          <a:noFill/>
          <a:ln/>
        </p:spPr>
        <p:txBody>
          <a:bodyPr wrap="square" lIns="0" tIns="0" rIns="0" bIns="0" rtlCol="0" anchor="t">
            <a:normAutofit/>
          </a:bodyPr>
          <a:lstStyle/>
          <a:p>
            <a:pPr marL="0" indent="0" algn="l">
              <a:lnSpc>
                <a:spcPts val="1675"/>
              </a:lnSpc>
              <a:buNone/>
            </a:pPr>
            <a:r>
              <a:rPr lang="en-US" sz="1196" dirty="0">
                <a:solidFill>
                  <a:srgbClr val="C9A63C"/>
                </a:solidFill>
                <a:latin typeface="Arial" pitchFamily="34" charset="0"/>
                <a:ea typeface="Arial" pitchFamily="34" charset="-122"/>
                <a:cs typeface="Arial" pitchFamily="34" charset="-120"/>
              </a:rPr>
              <a:t>04</a:t>
            </a:r>
            <a:endParaRPr lang="en-US" sz="1196" dirty="0"/>
          </a:p>
        </p:txBody>
      </p:sp>
      <p:sp>
        <p:nvSpPr>
          <p:cNvPr id="17" name="Text 15"/>
          <p:cNvSpPr/>
          <p:nvPr/>
        </p:nvSpPr>
        <p:spPr>
          <a:xfrm>
            <a:off x="812800" y="3658076"/>
            <a:ext cx="3470798" cy="276066"/>
          </a:xfrm>
          <a:prstGeom prst="rect">
            <a:avLst/>
          </a:prstGeom>
          <a:noFill/>
          <a:ln/>
        </p:spPr>
        <p:txBody>
          <a:bodyPr wrap="square" lIns="0" tIns="0" rIns="0" bIns="0" rtlCol="0" anchor="t">
            <a:normAutofit/>
          </a:bodyPr>
          <a:lstStyle/>
          <a:p>
            <a:pPr marL="0" indent="0" algn="l">
              <a:lnSpc>
                <a:spcPts val="1970"/>
              </a:lnSpc>
              <a:buNone/>
            </a:pPr>
            <a:r>
              <a:rPr lang="en-US" sz="1642" dirty="0">
                <a:solidFill>
                  <a:srgbClr val="F7F3EA"/>
                </a:solidFill>
                <a:latin typeface="Arial" pitchFamily="34" charset="0"/>
                <a:ea typeface="Arial" pitchFamily="34" charset="-122"/>
                <a:cs typeface="Arial" pitchFamily="34" charset="-120"/>
              </a:rPr>
              <a:t>Tracking and CRM</a:t>
            </a:r>
            <a:endParaRPr lang="en-US" sz="1642" dirty="0"/>
          </a:p>
        </p:txBody>
      </p:sp>
      <p:sp>
        <p:nvSpPr>
          <p:cNvPr id="18" name="Text 16"/>
          <p:cNvSpPr/>
          <p:nvPr/>
        </p:nvSpPr>
        <p:spPr>
          <a:xfrm>
            <a:off x="812800" y="3972243"/>
            <a:ext cx="3470798" cy="472678"/>
          </a:xfrm>
          <a:prstGeom prst="rect">
            <a:avLst/>
          </a:prstGeom>
          <a:noFill/>
          <a:ln/>
        </p:spPr>
        <p:txBody>
          <a:bodyPr wrap="square" lIns="0" tIns="0" rIns="0" bIns="0" rtlCol="0" anchor="t">
            <a:normAutofit/>
          </a:bodyPr>
          <a:lstStyle/>
          <a:p>
            <a:pPr marL="0" indent="0" algn="l">
              <a:lnSpc>
                <a:spcPts val="1757"/>
              </a:lnSpc>
              <a:buNone/>
            </a:pPr>
            <a:r>
              <a:rPr lang="en-US" sz="1255" dirty="0">
                <a:solidFill>
                  <a:srgbClr val="A79C89"/>
                </a:solidFill>
                <a:latin typeface="Arial" pitchFamily="34" charset="0"/>
                <a:ea typeface="Arial" pitchFamily="34" charset="-122"/>
                <a:cs typeface="Arial" pitchFamily="34" charset="-120"/>
              </a:rPr>
              <a:t>Two pixels, one broken chain, and the system that is missing.</a:t>
            </a:r>
            <a:endParaRPr lang="en-US" sz="1255" dirty="0"/>
          </a:p>
        </p:txBody>
      </p:sp>
      <p:sp>
        <p:nvSpPr>
          <p:cNvPr id="19" name="Shape 17"/>
          <p:cNvSpPr/>
          <p:nvPr/>
        </p:nvSpPr>
        <p:spPr>
          <a:xfrm>
            <a:off x="4411107" y="3231992"/>
            <a:ext cx="3369707" cy="0"/>
          </a:xfrm>
          <a:prstGeom prst="line">
            <a:avLst/>
          </a:prstGeom>
          <a:noFill/>
          <a:ln w="12700">
            <a:solidFill>
              <a:srgbClr val="C9A63C"/>
            </a:solidFill>
            <a:prstDash val="solid"/>
          </a:ln>
        </p:spPr>
      </p:sp>
      <p:sp>
        <p:nvSpPr>
          <p:cNvPr id="20" name="Text 18"/>
          <p:cNvSpPr/>
          <p:nvPr/>
        </p:nvSpPr>
        <p:spPr>
          <a:xfrm>
            <a:off x="4411107" y="3388201"/>
            <a:ext cx="3470798" cy="231775"/>
          </a:xfrm>
          <a:prstGeom prst="rect">
            <a:avLst/>
          </a:prstGeom>
          <a:noFill/>
          <a:ln/>
        </p:spPr>
        <p:txBody>
          <a:bodyPr wrap="square" lIns="0" tIns="0" rIns="0" bIns="0" rtlCol="0" anchor="t">
            <a:normAutofit/>
          </a:bodyPr>
          <a:lstStyle/>
          <a:p>
            <a:pPr marL="0" indent="0" algn="l">
              <a:lnSpc>
                <a:spcPts val="1675"/>
              </a:lnSpc>
              <a:buNone/>
            </a:pPr>
            <a:r>
              <a:rPr lang="en-US" sz="1196" dirty="0">
                <a:solidFill>
                  <a:srgbClr val="C9A63C"/>
                </a:solidFill>
                <a:latin typeface="Arial" pitchFamily="34" charset="0"/>
                <a:ea typeface="Arial" pitchFamily="34" charset="-122"/>
                <a:cs typeface="Arial" pitchFamily="34" charset="-120"/>
              </a:rPr>
              <a:t>05</a:t>
            </a:r>
            <a:endParaRPr lang="en-US" sz="1196" dirty="0"/>
          </a:p>
        </p:txBody>
      </p:sp>
      <p:sp>
        <p:nvSpPr>
          <p:cNvPr id="21" name="Text 19"/>
          <p:cNvSpPr/>
          <p:nvPr/>
        </p:nvSpPr>
        <p:spPr>
          <a:xfrm>
            <a:off x="4411107" y="3658076"/>
            <a:ext cx="3470798" cy="276066"/>
          </a:xfrm>
          <a:prstGeom prst="rect">
            <a:avLst/>
          </a:prstGeom>
          <a:noFill/>
          <a:ln/>
        </p:spPr>
        <p:txBody>
          <a:bodyPr wrap="square" lIns="0" tIns="0" rIns="0" bIns="0" rtlCol="0" anchor="t">
            <a:normAutofit/>
          </a:bodyPr>
          <a:lstStyle/>
          <a:p>
            <a:pPr marL="0" indent="0" algn="l">
              <a:lnSpc>
                <a:spcPts val="1970"/>
              </a:lnSpc>
              <a:buNone/>
            </a:pPr>
            <a:r>
              <a:rPr lang="en-US" sz="1642" dirty="0">
                <a:solidFill>
                  <a:srgbClr val="F7F3EA"/>
                </a:solidFill>
                <a:latin typeface="Arial" pitchFamily="34" charset="0"/>
                <a:ea typeface="Arial" pitchFamily="34" charset="-122"/>
                <a:cs typeface="Arial" pitchFamily="34" charset="-120"/>
              </a:rPr>
              <a:t>Website and landing pages</a:t>
            </a:r>
            <a:endParaRPr lang="en-US" sz="1642" dirty="0"/>
          </a:p>
        </p:txBody>
      </p:sp>
      <p:sp>
        <p:nvSpPr>
          <p:cNvPr id="22" name="Text 20"/>
          <p:cNvSpPr/>
          <p:nvPr/>
        </p:nvSpPr>
        <p:spPr>
          <a:xfrm>
            <a:off x="4411107" y="3972243"/>
            <a:ext cx="3470798" cy="472678"/>
          </a:xfrm>
          <a:prstGeom prst="rect">
            <a:avLst/>
          </a:prstGeom>
          <a:noFill/>
          <a:ln/>
        </p:spPr>
        <p:txBody>
          <a:bodyPr wrap="square" lIns="0" tIns="0" rIns="0" bIns="0" rtlCol="0" anchor="t">
            <a:normAutofit/>
          </a:bodyPr>
          <a:lstStyle/>
          <a:p>
            <a:pPr marL="0" indent="0" algn="l">
              <a:lnSpc>
                <a:spcPts val="1757"/>
              </a:lnSpc>
              <a:buNone/>
            </a:pPr>
            <a:r>
              <a:rPr lang="en-US" sz="1255" dirty="0">
                <a:solidFill>
                  <a:srgbClr val="A79C89"/>
                </a:solidFill>
                <a:latin typeface="Arial" pitchFamily="34" charset="0"/>
                <a:ea typeface="Arial" pitchFamily="34" charset="-122"/>
                <a:cs typeface="Arial" pitchFamily="34" charset="-120"/>
              </a:rPr>
              <a:t>Where every rupee lands, and why a third of it never arrives.</a:t>
            </a:r>
            <a:endParaRPr lang="en-US" sz="1255" dirty="0"/>
          </a:p>
        </p:txBody>
      </p:sp>
      <p:sp>
        <p:nvSpPr>
          <p:cNvPr id="23" name="Shape 21"/>
          <p:cNvSpPr/>
          <p:nvPr/>
        </p:nvSpPr>
        <p:spPr>
          <a:xfrm>
            <a:off x="8009414" y="3231992"/>
            <a:ext cx="3369707" cy="0"/>
          </a:xfrm>
          <a:prstGeom prst="line">
            <a:avLst/>
          </a:prstGeom>
          <a:noFill/>
          <a:ln w="12700">
            <a:solidFill>
              <a:srgbClr val="C9A63C"/>
            </a:solidFill>
            <a:prstDash val="solid"/>
          </a:ln>
        </p:spPr>
      </p:sp>
      <p:sp>
        <p:nvSpPr>
          <p:cNvPr id="24" name="Text 22"/>
          <p:cNvSpPr/>
          <p:nvPr/>
        </p:nvSpPr>
        <p:spPr>
          <a:xfrm>
            <a:off x="8009414" y="3388201"/>
            <a:ext cx="3470798" cy="231775"/>
          </a:xfrm>
          <a:prstGeom prst="rect">
            <a:avLst/>
          </a:prstGeom>
          <a:noFill/>
          <a:ln/>
        </p:spPr>
        <p:txBody>
          <a:bodyPr wrap="square" lIns="0" tIns="0" rIns="0" bIns="0" rtlCol="0" anchor="t">
            <a:normAutofit/>
          </a:bodyPr>
          <a:lstStyle/>
          <a:p>
            <a:pPr marL="0" indent="0" algn="l">
              <a:lnSpc>
                <a:spcPts val="1675"/>
              </a:lnSpc>
              <a:buNone/>
            </a:pPr>
            <a:r>
              <a:rPr lang="en-US" sz="1196" dirty="0">
                <a:solidFill>
                  <a:srgbClr val="C9A63C"/>
                </a:solidFill>
                <a:latin typeface="Arial" pitchFamily="34" charset="0"/>
                <a:ea typeface="Arial" pitchFamily="34" charset="-122"/>
                <a:cs typeface="Arial" pitchFamily="34" charset="-120"/>
              </a:rPr>
              <a:t>06</a:t>
            </a:r>
            <a:endParaRPr lang="en-US" sz="1196" dirty="0"/>
          </a:p>
        </p:txBody>
      </p:sp>
      <p:sp>
        <p:nvSpPr>
          <p:cNvPr id="25" name="Text 23"/>
          <p:cNvSpPr/>
          <p:nvPr/>
        </p:nvSpPr>
        <p:spPr>
          <a:xfrm>
            <a:off x="8009414" y="3658076"/>
            <a:ext cx="3470798" cy="276066"/>
          </a:xfrm>
          <a:prstGeom prst="rect">
            <a:avLst/>
          </a:prstGeom>
          <a:noFill/>
          <a:ln/>
        </p:spPr>
        <p:txBody>
          <a:bodyPr wrap="square" lIns="0" tIns="0" rIns="0" bIns="0" rtlCol="0" anchor="t">
            <a:normAutofit/>
          </a:bodyPr>
          <a:lstStyle/>
          <a:p>
            <a:pPr marL="0" indent="0" algn="l">
              <a:lnSpc>
                <a:spcPts val="1970"/>
              </a:lnSpc>
              <a:buNone/>
            </a:pPr>
            <a:r>
              <a:rPr lang="en-US" sz="1642" dirty="0">
                <a:solidFill>
                  <a:srgbClr val="F7F3EA"/>
                </a:solidFill>
                <a:latin typeface="Arial" pitchFamily="34" charset="0"/>
                <a:ea typeface="Arial" pitchFamily="34" charset="-122"/>
                <a:cs typeface="Arial" pitchFamily="34" charset="-120"/>
              </a:rPr>
              <a:t>Creative and brand</a:t>
            </a:r>
            <a:endParaRPr lang="en-US" sz="1642" dirty="0"/>
          </a:p>
        </p:txBody>
      </p:sp>
      <p:sp>
        <p:nvSpPr>
          <p:cNvPr id="26" name="Text 24"/>
          <p:cNvSpPr/>
          <p:nvPr/>
        </p:nvSpPr>
        <p:spPr>
          <a:xfrm>
            <a:off x="8009414" y="3972243"/>
            <a:ext cx="3470798" cy="472678"/>
          </a:xfrm>
          <a:prstGeom prst="rect">
            <a:avLst/>
          </a:prstGeom>
          <a:noFill/>
          <a:ln/>
        </p:spPr>
        <p:txBody>
          <a:bodyPr wrap="square" lIns="0" tIns="0" rIns="0" bIns="0" rtlCol="0" anchor="t">
            <a:normAutofit/>
          </a:bodyPr>
          <a:lstStyle/>
          <a:p>
            <a:pPr marL="0" indent="0" algn="l">
              <a:lnSpc>
                <a:spcPts val="1757"/>
              </a:lnSpc>
              <a:buNone/>
            </a:pPr>
            <a:r>
              <a:rPr lang="en-US" sz="1255" dirty="0">
                <a:solidFill>
                  <a:srgbClr val="A79C89"/>
                </a:solidFill>
                <a:latin typeface="Arial" pitchFamily="34" charset="0"/>
                <a:ea typeface="Arial" pitchFamily="34" charset="-122"/>
                <a:cs typeface="Arial" pitchFamily="34" charset="-120"/>
              </a:rPr>
              <a:t>What is running, what is working, and what Guhantara should stand for.</a:t>
            </a:r>
            <a:endParaRPr lang="en-US" sz="1255" dirty="0"/>
          </a:p>
        </p:txBody>
      </p:sp>
      <p:sp>
        <p:nvSpPr>
          <p:cNvPr id="27" name="Shape 25"/>
          <p:cNvSpPr/>
          <p:nvPr/>
        </p:nvSpPr>
        <p:spPr>
          <a:xfrm>
            <a:off x="812800" y="4654471"/>
            <a:ext cx="3369707" cy="0"/>
          </a:xfrm>
          <a:prstGeom prst="line">
            <a:avLst/>
          </a:prstGeom>
          <a:noFill/>
          <a:ln w="12700">
            <a:solidFill>
              <a:srgbClr val="C9A63C"/>
            </a:solidFill>
            <a:prstDash val="solid"/>
          </a:ln>
        </p:spPr>
      </p:sp>
      <p:sp>
        <p:nvSpPr>
          <p:cNvPr id="28" name="Text 26"/>
          <p:cNvSpPr/>
          <p:nvPr/>
        </p:nvSpPr>
        <p:spPr>
          <a:xfrm>
            <a:off x="812800" y="4810682"/>
            <a:ext cx="347079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A63C"/>
                </a:solidFill>
                <a:latin typeface="Arial" pitchFamily="34" charset="0"/>
                <a:ea typeface="Arial" pitchFamily="34" charset="-122"/>
                <a:cs typeface="Arial" pitchFamily="34" charset="-120"/>
              </a:rPr>
              <a:t>07</a:t>
            </a:r>
            <a:endParaRPr lang="en-US" sz="1200" dirty="0"/>
          </a:p>
        </p:txBody>
      </p:sp>
      <p:sp>
        <p:nvSpPr>
          <p:cNvPr id="29" name="Text 27"/>
          <p:cNvSpPr/>
          <p:nvPr/>
        </p:nvSpPr>
        <p:spPr>
          <a:xfrm>
            <a:off x="812800" y="5087541"/>
            <a:ext cx="3470798" cy="284480"/>
          </a:xfrm>
          <a:prstGeom prst="rect">
            <a:avLst/>
          </a:prstGeom>
          <a:noFill/>
          <a:ln/>
        </p:spPr>
        <p:txBody>
          <a:bodyPr wrap="square" lIns="0" tIns="0" rIns="0" bIns="0" rtlCol="0" anchor="t">
            <a:normAutofit/>
          </a:bodyPr>
          <a:lstStyle/>
          <a:p>
            <a:pPr marL="0" indent="0" algn="l">
              <a:lnSpc>
                <a:spcPts val="2040"/>
              </a:lnSpc>
              <a:buNone/>
            </a:pPr>
            <a:r>
              <a:rPr lang="en-US" sz="1700" dirty="0">
                <a:solidFill>
                  <a:srgbClr val="F7F3EA"/>
                </a:solidFill>
                <a:latin typeface="Arial" pitchFamily="34" charset="0"/>
                <a:ea typeface="Arial" pitchFamily="34" charset="-122"/>
                <a:cs typeface="Arial" pitchFamily="34" charset="-120"/>
              </a:rPr>
              <a:t>The weekday problem</a:t>
            </a:r>
            <a:endParaRPr lang="en-US" sz="1700" dirty="0"/>
          </a:p>
        </p:txBody>
      </p:sp>
      <p:sp>
        <p:nvSpPr>
          <p:cNvPr id="30" name="Text 28"/>
          <p:cNvSpPr/>
          <p:nvPr/>
        </p:nvSpPr>
        <p:spPr>
          <a:xfrm>
            <a:off x="812800" y="5410121"/>
            <a:ext cx="3470798"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A79C89"/>
                </a:solidFill>
                <a:latin typeface="Arial" pitchFamily="34" charset="0"/>
                <a:ea typeface="Arial" pitchFamily="34" charset="-122"/>
                <a:cs typeface="Arial" pitchFamily="34" charset="-120"/>
              </a:rPr>
              <a:t>Five buyers who are free on a Tuesday.</a:t>
            </a:r>
            <a:endParaRPr lang="en-US" sz="1300" dirty="0"/>
          </a:p>
        </p:txBody>
      </p:sp>
      <p:sp>
        <p:nvSpPr>
          <p:cNvPr id="31" name="Shape 29"/>
          <p:cNvSpPr/>
          <p:nvPr/>
        </p:nvSpPr>
        <p:spPr>
          <a:xfrm>
            <a:off x="4411107" y="4654471"/>
            <a:ext cx="3369707" cy="0"/>
          </a:xfrm>
          <a:prstGeom prst="line">
            <a:avLst/>
          </a:prstGeom>
          <a:noFill/>
          <a:ln w="12700">
            <a:solidFill>
              <a:srgbClr val="C9A63C"/>
            </a:solidFill>
            <a:prstDash val="solid"/>
          </a:ln>
        </p:spPr>
      </p:sp>
      <p:sp>
        <p:nvSpPr>
          <p:cNvPr id="32" name="Text 30"/>
          <p:cNvSpPr/>
          <p:nvPr/>
        </p:nvSpPr>
        <p:spPr>
          <a:xfrm>
            <a:off x="4411107" y="4810682"/>
            <a:ext cx="3470798" cy="231775"/>
          </a:xfrm>
          <a:prstGeom prst="rect">
            <a:avLst/>
          </a:prstGeom>
          <a:noFill/>
          <a:ln/>
        </p:spPr>
        <p:txBody>
          <a:bodyPr wrap="square" lIns="0" tIns="0" rIns="0" bIns="0" rtlCol="0" anchor="t">
            <a:normAutofit/>
          </a:bodyPr>
          <a:lstStyle/>
          <a:p>
            <a:pPr marL="0" indent="0" algn="l">
              <a:lnSpc>
                <a:spcPts val="1675"/>
              </a:lnSpc>
              <a:buNone/>
            </a:pPr>
            <a:r>
              <a:rPr lang="en-US" sz="1196" dirty="0">
                <a:solidFill>
                  <a:srgbClr val="C9A63C"/>
                </a:solidFill>
                <a:latin typeface="Arial" pitchFamily="34" charset="0"/>
                <a:ea typeface="Arial" pitchFamily="34" charset="-122"/>
                <a:cs typeface="Arial" pitchFamily="34" charset="-120"/>
              </a:rPr>
              <a:t>08</a:t>
            </a:r>
            <a:endParaRPr lang="en-US" sz="1196" dirty="0"/>
          </a:p>
        </p:txBody>
      </p:sp>
      <p:sp>
        <p:nvSpPr>
          <p:cNvPr id="33" name="Text 31"/>
          <p:cNvSpPr/>
          <p:nvPr/>
        </p:nvSpPr>
        <p:spPr>
          <a:xfrm>
            <a:off x="4411107" y="5080557"/>
            <a:ext cx="3470798" cy="276066"/>
          </a:xfrm>
          <a:prstGeom prst="rect">
            <a:avLst/>
          </a:prstGeom>
          <a:noFill/>
          <a:ln/>
        </p:spPr>
        <p:txBody>
          <a:bodyPr wrap="square" lIns="0" tIns="0" rIns="0" bIns="0" rtlCol="0" anchor="t">
            <a:normAutofit/>
          </a:bodyPr>
          <a:lstStyle/>
          <a:p>
            <a:pPr marL="0" indent="0" algn="l">
              <a:lnSpc>
                <a:spcPts val="1970"/>
              </a:lnSpc>
              <a:buNone/>
            </a:pPr>
            <a:r>
              <a:rPr lang="en-US" sz="1642" dirty="0">
                <a:solidFill>
                  <a:srgbClr val="F7F3EA"/>
                </a:solidFill>
                <a:latin typeface="Arial" pitchFamily="34" charset="0"/>
                <a:ea typeface="Arial" pitchFamily="34" charset="-122"/>
                <a:cs typeface="Arial" pitchFamily="34" charset="-120"/>
              </a:rPr>
              <a:t>Supperclub</a:t>
            </a:r>
            <a:endParaRPr lang="en-US" sz="1642" dirty="0"/>
          </a:p>
        </p:txBody>
      </p:sp>
      <p:sp>
        <p:nvSpPr>
          <p:cNvPr id="34" name="Text 32"/>
          <p:cNvSpPr/>
          <p:nvPr/>
        </p:nvSpPr>
        <p:spPr>
          <a:xfrm>
            <a:off x="4411107" y="5394722"/>
            <a:ext cx="3470798" cy="472678"/>
          </a:xfrm>
          <a:prstGeom prst="rect">
            <a:avLst/>
          </a:prstGeom>
          <a:noFill/>
          <a:ln/>
        </p:spPr>
        <p:txBody>
          <a:bodyPr wrap="square" lIns="0" tIns="0" rIns="0" bIns="0" rtlCol="0" anchor="t">
            <a:normAutofit/>
          </a:bodyPr>
          <a:lstStyle/>
          <a:p>
            <a:pPr marL="0" indent="0" algn="l">
              <a:lnSpc>
                <a:spcPts val="1757"/>
              </a:lnSpc>
              <a:buNone/>
            </a:pPr>
            <a:r>
              <a:rPr lang="en-US" sz="1255" dirty="0">
                <a:solidFill>
                  <a:srgbClr val="A79C89"/>
                </a:solidFill>
                <a:latin typeface="Arial" pitchFamily="34" charset="0"/>
                <a:ea typeface="Arial" pitchFamily="34" charset="-122"/>
                <a:cs typeface="Arial" pitchFamily="34" charset="-120"/>
              </a:rPr>
              <a:t>10,000+ sign-ups, and what transfers to a resort.</a:t>
            </a:r>
            <a:endParaRPr lang="en-US" sz="1255" dirty="0"/>
          </a:p>
        </p:txBody>
      </p:sp>
      <p:sp>
        <p:nvSpPr>
          <p:cNvPr id="35" name="Shape 33"/>
          <p:cNvSpPr/>
          <p:nvPr/>
        </p:nvSpPr>
        <p:spPr>
          <a:xfrm>
            <a:off x="8009414" y="4654471"/>
            <a:ext cx="3369707" cy="0"/>
          </a:xfrm>
          <a:prstGeom prst="line">
            <a:avLst/>
          </a:prstGeom>
          <a:noFill/>
          <a:ln w="12700">
            <a:solidFill>
              <a:srgbClr val="C9A63C"/>
            </a:solidFill>
            <a:prstDash val="solid"/>
          </a:ln>
        </p:spPr>
      </p:sp>
      <p:sp>
        <p:nvSpPr>
          <p:cNvPr id="36" name="Text 34"/>
          <p:cNvSpPr/>
          <p:nvPr/>
        </p:nvSpPr>
        <p:spPr>
          <a:xfrm>
            <a:off x="8009414" y="4810682"/>
            <a:ext cx="3470798" cy="231775"/>
          </a:xfrm>
          <a:prstGeom prst="rect">
            <a:avLst/>
          </a:prstGeom>
          <a:noFill/>
          <a:ln/>
        </p:spPr>
        <p:txBody>
          <a:bodyPr wrap="square" lIns="0" tIns="0" rIns="0" bIns="0" rtlCol="0" anchor="t">
            <a:normAutofit/>
          </a:bodyPr>
          <a:lstStyle/>
          <a:p>
            <a:pPr marL="0" indent="0" algn="l">
              <a:lnSpc>
                <a:spcPts val="1675"/>
              </a:lnSpc>
              <a:buNone/>
            </a:pPr>
            <a:r>
              <a:rPr lang="en-US" sz="1196" dirty="0">
                <a:solidFill>
                  <a:srgbClr val="C9A63C"/>
                </a:solidFill>
                <a:latin typeface="Arial" pitchFamily="34" charset="0"/>
                <a:ea typeface="Arial" pitchFamily="34" charset="-122"/>
                <a:cs typeface="Arial" pitchFamily="34" charset="-120"/>
              </a:rPr>
              <a:t>09</a:t>
            </a:r>
            <a:endParaRPr lang="en-US" sz="1196" dirty="0"/>
          </a:p>
        </p:txBody>
      </p:sp>
      <p:sp>
        <p:nvSpPr>
          <p:cNvPr id="37" name="Text 35"/>
          <p:cNvSpPr/>
          <p:nvPr/>
        </p:nvSpPr>
        <p:spPr>
          <a:xfrm>
            <a:off x="8009414" y="5080557"/>
            <a:ext cx="3470798" cy="276066"/>
          </a:xfrm>
          <a:prstGeom prst="rect">
            <a:avLst/>
          </a:prstGeom>
          <a:noFill/>
          <a:ln/>
        </p:spPr>
        <p:txBody>
          <a:bodyPr wrap="square" lIns="0" tIns="0" rIns="0" bIns="0" rtlCol="0" anchor="t">
            <a:normAutofit/>
          </a:bodyPr>
          <a:lstStyle/>
          <a:p>
            <a:pPr marL="0" indent="0" algn="l">
              <a:lnSpc>
                <a:spcPts val="1970"/>
              </a:lnSpc>
              <a:buNone/>
            </a:pPr>
            <a:r>
              <a:rPr lang="en-US" sz="1642" dirty="0">
                <a:solidFill>
                  <a:srgbClr val="F7F3EA"/>
                </a:solidFill>
                <a:latin typeface="Arial" pitchFamily="34" charset="0"/>
                <a:ea typeface="Arial" pitchFamily="34" charset="-122"/>
                <a:cs typeface="Arial" pitchFamily="34" charset="-120"/>
              </a:rPr>
              <a:t>The plan</a:t>
            </a:r>
            <a:endParaRPr lang="en-US" sz="1642" dirty="0"/>
          </a:p>
        </p:txBody>
      </p:sp>
      <p:sp>
        <p:nvSpPr>
          <p:cNvPr id="38" name="Text 36"/>
          <p:cNvSpPr/>
          <p:nvPr/>
        </p:nvSpPr>
        <p:spPr>
          <a:xfrm>
            <a:off x="8009414" y="5394722"/>
            <a:ext cx="3470798" cy="472678"/>
          </a:xfrm>
          <a:prstGeom prst="rect">
            <a:avLst/>
          </a:prstGeom>
          <a:noFill/>
          <a:ln/>
        </p:spPr>
        <p:txBody>
          <a:bodyPr wrap="square" lIns="0" tIns="0" rIns="0" bIns="0" rtlCol="0" anchor="t">
            <a:normAutofit/>
          </a:bodyPr>
          <a:lstStyle/>
          <a:p>
            <a:pPr marL="0" indent="0" algn="l">
              <a:lnSpc>
                <a:spcPts val="1757"/>
              </a:lnSpc>
              <a:buNone/>
            </a:pPr>
            <a:r>
              <a:rPr lang="en-US" sz="1255" dirty="0">
                <a:solidFill>
                  <a:srgbClr val="A79C89"/>
                </a:solidFill>
                <a:latin typeface="Arial" pitchFamily="34" charset="0"/>
                <a:ea typeface="Arial" pitchFamily="34" charset="-122"/>
                <a:cs typeface="Arial" pitchFamily="34" charset="-120"/>
              </a:rPr>
              <a:t>Ninety days, what we measure, and what we need.</a:t>
            </a:r>
            <a:endParaRPr lang="en-US" sz="125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3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1198880"/>
          </a:xfrm>
          <a:prstGeom prst="rect">
            <a:avLst/>
          </a:prstGeom>
          <a:noFill/>
          <a:ln/>
        </p:spPr>
        <p:txBody>
          <a:bodyPr wrap="square" lIns="0" tIns="0" rIns="0" bIns="0" rtlCol="0" anchor="t">
            <a:normAutofit/>
          </a:bodyPr>
          <a:lstStyle/>
          <a:p>
            <a:pPr marL="0" indent="0" algn="l">
              <a:lnSpc>
                <a:spcPts val="4620"/>
              </a:lnSpc>
              <a:buNone/>
            </a:pPr>
            <a:r>
              <a:rPr lang="en-US" sz="4400" dirty="0">
                <a:solidFill>
                  <a:srgbClr val="17140F"/>
                </a:solidFill>
                <a:latin typeface="Georgia" pitchFamily="34" charset="0"/>
                <a:ea typeface="Georgia" pitchFamily="34" charset="-122"/>
                <a:cs typeface="Georgia" pitchFamily="34" charset="-120"/>
              </a:rPr>
              <a:t>Twenty-one months of spend, and one unanswerable question</a:t>
            </a:r>
            <a:endParaRPr lang="en-US" sz="4400" dirty="0"/>
          </a:p>
        </p:txBody>
      </p:sp>
      <p:sp>
        <p:nvSpPr>
          <p:cNvPr id="3" name="Shape 1"/>
          <p:cNvSpPr/>
          <p:nvPr/>
        </p:nvSpPr>
        <p:spPr>
          <a:xfrm>
            <a:off x="812800" y="2291082"/>
            <a:ext cx="3379867" cy="1892300"/>
          </a:xfrm>
          <a:prstGeom prst="roundRect">
            <a:avLst>
              <a:gd name="adj" fmla="val 5369"/>
            </a:avLst>
          </a:prstGeom>
          <a:solidFill>
            <a:srgbClr val="17140F"/>
          </a:solidFill>
          <a:ln/>
        </p:spPr>
      </p:sp>
      <p:sp>
        <p:nvSpPr>
          <p:cNvPr id="4" name="Text 2"/>
          <p:cNvSpPr/>
          <p:nvPr/>
        </p:nvSpPr>
        <p:spPr>
          <a:xfrm>
            <a:off x="1117600" y="2595882"/>
            <a:ext cx="2853375"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A79C89"/>
                </a:solidFill>
                <a:latin typeface="Arial" pitchFamily="34" charset="0"/>
                <a:ea typeface="Arial" pitchFamily="34" charset="-122"/>
                <a:cs typeface="Arial" pitchFamily="34" charset="-120"/>
              </a:rPr>
              <a:t>Total media spend</a:t>
            </a:r>
            <a:endParaRPr lang="en-US" sz="1300" dirty="0"/>
          </a:p>
        </p:txBody>
      </p:sp>
      <p:sp>
        <p:nvSpPr>
          <p:cNvPr id="5" name="Text 3"/>
          <p:cNvSpPr/>
          <p:nvPr/>
        </p:nvSpPr>
        <p:spPr>
          <a:xfrm>
            <a:off x="1117600" y="2877821"/>
            <a:ext cx="2853375" cy="751840"/>
          </a:xfrm>
          <a:prstGeom prst="rect">
            <a:avLst/>
          </a:prstGeom>
          <a:noFill/>
          <a:ln/>
        </p:spPr>
        <p:txBody>
          <a:bodyPr wrap="square" lIns="0" tIns="0" rIns="0" bIns="0" rtlCol="0" anchor="t">
            <a:normAutofit/>
          </a:bodyPr>
          <a:lstStyle/>
          <a:p>
            <a:pPr marL="0" indent="0" algn="l">
              <a:lnSpc>
                <a:spcPts val="5720"/>
              </a:lnSpc>
              <a:buNone/>
            </a:pPr>
            <a:r>
              <a:rPr lang="en-US" sz="5200" dirty="0">
                <a:solidFill>
                  <a:srgbClr val="C9A63C"/>
                </a:solidFill>
                <a:latin typeface="Georgia" pitchFamily="34" charset="0"/>
                <a:ea typeface="Georgia" pitchFamily="34" charset="-122"/>
                <a:cs typeface="Georgia" pitchFamily="34" charset="-120"/>
              </a:rPr>
              <a:t>₹45.65L</a:t>
            </a:r>
            <a:endParaRPr lang="en-US" sz="5200" dirty="0"/>
          </a:p>
        </p:txBody>
      </p:sp>
      <p:sp>
        <p:nvSpPr>
          <p:cNvPr id="6" name="Text 4"/>
          <p:cNvSpPr/>
          <p:nvPr/>
        </p:nvSpPr>
        <p:spPr>
          <a:xfrm>
            <a:off x="1117600" y="3655061"/>
            <a:ext cx="285337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79C89"/>
                </a:solidFill>
                <a:latin typeface="Arial" pitchFamily="34" charset="0"/>
                <a:ea typeface="Arial" pitchFamily="34" charset="-122"/>
                <a:cs typeface="Arial" pitchFamily="34" charset="-120"/>
              </a:rPr>
              <a:t>Meta ₹14.94L + Google ₹30.72L</a:t>
            </a:r>
            <a:endParaRPr lang="en-US" sz="1200" dirty="0"/>
          </a:p>
        </p:txBody>
      </p:sp>
      <p:sp>
        <p:nvSpPr>
          <p:cNvPr id="7" name="Shape 5"/>
          <p:cNvSpPr/>
          <p:nvPr/>
        </p:nvSpPr>
        <p:spPr>
          <a:xfrm>
            <a:off x="4399042" y="2294257"/>
            <a:ext cx="3383756" cy="1885950"/>
          </a:xfrm>
          <a:prstGeom prst="roundRect">
            <a:avLst>
              <a:gd name="adj" fmla="val 5219"/>
            </a:avLst>
          </a:prstGeom>
          <a:solidFill>
            <a:srgbClr val="FFFFFF"/>
          </a:solidFill>
          <a:ln w="6350">
            <a:solidFill>
              <a:srgbClr val="DDD5C5"/>
            </a:solidFill>
            <a:prstDash val="solid"/>
          </a:ln>
        </p:spPr>
      </p:sp>
      <p:sp>
        <p:nvSpPr>
          <p:cNvPr id="8" name="Text 6"/>
          <p:cNvSpPr/>
          <p:nvPr/>
        </p:nvSpPr>
        <p:spPr>
          <a:xfrm>
            <a:off x="4705747" y="2600961"/>
            <a:ext cx="2853457"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C5344"/>
                </a:solidFill>
                <a:latin typeface="Arial" pitchFamily="34" charset="0"/>
                <a:ea typeface="Arial" pitchFamily="34" charset="-122"/>
                <a:cs typeface="Arial" pitchFamily="34" charset="-120"/>
              </a:rPr>
              <a:t>Meta leads recorded</a:t>
            </a:r>
            <a:endParaRPr lang="en-US" sz="1300" dirty="0"/>
          </a:p>
        </p:txBody>
      </p:sp>
      <p:sp>
        <p:nvSpPr>
          <p:cNvPr id="9" name="Text 7"/>
          <p:cNvSpPr/>
          <p:nvPr/>
        </p:nvSpPr>
        <p:spPr>
          <a:xfrm>
            <a:off x="4705747" y="2882900"/>
            <a:ext cx="2853457" cy="751840"/>
          </a:xfrm>
          <a:prstGeom prst="rect">
            <a:avLst/>
          </a:prstGeom>
          <a:noFill/>
          <a:ln/>
        </p:spPr>
        <p:txBody>
          <a:bodyPr wrap="square" lIns="0" tIns="0" rIns="0" bIns="0" rtlCol="0" anchor="t">
            <a:normAutofit/>
          </a:bodyPr>
          <a:lstStyle/>
          <a:p>
            <a:pPr marL="0" indent="0" algn="l">
              <a:lnSpc>
                <a:spcPts val="5720"/>
              </a:lnSpc>
              <a:buNone/>
            </a:pPr>
            <a:r>
              <a:rPr lang="en-US" sz="5200" dirty="0">
                <a:solidFill>
                  <a:srgbClr val="17140F"/>
                </a:solidFill>
                <a:latin typeface="Georgia" pitchFamily="34" charset="0"/>
                <a:ea typeface="Georgia" pitchFamily="34" charset="-122"/>
                <a:cs typeface="Georgia" pitchFamily="34" charset="-120"/>
              </a:rPr>
              <a:t>1,259</a:t>
            </a:r>
            <a:endParaRPr lang="en-US" sz="5200" dirty="0"/>
          </a:p>
        </p:txBody>
      </p:sp>
      <p:sp>
        <p:nvSpPr>
          <p:cNvPr id="10" name="Text 8"/>
          <p:cNvSpPr/>
          <p:nvPr/>
        </p:nvSpPr>
        <p:spPr>
          <a:xfrm>
            <a:off x="4705747" y="3660139"/>
            <a:ext cx="2853457"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5344"/>
                </a:solidFill>
                <a:latin typeface="Arial" pitchFamily="34" charset="0"/>
                <a:ea typeface="Arial" pitchFamily="34" charset="-122"/>
                <a:cs typeface="Arial" pitchFamily="34" charset="-120"/>
              </a:rPr>
              <a:t>Blended cost per lead ₹1,186.29</a:t>
            </a:r>
            <a:endParaRPr lang="en-US" sz="1200" dirty="0"/>
          </a:p>
        </p:txBody>
      </p:sp>
      <p:sp>
        <p:nvSpPr>
          <p:cNvPr id="11" name="Shape 9"/>
          <p:cNvSpPr/>
          <p:nvPr/>
        </p:nvSpPr>
        <p:spPr>
          <a:xfrm>
            <a:off x="7992349" y="2294257"/>
            <a:ext cx="3383677" cy="1885950"/>
          </a:xfrm>
          <a:prstGeom prst="roundRect">
            <a:avLst>
              <a:gd name="adj" fmla="val 5219"/>
            </a:avLst>
          </a:prstGeom>
          <a:solidFill>
            <a:srgbClr val="FFFFFF"/>
          </a:solidFill>
          <a:ln w="6350">
            <a:solidFill>
              <a:srgbClr val="DDD5C5"/>
            </a:solidFill>
            <a:prstDash val="solid"/>
          </a:ln>
        </p:spPr>
      </p:sp>
      <p:sp>
        <p:nvSpPr>
          <p:cNvPr id="12" name="Text 10"/>
          <p:cNvSpPr/>
          <p:nvPr/>
        </p:nvSpPr>
        <p:spPr>
          <a:xfrm>
            <a:off x="8299053" y="2600961"/>
            <a:ext cx="2853375"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C5344"/>
                </a:solidFill>
                <a:latin typeface="Arial" pitchFamily="34" charset="0"/>
                <a:ea typeface="Arial" pitchFamily="34" charset="-122"/>
                <a:cs typeface="Arial" pitchFamily="34" charset="-120"/>
              </a:rPr>
              <a:t>Bookings attributed</a:t>
            </a:r>
            <a:endParaRPr lang="en-US" sz="1300" dirty="0"/>
          </a:p>
        </p:txBody>
      </p:sp>
      <p:sp>
        <p:nvSpPr>
          <p:cNvPr id="13" name="Text 11"/>
          <p:cNvSpPr/>
          <p:nvPr/>
        </p:nvSpPr>
        <p:spPr>
          <a:xfrm>
            <a:off x="8299053" y="2882900"/>
            <a:ext cx="2853375" cy="751840"/>
          </a:xfrm>
          <a:prstGeom prst="rect">
            <a:avLst/>
          </a:prstGeom>
          <a:noFill/>
          <a:ln/>
        </p:spPr>
        <p:txBody>
          <a:bodyPr wrap="square" lIns="0" tIns="0" rIns="0" bIns="0" rtlCol="0" anchor="t">
            <a:normAutofit/>
          </a:bodyPr>
          <a:lstStyle/>
          <a:p>
            <a:pPr marL="0" indent="0" algn="l">
              <a:lnSpc>
                <a:spcPts val="5720"/>
              </a:lnSpc>
              <a:buNone/>
            </a:pPr>
            <a:r>
              <a:rPr lang="en-US" sz="5200" dirty="0">
                <a:solidFill>
                  <a:srgbClr val="B54A28"/>
                </a:solidFill>
                <a:latin typeface="Georgia" pitchFamily="34" charset="0"/>
                <a:ea typeface="Georgia" pitchFamily="34" charset="-122"/>
                <a:cs typeface="Georgia" pitchFamily="34" charset="-120"/>
              </a:rPr>
              <a:t>Zero</a:t>
            </a:r>
            <a:endParaRPr lang="en-US" sz="5200" dirty="0"/>
          </a:p>
        </p:txBody>
      </p:sp>
      <p:sp>
        <p:nvSpPr>
          <p:cNvPr id="14" name="Text 12"/>
          <p:cNvSpPr/>
          <p:nvPr/>
        </p:nvSpPr>
        <p:spPr>
          <a:xfrm>
            <a:off x="8299053" y="3660139"/>
            <a:ext cx="285337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5344"/>
                </a:solidFill>
                <a:latin typeface="Arial" pitchFamily="34" charset="0"/>
                <a:ea typeface="Arial" pitchFamily="34" charset="-122"/>
                <a:cs typeface="Arial" pitchFamily="34" charset="-120"/>
              </a:rPr>
              <a:t>Not none sold — none traceable</a:t>
            </a:r>
            <a:endParaRPr lang="en-US" sz="1200" dirty="0"/>
          </a:p>
        </p:txBody>
      </p:sp>
      <p:sp>
        <p:nvSpPr>
          <p:cNvPr id="15" name="Text 13"/>
          <p:cNvSpPr/>
          <p:nvPr/>
        </p:nvSpPr>
        <p:spPr>
          <a:xfrm>
            <a:off x="812800" y="4488182"/>
            <a:ext cx="10203180" cy="1019810"/>
          </a:xfrm>
          <a:prstGeom prst="rect">
            <a:avLst/>
          </a:prstGeom>
          <a:noFill/>
          <a:ln/>
        </p:spPr>
        <p:txBody>
          <a:bodyPr wrap="square" lIns="0" tIns="0" rIns="0" bIns="0" rtlCol="0" anchor="t">
            <a:normAutofit/>
          </a:bodyPr>
          <a:lstStyle/>
          <a:p>
            <a:pPr marL="0" indent="0" algn="l">
              <a:lnSpc>
                <a:spcPts val="2610"/>
              </a:lnSpc>
              <a:buNone/>
            </a:pPr>
            <a:r>
              <a:rPr lang="en-US" sz="1800" dirty="0">
                <a:solidFill>
                  <a:srgbClr val="5C5344"/>
                </a:solidFill>
                <a:latin typeface="Arial" pitchFamily="34" charset="0"/>
                <a:ea typeface="Arial" pitchFamily="34" charset="-122"/>
                <a:cs typeface="Arial" pitchFamily="34" charset="-120"/>
              </a:rPr>
              <a:t>The third number is the one that matters. Rooms were booked and day-outs were sold across these 21 months. Nothing in either account can tell you which advert produced a single one of them.</a:t>
            </a:r>
            <a:endParaRPr lang="en-US" sz="1800" dirty="0"/>
          </a:p>
        </p:txBody>
      </p:sp>
      <p:sp>
        <p:nvSpPr>
          <p:cNvPr id="16" name="Text 14"/>
          <p:cNvSpPr/>
          <p:nvPr/>
        </p:nvSpPr>
        <p:spPr>
          <a:xfrm>
            <a:off x="812800" y="6238239"/>
            <a:ext cx="5035367"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071"/>
                </a:solidFill>
                <a:latin typeface="Arial" pitchFamily="34" charset="0"/>
                <a:ea typeface="Arial" pitchFamily="34" charset="-122"/>
                <a:cs typeface="Arial" pitchFamily="34" charset="-120"/>
              </a:rPr>
              <a:t>Source: Meta Ads Manager and Google Ads, 1 Jan 2025 – 29 Sep 2026.</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3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1198880"/>
          </a:xfrm>
          <a:prstGeom prst="rect">
            <a:avLst/>
          </a:prstGeom>
          <a:noFill/>
          <a:ln/>
        </p:spPr>
        <p:txBody>
          <a:bodyPr wrap="square" lIns="0" tIns="0" rIns="0" bIns="0" rtlCol="0" anchor="t">
            <a:normAutofit/>
          </a:bodyPr>
          <a:lstStyle/>
          <a:p>
            <a:pPr marL="0" indent="0" algn="l">
              <a:lnSpc>
                <a:spcPts val="4620"/>
              </a:lnSpc>
              <a:buNone/>
            </a:pPr>
            <a:r>
              <a:rPr lang="en-US" sz="4400" dirty="0">
                <a:solidFill>
                  <a:srgbClr val="17140F"/>
                </a:solidFill>
                <a:latin typeface="Georgia" pitchFamily="34" charset="0"/>
                <a:ea typeface="Georgia" pitchFamily="34" charset="-122"/>
                <a:cs typeface="Georgia" pitchFamily="34" charset="-120"/>
              </a:rPr>
              <a:t>The awareness is already won. The reputation is being lost.</a:t>
            </a:r>
            <a:endParaRPr lang="en-US" sz="4400" dirty="0"/>
          </a:p>
        </p:txBody>
      </p:sp>
      <p:sp>
        <p:nvSpPr>
          <p:cNvPr id="3" name="Shape 1"/>
          <p:cNvSpPr/>
          <p:nvPr/>
        </p:nvSpPr>
        <p:spPr>
          <a:xfrm>
            <a:off x="812800" y="2265682"/>
            <a:ext cx="5207000" cy="1859280"/>
          </a:xfrm>
          <a:custGeom>
            <a:avLst/>
            <a:gdLst/>
            <a:ahLst/>
            <a:cxnLst/>
            <a:rect l="l" t="t" r="r" b="b"/>
            <a:pathLst>
              <a:path w="5207000" h="1859280">
                <a:moveTo>
                  <a:pt x="5130800" y="0"/>
                </a:moveTo>
                <a:lnTo>
                  <a:pt x="5130800" y="0"/>
                </a:lnTo>
                <a:arcTo wR="76200" hR="76200" stAng="16200000" swAng="5400000"/>
                <a:lnTo>
                  <a:pt x="5207000" y="1783080"/>
                </a:lnTo>
                <a:arcTo wR="76200" hR="76200" stAng="0" swAng="5400000"/>
                <a:lnTo>
                  <a:pt x="76200" y="1859280"/>
                </a:lnTo>
                <a:arcTo wR="76200" hR="76200" stAng="5400000" swAng="5400000"/>
                <a:lnTo>
                  <a:pt x="0" y="1783080"/>
                </a:lnTo>
                <a:arcTo wR="76200" hR="69850" stAng="10800000" swAng="-5400000"/>
                <a:lnTo>
                  <a:pt x="5130800" y="1852930"/>
                </a:lnTo>
                <a:arcTo wR="69850" hR="69850" stAng="5400000" swAng="-5400000"/>
                <a:lnTo>
                  <a:pt x="5200650" y="76200"/>
                </a:lnTo>
                <a:arcTo wR="69850" hR="76200" stAng="0" swAng="-5400000"/>
                <a:close/>
              </a:path>
            </a:pathLst>
          </a:custGeom>
          <a:solidFill>
            <a:srgbClr val="DDD5C5"/>
          </a:solidFill>
          <a:ln/>
        </p:spPr>
      </p:sp>
      <p:sp>
        <p:nvSpPr>
          <p:cNvPr id="4" name="Shape 2"/>
          <p:cNvSpPr/>
          <p:nvPr/>
        </p:nvSpPr>
        <p:spPr>
          <a:xfrm>
            <a:off x="812800" y="2265682"/>
            <a:ext cx="5207000" cy="1859280"/>
          </a:xfrm>
          <a:custGeom>
            <a:avLst/>
            <a:gdLst/>
            <a:ahLst/>
            <a:cxnLst/>
            <a:rect l="l" t="t" r="r" b="b"/>
            <a:pathLst>
              <a:path w="5207000" h="1859280">
                <a:moveTo>
                  <a:pt x="76200" y="1859280"/>
                </a:moveTo>
                <a:lnTo>
                  <a:pt x="76200" y="1859280"/>
                </a:lnTo>
                <a:arcTo wR="76200" hR="76200" stAng="5400000" swAng="5400000"/>
                <a:lnTo>
                  <a:pt x="0" y="76200"/>
                </a:lnTo>
                <a:arcTo wR="76200" hR="76200" stAng="10800000" swAng="5400000"/>
                <a:lnTo>
                  <a:pt x="5130800" y="0"/>
                </a:lnTo>
                <a:arcTo wR="76200" hR="76200" stAng="16200000" swAng="5400000"/>
                <a:lnTo>
                  <a:pt x="5207000" y="76200"/>
                </a:lnTo>
                <a:arcTo wR="76200" hR="66040" stAng="0" swAng="-5400000"/>
                <a:lnTo>
                  <a:pt x="76200" y="10160"/>
                </a:lnTo>
                <a:arcTo wR="66040" hR="66040" stAng="16200000" swAng="-5400000"/>
                <a:lnTo>
                  <a:pt x="10160" y="1783080"/>
                </a:lnTo>
                <a:arcTo wR="66040" hR="76200" stAng="10800000" swAng="-5400000"/>
                <a:close/>
              </a:path>
            </a:pathLst>
          </a:custGeom>
          <a:solidFill>
            <a:srgbClr val="141413">
              <a:alpha val="22000"/>
            </a:srgbClr>
          </a:solidFill>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924560" y="2377442"/>
          <a:ext cx="4988560" cy="1640840"/>
        </p:xfrm>
        <a:graphic>
          <a:graphicData uri="http://schemas.openxmlformats.org/drawingml/2006/table">
            <a:tbl>
              <a:tblPr/>
              <a:tblGrid>
                <a:gridCol w="1995424">
                  <a:extLst>
                    <a:ext uri="{9D8B030D-6E8A-4147-A177-3AD203B41FA5}">
                      <a16:colId xmlns:a16="http://schemas.microsoft.com/office/drawing/2014/main" val="20000"/>
                    </a:ext>
                  </a:extLst>
                </a:gridCol>
                <a:gridCol w="1496568">
                  <a:extLst>
                    <a:ext uri="{9D8B030D-6E8A-4147-A177-3AD203B41FA5}">
                      <a16:colId xmlns:a16="http://schemas.microsoft.com/office/drawing/2014/main" val="20001"/>
                    </a:ext>
                  </a:extLst>
                </a:gridCol>
                <a:gridCol w="1496568">
                  <a:extLst>
                    <a:ext uri="{9D8B030D-6E8A-4147-A177-3AD203B41FA5}">
                      <a16:colId xmlns:a16="http://schemas.microsoft.com/office/drawing/2014/main" val="20002"/>
                    </a:ext>
                  </a:extLst>
                </a:gridCol>
              </a:tblGrid>
              <a:tr h="410210">
                <a:tc>
                  <a:txBody>
                    <a:bodyPr/>
                    <a:lstStyle/>
                    <a:p>
                      <a:pPr marL="0" indent="0">
                        <a:lnSpc>
                          <a:spcPts val="2100"/>
                        </a:lnSpc>
                        <a:buNone/>
                      </a:pPr>
                      <a:r>
                        <a:rPr lang="en-US" sz="1500" b="1" dirty="0">
                          <a:solidFill>
                            <a:srgbClr val="17140F"/>
                          </a:solidFill>
                          <a:latin typeface="Arial" pitchFamily="34" charset="0"/>
                          <a:ea typeface="Arial" pitchFamily="34" charset="-122"/>
                          <a:cs typeface="Arial" pitchFamily="34" charset="-120"/>
                        </a:rPr>
                        <a:t>Source</a:t>
                      </a:r>
                      <a:endParaRPr lang="en-US" sz="1500" dirty="0">
                        <a:latin typeface="Arial" charset="0"/>
                        <a:ea typeface="Arial" charset="0"/>
                        <a:cs typeface="Arial" charset="0"/>
                      </a:endParaRPr>
                    </a:p>
                  </a:txBody>
                  <a:tcPr marL="66675" marR="66675" marT="66675" marB="66675">
                    <a:lnL w="0" cap="flat" cmpd="sng" algn="ctr">
                      <a:noFill/>
                    </a:lnL>
                    <a:lnR w="12700" cap="flat" cmpd="sng" algn="ctr">
                      <a:solidFill>
                        <a:srgbClr val="B9B4A9"/>
                      </a:solidFill>
                      <a:prstDash val="solid"/>
                      <a:round/>
                      <a:headEnd type="none" w="med" len="med"/>
                      <a:tailEnd type="none" w="med" len="med"/>
                    </a:lnR>
                    <a:lnT w="0" cap="flat" cmpd="sng" algn="ctr">
                      <a:noFill/>
                    </a:lnT>
                    <a:lnB w="12700" cap="flat" cmpd="sng" algn="ctr">
                      <a:solidFill>
                        <a:srgbClr val="B9B4A9"/>
                      </a:solidFill>
                      <a:prstDash val="solid"/>
                      <a:round/>
                      <a:headEnd type="none" w="med" len="med"/>
                      <a:tailEnd type="none" w="med" len="med"/>
                    </a:lnB>
                    <a:solidFill>
                      <a:srgbClr val="E8E1D3"/>
                    </a:solidFill>
                  </a:tcPr>
                </a:tc>
                <a:tc>
                  <a:txBody>
                    <a:bodyPr/>
                    <a:lstStyle/>
                    <a:p>
                      <a:pPr marL="0" indent="0">
                        <a:lnSpc>
                          <a:spcPts val="2100"/>
                        </a:lnSpc>
                        <a:buNone/>
                      </a:pPr>
                      <a:r>
                        <a:rPr lang="en-US" sz="1500" b="1" dirty="0">
                          <a:solidFill>
                            <a:srgbClr val="17140F"/>
                          </a:solidFill>
                          <a:latin typeface="Arial" pitchFamily="34" charset="0"/>
                          <a:ea typeface="Arial" pitchFamily="34" charset="-122"/>
                          <a:cs typeface="Arial" pitchFamily="34" charset="-120"/>
                        </a:rPr>
                        <a:t>Rating</a:t>
                      </a:r>
                      <a:endParaRPr lang="en-US" sz="1500" dirty="0">
                        <a:latin typeface="Arial" charset="0"/>
                        <a:ea typeface="Arial" charset="0"/>
                        <a:cs typeface="Arial" charset="0"/>
                      </a:endParaRPr>
                    </a:p>
                  </a:txBody>
                  <a:tcPr marL="66675" marR="66675" marT="66675" marB="66675">
                    <a:lnL w="12700" cap="flat" cmpd="sng" algn="ctr">
                      <a:solidFill>
                        <a:srgbClr val="B9B4A9"/>
                      </a:solidFill>
                      <a:prstDash val="solid"/>
                      <a:round/>
                      <a:headEnd type="none" w="med" len="med"/>
                      <a:tailEnd type="none" w="med" len="med"/>
                    </a:lnL>
                    <a:lnR w="12700" cap="flat" cmpd="sng" algn="ctr">
                      <a:solidFill>
                        <a:srgbClr val="B9B4A9"/>
                      </a:solidFill>
                      <a:prstDash val="solid"/>
                      <a:round/>
                      <a:headEnd type="none" w="med" len="med"/>
                      <a:tailEnd type="none" w="med" len="med"/>
                    </a:lnR>
                    <a:lnT w="0" cap="flat" cmpd="sng" algn="ctr">
                      <a:noFill/>
                    </a:lnT>
                    <a:lnB w="12700" cap="flat" cmpd="sng" algn="ctr">
                      <a:solidFill>
                        <a:srgbClr val="B9B4A9"/>
                      </a:solidFill>
                      <a:prstDash val="solid"/>
                      <a:round/>
                      <a:headEnd type="none" w="med" len="med"/>
                      <a:tailEnd type="none" w="med" len="med"/>
                    </a:lnB>
                    <a:solidFill>
                      <a:srgbClr val="E8E1D3"/>
                    </a:solidFill>
                  </a:tcPr>
                </a:tc>
                <a:tc>
                  <a:txBody>
                    <a:bodyPr/>
                    <a:lstStyle/>
                    <a:p>
                      <a:pPr marL="0" indent="0">
                        <a:lnSpc>
                          <a:spcPts val="2100"/>
                        </a:lnSpc>
                        <a:buNone/>
                      </a:pPr>
                      <a:r>
                        <a:rPr lang="en-US" sz="1500" b="1" dirty="0">
                          <a:solidFill>
                            <a:srgbClr val="17140F"/>
                          </a:solidFill>
                          <a:latin typeface="Arial" pitchFamily="34" charset="0"/>
                          <a:ea typeface="Arial" pitchFamily="34" charset="-122"/>
                          <a:cs typeface="Arial" pitchFamily="34" charset="-120"/>
                        </a:rPr>
                        <a:t>Reviews</a:t>
                      </a:r>
                      <a:endParaRPr lang="en-US" sz="1500" dirty="0">
                        <a:latin typeface="Arial" charset="0"/>
                        <a:ea typeface="Arial" charset="0"/>
                        <a:cs typeface="Arial" charset="0"/>
                      </a:endParaRPr>
                    </a:p>
                  </a:txBody>
                  <a:tcPr marL="66675" marR="66675" marT="66675" marB="66675">
                    <a:lnL w="12700" cap="flat" cmpd="sng" algn="ctr">
                      <a:solidFill>
                        <a:srgbClr val="B9B4A9"/>
                      </a:solidFill>
                      <a:prstDash val="solid"/>
                      <a:round/>
                      <a:headEnd type="none" w="med" len="med"/>
                      <a:tailEnd type="none" w="med" len="med"/>
                    </a:lnL>
                    <a:lnR w="12700" cap="flat" cmpd="sng" algn="ctr">
                      <a:solidFill>
                        <a:srgbClr val="B9B4A9"/>
                      </a:solidFill>
                      <a:prstDash val="solid"/>
                      <a:round/>
                      <a:headEnd type="none" w="med" len="med"/>
                      <a:tailEnd type="none" w="med" len="med"/>
                    </a:lnR>
                    <a:lnT w="0" cap="flat" cmpd="sng" algn="ctr">
                      <a:noFill/>
                    </a:lnT>
                    <a:lnB w="12700" cap="flat" cmpd="sng" algn="ctr">
                      <a:solidFill>
                        <a:srgbClr val="B9B4A9"/>
                      </a:solidFill>
                      <a:prstDash val="solid"/>
                      <a:round/>
                      <a:headEnd type="none" w="med" len="med"/>
                      <a:tailEnd type="none" w="med" len="med"/>
                    </a:lnB>
                    <a:solidFill>
                      <a:srgbClr val="E8E1D3"/>
                    </a:solidFill>
                  </a:tcPr>
                </a:tc>
                <a:extLst>
                  <a:ext uri="{0D108BD9-81ED-4DB2-BD59-A6C34878D82A}">
                    <a16:rowId xmlns:a16="http://schemas.microsoft.com/office/drawing/2014/main" val="10000"/>
                  </a:ext>
                </a:extLst>
              </a:tr>
              <a:tr h="410210">
                <a:tc>
                  <a:txBody>
                    <a:bodyPr/>
                    <a:lstStyle/>
                    <a:p>
                      <a:pPr marL="0" indent="0">
                        <a:lnSpc>
                          <a:spcPts val="2100"/>
                        </a:lnSpc>
                        <a:buNone/>
                      </a:pPr>
                      <a:r>
                        <a:rPr lang="en-US" sz="1500" dirty="0">
                          <a:solidFill>
                            <a:srgbClr val="17140F"/>
                          </a:solidFill>
                          <a:latin typeface="Arial" pitchFamily="34" charset="0"/>
                          <a:ea typeface="Arial" pitchFamily="34" charset="-122"/>
                          <a:cs typeface="Arial" pitchFamily="34" charset="-120"/>
                        </a:rPr>
                        <a:t>Thrillophilia</a:t>
                      </a:r>
                      <a:endParaRPr lang="en-US" sz="1500" dirty="0">
                        <a:latin typeface="Arial" charset="0"/>
                        <a:ea typeface="Arial" charset="0"/>
                        <a:cs typeface="Arial" charset="0"/>
                      </a:endParaRPr>
                    </a:p>
                  </a:txBody>
                  <a:tcPr marL="66675" marR="66675" marT="66675" marB="66675">
                    <a:lnL w="0" cap="flat" cmpd="sng" algn="ctr">
                      <a:noFill/>
                    </a:lnL>
                    <a:lnR w="12700" cap="flat" cmpd="sng" algn="ctr">
                      <a:solidFill>
                        <a:srgbClr val="C5C2BB"/>
                      </a:solidFill>
                      <a:prstDash val="solid"/>
                      <a:round/>
                      <a:headEnd type="none" w="med" len="med"/>
                      <a:tailEnd type="none" w="med" len="med"/>
                    </a:lnR>
                    <a:lnT w="12700" cap="flat" cmpd="sng" algn="ctr">
                      <a:solidFill>
                        <a:srgbClr val="B9B4A9"/>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2100"/>
                        </a:lnSpc>
                        <a:buNone/>
                      </a:pPr>
                      <a:r>
                        <a:rPr lang="en-US" sz="1500" dirty="0">
                          <a:solidFill>
                            <a:srgbClr val="17140F"/>
                          </a:solidFill>
                          <a:latin typeface="Arial" pitchFamily="34" charset="0"/>
                          <a:ea typeface="Arial" pitchFamily="34" charset="-122"/>
                          <a:cs typeface="Arial" pitchFamily="34" charset="-120"/>
                        </a:rPr>
                        <a:t>4.2 / 5</a:t>
                      </a:r>
                      <a:endParaRPr lang="en-US" sz="1500" dirty="0">
                        <a:latin typeface="Arial" charset="0"/>
                        <a:ea typeface="Arial" charset="0"/>
                        <a:cs typeface="Arial" charset="0"/>
                      </a:endParaRPr>
                    </a:p>
                  </a:txBody>
                  <a:tcPr marL="66675" marR="66675" marT="66675" marB="66675">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B9B4A9"/>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2100"/>
                        </a:lnSpc>
                        <a:buNone/>
                      </a:pPr>
                      <a:r>
                        <a:rPr lang="en-US" sz="1500" dirty="0">
                          <a:solidFill>
                            <a:srgbClr val="17140F"/>
                          </a:solidFill>
                          <a:latin typeface="Arial" pitchFamily="34" charset="0"/>
                          <a:ea typeface="Arial" pitchFamily="34" charset="-122"/>
                          <a:cs typeface="Arial" pitchFamily="34" charset="-120"/>
                        </a:rPr>
                        <a:t>18,670</a:t>
                      </a:r>
                      <a:endParaRPr lang="en-US" sz="1500" dirty="0">
                        <a:latin typeface="Arial" charset="0"/>
                        <a:ea typeface="Arial" charset="0"/>
                        <a:cs typeface="Arial" charset="0"/>
                      </a:endParaRPr>
                    </a:p>
                  </a:txBody>
                  <a:tcPr marL="66675" marR="66675" marT="66675" marB="66675">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B9B4A9"/>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extLst>
                  <a:ext uri="{0D108BD9-81ED-4DB2-BD59-A6C34878D82A}">
                    <a16:rowId xmlns:a16="http://schemas.microsoft.com/office/drawing/2014/main" val="10001"/>
                  </a:ext>
                </a:extLst>
              </a:tr>
              <a:tr h="410210">
                <a:tc>
                  <a:txBody>
                    <a:bodyPr/>
                    <a:lstStyle/>
                    <a:p>
                      <a:pPr marL="0" indent="0">
                        <a:lnSpc>
                          <a:spcPts val="2100"/>
                        </a:lnSpc>
                        <a:buNone/>
                      </a:pPr>
                      <a:r>
                        <a:rPr lang="en-US" sz="1500" dirty="0">
                          <a:solidFill>
                            <a:srgbClr val="17140F"/>
                          </a:solidFill>
                          <a:latin typeface="Arial" pitchFamily="34" charset="0"/>
                          <a:ea typeface="Arial" pitchFamily="34" charset="-122"/>
                          <a:cs typeface="Arial" pitchFamily="34" charset="-120"/>
                        </a:rPr>
                        <a:t>Google</a:t>
                      </a:r>
                      <a:endParaRPr lang="en-US" sz="1500" dirty="0">
                        <a:latin typeface="Arial" charset="0"/>
                        <a:ea typeface="Arial" charset="0"/>
                        <a:cs typeface="Arial" charset="0"/>
                      </a:endParaRPr>
                    </a:p>
                  </a:txBody>
                  <a:tcPr marL="66675" marR="66675" marT="66675" marB="66675">
                    <a:lnL w="0" cap="flat" cmpd="sng" algn="ctr">
                      <a:noFill/>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2100"/>
                        </a:lnSpc>
                        <a:buNone/>
                      </a:pPr>
                      <a:r>
                        <a:rPr lang="en-US" sz="1500" dirty="0">
                          <a:solidFill>
                            <a:srgbClr val="17140F"/>
                          </a:solidFill>
                          <a:latin typeface="Arial" pitchFamily="34" charset="0"/>
                          <a:ea typeface="Arial" pitchFamily="34" charset="-122"/>
                          <a:cs typeface="Arial" pitchFamily="34" charset="-120"/>
                        </a:rPr>
                        <a:t>3.7 / 5</a:t>
                      </a:r>
                      <a:endParaRPr lang="en-US" sz="1500" dirty="0">
                        <a:latin typeface="Arial" charset="0"/>
                        <a:ea typeface="Arial" charset="0"/>
                        <a:cs typeface="Arial" charset="0"/>
                      </a:endParaRPr>
                    </a:p>
                  </a:txBody>
                  <a:tcPr marL="66675" marR="66675" marT="66675" marB="66675">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2100"/>
                        </a:lnSpc>
                        <a:buNone/>
                      </a:pPr>
                      <a:r>
                        <a:rPr lang="en-US" sz="1500" dirty="0">
                          <a:solidFill>
                            <a:srgbClr val="17140F"/>
                          </a:solidFill>
                          <a:latin typeface="Arial" pitchFamily="34" charset="0"/>
                          <a:ea typeface="Arial" pitchFamily="34" charset="-122"/>
                          <a:cs typeface="Arial" pitchFamily="34" charset="-120"/>
                        </a:rPr>
                        <a:t>21,392</a:t>
                      </a:r>
                      <a:endParaRPr lang="en-US" sz="1500" dirty="0">
                        <a:latin typeface="Arial" charset="0"/>
                        <a:ea typeface="Arial" charset="0"/>
                        <a:cs typeface="Arial" charset="0"/>
                      </a:endParaRPr>
                    </a:p>
                  </a:txBody>
                  <a:tcPr marL="66675" marR="66675" marT="66675" marB="66675">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extLst>
                  <a:ext uri="{0D108BD9-81ED-4DB2-BD59-A6C34878D82A}">
                    <a16:rowId xmlns:a16="http://schemas.microsoft.com/office/drawing/2014/main" val="10002"/>
                  </a:ext>
                </a:extLst>
              </a:tr>
              <a:tr h="410210">
                <a:tc>
                  <a:txBody>
                    <a:bodyPr/>
                    <a:lstStyle/>
                    <a:p>
                      <a:pPr marL="0" indent="0">
                        <a:lnSpc>
                          <a:spcPts val="2100"/>
                        </a:lnSpc>
                        <a:buNone/>
                      </a:pPr>
                      <a:r>
                        <a:rPr lang="en-US" sz="1500" dirty="0">
                          <a:solidFill>
                            <a:srgbClr val="17140F"/>
                          </a:solidFill>
                          <a:latin typeface="Arial" pitchFamily="34" charset="0"/>
                          <a:ea typeface="Arial" pitchFamily="34" charset="-122"/>
                          <a:cs typeface="Arial" pitchFamily="34" charset="-120"/>
                        </a:rPr>
                        <a:t>TripAdvisor</a:t>
                      </a:r>
                      <a:endParaRPr lang="en-US" sz="1500" dirty="0">
                        <a:latin typeface="Arial" charset="0"/>
                        <a:ea typeface="Arial" charset="0"/>
                        <a:cs typeface="Arial" charset="0"/>
                      </a:endParaRPr>
                    </a:p>
                  </a:txBody>
                  <a:tcPr marL="66675" marR="66675" marT="66675" marB="66675">
                    <a:lnL w="0" cap="flat" cmpd="sng" algn="ctr">
                      <a:noFill/>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2100"/>
                        </a:lnSpc>
                        <a:buNone/>
                      </a:pPr>
                      <a:r>
                        <a:rPr lang="en-US" sz="1500" dirty="0">
                          <a:solidFill>
                            <a:srgbClr val="17140F"/>
                          </a:solidFill>
                          <a:latin typeface="Arial" pitchFamily="34" charset="0"/>
                          <a:ea typeface="Arial" pitchFamily="34" charset="-122"/>
                          <a:cs typeface="Arial" pitchFamily="34" charset="-120"/>
                        </a:rPr>
                        <a:t>3.2 / 5</a:t>
                      </a:r>
                      <a:endParaRPr lang="en-US" sz="1500" dirty="0">
                        <a:latin typeface="Arial" charset="0"/>
                        <a:ea typeface="Arial" charset="0"/>
                        <a:cs typeface="Arial" charset="0"/>
                      </a:endParaRPr>
                    </a:p>
                  </a:txBody>
                  <a:tcPr marL="66675" marR="66675" marT="66675" marB="66675">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2100"/>
                        </a:lnSpc>
                        <a:buNone/>
                      </a:pPr>
                      <a:r>
                        <a:rPr lang="en-US" sz="1500" dirty="0">
                          <a:solidFill>
                            <a:srgbClr val="17140F"/>
                          </a:solidFill>
                          <a:latin typeface="Arial" pitchFamily="34" charset="0"/>
                          <a:ea typeface="Arial" pitchFamily="34" charset="-122"/>
                          <a:cs typeface="Arial" pitchFamily="34" charset="-120"/>
                        </a:rPr>
                        <a:t>317</a:t>
                      </a:r>
                      <a:endParaRPr lang="en-US" sz="1500" dirty="0">
                        <a:latin typeface="Arial" charset="0"/>
                        <a:ea typeface="Arial" charset="0"/>
                        <a:cs typeface="Arial" charset="0"/>
                      </a:endParaRPr>
                    </a:p>
                  </a:txBody>
                  <a:tcPr marL="66675" marR="66675" marT="66675" marB="66675">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6" name="Text 3"/>
          <p:cNvSpPr/>
          <p:nvPr/>
        </p:nvSpPr>
        <p:spPr>
          <a:xfrm>
            <a:off x="812800" y="4277361"/>
            <a:ext cx="5363210" cy="798830"/>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5C5344"/>
                </a:solidFill>
                <a:latin typeface="Arial" pitchFamily="34" charset="0"/>
                <a:ea typeface="Arial" pitchFamily="34" charset="-122"/>
                <a:cs typeface="Arial" pitchFamily="34" charset="-120"/>
              </a:rPr>
              <a:t>Against 726 ratings for Wild Valley and 754 for Elim, Guhantara has roughly 25 times the reviewed footfall of its nearest neighbours on the same road.</a:t>
            </a:r>
            <a:endParaRPr lang="en-US" sz="1400" dirty="0"/>
          </a:p>
        </p:txBody>
      </p:sp>
      <p:sp>
        <p:nvSpPr>
          <p:cNvPr id="7" name="Shape 4"/>
          <p:cNvSpPr/>
          <p:nvPr/>
        </p:nvSpPr>
        <p:spPr>
          <a:xfrm>
            <a:off x="6375400" y="2265682"/>
            <a:ext cx="5003800" cy="3055620"/>
          </a:xfrm>
          <a:prstGeom prst="roundRect">
            <a:avLst>
              <a:gd name="adj" fmla="val 3325"/>
            </a:avLst>
          </a:prstGeom>
          <a:solidFill>
            <a:srgbClr val="17140F"/>
          </a:solidFill>
          <a:ln/>
        </p:spPr>
      </p:sp>
      <p:sp>
        <p:nvSpPr>
          <p:cNvPr id="8" name="Text 5"/>
          <p:cNvSpPr/>
          <p:nvPr/>
        </p:nvSpPr>
        <p:spPr>
          <a:xfrm>
            <a:off x="6680200" y="2570482"/>
            <a:ext cx="4526026"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A79C89"/>
                </a:solidFill>
                <a:latin typeface="Arial" pitchFamily="34" charset="0"/>
                <a:ea typeface="Arial" pitchFamily="34" charset="-122"/>
                <a:cs typeface="Arial" pitchFamily="34" charset="-120"/>
              </a:rPr>
              <a:t>Of 21,392 Google reviewers</a:t>
            </a:r>
            <a:endParaRPr lang="en-US" sz="1300" dirty="0"/>
          </a:p>
        </p:txBody>
      </p:sp>
      <p:sp>
        <p:nvSpPr>
          <p:cNvPr id="9" name="Text 6"/>
          <p:cNvSpPr/>
          <p:nvPr/>
        </p:nvSpPr>
        <p:spPr>
          <a:xfrm>
            <a:off x="6680200" y="2928621"/>
            <a:ext cx="4526026" cy="863600"/>
          </a:xfrm>
          <a:prstGeom prst="rect">
            <a:avLst/>
          </a:prstGeom>
          <a:noFill/>
          <a:ln/>
        </p:spPr>
        <p:txBody>
          <a:bodyPr wrap="square" lIns="0" tIns="0" rIns="0" bIns="0" rtlCol="0" anchor="t">
            <a:normAutofit/>
          </a:bodyPr>
          <a:lstStyle/>
          <a:p>
            <a:pPr marL="0" indent="0" algn="l">
              <a:lnSpc>
                <a:spcPts val="6600"/>
              </a:lnSpc>
              <a:buNone/>
            </a:pPr>
            <a:r>
              <a:rPr lang="en-US" sz="6600" dirty="0">
                <a:solidFill>
                  <a:srgbClr val="B54A28"/>
                </a:solidFill>
                <a:latin typeface="Georgia" pitchFamily="34" charset="0"/>
                <a:ea typeface="Georgia" pitchFamily="34" charset="-122"/>
                <a:cs typeface="Georgia" pitchFamily="34" charset="-120"/>
              </a:rPr>
              <a:t>3,289</a:t>
            </a:r>
            <a:endParaRPr lang="en-US" sz="6600" dirty="0"/>
          </a:p>
        </p:txBody>
      </p:sp>
      <p:sp>
        <p:nvSpPr>
          <p:cNvPr id="10" name="Text 7"/>
          <p:cNvSpPr/>
          <p:nvPr/>
        </p:nvSpPr>
        <p:spPr>
          <a:xfrm>
            <a:off x="6680200" y="3893821"/>
            <a:ext cx="4526026"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7F3EA"/>
                </a:solidFill>
                <a:latin typeface="Arial" pitchFamily="34" charset="0"/>
                <a:ea typeface="Arial" pitchFamily="34" charset="-122"/>
                <a:cs typeface="Arial" pitchFamily="34" charset="-120"/>
              </a:rPr>
              <a:t>rated it two stars or less. That is 15% of everyone who walked through the door and wrote about it.</a:t>
            </a:r>
            <a:endParaRPr lang="en-US" sz="1500" dirty="0"/>
          </a:p>
        </p:txBody>
      </p:sp>
      <p:sp>
        <p:nvSpPr>
          <p:cNvPr id="11" name="Text 8"/>
          <p:cNvSpPr/>
          <p:nvPr/>
        </p:nvSpPr>
        <p:spPr>
          <a:xfrm>
            <a:off x="6680200" y="4554221"/>
            <a:ext cx="4526026"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A79C89"/>
                </a:solidFill>
                <a:latin typeface="Arial" pitchFamily="34" charset="0"/>
                <a:ea typeface="Arial" pitchFamily="34" charset="-122"/>
                <a:cs typeface="Arial" pitchFamily="34" charset="-120"/>
              </a:rPr>
              <a:t>TripAdvisor ranks it #587 of 1,258 Bengaluru hotels. Value 3.1. Service 3.1.</a:t>
            </a:r>
            <a:endParaRPr lang="en-US" sz="1300" dirty="0"/>
          </a:p>
        </p:txBody>
      </p:sp>
      <p:sp>
        <p:nvSpPr>
          <p:cNvPr id="12" name="Text 9"/>
          <p:cNvSpPr/>
          <p:nvPr/>
        </p:nvSpPr>
        <p:spPr>
          <a:xfrm>
            <a:off x="812800" y="6238239"/>
            <a:ext cx="500569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071"/>
                </a:solidFill>
                <a:latin typeface="Arial" pitchFamily="34" charset="0"/>
                <a:ea typeface="Arial" pitchFamily="34" charset="-122"/>
                <a:cs typeface="Arial" pitchFamily="34" charset="-120"/>
              </a:rPr>
              <a:t>Source: Google, TripAdvisor and Thrillophilia listings, read 29 Sep 2026.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7140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612140"/>
          </a:xfrm>
          <a:prstGeom prst="rect">
            <a:avLst/>
          </a:prstGeom>
          <a:noFill/>
          <a:ln/>
        </p:spPr>
        <p:txBody>
          <a:bodyPr wrap="square" lIns="0" tIns="0" rIns="0" bIns="0" rtlCol="0" anchor="t">
            <a:normAutofit/>
          </a:bodyPr>
          <a:lstStyle/>
          <a:p>
            <a:pPr marL="0" indent="0" algn="l">
              <a:lnSpc>
                <a:spcPts val="4620"/>
              </a:lnSpc>
              <a:buNone/>
            </a:pPr>
            <a:r>
              <a:rPr lang="en-US" sz="4400" dirty="0">
                <a:solidFill>
                  <a:srgbClr val="F7F3EA"/>
                </a:solidFill>
                <a:latin typeface="Georgia" pitchFamily="34" charset="0"/>
                <a:ea typeface="Georgia" pitchFamily="34" charset="-122"/>
                <a:cs typeface="Georgia" pitchFamily="34" charset="-120"/>
              </a:rPr>
              <a:t>The loop the business is stuck in</a:t>
            </a:r>
            <a:endParaRPr lang="en-US" sz="4400" dirty="0"/>
          </a:p>
        </p:txBody>
      </p:sp>
      <p:sp>
        <p:nvSpPr>
          <p:cNvPr id="3" name="Shape 1"/>
          <p:cNvSpPr/>
          <p:nvPr/>
        </p:nvSpPr>
        <p:spPr>
          <a:xfrm>
            <a:off x="815975" y="1732914"/>
            <a:ext cx="2523490" cy="2279650"/>
          </a:xfrm>
          <a:prstGeom prst="roundRect">
            <a:avLst>
              <a:gd name="adj" fmla="val 4318"/>
            </a:avLst>
          </a:prstGeom>
          <a:solidFill>
            <a:srgbClr val="221E18"/>
          </a:solidFill>
          <a:ln w="6350">
            <a:solidFill>
              <a:srgbClr val="3A342A"/>
            </a:solidFill>
            <a:prstDash val="solid"/>
          </a:ln>
        </p:spPr>
      </p:sp>
      <p:sp>
        <p:nvSpPr>
          <p:cNvPr id="4" name="Text 2"/>
          <p:cNvSpPr/>
          <p:nvPr/>
        </p:nvSpPr>
        <p:spPr>
          <a:xfrm>
            <a:off x="1071880" y="1988821"/>
            <a:ext cx="207203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A63C"/>
                </a:solidFill>
                <a:latin typeface="Arial" pitchFamily="34" charset="0"/>
                <a:ea typeface="Arial" pitchFamily="34" charset="-122"/>
                <a:cs typeface="Arial" pitchFamily="34" charset="-120"/>
              </a:rPr>
              <a:t>01</a:t>
            </a:r>
            <a:endParaRPr lang="en-US" sz="1200" dirty="0"/>
          </a:p>
        </p:txBody>
      </p:sp>
      <p:sp>
        <p:nvSpPr>
          <p:cNvPr id="5" name="Text 3"/>
          <p:cNvSpPr/>
          <p:nvPr/>
        </p:nvSpPr>
        <p:spPr>
          <a:xfrm>
            <a:off x="1071880" y="2278382"/>
            <a:ext cx="2072031" cy="269240"/>
          </a:xfrm>
          <a:prstGeom prst="rect">
            <a:avLst/>
          </a:prstGeom>
          <a:noFill/>
          <a:ln/>
        </p:spPr>
        <p:txBody>
          <a:bodyPr wrap="square" lIns="0" tIns="0" rIns="0" bIns="0" rtlCol="0" anchor="t">
            <a:normAutofit/>
          </a:bodyPr>
          <a:lstStyle/>
          <a:p>
            <a:pPr marL="0" indent="0" algn="l">
              <a:lnSpc>
                <a:spcPts val="1920"/>
              </a:lnSpc>
              <a:buNone/>
            </a:pPr>
            <a:r>
              <a:rPr lang="en-US" sz="1600" dirty="0">
                <a:solidFill>
                  <a:srgbClr val="F7F3EA"/>
                </a:solidFill>
                <a:latin typeface="Arial" pitchFamily="34" charset="0"/>
                <a:ea typeface="Arial" pitchFamily="34" charset="-122"/>
                <a:cs typeface="Arial" pitchFamily="34" charset="-120"/>
              </a:rPr>
              <a:t>Discount to fill</a:t>
            </a:r>
            <a:endParaRPr lang="en-US" sz="1600" dirty="0"/>
          </a:p>
        </p:txBody>
      </p:sp>
      <p:sp>
        <p:nvSpPr>
          <p:cNvPr id="6" name="Text 4"/>
          <p:cNvSpPr/>
          <p:nvPr/>
        </p:nvSpPr>
        <p:spPr>
          <a:xfrm>
            <a:off x="1071880" y="2598421"/>
            <a:ext cx="2072031" cy="9499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A79C89"/>
                </a:solidFill>
                <a:latin typeface="Arial" pitchFamily="34" charset="0"/>
                <a:ea typeface="Arial" pitchFamily="34" charset="-122"/>
                <a:cs typeface="Arial" pitchFamily="34" charset="-120"/>
              </a:rPr>
              <a:t>Weekday 25% and weekend 15% off, with struck-through prices in the booking engine itself.</a:t>
            </a:r>
            <a:endParaRPr lang="en-US" sz="1300" dirty="0"/>
          </a:p>
        </p:txBody>
      </p:sp>
      <p:sp>
        <p:nvSpPr>
          <p:cNvPr id="7" name="Shape 5"/>
          <p:cNvSpPr/>
          <p:nvPr/>
        </p:nvSpPr>
        <p:spPr>
          <a:xfrm>
            <a:off x="3498215" y="1732914"/>
            <a:ext cx="2523490" cy="2279650"/>
          </a:xfrm>
          <a:prstGeom prst="roundRect">
            <a:avLst>
              <a:gd name="adj" fmla="val 4318"/>
            </a:avLst>
          </a:prstGeom>
          <a:solidFill>
            <a:srgbClr val="221E18"/>
          </a:solidFill>
          <a:ln w="6350">
            <a:solidFill>
              <a:srgbClr val="3A342A"/>
            </a:solidFill>
            <a:prstDash val="solid"/>
          </a:ln>
        </p:spPr>
      </p:sp>
      <p:sp>
        <p:nvSpPr>
          <p:cNvPr id="8" name="Text 6"/>
          <p:cNvSpPr/>
          <p:nvPr/>
        </p:nvSpPr>
        <p:spPr>
          <a:xfrm>
            <a:off x="3754120" y="1988821"/>
            <a:ext cx="207203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A63C"/>
                </a:solidFill>
                <a:latin typeface="Arial" pitchFamily="34" charset="0"/>
                <a:ea typeface="Arial" pitchFamily="34" charset="-122"/>
                <a:cs typeface="Arial" pitchFamily="34" charset="-120"/>
              </a:rPr>
              <a:t>02</a:t>
            </a:r>
            <a:endParaRPr lang="en-US" sz="1200" dirty="0"/>
          </a:p>
        </p:txBody>
      </p:sp>
      <p:sp>
        <p:nvSpPr>
          <p:cNvPr id="9" name="Text 7"/>
          <p:cNvSpPr/>
          <p:nvPr/>
        </p:nvSpPr>
        <p:spPr>
          <a:xfrm>
            <a:off x="3754120" y="2278382"/>
            <a:ext cx="2072031" cy="269240"/>
          </a:xfrm>
          <a:prstGeom prst="rect">
            <a:avLst/>
          </a:prstGeom>
          <a:noFill/>
          <a:ln/>
        </p:spPr>
        <p:txBody>
          <a:bodyPr wrap="square" lIns="0" tIns="0" rIns="0" bIns="0" rtlCol="0" anchor="t">
            <a:normAutofit/>
          </a:bodyPr>
          <a:lstStyle/>
          <a:p>
            <a:pPr marL="0" indent="0" algn="l">
              <a:lnSpc>
                <a:spcPts val="1920"/>
              </a:lnSpc>
              <a:buNone/>
            </a:pPr>
            <a:r>
              <a:rPr lang="en-US" sz="1600" dirty="0">
                <a:solidFill>
                  <a:srgbClr val="F7F3EA"/>
                </a:solidFill>
                <a:latin typeface="Arial" pitchFamily="34" charset="0"/>
                <a:ea typeface="Arial" pitchFamily="34" charset="-122"/>
                <a:cs typeface="Arial" pitchFamily="34" charset="-120"/>
              </a:rPr>
              <a:t>Volume arrives</a:t>
            </a:r>
            <a:endParaRPr lang="en-US" sz="1600" dirty="0"/>
          </a:p>
        </p:txBody>
      </p:sp>
      <p:sp>
        <p:nvSpPr>
          <p:cNvPr id="10" name="Text 8"/>
          <p:cNvSpPr/>
          <p:nvPr/>
        </p:nvSpPr>
        <p:spPr>
          <a:xfrm>
            <a:off x="3754120" y="2598421"/>
            <a:ext cx="2072031" cy="71882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A79C89"/>
                </a:solidFill>
                <a:latin typeface="Arial" pitchFamily="34" charset="0"/>
                <a:ea typeface="Arial" pitchFamily="34" charset="-122"/>
                <a:cs typeface="Arial" pitchFamily="34" charset="-120"/>
              </a:rPr>
              <a:t>Peak days fill past the point where the experience holds together.</a:t>
            </a:r>
            <a:endParaRPr lang="en-US" sz="1300" dirty="0"/>
          </a:p>
        </p:txBody>
      </p:sp>
      <p:sp>
        <p:nvSpPr>
          <p:cNvPr id="11" name="Shape 9"/>
          <p:cNvSpPr/>
          <p:nvPr/>
        </p:nvSpPr>
        <p:spPr>
          <a:xfrm>
            <a:off x="6180455" y="1732914"/>
            <a:ext cx="2523490" cy="2279650"/>
          </a:xfrm>
          <a:prstGeom prst="roundRect">
            <a:avLst>
              <a:gd name="adj" fmla="val 4318"/>
            </a:avLst>
          </a:prstGeom>
          <a:solidFill>
            <a:srgbClr val="221E18"/>
          </a:solidFill>
          <a:ln w="6350">
            <a:solidFill>
              <a:srgbClr val="3A342A"/>
            </a:solidFill>
            <a:prstDash val="solid"/>
          </a:ln>
        </p:spPr>
      </p:sp>
      <p:sp>
        <p:nvSpPr>
          <p:cNvPr id="12" name="Text 10"/>
          <p:cNvSpPr/>
          <p:nvPr/>
        </p:nvSpPr>
        <p:spPr>
          <a:xfrm>
            <a:off x="6436360" y="1988821"/>
            <a:ext cx="207203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A63C"/>
                </a:solidFill>
                <a:latin typeface="Arial" pitchFamily="34" charset="0"/>
                <a:ea typeface="Arial" pitchFamily="34" charset="-122"/>
                <a:cs typeface="Arial" pitchFamily="34" charset="-120"/>
              </a:rPr>
              <a:t>03</a:t>
            </a:r>
            <a:endParaRPr lang="en-US" sz="1200" dirty="0"/>
          </a:p>
        </p:txBody>
      </p:sp>
      <p:sp>
        <p:nvSpPr>
          <p:cNvPr id="13" name="Text 11"/>
          <p:cNvSpPr/>
          <p:nvPr/>
        </p:nvSpPr>
        <p:spPr>
          <a:xfrm>
            <a:off x="6436360" y="2278382"/>
            <a:ext cx="2072031" cy="269240"/>
          </a:xfrm>
          <a:prstGeom prst="rect">
            <a:avLst/>
          </a:prstGeom>
          <a:noFill/>
          <a:ln/>
        </p:spPr>
        <p:txBody>
          <a:bodyPr wrap="square" lIns="0" tIns="0" rIns="0" bIns="0" rtlCol="0" anchor="t">
            <a:normAutofit/>
          </a:bodyPr>
          <a:lstStyle/>
          <a:p>
            <a:pPr marL="0" indent="0" algn="l">
              <a:lnSpc>
                <a:spcPts val="1920"/>
              </a:lnSpc>
              <a:buNone/>
            </a:pPr>
            <a:r>
              <a:rPr lang="en-US" sz="1600" dirty="0">
                <a:solidFill>
                  <a:srgbClr val="F7F3EA"/>
                </a:solidFill>
                <a:latin typeface="Arial" pitchFamily="34" charset="0"/>
                <a:ea typeface="Arial" pitchFamily="34" charset="-122"/>
                <a:cs typeface="Arial" pitchFamily="34" charset="-120"/>
              </a:rPr>
              <a:t>The rating drops</a:t>
            </a:r>
            <a:endParaRPr lang="en-US" sz="1600" dirty="0"/>
          </a:p>
        </p:txBody>
      </p:sp>
      <p:sp>
        <p:nvSpPr>
          <p:cNvPr id="14" name="Text 12"/>
          <p:cNvSpPr/>
          <p:nvPr/>
        </p:nvSpPr>
        <p:spPr>
          <a:xfrm>
            <a:off x="6436360" y="2598421"/>
            <a:ext cx="2072031" cy="9499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A79C89"/>
                </a:solidFill>
                <a:latin typeface="Arial" pitchFamily="34" charset="0"/>
                <a:ea typeface="Arial" pitchFamily="34" charset="-122"/>
                <a:cs typeface="Arial" pitchFamily="34" charset="-120"/>
              </a:rPr>
              <a:t>Overcrowding and hygiene complaints put 15% of reviewers at two stars or below.</a:t>
            </a:r>
            <a:endParaRPr lang="en-US" sz="1300" dirty="0"/>
          </a:p>
        </p:txBody>
      </p:sp>
      <p:sp>
        <p:nvSpPr>
          <p:cNvPr id="15" name="Shape 13"/>
          <p:cNvSpPr/>
          <p:nvPr/>
        </p:nvSpPr>
        <p:spPr>
          <a:xfrm>
            <a:off x="8859520" y="1729739"/>
            <a:ext cx="2519680" cy="2286000"/>
          </a:xfrm>
          <a:prstGeom prst="roundRect">
            <a:avLst>
              <a:gd name="adj" fmla="val 4444"/>
            </a:avLst>
          </a:prstGeom>
          <a:solidFill>
            <a:srgbClr val="B54A28"/>
          </a:solidFill>
          <a:ln/>
        </p:spPr>
      </p:sp>
      <p:sp>
        <p:nvSpPr>
          <p:cNvPr id="16" name="Text 14"/>
          <p:cNvSpPr/>
          <p:nvPr/>
        </p:nvSpPr>
        <p:spPr>
          <a:xfrm>
            <a:off x="9113520" y="1983739"/>
            <a:ext cx="207203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140F"/>
                </a:solidFill>
                <a:latin typeface="Arial" pitchFamily="34" charset="0"/>
                <a:ea typeface="Arial" pitchFamily="34" charset="-122"/>
                <a:cs typeface="Arial" pitchFamily="34" charset="-120"/>
              </a:rPr>
              <a:t>04</a:t>
            </a:r>
            <a:endParaRPr lang="en-US" sz="1200" dirty="0"/>
          </a:p>
        </p:txBody>
      </p:sp>
      <p:sp>
        <p:nvSpPr>
          <p:cNvPr id="17" name="Text 15"/>
          <p:cNvSpPr/>
          <p:nvPr/>
        </p:nvSpPr>
        <p:spPr>
          <a:xfrm>
            <a:off x="9113520" y="2273300"/>
            <a:ext cx="2072031" cy="513080"/>
          </a:xfrm>
          <a:prstGeom prst="rect">
            <a:avLst/>
          </a:prstGeom>
          <a:noFill/>
          <a:ln/>
        </p:spPr>
        <p:txBody>
          <a:bodyPr wrap="square" lIns="0" tIns="0" rIns="0" bIns="0" rtlCol="0" anchor="t">
            <a:normAutofit/>
          </a:bodyPr>
          <a:lstStyle/>
          <a:p>
            <a:pPr marL="0" indent="0" algn="l">
              <a:lnSpc>
                <a:spcPts val="1920"/>
              </a:lnSpc>
              <a:buNone/>
            </a:pPr>
            <a:r>
              <a:rPr lang="en-US" sz="1600" dirty="0">
                <a:solidFill>
                  <a:srgbClr val="F7F3EA"/>
                </a:solidFill>
                <a:latin typeface="Arial" pitchFamily="34" charset="0"/>
                <a:ea typeface="Arial" pitchFamily="34" charset="-122"/>
                <a:cs typeface="Arial" pitchFamily="34" charset="-120"/>
              </a:rPr>
              <a:t>Persuasion costs more</a:t>
            </a:r>
            <a:endParaRPr lang="en-US" sz="1600" dirty="0"/>
          </a:p>
        </p:txBody>
      </p:sp>
      <p:sp>
        <p:nvSpPr>
          <p:cNvPr id="18" name="Text 16"/>
          <p:cNvSpPr/>
          <p:nvPr/>
        </p:nvSpPr>
        <p:spPr>
          <a:xfrm>
            <a:off x="9113520" y="2837182"/>
            <a:ext cx="2072031" cy="9499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7F3EA"/>
                </a:solidFill>
                <a:latin typeface="Arial" pitchFamily="34" charset="0"/>
                <a:ea typeface="Arial" pitchFamily="34" charset="-122"/>
                <a:cs typeface="Arial" pitchFamily="34" charset="-120"/>
              </a:rPr>
              <a:t>A shopper who reads 3.7 stars needs more convincing, so every booking costs more to buy.</a:t>
            </a:r>
            <a:endParaRPr lang="en-US" sz="1300" dirty="0"/>
          </a:p>
        </p:txBody>
      </p:sp>
      <p:sp>
        <p:nvSpPr>
          <p:cNvPr id="19" name="Text 17"/>
          <p:cNvSpPr/>
          <p:nvPr/>
        </p:nvSpPr>
        <p:spPr>
          <a:xfrm>
            <a:off x="812800" y="4345939"/>
            <a:ext cx="10333990" cy="688340"/>
          </a:xfrm>
          <a:prstGeom prst="rect">
            <a:avLst/>
          </a:prstGeom>
          <a:noFill/>
          <a:ln/>
        </p:spPr>
        <p:txBody>
          <a:bodyPr wrap="square" lIns="0" tIns="0" rIns="0" bIns="0" rtlCol="0" anchor="t">
            <a:normAutofit/>
          </a:bodyPr>
          <a:lstStyle/>
          <a:p>
            <a:pPr marL="0" indent="0" algn="l">
              <a:lnSpc>
                <a:spcPts val="2610"/>
              </a:lnSpc>
              <a:buNone/>
            </a:pPr>
            <a:r>
              <a:rPr lang="en-US" sz="1800" dirty="0">
                <a:solidFill>
                  <a:srgbClr val="F7F3EA"/>
                </a:solidFill>
                <a:latin typeface="Arial" pitchFamily="34" charset="0"/>
                <a:ea typeface="Arial" pitchFamily="34" charset="-122"/>
                <a:cs typeface="Arial" pitchFamily="34" charset="-120"/>
              </a:rPr>
              <a:t>And a costlier booking argues for a deeper discount. The rating is not just an operations problem — it is a line item in the media budget.</a:t>
            </a:r>
            <a:endParaRPr lang="en-US" sz="1800" dirty="0"/>
          </a:p>
        </p:txBody>
      </p:sp>
      <p:sp>
        <p:nvSpPr>
          <p:cNvPr id="20" name="Text 18"/>
          <p:cNvSpPr/>
          <p:nvPr/>
        </p:nvSpPr>
        <p:spPr>
          <a:xfrm>
            <a:off x="812800" y="6238239"/>
            <a:ext cx="466828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071"/>
                </a:solidFill>
                <a:latin typeface="Arial" pitchFamily="34" charset="0"/>
                <a:ea typeface="Arial" pitchFamily="34" charset="-122"/>
                <a:cs typeface="Arial" pitchFamily="34" charset="-120"/>
              </a:rPr>
              <a:t>Current offers per the client: weekdays 25% off, weekends 15% off.</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3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1087517"/>
          </a:xfrm>
          <a:prstGeom prst="rect">
            <a:avLst/>
          </a:prstGeom>
          <a:noFill/>
          <a:ln/>
        </p:spPr>
        <p:txBody>
          <a:bodyPr wrap="square" lIns="0" tIns="0" rIns="0" bIns="0" rtlCol="0" anchor="t">
            <a:normAutofit/>
          </a:bodyPr>
          <a:lstStyle/>
          <a:p>
            <a:pPr marL="0" indent="0" algn="l">
              <a:lnSpc>
                <a:spcPts val="4187"/>
              </a:lnSpc>
              <a:buNone/>
            </a:pPr>
            <a:r>
              <a:rPr lang="en-US" sz="3988" dirty="0">
                <a:solidFill>
                  <a:srgbClr val="17140F"/>
                </a:solidFill>
                <a:latin typeface="Georgia" pitchFamily="34" charset="0"/>
                <a:ea typeface="Georgia" pitchFamily="34" charset="-122"/>
                <a:cs typeface="Georgia" pitchFamily="34" charset="-120"/>
              </a:rPr>
              <a:t>Twenty resorts on one road, selling one product</a:t>
            </a:r>
            <a:endParaRPr lang="en-US" sz="3988"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2139078"/>
          <a:ext cx="10556239" cy="2598896"/>
        </p:xfrm>
        <a:graphic>
          <a:graphicData uri="http://schemas.openxmlformats.org/drawingml/2006/table">
            <a:tbl>
              <a:tblPr/>
              <a:tblGrid>
                <a:gridCol w="2744622">
                  <a:extLst>
                    <a:ext uri="{9D8B030D-6E8A-4147-A177-3AD203B41FA5}">
                      <a16:colId xmlns:a16="http://schemas.microsoft.com/office/drawing/2014/main" val="20000"/>
                    </a:ext>
                  </a:extLst>
                </a:gridCol>
                <a:gridCol w="2322373">
                  <a:extLst>
                    <a:ext uri="{9D8B030D-6E8A-4147-A177-3AD203B41FA5}">
                      <a16:colId xmlns:a16="http://schemas.microsoft.com/office/drawing/2014/main" val="20001"/>
                    </a:ext>
                  </a:extLst>
                </a:gridCol>
                <a:gridCol w="1688998">
                  <a:extLst>
                    <a:ext uri="{9D8B030D-6E8A-4147-A177-3AD203B41FA5}">
                      <a16:colId xmlns:a16="http://schemas.microsoft.com/office/drawing/2014/main" val="20002"/>
                    </a:ext>
                  </a:extLst>
                </a:gridCol>
                <a:gridCol w="3800246">
                  <a:extLst>
                    <a:ext uri="{9D8B030D-6E8A-4147-A177-3AD203B41FA5}">
                      <a16:colId xmlns:a16="http://schemas.microsoft.com/office/drawing/2014/main" val="20003"/>
                    </a:ext>
                  </a:extLst>
                </a:gridCol>
              </a:tblGrid>
              <a:tr h="371237">
                <a:tc>
                  <a:txBody>
                    <a:bodyPr/>
                    <a:lstStyle/>
                    <a:p>
                      <a:pPr marL="0" indent="0">
                        <a:lnSpc>
                          <a:spcPts val="1897"/>
                        </a:lnSpc>
                        <a:buNone/>
                      </a:pPr>
                      <a:r>
                        <a:rPr lang="en-US" sz="1355" b="1" dirty="0">
                          <a:solidFill>
                            <a:srgbClr val="F7F3EA"/>
                          </a:solidFill>
                          <a:latin typeface="Arial" pitchFamily="34" charset="0"/>
                          <a:ea typeface="Arial" pitchFamily="34" charset="-122"/>
                          <a:cs typeface="Arial" pitchFamily="34" charset="-120"/>
                        </a:rPr>
                        <a:t>Resort</a:t>
                      </a:r>
                      <a:endParaRPr lang="en-US" sz="1355" dirty="0">
                        <a:latin typeface="Arial" charset="0"/>
                        <a:ea typeface="Arial" charset="0"/>
                        <a:cs typeface="Arial" charset="0"/>
                      </a:endParaRPr>
                    </a:p>
                  </a:txBody>
                  <a:tcPr marL="60216" marR="60216" marT="60216" marB="60216">
                    <a:lnL w="12700" cap="flat" cmpd="sng" algn="ctr">
                      <a:solidFill>
                        <a:srgbClr val="C5C2BB"/>
                      </a:solidFill>
                      <a:prstDash val="solid"/>
                      <a:round/>
                      <a:headEnd type="none" w="med" len="med"/>
                      <a:tailEnd type="none" w="med" len="med"/>
                    </a:lnL>
                    <a:lnR w="12700" cap="flat" cmpd="sng" algn="ctr">
                      <a:solidFill>
                        <a:srgbClr val="161410"/>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161410"/>
                      </a:solidFill>
                      <a:prstDash val="solid"/>
                      <a:round/>
                      <a:headEnd type="none" w="med" len="med"/>
                      <a:tailEnd type="none" w="med" len="med"/>
                    </a:lnB>
                    <a:solidFill>
                      <a:srgbClr val="17140F"/>
                    </a:solidFill>
                  </a:tcPr>
                </a:tc>
                <a:tc>
                  <a:txBody>
                    <a:bodyPr/>
                    <a:lstStyle/>
                    <a:p>
                      <a:pPr marL="0" indent="0">
                        <a:lnSpc>
                          <a:spcPts val="1897"/>
                        </a:lnSpc>
                        <a:buNone/>
                      </a:pPr>
                      <a:r>
                        <a:rPr lang="en-US" sz="1355" b="1" dirty="0">
                          <a:solidFill>
                            <a:srgbClr val="F7F3EA"/>
                          </a:solidFill>
                          <a:latin typeface="Arial" pitchFamily="34" charset="0"/>
                          <a:ea typeface="Arial" pitchFamily="34" charset="-122"/>
                          <a:cs typeface="Arial" pitchFamily="34" charset="-120"/>
                        </a:rPr>
                        <a:t>Day-out price</a:t>
                      </a:r>
                      <a:endParaRPr lang="en-US" sz="1355" dirty="0">
                        <a:latin typeface="Arial" charset="0"/>
                        <a:ea typeface="Arial" charset="0"/>
                        <a:cs typeface="Arial" charset="0"/>
                      </a:endParaRPr>
                    </a:p>
                  </a:txBody>
                  <a:tcPr marL="60216" marR="60216" marT="60216" marB="60216">
                    <a:lnL w="12700" cap="flat" cmpd="sng" algn="ctr">
                      <a:solidFill>
                        <a:srgbClr val="161410"/>
                      </a:solidFill>
                      <a:prstDash val="solid"/>
                      <a:round/>
                      <a:headEnd type="none" w="med" len="med"/>
                      <a:tailEnd type="none" w="med" len="med"/>
                    </a:lnL>
                    <a:lnR w="12700" cap="flat" cmpd="sng" algn="ctr">
                      <a:solidFill>
                        <a:srgbClr val="161410"/>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161410"/>
                      </a:solidFill>
                      <a:prstDash val="solid"/>
                      <a:round/>
                      <a:headEnd type="none" w="med" len="med"/>
                      <a:tailEnd type="none" w="med" len="med"/>
                    </a:lnB>
                    <a:solidFill>
                      <a:srgbClr val="17140F"/>
                    </a:solidFill>
                  </a:tcPr>
                </a:tc>
                <a:tc>
                  <a:txBody>
                    <a:bodyPr/>
                    <a:lstStyle/>
                    <a:p>
                      <a:pPr marL="0" indent="0">
                        <a:lnSpc>
                          <a:spcPts val="1897"/>
                        </a:lnSpc>
                        <a:buNone/>
                      </a:pPr>
                      <a:r>
                        <a:rPr lang="en-US" sz="1355" b="1" dirty="0">
                          <a:solidFill>
                            <a:srgbClr val="F7F3EA"/>
                          </a:solidFill>
                          <a:latin typeface="Arial" pitchFamily="34" charset="0"/>
                          <a:ea typeface="Arial" pitchFamily="34" charset="-122"/>
                          <a:cs typeface="Arial" pitchFamily="34" charset="-120"/>
                        </a:rPr>
                        <a:t>Ratings</a:t>
                      </a:r>
                      <a:endParaRPr lang="en-US" sz="1355" dirty="0">
                        <a:latin typeface="Arial" charset="0"/>
                        <a:ea typeface="Arial" charset="0"/>
                        <a:cs typeface="Arial" charset="0"/>
                      </a:endParaRPr>
                    </a:p>
                  </a:txBody>
                  <a:tcPr marL="60216" marR="60216" marT="60216" marB="60216">
                    <a:lnL w="12700" cap="flat" cmpd="sng" algn="ctr">
                      <a:solidFill>
                        <a:srgbClr val="161410"/>
                      </a:solidFill>
                      <a:prstDash val="solid"/>
                      <a:round/>
                      <a:headEnd type="none" w="med" len="med"/>
                      <a:tailEnd type="none" w="med" len="med"/>
                    </a:lnL>
                    <a:lnR w="12700" cap="flat" cmpd="sng" algn="ctr">
                      <a:solidFill>
                        <a:srgbClr val="161410"/>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161410"/>
                      </a:solidFill>
                      <a:prstDash val="solid"/>
                      <a:round/>
                      <a:headEnd type="none" w="med" len="med"/>
                      <a:tailEnd type="none" w="med" len="med"/>
                    </a:lnB>
                    <a:solidFill>
                      <a:srgbClr val="17140F"/>
                    </a:solidFill>
                  </a:tcPr>
                </a:tc>
                <a:tc>
                  <a:txBody>
                    <a:bodyPr/>
                    <a:lstStyle/>
                    <a:p>
                      <a:pPr marL="0" indent="0">
                        <a:lnSpc>
                          <a:spcPts val="1897"/>
                        </a:lnSpc>
                        <a:buNone/>
                      </a:pPr>
                      <a:r>
                        <a:rPr lang="en-US" sz="1355" b="1" dirty="0">
                          <a:solidFill>
                            <a:srgbClr val="F7F3EA"/>
                          </a:solidFill>
                          <a:latin typeface="Arial" pitchFamily="34" charset="0"/>
                          <a:ea typeface="Arial" pitchFamily="34" charset="-122"/>
                          <a:cs typeface="Arial" pitchFamily="34" charset="-120"/>
                        </a:rPr>
                        <a:t>What it claims</a:t>
                      </a:r>
                      <a:endParaRPr lang="en-US" sz="1355" dirty="0">
                        <a:latin typeface="Arial" charset="0"/>
                        <a:ea typeface="Arial" charset="0"/>
                        <a:cs typeface="Arial" charset="0"/>
                      </a:endParaRPr>
                    </a:p>
                  </a:txBody>
                  <a:tcPr marL="60216" marR="60216" marT="60216" marB="60216">
                    <a:lnL w="12700" cap="flat" cmpd="sng" algn="ctr">
                      <a:solidFill>
                        <a:srgbClr val="161410"/>
                      </a:solidFill>
                      <a:prstDash val="solid"/>
                      <a:round/>
                      <a:headEnd type="none" w="med" len="med"/>
                      <a:tailEnd type="none" w="med" len="med"/>
                    </a:lnL>
                    <a:lnR w="12700" cap="flat" cmpd="sng" algn="ctr">
                      <a:solidFill>
                        <a:srgbClr val="161410"/>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161410"/>
                      </a:solidFill>
                      <a:prstDash val="solid"/>
                      <a:round/>
                      <a:headEnd type="none" w="med" len="med"/>
                      <a:tailEnd type="none" w="med" len="med"/>
                    </a:lnB>
                    <a:solidFill>
                      <a:srgbClr val="17140F"/>
                    </a:solidFill>
                  </a:tcPr>
                </a:tc>
                <a:extLst>
                  <a:ext uri="{0D108BD9-81ED-4DB2-BD59-A6C34878D82A}">
                    <a16:rowId xmlns:a16="http://schemas.microsoft.com/office/drawing/2014/main" val="10000"/>
                  </a:ext>
                </a:extLst>
              </a:tr>
              <a:tr h="371237">
                <a:tc>
                  <a:txBody>
                    <a:bodyPr/>
                    <a:lstStyle/>
                    <a:p>
                      <a:pPr marL="0" indent="0">
                        <a:lnSpc>
                          <a:spcPts val="1897"/>
                        </a:lnSpc>
                        <a:buNone/>
                      </a:pPr>
                      <a:r>
                        <a:rPr lang="en-US" sz="1355" dirty="0">
                          <a:solidFill>
                            <a:srgbClr val="17140F"/>
                          </a:solidFill>
                          <a:latin typeface="Arial" pitchFamily="34" charset="0"/>
                          <a:ea typeface="Arial" pitchFamily="34" charset="-122"/>
                          <a:cs typeface="Arial" pitchFamily="34" charset="-120"/>
                        </a:rPr>
                        <a:t>Guhantara</a:t>
                      </a:r>
                      <a:endParaRPr lang="en-US" sz="1355" dirty="0">
                        <a:latin typeface="Arial" charset="0"/>
                        <a:ea typeface="Arial" charset="0"/>
                        <a:cs typeface="Arial" charset="0"/>
                      </a:endParaRPr>
                    </a:p>
                  </a:txBody>
                  <a:tcPr marL="60216" marR="60216" marT="60216" marB="60216">
                    <a:lnL w="12700" cap="flat" cmpd="sng" algn="ctr">
                      <a:solidFill>
                        <a:srgbClr val="C5C2BB"/>
                      </a:solidFill>
                      <a:prstDash val="solid"/>
                      <a:round/>
                      <a:headEnd type="none" w="med" len="med"/>
                      <a:tailEnd type="none" w="med" len="med"/>
                    </a:lnL>
                    <a:lnR w="12700" cap="flat" cmpd="sng" algn="ctr">
                      <a:solidFill>
                        <a:srgbClr val="B9B4A9"/>
                      </a:solidFill>
                      <a:prstDash val="solid"/>
                      <a:round/>
                      <a:headEnd type="none" w="med" len="med"/>
                      <a:tailEnd type="none" w="med" len="med"/>
                    </a:lnR>
                    <a:lnT w="12700" cap="flat" cmpd="sng" algn="ctr">
                      <a:solidFill>
                        <a:srgbClr val="161410"/>
                      </a:solidFill>
                      <a:prstDash val="solid"/>
                      <a:round/>
                      <a:headEnd type="none" w="med" len="med"/>
                      <a:tailEnd type="none" w="med" len="med"/>
                    </a:lnT>
                    <a:lnB w="12700" cap="flat" cmpd="sng" algn="ctr">
                      <a:solidFill>
                        <a:srgbClr val="B9B4A9"/>
                      </a:solidFill>
                      <a:prstDash val="solid"/>
                      <a:round/>
                      <a:headEnd type="none" w="med" len="med"/>
                      <a:tailEnd type="none" w="med" len="med"/>
                    </a:lnB>
                    <a:solidFill>
                      <a:srgbClr val="E8E1D3"/>
                    </a:solidFill>
                  </a:tcPr>
                </a:tc>
                <a:tc>
                  <a:txBody>
                    <a:bodyPr/>
                    <a:lstStyle/>
                    <a:p>
                      <a:pPr marL="0" indent="0">
                        <a:lnSpc>
                          <a:spcPts val="1897"/>
                        </a:lnSpc>
                        <a:buNone/>
                      </a:pPr>
                      <a:r>
                        <a:rPr lang="en-US" sz="1355" dirty="0">
                          <a:solidFill>
                            <a:srgbClr val="17140F"/>
                          </a:solidFill>
                          <a:latin typeface="Arial" pitchFamily="34" charset="0"/>
                          <a:ea typeface="Arial" pitchFamily="34" charset="-122"/>
                          <a:cs typeface="Arial" pitchFamily="34" charset="-120"/>
                        </a:rPr>
                        <a:t>₹1,499 from ₹1,999</a:t>
                      </a:r>
                      <a:endParaRPr lang="en-US" sz="1355" dirty="0">
                        <a:latin typeface="Arial" charset="0"/>
                        <a:ea typeface="Arial" charset="0"/>
                        <a:cs typeface="Arial" charset="0"/>
                      </a:endParaRPr>
                    </a:p>
                  </a:txBody>
                  <a:tcPr marL="60216" marR="60216" marT="60216" marB="60216">
                    <a:lnL w="12700" cap="flat" cmpd="sng" algn="ctr">
                      <a:solidFill>
                        <a:srgbClr val="B9B4A9"/>
                      </a:solidFill>
                      <a:prstDash val="solid"/>
                      <a:round/>
                      <a:headEnd type="none" w="med" len="med"/>
                      <a:tailEnd type="none" w="med" len="med"/>
                    </a:lnL>
                    <a:lnR w="12700" cap="flat" cmpd="sng" algn="ctr">
                      <a:solidFill>
                        <a:srgbClr val="B9B4A9"/>
                      </a:solidFill>
                      <a:prstDash val="solid"/>
                      <a:round/>
                      <a:headEnd type="none" w="med" len="med"/>
                      <a:tailEnd type="none" w="med" len="med"/>
                    </a:lnR>
                    <a:lnT w="12700" cap="flat" cmpd="sng" algn="ctr">
                      <a:solidFill>
                        <a:srgbClr val="161410"/>
                      </a:solidFill>
                      <a:prstDash val="solid"/>
                      <a:round/>
                      <a:headEnd type="none" w="med" len="med"/>
                      <a:tailEnd type="none" w="med" len="med"/>
                    </a:lnT>
                    <a:lnB w="12700" cap="flat" cmpd="sng" algn="ctr">
                      <a:solidFill>
                        <a:srgbClr val="B9B4A9"/>
                      </a:solidFill>
                      <a:prstDash val="solid"/>
                      <a:round/>
                      <a:headEnd type="none" w="med" len="med"/>
                      <a:tailEnd type="none" w="med" len="med"/>
                    </a:lnB>
                    <a:solidFill>
                      <a:srgbClr val="E8E1D3"/>
                    </a:solidFill>
                  </a:tcPr>
                </a:tc>
                <a:tc>
                  <a:txBody>
                    <a:bodyPr/>
                    <a:lstStyle/>
                    <a:p>
                      <a:pPr marL="0" indent="0">
                        <a:lnSpc>
                          <a:spcPts val="1897"/>
                        </a:lnSpc>
                        <a:buNone/>
                      </a:pPr>
                      <a:r>
                        <a:rPr lang="en-US" sz="1355" dirty="0">
                          <a:solidFill>
                            <a:srgbClr val="17140F"/>
                          </a:solidFill>
                          <a:latin typeface="Arial" pitchFamily="34" charset="0"/>
                          <a:ea typeface="Arial" pitchFamily="34" charset="-122"/>
                          <a:cs typeface="Arial" pitchFamily="34" charset="-120"/>
                        </a:rPr>
                        <a:t>18,670</a:t>
                      </a:r>
                      <a:endParaRPr lang="en-US" sz="1355" dirty="0">
                        <a:latin typeface="Arial" charset="0"/>
                        <a:ea typeface="Arial" charset="0"/>
                        <a:cs typeface="Arial" charset="0"/>
                      </a:endParaRPr>
                    </a:p>
                  </a:txBody>
                  <a:tcPr marL="60216" marR="60216" marT="60216" marB="60216">
                    <a:lnL w="12700" cap="flat" cmpd="sng" algn="ctr">
                      <a:solidFill>
                        <a:srgbClr val="B9B4A9"/>
                      </a:solidFill>
                      <a:prstDash val="solid"/>
                      <a:round/>
                      <a:headEnd type="none" w="med" len="med"/>
                      <a:tailEnd type="none" w="med" len="med"/>
                    </a:lnL>
                    <a:lnR w="12700" cap="flat" cmpd="sng" algn="ctr">
                      <a:solidFill>
                        <a:srgbClr val="B9B4A9"/>
                      </a:solidFill>
                      <a:prstDash val="solid"/>
                      <a:round/>
                      <a:headEnd type="none" w="med" len="med"/>
                      <a:tailEnd type="none" w="med" len="med"/>
                    </a:lnR>
                    <a:lnT w="12700" cap="flat" cmpd="sng" algn="ctr">
                      <a:solidFill>
                        <a:srgbClr val="161410"/>
                      </a:solidFill>
                      <a:prstDash val="solid"/>
                      <a:round/>
                      <a:headEnd type="none" w="med" len="med"/>
                      <a:tailEnd type="none" w="med" len="med"/>
                    </a:lnT>
                    <a:lnB w="12700" cap="flat" cmpd="sng" algn="ctr">
                      <a:solidFill>
                        <a:srgbClr val="B9B4A9"/>
                      </a:solidFill>
                      <a:prstDash val="solid"/>
                      <a:round/>
                      <a:headEnd type="none" w="med" len="med"/>
                      <a:tailEnd type="none" w="med" len="med"/>
                    </a:lnB>
                    <a:solidFill>
                      <a:srgbClr val="E8E1D3"/>
                    </a:solidFill>
                  </a:tcPr>
                </a:tc>
                <a:tc>
                  <a:txBody>
                    <a:bodyPr/>
                    <a:lstStyle/>
                    <a:p>
                      <a:pPr marL="0" indent="0">
                        <a:lnSpc>
                          <a:spcPts val="1897"/>
                        </a:lnSpc>
                        <a:buNone/>
                      </a:pPr>
                      <a:r>
                        <a:rPr lang="en-US" sz="1355" dirty="0">
                          <a:solidFill>
                            <a:srgbClr val="17140F"/>
                          </a:solidFill>
                          <a:latin typeface="Arial" pitchFamily="34" charset="0"/>
                          <a:ea typeface="Arial" pitchFamily="34" charset="-122"/>
                          <a:cs typeface="Arial" pitchFamily="34" charset="-120"/>
                        </a:rPr>
                        <a:t>Underground, 10 m below ground</a:t>
                      </a:r>
                      <a:endParaRPr lang="en-US" sz="1355" dirty="0">
                        <a:latin typeface="Arial" charset="0"/>
                        <a:ea typeface="Arial" charset="0"/>
                        <a:cs typeface="Arial" charset="0"/>
                      </a:endParaRPr>
                    </a:p>
                  </a:txBody>
                  <a:tcPr marL="60216" marR="60216" marT="60216" marB="60216">
                    <a:lnL w="12700" cap="flat" cmpd="sng" algn="ctr">
                      <a:solidFill>
                        <a:srgbClr val="B9B4A9"/>
                      </a:solidFill>
                      <a:prstDash val="solid"/>
                      <a:round/>
                      <a:headEnd type="none" w="med" len="med"/>
                      <a:tailEnd type="none" w="med" len="med"/>
                    </a:lnL>
                    <a:lnR w="12700" cap="flat" cmpd="sng" algn="ctr">
                      <a:solidFill>
                        <a:srgbClr val="B9B4A9"/>
                      </a:solidFill>
                      <a:prstDash val="solid"/>
                      <a:round/>
                      <a:headEnd type="none" w="med" len="med"/>
                      <a:tailEnd type="none" w="med" len="med"/>
                    </a:lnR>
                    <a:lnT w="12700" cap="flat" cmpd="sng" algn="ctr">
                      <a:solidFill>
                        <a:srgbClr val="161410"/>
                      </a:solidFill>
                      <a:prstDash val="solid"/>
                      <a:round/>
                      <a:headEnd type="none" w="med" len="med"/>
                      <a:tailEnd type="none" w="med" len="med"/>
                    </a:lnT>
                    <a:lnB w="12700" cap="flat" cmpd="sng" algn="ctr">
                      <a:solidFill>
                        <a:srgbClr val="B9B4A9"/>
                      </a:solidFill>
                      <a:prstDash val="solid"/>
                      <a:round/>
                      <a:headEnd type="none" w="med" len="med"/>
                      <a:tailEnd type="none" w="med" len="med"/>
                    </a:lnB>
                    <a:solidFill>
                      <a:srgbClr val="E8E1D3"/>
                    </a:solidFill>
                  </a:tcPr>
                </a:tc>
                <a:extLst>
                  <a:ext uri="{0D108BD9-81ED-4DB2-BD59-A6C34878D82A}">
                    <a16:rowId xmlns:a16="http://schemas.microsoft.com/office/drawing/2014/main" val="10001"/>
                  </a:ext>
                </a:extLst>
              </a:tr>
              <a:tr h="371237">
                <a:tc>
                  <a:txBody>
                    <a:bodyPr/>
                    <a:lstStyle/>
                    <a:p>
                      <a:pPr marL="0" indent="0">
                        <a:lnSpc>
                          <a:spcPts val="1897"/>
                        </a:lnSpc>
                        <a:buNone/>
                      </a:pPr>
                      <a:r>
                        <a:rPr lang="en-US" sz="1355" dirty="0">
                          <a:solidFill>
                            <a:srgbClr val="17140F"/>
                          </a:solidFill>
                          <a:latin typeface="Arial" pitchFamily="34" charset="0"/>
                          <a:ea typeface="Arial" pitchFamily="34" charset="-122"/>
                          <a:cs typeface="Arial" pitchFamily="34" charset="-120"/>
                        </a:rPr>
                        <a:t>Wild Valley</a:t>
                      </a:r>
                      <a:endParaRPr lang="en-US" sz="1355" dirty="0">
                        <a:latin typeface="Arial" charset="0"/>
                        <a:ea typeface="Arial" charset="0"/>
                        <a:cs typeface="Arial" charset="0"/>
                      </a:endParaRPr>
                    </a:p>
                  </a:txBody>
                  <a:tcPr marL="60216" marR="60216" marT="60216" marB="60216">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B9B4A9"/>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897"/>
                        </a:lnSpc>
                        <a:buNone/>
                      </a:pPr>
                      <a:r>
                        <a:rPr lang="en-US" sz="1355" dirty="0">
                          <a:solidFill>
                            <a:srgbClr val="17140F"/>
                          </a:solidFill>
                          <a:latin typeface="Arial" pitchFamily="34" charset="0"/>
                          <a:ea typeface="Arial" pitchFamily="34" charset="-122"/>
                          <a:cs typeface="Arial" pitchFamily="34" charset="-120"/>
                        </a:rPr>
                        <a:t>₹1,349 from ₹1,499</a:t>
                      </a:r>
                      <a:endParaRPr lang="en-US" sz="1355" dirty="0">
                        <a:latin typeface="Arial" charset="0"/>
                        <a:ea typeface="Arial" charset="0"/>
                        <a:cs typeface="Arial" charset="0"/>
                      </a:endParaRPr>
                    </a:p>
                  </a:txBody>
                  <a:tcPr marL="60216" marR="60216" marT="60216" marB="60216">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B9B4A9"/>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897"/>
                        </a:lnSpc>
                        <a:buNone/>
                      </a:pPr>
                      <a:r>
                        <a:rPr lang="en-US" sz="1355" dirty="0">
                          <a:solidFill>
                            <a:srgbClr val="17140F"/>
                          </a:solidFill>
                          <a:latin typeface="Arial" pitchFamily="34" charset="0"/>
                          <a:ea typeface="Arial" pitchFamily="34" charset="-122"/>
                          <a:cs typeface="Arial" pitchFamily="34" charset="-120"/>
                        </a:rPr>
                        <a:t>726</a:t>
                      </a:r>
                      <a:endParaRPr lang="en-US" sz="1355" dirty="0">
                        <a:latin typeface="Arial" charset="0"/>
                        <a:ea typeface="Arial" charset="0"/>
                        <a:cs typeface="Arial" charset="0"/>
                      </a:endParaRPr>
                    </a:p>
                  </a:txBody>
                  <a:tcPr marL="60216" marR="60216" marT="60216" marB="60216">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B9B4A9"/>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897"/>
                        </a:lnSpc>
                        <a:buNone/>
                      </a:pPr>
                      <a:r>
                        <a:rPr lang="en-US" sz="1355" dirty="0">
                          <a:solidFill>
                            <a:srgbClr val="17140F"/>
                          </a:solidFill>
                          <a:latin typeface="Arial" pitchFamily="34" charset="0"/>
                          <a:ea typeface="Arial" pitchFamily="34" charset="-122"/>
                          <a:cs typeface="Arial" pitchFamily="34" charset="-120"/>
                        </a:rPr>
                        <a:t>Zip-lining, rappelling, trekking</a:t>
                      </a:r>
                      <a:endParaRPr lang="en-US" sz="1355" dirty="0">
                        <a:latin typeface="Arial" charset="0"/>
                        <a:ea typeface="Arial" charset="0"/>
                        <a:cs typeface="Arial" charset="0"/>
                      </a:endParaRPr>
                    </a:p>
                  </a:txBody>
                  <a:tcPr marL="60216" marR="60216" marT="60216" marB="60216">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B9B4A9"/>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extLst>
                  <a:ext uri="{0D108BD9-81ED-4DB2-BD59-A6C34878D82A}">
                    <a16:rowId xmlns:a16="http://schemas.microsoft.com/office/drawing/2014/main" val="10002"/>
                  </a:ext>
                </a:extLst>
              </a:tr>
              <a:tr h="371237">
                <a:tc>
                  <a:txBody>
                    <a:bodyPr/>
                    <a:lstStyle/>
                    <a:p>
                      <a:pPr marL="0" indent="0">
                        <a:lnSpc>
                          <a:spcPts val="1897"/>
                        </a:lnSpc>
                        <a:buNone/>
                      </a:pPr>
                      <a:r>
                        <a:rPr lang="en-US" sz="1355" dirty="0">
                          <a:solidFill>
                            <a:srgbClr val="17140F"/>
                          </a:solidFill>
                          <a:latin typeface="Arial" pitchFamily="34" charset="0"/>
                          <a:ea typeface="Arial" pitchFamily="34" charset="-122"/>
                          <a:cs typeface="Arial" pitchFamily="34" charset="-120"/>
                        </a:rPr>
                        <a:t>Elim Resort</a:t>
                      </a:r>
                      <a:endParaRPr lang="en-US" sz="1355" dirty="0">
                        <a:latin typeface="Arial" charset="0"/>
                        <a:ea typeface="Arial" charset="0"/>
                        <a:cs typeface="Arial" charset="0"/>
                      </a:endParaRPr>
                    </a:p>
                  </a:txBody>
                  <a:tcPr marL="60216" marR="60216" marT="60216" marB="60216">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897"/>
                        </a:lnSpc>
                        <a:buNone/>
                      </a:pPr>
                      <a:r>
                        <a:rPr lang="en-US" sz="1355" dirty="0">
                          <a:solidFill>
                            <a:srgbClr val="17140F"/>
                          </a:solidFill>
                          <a:latin typeface="Arial" pitchFamily="34" charset="0"/>
                          <a:ea typeface="Arial" pitchFamily="34" charset="-122"/>
                          <a:cs typeface="Arial" pitchFamily="34" charset="-120"/>
                        </a:rPr>
                        <a:t>₹1,319 from ₹1,600</a:t>
                      </a:r>
                      <a:endParaRPr lang="en-US" sz="1355" dirty="0">
                        <a:latin typeface="Arial" charset="0"/>
                        <a:ea typeface="Arial" charset="0"/>
                        <a:cs typeface="Arial" charset="0"/>
                      </a:endParaRPr>
                    </a:p>
                  </a:txBody>
                  <a:tcPr marL="60216" marR="60216" marT="60216" marB="60216">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897"/>
                        </a:lnSpc>
                        <a:buNone/>
                      </a:pPr>
                      <a:r>
                        <a:rPr lang="en-US" sz="1355" dirty="0">
                          <a:solidFill>
                            <a:srgbClr val="17140F"/>
                          </a:solidFill>
                          <a:latin typeface="Arial" pitchFamily="34" charset="0"/>
                          <a:ea typeface="Arial" pitchFamily="34" charset="-122"/>
                          <a:cs typeface="Arial" pitchFamily="34" charset="-120"/>
                        </a:rPr>
                        <a:t>754</a:t>
                      </a:r>
                      <a:endParaRPr lang="en-US" sz="1355" dirty="0">
                        <a:latin typeface="Arial" charset="0"/>
                        <a:ea typeface="Arial" charset="0"/>
                        <a:cs typeface="Arial" charset="0"/>
                      </a:endParaRPr>
                    </a:p>
                  </a:txBody>
                  <a:tcPr marL="60216" marR="60216" marT="60216" marB="60216">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897"/>
                        </a:lnSpc>
                        <a:buNone/>
                      </a:pPr>
                      <a:r>
                        <a:rPr lang="en-US" sz="1355" dirty="0">
                          <a:solidFill>
                            <a:srgbClr val="17140F"/>
                          </a:solidFill>
                          <a:latin typeface="Arial" pitchFamily="34" charset="0"/>
                          <a:ea typeface="Arial" pitchFamily="34" charset="-122"/>
                          <a:cs typeface="Arial" pitchFamily="34" charset="-120"/>
                        </a:rPr>
                        <a:t>50 rooms, kids' play area</a:t>
                      </a:r>
                      <a:endParaRPr lang="en-US" sz="1355" dirty="0">
                        <a:latin typeface="Arial" charset="0"/>
                        <a:ea typeface="Arial" charset="0"/>
                        <a:cs typeface="Arial" charset="0"/>
                      </a:endParaRPr>
                    </a:p>
                  </a:txBody>
                  <a:tcPr marL="60216" marR="60216" marT="60216" marB="60216">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extLst>
                  <a:ext uri="{0D108BD9-81ED-4DB2-BD59-A6C34878D82A}">
                    <a16:rowId xmlns:a16="http://schemas.microsoft.com/office/drawing/2014/main" val="10003"/>
                  </a:ext>
                </a:extLst>
              </a:tr>
              <a:tr h="371316">
                <a:tc>
                  <a:txBody>
                    <a:bodyPr/>
                    <a:lstStyle/>
                    <a:p>
                      <a:pPr marL="0" indent="0">
                        <a:lnSpc>
                          <a:spcPts val="1897"/>
                        </a:lnSpc>
                        <a:buNone/>
                      </a:pPr>
                      <a:r>
                        <a:rPr lang="en-US" sz="1355" dirty="0">
                          <a:solidFill>
                            <a:srgbClr val="17140F"/>
                          </a:solidFill>
                          <a:latin typeface="Arial" pitchFamily="34" charset="0"/>
                          <a:ea typeface="Arial" pitchFamily="34" charset="-122"/>
                          <a:cs typeface="Arial" pitchFamily="34" charset="-120"/>
                        </a:rPr>
                        <a:t>Discovery Village</a:t>
                      </a:r>
                      <a:endParaRPr lang="en-US" sz="1355" dirty="0">
                        <a:latin typeface="Arial" charset="0"/>
                        <a:ea typeface="Arial" charset="0"/>
                        <a:cs typeface="Arial" charset="0"/>
                      </a:endParaRPr>
                    </a:p>
                  </a:txBody>
                  <a:tcPr marL="60216" marR="60216" marT="60216" marB="60216">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897"/>
                        </a:lnSpc>
                        <a:buNone/>
                      </a:pPr>
                      <a:r>
                        <a:rPr lang="en-US" sz="1355" dirty="0">
                          <a:solidFill>
                            <a:srgbClr val="17140F"/>
                          </a:solidFill>
                          <a:latin typeface="Arial" pitchFamily="34" charset="0"/>
                          <a:ea typeface="Arial" pitchFamily="34" charset="-122"/>
                          <a:cs typeface="Arial" pitchFamily="34" charset="-120"/>
                        </a:rPr>
                        <a:t>Not listed</a:t>
                      </a:r>
                      <a:endParaRPr lang="en-US" sz="1355" dirty="0">
                        <a:latin typeface="Arial" charset="0"/>
                        <a:ea typeface="Arial" charset="0"/>
                        <a:cs typeface="Arial" charset="0"/>
                      </a:endParaRPr>
                    </a:p>
                  </a:txBody>
                  <a:tcPr marL="60216" marR="60216" marT="60216" marB="60216">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897"/>
                        </a:lnSpc>
                        <a:buNone/>
                      </a:pPr>
                      <a:r>
                        <a:rPr lang="en-US" sz="1355" dirty="0">
                          <a:solidFill>
                            <a:srgbClr val="17140F"/>
                          </a:solidFill>
                          <a:latin typeface="Arial" pitchFamily="34" charset="0"/>
                          <a:ea typeface="Arial" pitchFamily="34" charset="-122"/>
                          <a:cs typeface="Arial" pitchFamily="34" charset="-120"/>
                        </a:rPr>
                        <a:t>—</a:t>
                      </a:r>
                      <a:endParaRPr lang="en-US" sz="1355" dirty="0">
                        <a:latin typeface="Arial" charset="0"/>
                        <a:ea typeface="Arial" charset="0"/>
                        <a:cs typeface="Arial" charset="0"/>
                      </a:endParaRPr>
                    </a:p>
                  </a:txBody>
                  <a:tcPr marL="60216" marR="60216" marT="60216" marB="60216">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897"/>
                        </a:lnSpc>
                        <a:buNone/>
                      </a:pPr>
                      <a:r>
                        <a:rPr lang="en-US" sz="1355" dirty="0">
                          <a:solidFill>
                            <a:srgbClr val="17140F"/>
                          </a:solidFill>
                          <a:latin typeface="Arial" pitchFamily="34" charset="0"/>
                          <a:ea typeface="Arial" pitchFamily="34" charset="-122"/>
                          <a:cs typeface="Arial" pitchFamily="34" charset="-120"/>
                        </a:rPr>
                        <a:t>Adventure and relaxation</a:t>
                      </a:r>
                      <a:endParaRPr lang="en-US" sz="1355" dirty="0">
                        <a:latin typeface="Arial" charset="0"/>
                        <a:ea typeface="Arial" charset="0"/>
                        <a:cs typeface="Arial" charset="0"/>
                      </a:endParaRPr>
                    </a:p>
                  </a:txBody>
                  <a:tcPr marL="60216" marR="60216" marT="60216" marB="60216">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extLst>
                  <a:ext uri="{0D108BD9-81ED-4DB2-BD59-A6C34878D82A}">
                    <a16:rowId xmlns:a16="http://schemas.microsoft.com/office/drawing/2014/main" val="10004"/>
                  </a:ext>
                </a:extLst>
              </a:tr>
              <a:tr h="371316">
                <a:tc>
                  <a:txBody>
                    <a:bodyPr/>
                    <a:lstStyle/>
                    <a:p>
                      <a:pPr marL="0" indent="0">
                        <a:lnSpc>
                          <a:spcPts val="1897"/>
                        </a:lnSpc>
                        <a:buNone/>
                      </a:pPr>
                      <a:r>
                        <a:rPr lang="en-US" sz="1355" dirty="0">
                          <a:solidFill>
                            <a:srgbClr val="17140F"/>
                          </a:solidFill>
                          <a:latin typeface="Arial" pitchFamily="34" charset="0"/>
                          <a:ea typeface="Arial" pitchFamily="34" charset="-122"/>
                          <a:cs typeface="Arial" pitchFamily="34" charset="-120"/>
                        </a:rPr>
                        <a:t>Urban Valley</a:t>
                      </a:r>
                      <a:endParaRPr lang="en-US" sz="1355" dirty="0">
                        <a:latin typeface="Arial" charset="0"/>
                        <a:ea typeface="Arial" charset="0"/>
                        <a:cs typeface="Arial" charset="0"/>
                      </a:endParaRPr>
                    </a:p>
                  </a:txBody>
                  <a:tcPr marL="60216" marR="60216" marT="60216" marB="60216">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897"/>
                        </a:lnSpc>
                        <a:buNone/>
                      </a:pPr>
                      <a:r>
                        <a:rPr lang="en-US" sz="1355" dirty="0">
                          <a:solidFill>
                            <a:srgbClr val="17140F"/>
                          </a:solidFill>
                          <a:latin typeface="Arial" pitchFamily="34" charset="0"/>
                          <a:ea typeface="Arial" pitchFamily="34" charset="-122"/>
                          <a:cs typeface="Arial" pitchFamily="34" charset="-120"/>
                        </a:rPr>
                        <a:t>Not listed</a:t>
                      </a:r>
                      <a:endParaRPr lang="en-US" sz="1355" dirty="0">
                        <a:latin typeface="Arial" charset="0"/>
                        <a:ea typeface="Arial" charset="0"/>
                        <a:cs typeface="Arial" charset="0"/>
                      </a:endParaRPr>
                    </a:p>
                  </a:txBody>
                  <a:tcPr marL="60216" marR="60216" marT="60216" marB="60216">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897"/>
                        </a:lnSpc>
                        <a:buNone/>
                      </a:pPr>
                      <a:r>
                        <a:rPr lang="en-US" sz="1355" dirty="0">
                          <a:solidFill>
                            <a:srgbClr val="17140F"/>
                          </a:solidFill>
                          <a:latin typeface="Arial" pitchFamily="34" charset="0"/>
                          <a:ea typeface="Arial" pitchFamily="34" charset="-122"/>
                          <a:cs typeface="Arial" pitchFamily="34" charset="-120"/>
                        </a:rPr>
                        <a:t>—</a:t>
                      </a:r>
                      <a:endParaRPr lang="en-US" sz="1355" dirty="0">
                        <a:latin typeface="Arial" charset="0"/>
                        <a:ea typeface="Arial" charset="0"/>
                        <a:cs typeface="Arial" charset="0"/>
                      </a:endParaRPr>
                    </a:p>
                  </a:txBody>
                  <a:tcPr marL="60216" marR="60216" marT="60216" marB="60216">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897"/>
                        </a:lnSpc>
                        <a:buNone/>
                      </a:pPr>
                      <a:r>
                        <a:rPr lang="en-US" sz="1355" dirty="0">
                          <a:solidFill>
                            <a:srgbClr val="17140F"/>
                          </a:solidFill>
                          <a:latin typeface="Arial" pitchFamily="34" charset="0"/>
                          <a:ea typeface="Arial" pitchFamily="34" charset="-122"/>
                          <a:cs typeface="Arial" pitchFamily="34" charset="-120"/>
                        </a:rPr>
                        <a:t>Ultra-modern amenities</a:t>
                      </a:r>
                      <a:endParaRPr lang="en-US" sz="1355" dirty="0">
                        <a:latin typeface="Arial" charset="0"/>
                        <a:ea typeface="Arial" charset="0"/>
                        <a:cs typeface="Arial" charset="0"/>
                      </a:endParaRPr>
                    </a:p>
                  </a:txBody>
                  <a:tcPr marL="60216" marR="60216" marT="60216" marB="60216">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extLst>
                  <a:ext uri="{0D108BD9-81ED-4DB2-BD59-A6C34878D82A}">
                    <a16:rowId xmlns:a16="http://schemas.microsoft.com/office/drawing/2014/main" val="10005"/>
                  </a:ext>
                </a:extLst>
              </a:tr>
              <a:tr h="371316">
                <a:tc>
                  <a:txBody>
                    <a:bodyPr/>
                    <a:lstStyle/>
                    <a:p>
                      <a:pPr marL="0" indent="0">
                        <a:lnSpc>
                          <a:spcPts val="1897"/>
                        </a:lnSpc>
                        <a:buNone/>
                      </a:pPr>
                      <a:r>
                        <a:rPr lang="en-US" sz="1355" dirty="0">
                          <a:solidFill>
                            <a:srgbClr val="17140F"/>
                          </a:solidFill>
                          <a:latin typeface="Arial" pitchFamily="34" charset="0"/>
                          <a:ea typeface="Arial" pitchFamily="34" charset="-122"/>
                          <a:cs typeface="Arial" pitchFamily="34" charset="-120"/>
                        </a:rPr>
                        <a:t>Khedda</a:t>
                      </a:r>
                      <a:endParaRPr lang="en-US" sz="1355" dirty="0">
                        <a:latin typeface="Arial" charset="0"/>
                        <a:ea typeface="Arial" charset="0"/>
                        <a:cs typeface="Arial" charset="0"/>
                      </a:endParaRPr>
                    </a:p>
                  </a:txBody>
                  <a:tcPr marL="60216" marR="60216" marT="60216" marB="60216">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897"/>
                        </a:lnSpc>
                        <a:buNone/>
                      </a:pPr>
                      <a:r>
                        <a:rPr lang="en-US" sz="1355" dirty="0">
                          <a:solidFill>
                            <a:srgbClr val="17140F"/>
                          </a:solidFill>
                          <a:latin typeface="Arial" pitchFamily="34" charset="0"/>
                          <a:ea typeface="Arial" pitchFamily="34" charset="-122"/>
                          <a:cs typeface="Arial" pitchFamily="34" charset="-120"/>
                        </a:rPr>
                        <a:t>Not listed</a:t>
                      </a:r>
                      <a:endParaRPr lang="en-US" sz="1355" dirty="0">
                        <a:latin typeface="Arial" charset="0"/>
                        <a:ea typeface="Arial" charset="0"/>
                        <a:cs typeface="Arial" charset="0"/>
                      </a:endParaRPr>
                    </a:p>
                  </a:txBody>
                  <a:tcPr marL="60216" marR="60216" marT="60216" marB="60216">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897"/>
                        </a:lnSpc>
                        <a:buNone/>
                      </a:pPr>
                      <a:r>
                        <a:rPr lang="en-US" sz="1355" dirty="0">
                          <a:solidFill>
                            <a:srgbClr val="17140F"/>
                          </a:solidFill>
                          <a:latin typeface="Arial" pitchFamily="34" charset="0"/>
                          <a:ea typeface="Arial" pitchFamily="34" charset="-122"/>
                          <a:cs typeface="Arial" pitchFamily="34" charset="-120"/>
                        </a:rPr>
                        <a:t>—</a:t>
                      </a:r>
                      <a:endParaRPr lang="en-US" sz="1355" dirty="0">
                        <a:latin typeface="Arial" charset="0"/>
                        <a:ea typeface="Arial" charset="0"/>
                        <a:cs typeface="Arial" charset="0"/>
                      </a:endParaRPr>
                    </a:p>
                  </a:txBody>
                  <a:tcPr marL="60216" marR="60216" marT="60216" marB="60216">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897"/>
                        </a:lnSpc>
                        <a:buNone/>
                      </a:pPr>
                      <a:r>
                        <a:rPr lang="en-US" sz="1355" dirty="0">
                          <a:solidFill>
                            <a:srgbClr val="17140F"/>
                          </a:solidFill>
                          <a:latin typeface="Arial" pitchFamily="34" charset="0"/>
                          <a:ea typeface="Arial" pitchFamily="34" charset="-122"/>
                          <a:cs typeface="Arial" pitchFamily="34" charset="-120"/>
                        </a:rPr>
                        <a:t>Waterfall, outdoor pool</a:t>
                      </a:r>
                      <a:endParaRPr lang="en-US" sz="1355" dirty="0">
                        <a:latin typeface="Arial" charset="0"/>
                        <a:ea typeface="Arial" charset="0"/>
                        <a:cs typeface="Arial" charset="0"/>
                      </a:endParaRPr>
                    </a:p>
                  </a:txBody>
                  <a:tcPr marL="60216" marR="60216" marT="60216" marB="60216">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4" name="Text 1"/>
          <p:cNvSpPr/>
          <p:nvPr/>
        </p:nvSpPr>
        <p:spPr>
          <a:xfrm>
            <a:off x="812800" y="4991974"/>
            <a:ext cx="10333990" cy="875427"/>
          </a:xfrm>
          <a:prstGeom prst="rect">
            <a:avLst/>
          </a:prstGeom>
          <a:noFill/>
          <a:ln/>
        </p:spPr>
        <p:txBody>
          <a:bodyPr wrap="square" lIns="0" tIns="0" rIns="0" bIns="0" rtlCol="0" anchor="t">
            <a:normAutofit/>
          </a:bodyPr>
          <a:lstStyle/>
          <a:p>
            <a:pPr marL="0" indent="0" algn="l">
              <a:lnSpc>
                <a:spcPts val="2242"/>
              </a:lnSpc>
              <a:buNone/>
            </a:pPr>
            <a:r>
              <a:rPr lang="en-US" sz="1546" dirty="0">
                <a:solidFill>
                  <a:srgbClr val="5C5344"/>
                </a:solidFill>
                <a:latin typeface="Arial" pitchFamily="34" charset="0"/>
                <a:ea typeface="Arial" pitchFamily="34" charset="-122"/>
                <a:cs typeface="Arial" pitchFamily="34" charset="-120"/>
              </a:rPr>
              <a:t>Thirteen more use the same vocabulary: outdoor pool, kids' play area, indoor games, open-air restaurant, natural surroundings. Guhantara is priced </a:t>
            </a:r>
            <a:r>
              <a:rPr lang="en-US" sz="1546" b="1" dirty="0">
                <a:solidFill>
                  <a:srgbClr val="5C5344"/>
                </a:solidFill>
                <a:latin typeface="Arial" pitchFamily="34" charset="0"/>
                <a:ea typeface="Arial" pitchFamily="34" charset="-122"/>
                <a:cs typeface="Arial" pitchFamily="34" charset="-120"/>
              </a:rPr>
              <a:t>inside</a:t>
            </a:r>
            <a:r>
              <a:rPr lang="en-US" sz="1546" dirty="0">
                <a:solidFill>
                  <a:srgbClr val="5C5344"/>
                </a:solidFill>
                <a:latin typeface="Arial" pitchFamily="34" charset="0"/>
                <a:ea typeface="Arial" pitchFamily="34" charset="-122"/>
                <a:cs typeface="Arial" pitchFamily="34" charset="-120"/>
              </a:rPr>
              <a:t> that pool, at a 10–13% premium for an asset that is not comparable at all.</a:t>
            </a:r>
            <a:endParaRPr lang="en-US" sz="1546" dirty="0"/>
          </a:p>
        </p:txBody>
      </p:sp>
      <p:sp>
        <p:nvSpPr>
          <p:cNvPr id="5" name="Text 2"/>
          <p:cNvSpPr/>
          <p:nvPr/>
        </p:nvSpPr>
        <p:spPr>
          <a:xfrm>
            <a:off x="812800" y="6238242"/>
            <a:ext cx="485754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071"/>
                </a:solidFill>
                <a:latin typeface="Arial" pitchFamily="34" charset="0"/>
                <a:ea typeface="Arial" pitchFamily="34" charset="-122"/>
                <a:cs typeface="Arial" pitchFamily="34" charset="-120"/>
              </a:rPr>
              <a:t>Source: Thrillophilia, Resorts in Kanakapura Road, read 29 Sep 2026.</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3EA"/>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985520"/>
          </a:xfrm>
          <a:prstGeom prst="rect">
            <a:avLst/>
          </a:prstGeom>
          <a:noFill/>
          <a:ln/>
        </p:spPr>
        <p:txBody>
          <a:bodyPr wrap="square" lIns="0" tIns="0" rIns="0" bIns="0" rtlCol="0" anchor="t">
            <a:normAutofit/>
          </a:bodyPr>
          <a:lstStyle/>
          <a:p>
            <a:pPr marL="0" indent="0" algn="l">
              <a:lnSpc>
                <a:spcPts val="3780"/>
              </a:lnSpc>
              <a:buNone/>
            </a:pPr>
            <a:r>
              <a:rPr lang="en-US" sz="3600" dirty="0">
                <a:solidFill>
                  <a:srgbClr val="17140F"/>
                </a:solidFill>
                <a:latin typeface="Georgia" pitchFamily="34" charset="0"/>
                <a:ea typeface="Georgia" pitchFamily="34" charset="-122"/>
                <a:cs typeface="Georgia" pitchFamily="34" charset="-120"/>
              </a:rPr>
              <a:t>It owns something unrepeatable and prices it like a substitute</a:t>
            </a:r>
            <a:endParaRPr lang="en-US" sz="3600" dirty="0"/>
          </a:p>
        </p:txBody>
      </p:sp>
      <p:pic>
        <p:nvPicPr>
          <p:cNvPr id="3" name="Image 0" descr="Positioning map showing Guhantara in the unclaimed value quadrant, unrepeatable but discounted, with an arrow toward the category owners quadrant"/>
          <p:cNvPicPr>
            <a:picLocks noChangeAspect="1"/>
          </p:cNvPicPr>
          <p:nvPr/>
        </p:nvPicPr>
        <p:blipFill>
          <a:blip r:embed="rId3"/>
          <a:srcRect t="-31" b="-31"/>
          <a:stretch/>
        </p:blipFill>
        <p:spPr>
          <a:xfrm>
            <a:off x="812800" y="1747521"/>
            <a:ext cx="10566400" cy="3810000"/>
          </a:xfrm>
          <a:prstGeom prst="rect">
            <a:avLst/>
          </a:prstGeom>
        </p:spPr>
      </p:pic>
      <p:sp>
        <p:nvSpPr>
          <p:cNvPr id="4" name="Text 1"/>
          <p:cNvSpPr/>
          <p:nvPr/>
        </p:nvSpPr>
        <p:spPr>
          <a:xfrm>
            <a:off x="812800" y="6238242"/>
            <a:ext cx="410089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071"/>
                </a:solidFill>
                <a:latin typeface="Arial" pitchFamily="34" charset="0"/>
                <a:ea typeface="Arial" pitchFamily="34" charset="-122"/>
                <a:cs typeface="Arial" pitchFamily="34" charset="-120"/>
              </a:rPr>
              <a:t>Each property placed by how it is sold, not by what it owns.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3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1025207"/>
          </a:xfrm>
          <a:prstGeom prst="rect">
            <a:avLst/>
          </a:prstGeom>
          <a:noFill/>
          <a:ln/>
        </p:spPr>
        <p:txBody>
          <a:bodyPr wrap="square" lIns="0" tIns="0" rIns="0" bIns="0" rtlCol="0" anchor="t">
            <a:normAutofit/>
          </a:bodyPr>
          <a:lstStyle/>
          <a:p>
            <a:pPr marL="0" indent="0" algn="l">
              <a:lnSpc>
                <a:spcPts val="3941"/>
              </a:lnSpc>
              <a:buNone/>
            </a:pPr>
            <a:r>
              <a:rPr lang="en-US" sz="3754" dirty="0">
                <a:solidFill>
                  <a:srgbClr val="17140F"/>
                </a:solidFill>
                <a:latin typeface="Georgia" pitchFamily="34" charset="0"/>
                <a:ea typeface="Georgia" pitchFamily="34" charset="-122"/>
                <a:cs typeface="Georgia" pitchFamily="34" charset="-120"/>
              </a:rPr>
              <a:t>The copy test: could a rival have it by next season?</a:t>
            </a:r>
            <a:endParaRPr lang="en-US" sz="3754"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2076769"/>
          <a:ext cx="10556240" cy="2981960"/>
        </p:xfrm>
        <a:graphic>
          <a:graphicData uri="http://schemas.openxmlformats.org/drawingml/2006/table">
            <a:tbl>
              <a:tblPr/>
              <a:tblGrid>
                <a:gridCol w="6544869">
                  <a:extLst>
                    <a:ext uri="{9D8B030D-6E8A-4147-A177-3AD203B41FA5}">
                      <a16:colId xmlns:a16="http://schemas.microsoft.com/office/drawing/2014/main" val="20000"/>
                    </a:ext>
                  </a:extLst>
                </a:gridCol>
                <a:gridCol w="4011371">
                  <a:extLst>
                    <a:ext uri="{9D8B030D-6E8A-4147-A177-3AD203B41FA5}">
                      <a16:colId xmlns:a16="http://schemas.microsoft.com/office/drawing/2014/main" val="20001"/>
                    </a:ext>
                  </a:extLst>
                </a:gridCol>
              </a:tblGrid>
              <a:tr h="372745">
                <a:tc>
                  <a:txBody>
                    <a:bodyPr/>
                    <a:lstStyle/>
                    <a:p>
                      <a:pPr marL="0" indent="0">
                        <a:lnSpc>
                          <a:spcPts val="1904"/>
                        </a:lnSpc>
                        <a:buNone/>
                      </a:pPr>
                      <a:r>
                        <a:rPr lang="en-US" sz="1360" b="1" dirty="0">
                          <a:solidFill>
                            <a:srgbClr val="F7F3EA"/>
                          </a:solidFill>
                          <a:latin typeface="Arial" pitchFamily="34" charset="0"/>
                          <a:ea typeface="Arial" pitchFamily="34" charset="-122"/>
                          <a:cs typeface="Arial" pitchFamily="34" charset="-120"/>
                        </a:rPr>
                        <a:t>What Guhantara sells today</a:t>
                      </a:r>
                      <a:endParaRPr lang="en-US" sz="1360" dirty="0">
                        <a:latin typeface="Arial" charset="0"/>
                        <a:ea typeface="Arial" charset="0"/>
                        <a:cs typeface="Arial" charset="0"/>
                      </a:endParaRPr>
                    </a:p>
                  </a:txBody>
                  <a:tcPr marL="60452" marR="60452" marT="60452" marB="60452">
                    <a:lnL w="12700" cap="flat" cmpd="sng" algn="ctr">
                      <a:solidFill>
                        <a:srgbClr val="C5C2BB"/>
                      </a:solidFill>
                      <a:prstDash val="solid"/>
                      <a:round/>
                      <a:headEnd type="none" w="med" len="med"/>
                      <a:tailEnd type="none" w="med" len="med"/>
                    </a:lnL>
                    <a:lnR w="12700" cap="flat" cmpd="sng" algn="ctr">
                      <a:solidFill>
                        <a:srgbClr val="161410"/>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161410"/>
                      </a:solidFill>
                      <a:prstDash val="solid"/>
                      <a:round/>
                      <a:headEnd type="none" w="med" len="med"/>
                      <a:tailEnd type="none" w="med" len="med"/>
                    </a:lnB>
                    <a:solidFill>
                      <a:srgbClr val="17140F"/>
                    </a:solidFill>
                  </a:tcPr>
                </a:tc>
                <a:tc>
                  <a:txBody>
                    <a:bodyPr/>
                    <a:lstStyle/>
                    <a:p>
                      <a:pPr marL="0" indent="0">
                        <a:lnSpc>
                          <a:spcPts val="1904"/>
                        </a:lnSpc>
                        <a:buNone/>
                      </a:pPr>
                      <a:r>
                        <a:rPr lang="en-US" sz="1360" b="1" dirty="0">
                          <a:solidFill>
                            <a:srgbClr val="F7F3EA"/>
                          </a:solidFill>
                          <a:latin typeface="Arial" pitchFamily="34" charset="0"/>
                          <a:ea typeface="Arial" pitchFamily="34" charset="-122"/>
                          <a:cs typeface="Arial" pitchFamily="34" charset="-120"/>
                        </a:rPr>
                        <a:t>Copyable?</a:t>
                      </a:r>
                      <a:endParaRPr lang="en-US" sz="1360" dirty="0">
                        <a:latin typeface="Arial" charset="0"/>
                        <a:ea typeface="Arial" charset="0"/>
                        <a:cs typeface="Arial" charset="0"/>
                      </a:endParaRPr>
                    </a:p>
                  </a:txBody>
                  <a:tcPr marL="60452" marR="60452" marT="60452" marB="60452">
                    <a:lnL w="12700" cap="flat" cmpd="sng" algn="ctr">
                      <a:solidFill>
                        <a:srgbClr val="161410"/>
                      </a:solidFill>
                      <a:prstDash val="solid"/>
                      <a:round/>
                      <a:headEnd type="none" w="med" len="med"/>
                      <a:tailEnd type="none" w="med" len="med"/>
                    </a:lnL>
                    <a:lnR w="12700" cap="flat" cmpd="sng" algn="ctr">
                      <a:solidFill>
                        <a:srgbClr val="161410"/>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161410"/>
                      </a:solidFill>
                      <a:prstDash val="solid"/>
                      <a:round/>
                      <a:headEnd type="none" w="med" len="med"/>
                      <a:tailEnd type="none" w="med" len="med"/>
                    </a:lnB>
                    <a:solidFill>
                      <a:srgbClr val="17140F"/>
                    </a:solidFill>
                  </a:tcPr>
                </a:tc>
                <a:extLst>
                  <a:ext uri="{0D108BD9-81ED-4DB2-BD59-A6C34878D82A}">
                    <a16:rowId xmlns:a16="http://schemas.microsoft.com/office/drawing/2014/main" val="10000"/>
                  </a:ext>
                </a:extLst>
              </a:tr>
              <a:tr h="372745">
                <a:tc>
                  <a:txBody>
                    <a:bodyPr/>
                    <a:lstStyle/>
                    <a:p>
                      <a:pPr marL="0" indent="0">
                        <a:lnSpc>
                          <a:spcPts val="1904"/>
                        </a:lnSpc>
                        <a:buNone/>
                      </a:pPr>
                      <a:r>
                        <a:rPr lang="en-US" sz="1360" dirty="0">
                          <a:solidFill>
                            <a:srgbClr val="17140F"/>
                          </a:solidFill>
                          <a:latin typeface="Arial" pitchFamily="34" charset="0"/>
                          <a:ea typeface="Arial" pitchFamily="34" charset="-122"/>
                          <a:cs typeface="Arial" pitchFamily="34" charset="-120"/>
                        </a:rPr>
                        <a:t>Buffet, pool, rain dance, games</a:t>
                      </a:r>
                      <a:endParaRPr lang="en-US" sz="1360" dirty="0">
                        <a:latin typeface="Arial" charset="0"/>
                        <a:ea typeface="Arial" charset="0"/>
                        <a:cs typeface="Arial" charset="0"/>
                      </a:endParaRPr>
                    </a:p>
                  </a:txBody>
                  <a:tcPr marL="60452" marR="60452" marT="60452" marB="60452">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161410"/>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904"/>
                        </a:lnSpc>
                        <a:buNone/>
                      </a:pPr>
                      <a:r>
                        <a:rPr lang="en-US" sz="1360" dirty="0">
                          <a:solidFill>
                            <a:srgbClr val="5C5344"/>
                          </a:solidFill>
                          <a:latin typeface="Arial" pitchFamily="34" charset="0"/>
                          <a:ea typeface="Arial" pitchFamily="34" charset="-122"/>
                          <a:cs typeface="Arial" pitchFamily="34" charset="-120"/>
                        </a:rPr>
                        <a:t>Yes — all twenty already have it</a:t>
                      </a:r>
                      <a:endParaRPr lang="en-US" sz="1360" dirty="0">
                        <a:latin typeface="Arial" charset="0"/>
                        <a:ea typeface="Arial" charset="0"/>
                        <a:cs typeface="Arial" charset="0"/>
                      </a:endParaRPr>
                    </a:p>
                  </a:txBody>
                  <a:tcPr marL="60452" marR="60452" marT="60452" marB="60452">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161410"/>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extLst>
                  <a:ext uri="{0D108BD9-81ED-4DB2-BD59-A6C34878D82A}">
                    <a16:rowId xmlns:a16="http://schemas.microsoft.com/office/drawing/2014/main" val="10001"/>
                  </a:ext>
                </a:extLst>
              </a:tr>
              <a:tr h="372745">
                <a:tc>
                  <a:txBody>
                    <a:bodyPr/>
                    <a:lstStyle/>
                    <a:p>
                      <a:pPr marL="0" indent="0">
                        <a:lnSpc>
                          <a:spcPts val="1904"/>
                        </a:lnSpc>
                        <a:buNone/>
                      </a:pPr>
                      <a:r>
                        <a:rPr lang="en-US" sz="1360" dirty="0">
                          <a:solidFill>
                            <a:srgbClr val="17140F"/>
                          </a:solidFill>
                          <a:latin typeface="Arial" pitchFamily="34" charset="0"/>
                          <a:ea typeface="Arial" pitchFamily="34" charset="-122"/>
                          <a:cs typeface="Arial" pitchFamily="34" charset="-120"/>
                        </a:rPr>
                        <a:t>Zip-line, quad bike, zorbing, archery</a:t>
                      </a:r>
                      <a:endParaRPr lang="en-US" sz="1360" dirty="0">
                        <a:latin typeface="Arial" charset="0"/>
                        <a:ea typeface="Arial" charset="0"/>
                        <a:cs typeface="Arial" charset="0"/>
                      </a:endParaRPr>
                    </a:p>
                  </a:txBody>
                  <a:tcPr marL="60452" marR="60452" marT="60452" marB="60452">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904"/>
                        </a:lnSpc>
                        <a:buNone/>
                      </a:pPr>
                      <a:r>
                        <a:rPr lang="en-US" sz="1360" dirty="0">
                          <a:solidFill>
                            <a:srgbClr val="5C5344"/>
                          </a:solidFill>
                          <a:latin typeface="Arial" pitchFamily="34" charset="0"/>
                          <a:ea typeface="Arial" pitchFamily="34" charset="-122"/>
                          <a:cs typeface="Arial" pitchFamily="34" charset="-120"/>
                        </a:rPr>
                        <a:t>Yes — bought equipment</a:t>
                      </a:r>
                      <a:endParaRPr lang="en-US" sz="1360" dirty="0">
                        <a:latin typeface="Arial" charset="0"/>
                        <a:ea typeface="Arial" charset="0"/>
                        <a:cs typeface="Arial" charset="0"/>
                      </a:endParaRPr>
                    </a:p>
                  </a:txBody>
                  <a:tcPr marL="60452" marR="60452" marT="60452" marB="60452">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extLst>
                  <a:ext uri="{0D108BD9-81ED-4DB2-BD59-A6C34878D82A}">
                    <a16:rowId xmlns:a16="http://schemas.microsoft.com/office/drawing/2014/main" val="10002"/>
                  </a:ext>
                </a:extLst>
              </a:tr>
              <a:tr h="372745">
                <a:tc>
                  <a:txBody>
                    <a:bodyPr/>
                    <a:lstStyle/>
                    <a:p>
                      <a:pPr marL="0" indent="0">
                        <a:lnSpc>
                          <a:spcPts val="1904"/>
                        </a:lnSpc>
                        <a:buNone/>
                      </a:pPr>
                      <a:r>
                        <a:rPr lang="en-US" sz="1360" dirty="0">
                          <a:solidFill>
                            <a:srgbClr val="17140F"/>
                          </a:solidFill>
                          <a:latin typeface="Arial" pitchFamily="34" charset="0"/>
                          <a:ea typeface="Arial" pitchFamily="34" charset="-122"/>
                          <a:cs typeface="Arial" pitchFamily="34" charset="-120"/>
                        </a:rPr>
                        <a:t>Ayurvedic spa</a:t>
                      </a:r>
                      <a:endParaRPr lang="en-US" sz="1360" dirty="0">
                        <a:latin typeface="Arial" charset="0"/>
                        <a:ea typeface="Arial" charset="0"/>
                        <a:cs typeface="Arial" charset="0"/>
                      </a:endParaRPr>
                    </a:p>
                  </a:txBody>
                  <a:tcPr marL="60452" marR="60452" marT="60452" marB="60452">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904"/>
                        </a:lnSpc>
                        <a:buNone/>
                      </a:pPr>
                      <a:r>
                        <a:rPr lang="en-US" sz="1360" dirty="0">
                          <a:solidFill>
                            <a:srgbClr val="5C5344"/>
                          </a:solidFill>
                          <a:latin typeface="Arial" pitchFamily="34" charset="0"/>
                          <a:ea typeface="Arial" pitchFamily="34" charset="-122"/>
                          <a:cs typeface="Arial" pitchFamily="34" charset="-120"/>
                        </a:rPr>
                        <a:t>Yes — common on the road</a:t>
                      </a:r>
                      <a:endParaRPr lang="en-US" sz="1360" dirty="0">
                        <a:latin typeface="Arial" charset="0"/>
                        <a:ea typeface="Arial" charset="0"/>
                        <a:cs typeface="Arial" charset="0"/>
                      </a:endParaRPr>
                    </a:p>
                  </a:txBody>
                  <a:tcPr marL="60452" marR="60452" marT="60452" marB="60452">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extLst>
                  <a:ext uri="{0D108BD9-81ED-4DB2-BD59-A6C34878D82A}">
                    <a16:rowId xmlns:a16="http://schemas.microsoft.com/office/drawing/2014/main" val="10003"/>
                  </a:ext>
                </a:extLst>
              </a:tr>
              <a:tr h="372745">
                <a:tc>
                  <a:txBody>
                    <a:bodyPr/>
                    <a:lstStyle/>
                    <a:p>
                      <a:pPr marL="0" indent="0">
                        <a:lnSpc>
                          <a:spcPts val="1904"/>
                        </a:lnSpc>
                        <a:buNone/>
                      </a:pPr>
                      <a:r>
                        <a:rPr lang="en-US" sz="1360" dirty="0">
                          <a:solidFill>
                            <a:srgbClr val="17140F"/>
                          </a:solidFill>
                          <a:latin typeface="Arial" pitchFamily="34" charset="0"/>
                          <a:ea typeface="Arial" pitchFamily="34" charset="-122"/>
                          <a:cs typeface="Arial" pitchFamily="34" charset="-120"/>
                        </a:rPr>
                        <a:t>Ten metres underground</a:t>
                      </a:r>
                      <a:endParaRPr lang="en-US" sz="1360" dirty="0">
                        <a:latin typeface="Arial" charset="0"/>
                        <a:ea typeface="Arial" charset="0"/>
                        <a:cs typeface="Arial" charset="0"/>
                      </a:endParaRPr>
                    </a:p>
                  </a:txBody>
                  <a:tcPr marL="60452" marR="60452" marT="60452" marB="60452">
                    <a:lnL w="12700" cap="flat" cmpd="sng" algn="ctr">
                      <a:solidFill>
                        <a:srgbClr val="C5C2BB"/>
                      </a:solidFill>
                      <a:prstDash val="solid"/>
                      <a:round/>
                      <a:headEnd type="none" w="med" len="med"/>
                      <a:tailEnd type="none" w="med" len="med"/>
                    </a:lnL>
                    <a:lnR w="12700" cap="flat" cmpd="sng" algn="ctr">
                      <a:solidFill>
                        <a:srgbClr val="B9B4A9"/>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B9B4A9"/>
                      </a:solidFill>
                      <a:prstDash val="solid"/>
                      <a:round/>
                      <a:headEnd type="none" w="med" len="med"/>
                      <a:tailEnd type="none" w="med" len="med"/>
                    </a:lnB>
                    <a:solidFill>
                      <a:srgbClr val="E8E1D3"/>
                    </a:solidFill>
                  </a:tcPr>
                </a:tc>
                <a:tc>
                  <a:txBody>
                    <a:bodyPr/>
                    <a:lstStyle/>
                    <a:p>
                      <a:pPr marL="0" indent="0">
                        <a:lnSpc>
                          <a:spcPts val="1904"/>
                        </a:lnSpc>
                        <a:buNone/>
                      </a:pPr>
                      <a:r>
                        <a:rPr lang="en-US" sz="1360" dirty="0">
                          <a:solidFill>
                            <a:srgbClr val="B54A28"/>
                          </a:solidFill>
                          <a:latin typeface="Arial" pitchFamily="34" charset="0"/>
                          <a:ea typeface="Arial" pitchFamily="34" charset="-122"/>
                          <a:cs typeface="Arial" pitchFamily="34" charset="-120"/>
                        </a:rPr>
                        <a:t>No</a:t>
                      </a:r>
                      <a:endParaRPr lang="en-US" sz="1360" dirty="0">
                        <a:latin typeface="Arial" charset="0"/>
                        <a:ea typeface="Arial" charset="0"/>
                        <a:cs typeface="Arial" charset="0"/>
                      </a:endParaRPr>
                    </a:p>
                  </a:txBody>
                  <a:tcPr marL="60452" marR="60452" marT="60452" marB="60452">
                    <a:lnL w="12700" cap="flat" cmpd="sng" algn="ctr">
                      <a:solidFill>
                        <a:srgbClr val="B9B4A9"/>
                      </a:solidFill>
                      <a:prstDash val="solid"/>
                      <a:round/>
                      <a:headEnd type="none" w="med" len="med"/>
                      <a:tailEnd type="none" w="med" len="med"/>
                    </a:lnL>
                    <a:lnR w="12700" cap="flat" cmpd="sng" algn="ctr">
                      <a:solidFill>
                        <a:srgbClr val="B9B4A9"/>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B9B4A9"/>
                      </a:solidFill>
                      <a:prstDash val="solid"/>
                      <a:round/>
                      <a:headEnd type="none" w="med" len="med"/>
                      <a:tailEnd type="none" w="med" len="med"/>
                    </a:lnB>
                    <a:solidFill>
                      <a:srgbClr val="E8E1D3"/>
                    </a:solidFill>
                  </a:tcPr>
                </a:tc>
                <a:extLst>
                  <a:ext uri="{0D108BD9-81ED-4DB2-BD59-A6C34878D82A}">
                    <a16:rowId xmlns:a16="http://schemas.microsoft.com/office/drawing/2014/main" val="10004"/>
                  </a:ext>
                </a:extLst>
              </a:tr>
              <a:tr h="372745">
                <a:tc>
                  <a:txBody>
                    <a:bodyPr/>
                    <a:lstStyle/>
                    <a:p>
                      <a:pPr marL="0" indent="0">
                        <a:lnSpc>
                          <a:spcPts val="1904"/>
                        </a:lnSpc>
                        <a:buNone/>
                      </a:pPr>
                      <a:r>
                        <a:rPr lang="en-US" sz="1360" dirty="0">
                          <a:solidFill>
                            <a:srgbClr val="17140F"/>
                          </a:solidFill>
                          <a:latin typeface="Arial" pitchFamily="34" charset="0"/>
                          <a:ea typeface="Arial" pitchFamily="34" charset="-122"/>
                          <a:cs typeface="Arial" pitchFamily="34" charset="-120"/>
                        </a:rPr>
                        <a:t>Tunnel trekking</a:t>
                      </a:r>
                      <a:endParaRPr lang="en-US" sz="1360" dirty="0">
                        <a:latin typeface="Arial" charset="0"/>
                        <a:ea typeface="Arial" charset="0"/>
                        <a:cs typeface="Arial" charset="0"/>
                      </a:endParaRPr>
                    </a:p>
                  </a:txBody>
                  <a:tcPr marL="60452" marR="60452" marT="60452" marB="60452">
                    <a:lnL w="12700" cap="flat" cmpd="sng" algn="ctr">
                      <a:solidFill>
                        <a:srgbClr val="C5C2BB"/>
                      </a:solidFill>
                      <a:prstDash val="solid"/>
                      <a:round/>
                      <a:headEnd type="none" w="med" len="med"/>
                      <a:tailEnd type="none" w="med" len="med"/>
                    </a:lnL>
                    <a:lnR w="12700" cap="flat" cmpd="sng" algn="ctr">
                      <a:solidFill>
                        <a:srgbClr val="B9B4A9"/>
                      </a:solidFill>
                      <a:prstDash val="solid"/>
                      <a:round/>
                      <a:headEnd type="none" w="med" len="med"/>
                      <a:tailEnd type="none" w="med" len="med"/>
                    </a:lnR>
                    <a:lnT w="12700" cap="flat" cmpd="sng" algn="ctr">
                      <a:solidFill>
                        <a:srgbClr val="B9B4A9"/>
                      </a:solidFill>
                      <a:prstDash val="solid"/>
                      <a:round/>
                      <a:headEnd type="none" w="med" len="med"/>
                      <a:tailEnd type="none" w="med" len="med"/>
                    </a:lnT>
                    <a:lnB w="12700" cap="flat" cmpd="sng" algn="ctr">
                      <a:solidFill>
                        <a:srgbClr val="B9B4A9"/>
                      </a:solidFill>
                      <a:prstDash val="solid"/>
                      <a:round/>
                      <a:headEnd type="none" w="med" len="med"/>
                      <a:tailEnd type="none" w="med" len="med"/>
                    </a:lnB>
                    <a:solidFill>
                      <a:srgbClr val="E8E1D3"/>
                    </a:solidFill>
                  </a:tcPr>
                </a:tc>
                <a:tc>
                  <a:txBody>
                    <a:bodyPr/>
                    <a:lstStyle/>
                    <a:p>
                      <a:pPr marL="0" indent="0">
                        <a:lnSpc>
                          <a:spcPts val="1904"/>
                        </a:lnSpc>
                        <a:buNone/>
                      </a:pPr>
                      <a:r>
                        <a:rPr lang="en-US" sz="1360" dirty="0">
                          <a:solidFill>
                            <a:srgbClr val="B54A28"/>
                          </a:solidFill>
                          <a:latin typeface="Arial" pitchFamily="34" charset="0"/>
                          <a:ea typeface="Arial" pitchFamily="34" charset="-122"/>
                          <a:cs typeface="Arial" pitchFamily="34" charset="-120"/>
                        </a:rPr>
                        <a:t>No</a:t>
                      </a:r>
                      <a:endParaRPr lang="en-US" sz="1360" dirty="0">
                        <a:latin typeface="Arial" charset="0"/>
                        <a:ea typeface="Arial" charset="0"/>
                        <a:cs typeface="Arial" charset="0"/>
                      </a:endParaRPr>
                    </a:p>
                  </a:txBody>
                  <a:tcPr marL="60452" marR="60452" marT="60452" marB="60452">
                    <a:lnL w="12700" cap="flat" cmpd="sng" algn="ctr">
                      <a:solidFill>
                        <a:srgbClr val="B9B4A9"/>
                      </a:solidFill>
                      <a:prstDash val="solid"/>
                      <a:round/>
                      <a:headEnd type="none" w="med" len="med"/>
                      <a:tailEnd type="none" w="med" len="med"/>
                    </a:lnL>
                    <a:lnR w="12700" cap="flat" cmpd="sng" algn="ctr">
                      <a:solidFill>
                        <a:srgbClr val="B9B4A9"/>
                      </a:solidFill>
                      <a:prstDash val="solid"/>
                      <a:round/>
                      <a:headEnd type="none" w="med" len="med"/>
                      <a:tailEnd type="none" w="med" len="med"/>
                    </a:lnR>
                    <a:lnT w="12700" cap="flat" cmpd="sng" algn="ctr">
                      <a:solidFill>
                        <a:srgbClr val="B9B4A9"/>
                      </a:solidFill>
                      <a:prstDash val="solid"/>
                      <a:round/>
                      <a:headEnd type="none" w="med" len="med"/>
                      <a:tailEnd type="none" w="med" len="med"/>
                    </a:lnT>
                    <a:lnB w="12700" cap="flat" cmpd="sng" algn="ctr">
                      <a:solidFill>
                        <a:srgbClr val="B9B4A9"/>
                      </a:solidFill>
                      <a:prstDash val="solid"/>
                      <a:round/>
                      <a:headEnd type="none" w="med" len="med"/>
                      <a:tailEnd type="none" w="med" len="med"/>
                    </a:lnB>
                    <a:solidFill>
                      <a:srgbClr val="E8E1D3"/>
                    </a:solidFill>
                  </a:tcPr>
                </a:tc>
                <a:extLst>
                  <a:ext uri="{0D108BD9-81ED-4DB2-BD59-A6C34878D82A}">
                    <a16:rowId xmlns:a16="http://schemas.microsoft.com/office/drawing/2014/main" val="10005"/>
                  </a:ext>
                </a:extLst>
              </a:tr>
              <a:tr h="372745">
                <a:tc>
                  <a:txBody>
                    <a:bodyPr/>
                    <a:lstStyle/>
                    <a:p>
                      <a:pPr marL="0" indent="0">
                        <a:lnSpc>
                          <a:spcPts val="1904"/>
                        </a:lnSpc>
                        <a:buNone/>
                      </a:pPr>
                      <a:r>
                        <a:rPr lang="en-US" sz="1360" dirty="0">
                          <a:solidFill>
                            <a:srgbClr val="17140F"/>
                          </a:solidFill>
                          <a:latin typeface="Arial" pitchFamily="34" charset="0"/>
                          <a:ea typeface="Arial" pitchFamily="34" charset="-122"/>
                          <a:cs typeface="Arial" pitchFamily="34" charset="-120"/>
                        </a:rPr>
                        <a:t>Rangamandapa, a 700-seat underground amphitheatre</a:t>
                      </a:r>
                      <a:endParaRPr lang="en-US" sz="1360" dirty="0">
                        <a:latin typeface="Arial" charset="0"/>
                        <a:ea typeface="Arial" charset="0"/>
                        <a:cs typeface="Arial" charset="0"/>
                      </a:endParaRPr>
                    </a:p>
                  </a:txBody>
                  <a:tcPr marL="60452" marR="60452" marT="60452" marB="60452">
                    <a:lnL w="12700" cap="flat" cmpd="sng" algn="ctr">
                      <a:solidFill>
                        <a:srgbClr val="C5C2BB"/>
                      </a:solidFill>
                      <a:prstDash val="solid"/>
                      <a:round/>
                      <a:headEnd type="none" w="med" len="med"/>
                      <a:tailEnd type="none" w="med" len="med"/>
                    </a:lnL>
                    <a:lnR w="12700" cap="flat" cmpd="sng" algn="ctr">
                      <a:solidFill>
                        <a:srgbClr val="B9B4A9"/>
                      </a:solidFill>
                      <a:prstDash val="solid"/>
                      <a:round/>
                      <a:headEnd type="none" w="med" len="med"/>
                      <a:tailEnd type="none" w="med" len="med"/>
                    </a:lnR>
                    <a:lnT w="12700" cap="flat" cmpd="sng" algn="ctr">
                      <a:solidFill>
                        <a:srgbClr val="B9B4A9"/>
                      </a:solidFill>
                      <a:prstDash val="solid"/>
                      <a:round/>
                      <a:headEnd type="none" w="med" len="med"/>
                      <a:tailEnd type="none" w="med" len="med"/>
                    </a:lnT>
                    <a:lnB w="12700" cap="flat" cmpd="sng" algn="ctr">
                      <a:solidFill>
                        <a:srgbClr val="B9B4A9"/>
                      </a:solidFill>
                      <a:prstDash val="solid"/>
                      <a:round/>
                      <a:headEnd type="none" w="med" len="med"/>
                      <a:tailEnd type="none" w="med" len="med"/>
                    </a:lnB>
                    <a:solidFill>
                      <a:srgbClr val="E8E1D3"/>
                    </a:solidFill>
                  </a:tcPr>
                </a:tc>
                <a:tc>
                  <a:txBody>
                    <a:bodyPr/>
                    <a:lstStyle/>
                    <a:p>
                      <a:pPr marL="0" indent="0">
                        <a:lnSpc>
                          <a:spcPts val="1904"/>
                        </a:lnSpc>
                        <a:buNone/>
                      </a:pPr>
                      <a:r>
                        <a:rPr lang="en-US" sz="1360" dirty="0">
                          <a:solidFill>
                            <a:srgbClr val="B54A28"/>
                          </a:solidFill>
                          <a:latin typeface="Arial" pitchFamily="34" charset="0"/>
                          <a:ea typeface="Arial" pitchFamily="34" charset="-122"/>
                          <a:cs typeface="Arial" pitchFamily="34" charset="-120"/>
                        </a:rPr>
                        <a:t>No</a:t>
                      </a:r>
                      <a:endParaRPr lang="en-US" sz="1360" dirty="0">
                        <a:latin typeface="Arial" charset="0"/>
                        <a:ea typeface="Arial" charset="0"/>
                        <a:cs typeface="Arial" charset="0"/>
                      </a:endParaRPr>
                    </a:p>
                  </a:txBody>
                  <a:tcPr marL="60452" marR="60452" marT="60452" marB="60452">
                    <a:lnL w="12700" cap="flat" cmpd="sng" algn="ctr">
                      <a:solidFill>
                        <a:srgbClr val="B9B4A9"/>
                      </a:solidFill>
                      <a:prstDash val="solid"/>
                      <a:round/>
                      <a:headEnd type="none" w="med" len="med"/>
                      <a:tailEnd type="none" w="med" len="med"/>
                    </a:lnL>
                    <a:lnR w="12700" cap="flat" cmpd="sng" algn="ctr">
                      <a:solidFill>
                        <a:srgbClr val="B9B4A9"/>
                      </a:solidFill>
                      <a:prstDash val="solid"/>
                      <a:round/>
                      <a:headEnd type="none" w="med" len="med"/>
                      <a:tailEnd type="none" w="med" len="med"/>
                    </a:lnR>
                    <a:lnT w="12700" cap="flat" cmpd="sng" algn="ctr">
                      <a:solidFill>
                        <a:srgbClr val="B9B4A9"/>
                      </a:solidFill>
                      <a:prstDash val="solid"/>
                      <a:round/>
                      <a:headEnd type="none" w="med" len="med"/>
                      <a:tailEnd type="none" w="med" len="med"/>
                    </a:lnT>
                    <a:lnB w="12700" cap="flat" cmpd="sng" algn="ctr">
                      <a:solidFill>
                        <a:srgbClr val="B9B4A9"/>
                      </a:solidFill>
                      <a:prstDash val="solid"/>
                      <a:round/>
                      <a:headEnd type="none" w="med" len="med"/>
                      <a:tailEnd type="none" w="med" len="med"/>
                    </a:lnB>
                    <a:solidFill>
                      <a:srgbClr val="E8E1D3"/>
                    </a:solidFill>
                  </a:tcPr>
                </a:tc>
                <a:extLst>
                  <a:ext uri="{0D108BD9-81ED-4DB2-BD59-A6C34878D82A}">
                    <a16:rowId xmlns:a16="http://schemas.microsoft.com/office/drawing/2014/main" val="10006"/>
                  </a:ext>
                </a:extLst>
              </a:tr>
              <a:tr h="372745">
                <a:tc>
                  <a:txBody>
                    <a:bodyPr/>
                    <a:lstStyle/>
                    <a:p>
                      <a:pPr marL="0" indent="0">
                        <a:lnSpc>
                          <a:spcPts val="1904"/>
                        </a:lnSpc>
                        <a:buNone/>
                      </a:pPr>
                      <a:r>
                        <a:rPr lang="en-US" sz="1360" dirty="0">
                          <a:solidFill>
                            <a:srgbClr val="17140F"/>
                          </a:solidFill>
                          <a:latin typeface="Arial" pitchFamily="34" charset="0"/>
                          <a:ea typeface="Arial" pitchFamily="34" charset="-122"/>
                          <a:cs typeface="Arial" pitchFamily="34" charset="-120"/>
                        </a:rPr>
                        <a:t>Being India's first cave resort</a:t>
                      </a:r>
                      <a:endParaRPr lang="en-US" sz="1360" dirty="0">
                        <a:latin typeface="Arial" charset="0"/>
                        <a:ea typeface="Arial" charset="0"/>
                        <a:cs typeface="Arial" charset="0"/>
                      </a:endParaRPr>
                    </a:p>
                  </a:txBody>
                  <a:tcPr marL="60452" marR="60452" marT="60452" marB="60452">
                    <a:lnL w="12700" cap="flat" cmpd="sng" algn="ctr">
                      <a:solidFill>
                        <a:srgbClr val="C5C2BB"/>
                      </a:solidFill>
                      <a:prstDash val="solid"/>
                      <a:round/>
                      <a:headEnd type="none" w="med" len="med"/>
                      <a:tailEnd type="none" w="med" len="med"/>
                    </a:lnL>
                    <a:lnR w="12700" cap="flat" cmpd="sng" algn="ctr">
                      <a:solidFill>
                        <a:srgbClr val="B9B4A9"/>
                      </a:solidFill>
                      <a:prstDash val="solid"/>
                      <a:round/>
                      <a:headEnd type="none" w="med" len="med"/>
                      <a:tailEnd type="none" w="med" len="med"/>
                    </a:lnR>
                    <a:lnT w="12700" cap="flat" cmpd="sng" algn="ctr">
                      <a:solidFill>
                        <a:srgbClr val="B9B4A9"/>
                      </a:solidFill>
                      <a:prstDash val="solid"/>
                      <a:round/>
                      <a:headEnd type="none" w="med" len="med"/>
                      <a:tailEnd type="none" w="med" len="med"/>
                    </a:lnT>
                    <a:lnB w="12700" cap="flat" cmpd="sng" algn="ctr">
                      <a:solidFill>
                        <a:srgbClr val="B9B4A9"/>
                      </a:solidFill>
                      <a:prstDash val="solid"/>
                      <a:round/>
                      <a:headEnd type="none" w="med" len="med"/>
                      <a:tailEnd type="none" w="med" len="med"/>
                    </a:lnB>
                    <a:solidFill>
                      <a:srgbClr val="E8E1D3"/>
                    </a:solidFill>
                  </a:tcPr>
                </a:tc>
                <a:tc>
                  <a:txBody>
                    <a:bodyPr/>
                    <a:lstStyle/>
                    <a:p>
                      <a:pPr marL="0" indent="0">
                        <a:lnSpc>
                          <a:spcPts val="1904"/>
                        </a:lnSpc>
                        <a:buNone/>
                      </a:pPr>
                      <a:r>
                        <a:rPr lang="en-US" sz="1360" dirty="0">
                          <a:solidFill>
                            <a:srgbClr val="B54A28"/>
                          </a:solidFill>
                          <a:latin typeface="Arial" pitchFamily="34" charset="0"/>
                          <a:ea typeface="Arial" pitchFamily="34" charset="-122"/>
                          <a:cs typeface="Arial" pitchFamily="34" charset="-120"/>
                        </a:rPr>
                        <a:t>No — it is a fact of history</a:t>
                      </a:r>
                      <a:endParaRPr lang="en-US" sz="1360" dirty="0">
                        <a:latin typeface="Arial" charset="0"/>
                        <a:ea typeface="Arial" charset="0"/>
                        <a:cs typeface="Arial" charset="0"/>
                      </a:endParaRPr>
                    </a:p>
                  </a:txBody>
                  <a:tcPr marL="60452" marR="60452" marT="60452" marB="60452">
                    <a:lnL w="12700" cap="flat" cmpd="sng" algn="ctr">
                      <a:solidFill>
                        <a:srgbClr val="B9B4A9"/>
                      </a:solidFill>
                      <a:prstDash val="solid"/>
                      <a:round/>
                      <a:headEnd type="none" w="med" len="med"/>
                      <a:tailEnd type="none" w="med" len="med"/>
                    </a:lnL>
                    <a:lnR w="12700" cap="flat" cmpd="sng" algn="ctr">
                      <a:solidFill>
                        <a:srgbClr val="B9B4A9"/>
                      </a:solidFill>
                      <a:prstDash val="solid"/>
                      <a:round/>
                      <a:headEnd type="none" w="med" len="med"/>
                      <a:tailEnd type="none" w="med" len="med"/>
                    </a:lnR>
                    <a:lnT w="12700" cap="flat" cmpd="sng" algn="ctr">
                      <a:solidFill>
                        <a:srgbClr val="B9B4A9"/>
                      </a:solidFill>
                      <a:prstDash val="solid"/>
                      <a:round/>
                      <a:headEnd type="none" w="med" len="med"/>
                      <a:tailEnd type="none" w="med" len="med"/>
                    </a:lnT>
                    <a:lnB w="12700" cap="flat" cmpd="sng" algn="ctr">
                      <a:solidFill>
                        <a:srgbClr val="B9B4A9"/>
                      </a:solidFill>
                      <a:prstDash val="solid"/>
                      <a:round/>
                      <a:headEnd type="none" w="med" len="med"/>
                      <a:tailEnd type="none" w="med" len="med"/>
                    </a:lnB>
                    <a:solidFill>
                      <a:srgbClr val="E8E1D3"/>
                    </a:solidFill>
                  </a:tcPr>
                </a:tc>
                <a:extLst>
                  <a:ext uri="{0D108BD9-81ED-4DB2-BD59-A6C34878D82A}">
                    <a16:rowId xmlns:a16="http://schemas.microsoft.com/office/drawing/2014/main" val="10007"/>
                  </a:ext>
                </a:extLst>
              </a:tr>
            </a:tbl>
          </a:graphicData>
        </a:graphic>
      </p:graphicFrame>
      <p:sp>
        <p:nvSpPr>
          <p:cNvPr id="4" name="Text 1"/>
          <p:cNvSpPr/>
          <p:nvPr/>
        </p:nvSpPr>
        <p:spPr>
          <a:xfrm>
            <a:off x="812800" y="5308519"/>
            <a:ext cx="10333990" cy="558879"/>
          </a:xfrm>
          <a:prstGeom prst="rect">
            <a:avLst/>
          </a:prstGeom>
          <a:noFill/>
          <a:ln/>
        </p:spPr>
        <p:txBody>
          <a:bodyPr wrap="square" lIns="0" tIns="0" rIns="0" bIns="0" rtlCol="0" anchor="t">
            <a:normAutofit/>
          </a:bodyPr>
          <a:lstStyle/>
          <a:p>
            <a:pPr marL="0" indent="0" algn="l">
              <a:lnSpc>
                <a:spcPts val="2111"/>
              </a:lnSpc>
              <a:buNone/>
            </a:pPr>
            <a:r>
              <a:rPr lang="en-US" sz="1456" dirty="0">
                <a:solidFill>
                  <a:srgbClr val="5C5344"/>
                </a:solidFill>
                <a:latin typeface="Arial" pitchFamily="34" charset="0"/>
                <a:ea typeface="Arial" pitchFamily="34" charset="-122"/>
                <a:cs typeface="Arial" pitchFamily="34" charset="-120"/>
              </a:rPr>
              <a:t>The four shaded rows are the brand. They are also close to absent from the advertising, which leads with price and activity count.</a:t>
            </a:r>
            <a:endParaRPr lang="en-US" sz="1456" dirty="0"/>
          </a:p>
        </p:txBody>
      </p:sp>
      <p:sp>
        <p:nvSpPr>
          <p:cNvPr id="5" name="Text 2"/>
          <p:cNvSpPr/>
          <p:nvPr/>
        </p:nvSpPr>
        <p:spPr>
          <a:xfrm>
            <a:off x="812800" y="6238242"/>
            <a:ext cx="807163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071"/>
                </a:solidFill>
                <a:latin typeface="Arial" pitchFamily="34" charset="0"/>
                <a:ea typeface="Arial" pitchFamily="34" charset="-122"/>
                <a:cs typeface="Arial" pitchFamily="34" charset="-120"/>
              </a:rPr>
              <a:t>Named spaces: Sambhojana, Madhushala, Rangamandapa, Samvaad, Agastya Kuteera — none used in marketing.</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7140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kern="0" spc="200" dirty="0">
                <a:solidFill>
                  <a:srgbClr val="C9A63C"/>
                </a:solidFill>
                <a:latin typeface="Arial" pitchFamily="34" charset="0"/>
                <a:ea typeface="Arial" pitchFamily="34" charset="-122"/>
                <a:cs typeface="Arial" pitchFamily="34" charset="-120"/>
              </a:rPr>
              <a:t>SECTION TWO</a:t>
            </a:r>
            <a:endParaRPr lang="en-US" sz="1300" dirty="0"/>
          </a:p>
        </p:txBody>
      </p:sp>
      <p:sp>
        <p:nvSpPr>
          <p:cNvPr id="3" name="Text 1"/>
          <p:cNvSpPr/>
          <p:nvPr/>
        </p:nvSpPr>
        <p:spPr>
          <a:xfrm>
            <a:off x="812800" y="1120142"/>
            <a:ext cx="10883392" cy="665480"/>
          </a:xfrm>
          <a:prstGeom prst="rect">
            <a:avLst/>
          </a:prstGeom>
          <a:noFill/>
          <a:ln/>
        </p:spPr>
        <p:txBody>
          <a:bodyPr wrap="square" lIns="0" tIns="0" rIns="0" bIns="0" rtlCol="0" anchor="t">
            <a:normAutofit/>
          </a:bodyPr>
          <a:lstStyle/>
          <a:p>
            <a:pPr marL="0" indent="0" algn="l">
              <a:lnSpc>
                <a:spcPts val="5040"/>
              </a:lnSpc>
              <a:buNone/>
            </a:pPr>
            <a:r>
              <a:rPr lang="en-US" sz="4800" dirty="0">
                <a:solidFill>
                  <a:srgbClr val="F7F3EA"/>
                </a:solidFill>
                <a:latin typeface="Georgia" pitchFamily="34" charset="0"/>
                <a:ea typeface="Georgia" pitchFamily="34" charset="-122"/>
                <a:cs typeface="Georgia" pitchFamily="34" charset="-120"/>
              </a:rPr>
              <a:t>The Meta account</a:t>
            </a:r>
            <a:endParaRPr lang="en-US" sz="4800" dirty="0"/>
          </a:p>
        </p:txBody>
      </p:sp>
      <p:sp>
        <p:nvSpPr>
          <p:cNvPr id="4" name="Shape 2"/>
          <p:cNvSpPr/>
          <p:nvPr/>
        </p:nvSpPr>
        <p:spPr>
          <a:xfrm>
            <a:off x="815975" y="2093596"/>
            <a:ext cx="2501900" cy="1596390"/>
          </a:xfrm>
          <a:prstGeom prst="roundRect">
            <a:avLst>
              <a:gd name="adj" fmla="val 6165"/>
            </a:avLst>
          </a:prstGeom>
          <a:solidFill>
            <a:srgbClr val="221E18"/>
          </a:solidFill>
          <a:ln w="6350">
            <a:solidFill>
              <a:srgbClr val="3A342A"/>
            </a:solidFill>
            <a:prstDash val="solid"/>
          </a:ln>
        </p:spPr>
      </p:sp>
      <p:sp>
        <p:nvSpPr>
          <p:cNvPr id="5" name="Text 3"/>
          <p:cNvSpPr/>
          <p:nvPr/>
        </p:nvSpPr>
        <p:spPr>
          <a:xfrm>
            <a:off x="1071880" y="2349500"/>
            <a:ext cx="204979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79C89"/>
                </a:solidFill>
                <a:latin typeface="Arial" pitchFamily="34" charset="0"/>
                <a:ea typeface="Arial" pitchFamily="34" charset="-122"/>
                <a:cs typeface="Arial" pitchFamily="34" charset="-120"/>
              </a:rPr>
              <a:t>Spent</a:t>
            </a:r>
            <a:endParaRPr lang="en-US" sz="1200" dirty="0"/>
          </a:p>
        </p:txBody>
      </p:sp>
      <p:sp>
        <p:nvSpPr>
          <p:cNvPr id="6" name="Text 4"/>
          <p:cNvSpPr/>
          <p:nvPr/>
        </p:nvSpPr>
        <p:spPr>
          <a:xfrm>
            <a:off x="1071880" y="2626364"/>
            <a:ext cx="2049793" cy="556260"/>
          </a:xfrm>
          <a:prstGeom prst="rect">
            <a:avLst/>
          </a:prstGeom>
          <a:noFill/>
          <a:ln/>
        </p:spPr>
        <p:txBody>
          <a:bodyPr wrap="square" lIns="0" tIns="0" rIns="0" bIns="0" rtlCol="0" anchor="t">
            <a:normAutofit/>
          </a:bodyPr>
          <a:lstStyle/>
          <a:p>
            <a:pPr marL="0" indent="0" algn="l">
              <a:lnSpc>
                <a:spcPts val="4180"/>
              </a:lnSpc>
              <a:buNone/>
            </a:pPr>
            <a:r>
              <a:rPr lang="en-US" sz="3800" dirty="0">
                <a:solidFill>
                  <a:srgbClr val="C9A63C"/>
                </a:solidFill>
                <a:latin typeface="Georgia" pitchFamily="34" charset="0"/>
                <a:ea typeface="Georgia" pitchFamily="34" charset="-122"/>
                <a:cs typeface="Georgia" pitchFamily="34" charset="-120"/>
              </a:rPr>
              <a:t>₹14.94L</a:t>
            </a:r>
            <a:endParaRPr lang="en-US" sz="3800" dirty="0"/>
          </a:p>
        </p:txBody>
      </p:sp>
      <p:sp>
        <p:nvSpPr>
          <p:cNvPr id="7" name="Text 5"/>
          <p:cNvSpPr/>
          <p:nvPr/>
        </p:nvSpPr>
        <p:spPr>
          <a:xfrm>
            <a:off x="1071880" y="3220721"/>
            <a:ext cx="204979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79C89"/>
                </a:solidFill>
                <a:latin typeface="Arial" pitchFamily="34" charset="0"/>
                <a:ea typeface="Arial" pitchFamily="34" charset="-122"/>
                <a:cs typeface="Arial" pitchFamily="34" charset="-120"/>
              </a:rPr>
              <a:t>33% of total media</a:t>
            </a:r>
            <a:endParaRPr lang="en-US" sz="1200" dirty="0"/>
          </a:p>
        </p:txBody>
      </p:sp>
      <p:sp>
        <p:nvSpPr>
          <p:cNvPr id="8" name="Shape 6"/>
          <p:cNvSpPr/>
          <p:nvPr/>
        </p:nvSpPr>
        <p:spPr>
          <a:xfrm>
            <a:off x="3502025" y="2093596"/>
            <a:ext cx="2501900" cy="1596390"/>
          </a:xfrm>
          <a:prstGeom prst="roundRect">
            <a:avLst>
              <a:gd name="adj" fmla="val 6165"/>
            </a:avLst>
          </a:prstGeom>
          <a:solidFill>
            <a:srgbClr val="221E18"/>
          </a:solidFill>
          <a:ln w="6350">
            <a:solidFill>
              <a:srgbClr val="3A342A"/>
            </a:solidFill>
            <a:prstDash val="solid"/>
          </a:ln>
        </p:spPr>
      </p:sp>
      <p:sp>
        <p:nvSpPr>
          <p:cNvPr id="9" name="Text 7"/>
          <p:cNvSpPr/>
          <p:nvPr/>
        </p:nvSpPr>
        <p:spPr>
          <a:xfrm>
            <a:off x="3757930" y="2349500"/>
            <a:ext cx="204979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79C89"/>
                </a:solidFill>
                <a:latin typeface="Arial" pitchFamily="34" charset="0"/>
                <a:ea typeface="Arial" pitchFamily="34" charset="-122"/>
                <a:cs typeface="Arial" pitchFamily="34" charset="-120"/>
              </a:rPr>
              <a:t>Impressions</a:t>
            </a:r>
            <a:endParaRPr lang="en-US" sz="1200" dirty="0"/>
          </a:p>
        </p:txBody>
      </p:sp>
      <p:sp>
        <p:nvSpPr>
          <p:cNvPr id="10" name="Text 8"/>
          <p:cNvSpPr/>
          <p:nvPr/>
        </p:nvSpPr>
        <p:spPr>
          <a:xfrm>
            <a:off x="3757930" y="2626364"/>
            <a:ext cx="2049793" cy="556260"/>
          </a:xfrm>
          <a:prstGeom prst="rect">
            <a:avLst/>
          </a:prstGeom>
          <a:noFill/>
          <a:ln/>
        </p:spPr>
        <p:txBody>
          <a:bodyPr wrap="square" lIns="0" tIns="0" rIns="0" bIns="0" rtlCol="0" anchor="t">
            <a:normAutofit/>
          </a:bodyPr>
          <a:lstStyle/>
          <a:p>
            <a:pPr marL="0" indent="0" algn="l">
              <a:lnSpc>
                <a:spcPts val="4180"/>
              </a:lnSpc>
              <a:buNone/>
            </a:pPr>
            <a:r>
              <a:rPr lang="en-US" sz="3800" dirty="0">
                <a:solidFill>
                  <a:srgbClr val="F7F3EA"/>
                </a:solidFill>
                <a:latin typeface="Georgia" pitchFamily="34" charset="0"/>
                <a:ea typeface="Georgia" pitchFamily="34" charset="-122"/>
                <a:cs typeface="Georgia" pitchFamily="34" charset="-120"/>
              </a:rPr>
              <a:t>122.6M</a:t>
            </a:r>
            <a:endParaRPr lang="en-US" sz="3800" dirty="0"/>
          </a:p>
        </p:txBody>
      </p:sp>
      <p:sp>
        <p:nvSpPr>
          <p:cNvPr id="11" name="Text 9"/>
          <p:cNvSpPr/>
          <p:nvPr/>
        </p:nvSpPr>
        <p:spPr>
          <a:xfrm>
            <a:off x="3757930" y="3220721"/>
            <a:ext cx="204979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79C89"/>
                </a:solidFill>
                <a:latin typeface="Arial" pitchFamily="34" charset="0"/>
                <a:ea typeface="Arial" pitchFamily="34" charset="-122"/>
                <a:cs typeface="Arial" pitchFamily="34" charset="-120"/>
              </a:rPr>
              <a:t>Reach 33.3M accounts</a:t>
            </a:r>
            <a:endParaRPr lang="en-US" sz="1200" dirty="0"/>
          </a:p>
        </p:txBody>
      </p:sp>
      <p:sp>
        <p:nvSpPr>
          <p:cNvPr id="12" name="Shape 10"/>
          <p:cNvSpPr/>
          <p:nvPr/>
        </p:nvSpPr>
        <p:spPr>
          <a:xfrm>
            <a:off x="6188075" y="2093596"/>
            <a:ext cx="2501900" cy="1596390"/>
          </a:xfrm>
          <a:prstGeom prst="roundRect">
            <a:avLst>
              <a:gd name="adj" fmla="val 6165"/>
            </a:avLst>
          </a:prstGeom>
          <a:solidFill>
            <a:srgbClr val="221E18"/>
          </a:solidFill>
          <a:ln w="6350">
            <a:solidFill>
              <a:srgbClr val="3A342A"/>
            </a:solidFill>
            <a:prstDash val="solid"/>
          </a:ln>
        </p:spPr>
      </p:sp>
      <p:sp>
        <p:nvSpPr>
          <p:cNvPr id="13" name="Text 11"/>
          <p:cNvSpPr/>
          <p:nvPr/>
        </p:nvSpPr>
        <p:spPr>
          <a:xfrm>
            <a:off x="6443980" y="2349500"/>
            <a:ext cx="204979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79C89"/>
                </a:solidFill>
                <a:latin typeface="Arial" pitchFamily="34" charset="0"/>
                <a:ea typeface="Arial" pitchFamily="34" charset="-122"/>
                <a:cs typeface="Arial" pitchFamily="34" charset="-120"/>
              </a:rPr>
              <a:t>Leads recorded</a:t>
            </a:r>
            <a:endParaRPr lang="en-US" sz="1200" dirty="0"/>
          </a:p>
        </p:txBody>
      </p:sp>
      <p:sp>
        <p:nvSpPr>
          <p:cNvPr id="14" name="Text 12"/>
          <p:cNvSpPr/>
          <p:nvPr/>
        </p:nvSpPr>
        <p:spPr>
          <a:xfrm>
            <a:off x="6443980" y="2626364"/>
            <a:ext cx="2049793" cy="556260"/>
          </a:xfrm>
          <a:prstGeom prst="rect">
            <a:avLst/>
          </a:prstGeom>
          <a:noFill/>
          <a:ln/>
        </p:spPr>
        <p:txBody>
          <a:bodyPr wrap="square" lIns="0" tIns="0" rIns="0" bIns="0" rtlCol="0" anchor="t">
            <a:normAutofit/>
          </a:bodyPr>
          <a:lstStyle/>
          <a:p>
            <a:pPr marL="0" indent="0" algn="l">
              <a:lnSpc>
                <a:spcPts val="4180"/>
              </a:lnSpc>
              <a:buNone/>
            </a:pPr>
            <a:r>
              <a:rPr lang="en-US" sz="3800" dirty="0">
                <a:solidFill>
                  <a:srgbClr val="F7F3EA"/>
                </a:solidFill>
                <a:latin typeface="Georgia" pitchFamily="34" charset="0"/>
                <a:ea typeface="Georgia" pitchFamily="34" charset="-122"/>
                <a:cs typeface="Georgia" pitchFamily="34" charset="-120"/>
              </a:rPr>
              <a:t>1,259</a:t>
            </a:r>
            <a:endParaRPr lang="en-US" sz="3800" dirty="0"/>
          </a:p>
        </p:txBody>
      </p:sp>
      <p:sp>
        <p:nvSpPr>
          <p:cNvPr id="15" name="Text 13"/>
          <p:cNvSpPr/>
          <p:nvPr/>
        </p:nvSpPr>
        <p:spPr>
          <a:xfrm>
            <a:off x="6443980" y="3220721"/>
            <a:ext cx="204979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79C89"/>
                </a:solidFill>
                <a:latin typeface="Arial" pitchFamily="34" charset="0"/>
                <a:ea typeface="Arial" pitchFamily="34" charset="-122"/>
                <a:cs typeface="Arial" pitchFamily="34" charset="-120"/>
              </a:rPr>
              <a:t>Forms and WhatsApp only</a:t>
            </a:r>
            <a:endParaRPr lang="en-US" sz="1200" dirty="0"/>
          </a:p>
        </p:txBody>
      </p:sp>
      <p:sp>
        <p:nvSpPr>
          <p:cNvPr id="16" name="Shape 14"/>
          <p:cNvSpPr/>
          <p:nvPr/>
        </p:nvSpPr>
        <p:spPr>
          <a:xfrm>
            <a:off x="8874125" y="2093596"/>
            <a:ext cx="2501900" cy="1596390"/>
          </a:xfrm>
          <a:prstGeom prst="roundRect">
            <a:avLst>
              <a:gd name="adj" fmla="val 6165"/>
            </a:avLst>
          </a:prstGeom>
          <a:solidFill>
            <a:srgbClr val="221E18"/>
          </a:solidFill>
          <a:ln w="6350">
            <a:solidFill>
              <a:srgbClr val="3A342A"/>
            </a:solidFill>
            <a:prstDash val="solid"/>
          </a:ln>
        </p:spPr>
      </p:sp>
      <p:sp>
        <p:nvSpPr>
          <p:cNvPr id="17" name="Text 15"/>
          <p:cNvSpPr/>
          <p:nvPr/>
        </p:nvSpPr>
        <p:spPr>
          <a:xfrm>
            <a:off x="9130030" y="2349500"/>
            <a:ext cx="204979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79C89"/>
                </a:solidFill>
                <a:latin typeface="Arial" pitchFamily="34" charset="0"/>
                <a:ea typeface="Arial" pitchFamily="34" charset="-122"/>
                <a:cs typeface="Arial" pitchFamily="34" charset="-120"/>
              </a:rPr>
              <a:t>Cost per lead</a:t>
            </a:r>
            <a:endParaRPr lang="en-US" sz="1200" dirty="0"/>
          </a:p>
        </p:txBody>
      </p:sp>
      <p:sp>
        <p:nvSpPr>
          <p:cNvPr id="18" name="Text 16"/>
          <p:cNvSpPr/>
          <p:nvPr/>
        </p:nvSpPr>
        <p:spPr>
          <a:xfrm>
            <a:off x="9130030" y="2626364"/>
            <a:ext cx="2049793" cy="556260"/>
          </a:xfrm>
          <a:prstGeom prst="rect">
            <a:avLst/>
          </a:prstGeom>
          <a:noFill/>
          <a:ln/>
        </p:spPr>
        <p:txBody>
          <a:bodyPr wrap="square" lIns="0" tIns="0" rIns="0" bIns="0" rtlCol="0" anchor="t">
            <a:normAutofit/>
          </a:bodyPr>
          <a:lstStyle/>
          <a:p>
            <a:pPr marL="0" indent="0" algn="l">
              <a:lnSpc>
                <a:spcPts val="4180"/>
              </a:lnSpc>
              <a:buNone/>
            </a:pPr>
            <a:r>
              <a:rPr lang="en-US" sz="3800" dirty="0">
                <a:solidFill>
                  <a:srgbClr val="F7F3EA"/>
                </a:solidFill>
                <a:latin typeface="Georgia" pitchFamily="34" charset="0"/>
                <a:ea typeface="Georgia" pitchFamily="34" charset="-122"/>
                <a:cs typeface="Georgia" pitchFamily="34" charset="-120"/>
              </a:rPr>
              <a:t>₹1,186</a:t>
            </a:r>
            <a:endParaRPr lang="en-US" sz="3800" dirty="0"/>
          </a:p>
        </p:txBody>
      </p:sp>
      <p:sp>
        <p:nvSpPr>
          <p:cNvPr id="19" name="Text 17"/>
          <p:cNvSpPr/>
          <p:nvPr/>
        </p:nvSpPr>
        <p:spPr>
          <a:xfrm>
            <a:off x="9130030" y="3220721"/>
            <a:ext cx="204979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79C89"/>
                </a:solidFill>
                <a:latin typeface="Arial" pitchFamily="34" charset="0"/>
                <a:ea typeface="Arial" pitchFamily="34" charset="-122"/>
                <a:cs typeface="Arial" pitchFamily="34" charset="-120"/>
              </a:rPr>
              <a:t>Blended across 21 months</a:t>
            </a:r>
            <a:endParaRPr lang="en-US" sz="1200" dirty="0"/>
          </a:p>
        </p:txBody>
      </p:sp>
      <p:sp>
        <p:nvSpPr>
          <p:cNvPr id="20" name="Text 18"/>
          <p:cNvSpPr/>
          <p:nvPr/>
        </p:nvSpPr>
        <p:spPr>
          <a:xfrm>
            <a:off x="812800" y="4023364"/>
            <a:ext cx="10203180" cy="651510"/>
          </a:xfrm>
          <a:prstGeom prst="rect">
            <a:avLst/>
          </a:prstGeom>
          <a:noFill/>
          <a:ln/>
        </p:spPr>
        <p:txBody>
          <a:bodyPr wrap="square" lIns="0" tIns="0" rIns="0" bIns="0" rtlCol="0" anchor="t">
            <a:normAutofit/>
          </a:bodyPr>
          <a:lstStyle/>
          <a:p>
            <a:pPr marL="0" indent="0" algn="l">
              <a:lnSpc>
                <a:spcPts val="2465"/>
              </a:lnSpc>
              <a:buNone/>
            </a:pPr>
            <a:r>
              <a:rPr lang="en-US" sz="1700" dirty="0">
                <a:solidFill>
                  <a:srgbClr val="A79C89"/>
                </a:solidFill>
                <a:latin typeface="Arial" pitchFamily="34" charset="0"/>
                <a:ea typeface="Arial" pitchFamily="34" charset="-122"/>
                <a:cs typeface="Arial" pitchFamily="34" charset="-120"/>
              </a:rPr>
              <a:t>Those are the headline numbers. The next twelve slides are about what sits underneath them, and almost none of it is good news.</a:t>
            </a:r>
            <a:endParaRPr lang="en-US" sz="1700" dirty="0"/>
          </a:p>
        </p:txBody>
      </p:sp>
      <p:sp>
        <p:nvSpPr>
          <p:cNvPr id="21" name="Text 19"/>
          <p:cNvSpPr/>
          <p:nvPr/>
        </p:nvSpPr>
        <p:spPr>
          <a:xfrm>
            <a:off x="812800" y="6238242"/>
            <a:ext cx="619548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071"/>
                </a:solidFill>
                <a:latin typeface="Arial" pitchFamily="34" charset="0"/>
                <a:ea typeface="Arial" pitchFamily="34" charset="-122"/>
                <a:cs typeface="Arial" pitchFamily="34" charset="-120"/>
              </a:rPr>
              <a:t>Source: Meta Ads Manager, campaign name contains GUHA, 1 Jan 2025 – 29 Sep 2026.</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B54A28"/>
        </a:solidFill>
        <a:effectLst/>
      </p:bgPr>
    </p:bg>
    <p:spTree>
      <p:nvGrpSpPr>
        <p:cNvPr id="1" name=""/>
        <p:cNvGrpSpPr/>
        <p:nvPr/>
      </p:nvGrpSpPr>
      <p:grpSpPr>
        <a:xfrm>
          <a:off x="0" y="0"/>
          <a:ext cx="0" cy="0"/>
          <a:chOff x="0" y="0"/>
          <a:chExt cx="0" cy="0"/>
        </a:xfrm>
      </p:grpSpPr>
      <p:sp>
        <p:nvSpPr>
          <p:cNvPr id="2" name="Text 0"/>
          <p:cNvSpPr/>
          <p:nvPr/>
        </p:nvSpPr>
        <p:spPr>
          <a:xfrm>
            <a:off x="812800" y="1544321"/>
            <a:ext cx="10883392" cy="274320"/>
          </a:xfrm>
          <a:prstGeom prst="rect">
            <a:avLst/>
          </a:prstGeom>
          <a:noFill/>
          <a:ln/>
        </p:spPr>
        <p:txBody>
          <a:bodyPr wrap="square" lIns="0" tIns="0" rIns="0" bIns="0" rtlCol="0" anchor="t">
            <a:normAutofit/>
          </a:bodyPr>
          <a:lstStyle/>
          <a:p>
            <a:pPr marL="0" indent="0" algn="l">
              <a:lnSpc>
                <a:spcPts val="1960"/>
              </a:lnSpc>
              <a:buNone/>
            </a:pPr>
            <a:r>
              <a:rPr lang="en-US" sz="1400" kern="0" spc="200" dirty="0">
                <a:solidFill>
                  <a:srgbClr val="F7F3EA"/>
                </a:solidFill>
                <a:latin typeface="Arial" pitchFamily="34" charset="0"/>
                <a:ea typeface="Arial" pitchFamily="34" charset="-122"/>
                <a:cs typeface="Arial" pitchFamily="34" charset="-120"/>
              </a:rPr>
              <a:t>HALF THE BUDGET</a:t>
            </a:r>
            <a:endParaRPr lang="en-US" sz="1400" dirty="0"/>
          </a:p>
        </p:txBody>
      </p:sp>
      <p:sp>
        <p:nvSpPr>
          <p:cNvPr id="3" name="Text 1"/>
          <p:cNvSpPr/>
          <p:nvPr/>
        </p:nvSpPr>
        <p:spPr>
          <a:xfrm>
            <a:off x="812800" y="2047242"/>
            <a:ext cx="10883392" cy="1168400"/>
          </a:xfrm>
          <a:prstGeom prst="rect">
            <a:avLst/>
          </a:prstGeom>
          <a:noFill/>
          <a:ln/>
        </p:spPr>
        <p:txBody>
          <a:bodyPr wrap="square" lIns="0" tIns="0" rIns="0" bIns="0" rtlCol="0" anchor="t">
            <a:normAutofit/>
          </a:bodyPr>
          <a:lstStyle/>
          <a:p>
            <a:pPr marL="0" indent="0" algn="l">
              <a:lnSpc>
                <a:spcPts val="9000"/>
              </a:lnSpc>
              <a:buNone/>
            </a:pPr>
            <a:r>
              <a:rPr lang="en-US" sz="9000" dirty="0">
                <a:solidFill>
                  <a:srgbClr val="F7F3EA"/>
                </a:solidFill>
                <a:latin typeface="Georgia" pitchFamily="34" charset="0"/>
                <a:ea typeface="Georgia" pitchFamily="34" charset="-122"/>
                <a:cs typeface="Georgia" pitchFamily="34" charset="-120"/>
              </a:rPr>
              <a:t>₹7,41,739</a:t>
            </a:r>
            <a:endParaRPr lang="en-US" sz="9000" dirty="0"/>
          </a:p>
        </p:txBody>
      </p:sp>
      <p:sp>
        <p:nvSpPr>
          <p:cNvPr id="4" name="Text 2"/>
          <p:cNvSpPr/>
          <p:nvPr/>
        </p:nvSpPr>
        <p:spPr>
          <a:xfrm>
            <a:off x="812800" y="3444242"/>
            <a:ext cx="10203180" cy="848360"/>
          </a:xfrm>
          <a:prstGeom prst="rect">
            <a:avLst/>
          </a:prstGeom>
          <a:noFill/>
          <a:ln/>
        </p:spPr>
        <p:txBody>
          <a:bodyPr wrap="square" lIns="0" tIns="0" rIns="0" bIns="0" rtlCol="0" anchor="t">
            <a:normAutofit/>
          </a:bodyPr>
          <a:lstStyle/>
          <a:p>
            <a:pPr marL="0" indent="0" algn="l">
              <a:lnSpc>
                <a:spcPts val="3240"/>
              </a:lnSpc>
              <a:buNone/>
            </a:pPr>
            <a:r>
              <a:rPr lang="en-US" sz="2400" dirty="0">
                <a:solidFill>
                  <a:srgbClr val="F7F3EA"/>
                </a:solidFill>
                <a:latin typeface="Arial" pitchFamily="34" charset="0"/>
                <a:ea typeface="Arial" pitchFamily="34" charset="-122"/>
                <a:cs typeface="Arial" pitchFamily="34" charset="-120"/>
              </a:rPr>
              <a:t>ran across ten months in which </a:t>
            </a:r>
            <a:r>
              <a:rPr lang="en-US" sz="2400" b="1" dirty="0">
                <a:solidFill>
                  <a:srgbClr val="F7F3EA"/>
                </a:solidFill>
                <a:latin typeface="Arial" pitchFamily="34" charset="0"/>
                <a:ea typeface="Arial" pitchFamily="34" charset="-122"/>
                <a:cs typeface="Arial" pitchFamily="34" charset="-120"/>
              </a:rPr>
              <a:t>not one lead was recorded</a:t>
            </a:r>
            <a:r>
              <a:rPr lang="en-US" sz="2400" dirty="0">
                <a:solidFill>
                  <a:srgbClr val="F7F3EA"/>
                </a:solidFill>
                <a:latin typeface="Arial" pitchFamily="34" charset="0"/>
                <a:ea typeface="Arial" pitchFamily="34" charset="-122"/>
                <a:cs typeface="Arial" pitchFamily="34" charset="-120"/>
              </a:rPr>
              <a:t>. That is 49.7% of every rupee Meta has spent on Guhantara.</a:t>
            </a:r>
            <a:endParaRPr lang="en-US" sz="2400" dirty="0"/>
          </a:p>
        </p:txBody>
      </p:sp>
      <p:sp>
        <p:nvSpPr>
          <p:cNvPr id="5" name="Text 3"/>
          <p:cNvSpPr/>
          <p:nvPr/>
        </p:nvSpPr>
        <p:spPr>
          <a:xfrm>
            <a:off x="812800" y="4521200"/>
            <a:ext cx="9810750" cy="614680"/>
          </a:xfrm>
          <a:prstGeom prst="rect">
            <a:avLst/>
          </a:prstGeom>
          <a:noFill/>
          <a:ln/>
        </p:spPr>
        <p:txBody>
          <a:bodyPr wrap="square" lIns="0" tIns="0" rIns="0" bIns="0" rtlCol="0" anchor="t">
            <a:normAutofit/>
          </a:bodyPr>
          <a:lstStyle/>
          <a:p>
            <a:pPr marL="0" indent="0" algn="l">
              <a:lnSpc>
                <a:spcPts val="2320"/>
              </a:lnSpc>
              <a:buNone/>
            </a:pPr>
            <a:r>
              <a:rPr lang="en-US" sz="1600" dirty="0">
                <a:solidFill>
                  <a:srgbClr val="F7F3EA"/>
                </a:solidFill>
                <a:latin typeface="Arial" pitchFamily="34" charset="0"/>
                <a:ea typeface="Arial" pitchFamily="34" charset="-122"/>
                <a:cs typeface="Arial" pitchFamily="34" charset="-120"/>
              </a:rPr>
              <a:t>In the eleven months where leads were tracked, the same account delivered 1,259 leads at ₹597 each. The tracking, not the media, is what changed.</a:t>
            </a:r>
            <a:endParaRPr lang="en-US" sz="1600" dirty="0"/>
          </a:p>
        </p:txBody>
      </p:sp>
      <p:sp>
        <p:nvSpPr>
          <p:cNvPr id="6" name="Text 4"/>
          <p:cNvSpPr/>
          <p:nvPr/>
        </p:nvSpPr>
        <p:spPr>
          <a:xfrm>
            <a:off x="812800" y="6238242"/>
            <a:ext cx="680302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7D9CC"/>
                </a:solidFill>
                <a:latin typeface="Arial" pitchFamily="34" charset="0"/>
                <a:ea typeface="Arial" pitchFamily="34" charset="-122"/>
                <a:cs typeface="Arial" pitchFamily="34" charset="-120"/>
              </a:rPr>
              <a:t>Months with zero leads recorded: Jan, Feb, Mar, Apr, Aug, Oct, Nov 2025 and Apr, May, Jun 2026.</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3EA"/>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1038860"/>
          </a:xfrm>
          <a:prstGeom prst="rect">
            <a:avLst/>
          </a:prstGeom>
          <a:noFill/>
          <a:ln/>
        </p:spPr>
        <p:txBody>
          <a:bodyPr wrap="square" lIns="0" tIns="0" rIns="0" bIns="0" rtlCol="0" anchor="t">
            <a:normAutofit/>
          </a:bodyPr>
          <a:lstStyle/>
          <a:p>
            <a:pPr marL="0" indent="0" algn="l">
              <a:lnSpc>
                <a:spcPts val="3990"/>
              </a:lnSpc>
              <a:buNone/>
            </a:pPr>
            <a:r>
              <a:rPr lang="en-US" sz="3800" dirty="0">
                <a:solidFill>
                  <a:srgbClr val="17140F"/>
                </a:solidFill>
                <a:latin typeface="Georgia" pitchFamily="34" charset="0"/>
                <a:ea typeface="Georgia" pitchFamily="34" charset="-122"/>
                <a:cs typeface="Georgia" pitchFamily="34" charset="-120"/>
              </a:rPr>
              <a:t>Monthly Meta spend — shaded where no lead was recorded</a:t>
            </a:r>
            <a:endParaRPr lang="en-US" sz="3800" dirty="0"/>
          </a:p>
        </p:txBody>
      </p:sp>
      <p:sp>
        <p:nvSpPr>
          <p:cNvPr id="3" name="Shape 1"/>
          <p:cNvSpPr/>
          <p:nvPr/>
        </p:nvSpPr>
        <p:spPr>
          <a:xfrm>
            <a:off x="812800" y="3032764"/>
            <a:ext cx="406400" cy="952500"/>
          </a:xfrm>
          <a:prstGeom prst="roundRect">
            <a:avLst>
              <a:gd name="adj" fmla="val 6250"/>
            </a:avLst>
          </a:prstGeom>
          <a:solidFill>
            <a:srgbClr val="B54A28"/>
          </a:solidFill>
          <a:ln/>
        </p:spPr>
      </p:sp>
      <p:sp>
        <p:nvSpPr>
          <p:cNvPr id="4" name="Shape 2"/>
          <p:cNvSpPr/>
          <p:nvPr/>
        </p:nvSpPr>
        <p:spPr>
          <a:xfrm>
            <a:off x="1320800" y="2493014"/>
            <a:ext cx="406400" cy="1492250"/>
          </a:xfrm>
          <a:prstGeom prst="roundRect">
            <a:avLst>
              <a:gd name="adj" fmla="val 6250"/>
            </a:avLst>
          </a:prstGeom>
          <a:solidFill>
            <a:srgbClr val="B54A28"/>
          </a:solidFill>
          <a:ln/>
        </p:spPr>
      </p:sp>
      <p:sp>
        <p:nvSpPr>
          <p:cNvPr id="5" name="Shape 3"/>
          <p:cNvSpPr/>
          <p:nvPr/>
        </p:nvSpPr>
        <p:spPr>
          <a:xfrm>
            <a:off x="1828800" y="2080264"/>
            <a:ext cx="406400" cy="1905000"/>
          </a:xfrm>
          <a:prstGeom prst="roundRect">
            <a:avLst>
              <a:gd name="adj" fmla="val 6250"/>
            </a:avLst>
          </a:prstGeom>
          <a:solidFill>
            <a:srgbClr val="B54A28"/>
          </a:solidFill>
          <a:ln/>
        </p:spPr>
      </p:sp>
      <p:sp>
        <p:nvSpPr>
          <p:cNvPr id="6" name="Shape 4"/>
          <p:cNvSpPr/>
          <p:nvPr/>
        </p:nvSpPr>
        <p:spPr>
          <a:xfrm>
            <a:off x="2336800" y="2804164"/>
            <a:ext cx="406400" cy="1181100"/>
          </a:xfrm>
          <a:prstGeom prst="roundRect">
            <a:avLst>
              <a:gd name="adj" fmla="val 6250"/>
            </a:avLst>
          </a:prstGeom>
          <a:solidFill>
            <a:srgbClr val="B54A28"/>
          </a:solidFill>
          <a:ln/>
        </p:spPr>
      </p:sp>
      <p:sp>
        <p:nvSpPr>
          <p:cNvPr id="7" name="Shape 5"/>
          <p:cNvSpPr/>
          <p:nvPr/>
        </p:nvSpPr>
        <p:spPr>
          <a:xfrm>
            <a:off x="2844800" y="2924814"/>
            <a:ext cx="406400" cy="1060450"/>
          </a:xfrm>
          <a:prstGeom prst="roundRect">
            <a:avLst>
              <a:gd name="adj" fmla="val 6250"/>
            </a:avLst>
          </a:prstGeom>
          <a:solidFill>
            <a:srgbClr val="C9A63C"/>
          </a:solidFill>
          <a:ln/>
        </p:spPr>
      </p:sp>
      <p:sp>
        <p:nvSpPr>
          <p:cNvPr id="8" name="Shape 6"/>
          <p:cNvSpPr/>
          <p:nvPr/>
        </p:nvSpPr>
        <p:spPr>
          <a:xfrm>
            <a:off x="3352800" y="2607314"/>
            <a:ext cx="406400" cy="1377950"/>
          </a:xfrm>
          <a:prstGeom prst="roundRect">
            <a:avLst>
              <a:gd name="adj" fmla="val 6250"/>
            </a:avLst>
          </a:prstGeom>
          <a:solidFill>
            <a:srgbClr val="C9A63C"/>
          </a:solidFill>
          <a:ln/>
        </p:spPr>
      </p:sp>
      <p:sp>
        <p:nvSpPr>
          <p:cNvPr id="9" name="Shape 7"/>
          <p:cNvSpPr/>
          <p:nvPr/>
        </p:nvSpPr>
        <p:spPr>
          <a:xfrm>
            <a:off x="3860800" y="2753364"/>
            <a:ext cx="406400" cy="1231900"/>
          </a:xfrm>
          <a:prstGeom prst="roundRect">
            <a:avLst>
              <a:gd name="adj" fmla="val 6250"/>
            </a:avLst>
          </a:prstGeom>
          <a:solidFill>
            <a:srgbClr val="C9A63C"/>
          </a:solidFill>
          <a:ln/>
        </p:spPr>
      </p:sp>
      <p:sp>
        <p:nvSpPr>
          <p:cNvPr id="10" name="Shape 8"/>
          <p:cNvSpPr/>
          <p:nvPr/>
        </p:nvSpPr>
        <p:spPr>
          <a:xfrm>
            <a:off x="4368800" y="2219964"/>
            <a:ext cx="406400" cy="1765300"/>
          </a:xfrm>
          <a:prstGeom prst="roundRect">
            <a:avLst>
              <a:gd name="adj" fmla="val 6250"/>
            </a:avLst>
          </a:prstGeom>
          <a:solidFill>
            <a:srgbClr val="B54A28"/>
          </a:solidFill>
          <a:ln/>
        </p:spPr>
      </p:sp>
      <p:sp>
        <p:nvSpPr>
          <p:cNvPr id="11" name="Shape 9"/>
          <p:cNvSpPr/>
          <p:nvPr/>
        </p:nvSpPr>
        <p:spPr>
          <a:xfrm>
            <a:off x="4876800" y="2454914"/>
            <a:ext cx="406400" cy="1530350"/>
          </a:xfrm>
          <a:prstGeom prst="roundRect">
            <a:avLst>
              <a:gd name="adj" fmla="val 6250"/>
            </a:avLst>
          </a:prstGeom>
          <a:solidFill>
            <a:srgbClr val="C9A63C"/>
          </a:solidFill>
          <a:ln/>
        </p:spPr>
      </p:sp>
      <p:sp>
        <p:nvSpPr>
          <p:cNvPr id="12" name="Shape 10"/>
          <p:cNvSpPr/>
          <p:nvPr/>
        </p:nvSpPr>
        <p:spPr>
          <a:xfrm>
            <a:off x="5384800" y="3597914"/>
            <a:ext cx="406400" cy="387350"/>
          </a:xfrm>
          <a:prstGeom prst="roundRect">
            <a:avLst>
              <a:gd name="adj" fmla="val 6557"/>
            </a:avLst>
          </a:prstGeom>
          <a:solidFill>
            <a:srgbClr val="B54A28"/>
          </a:solidFill>
          <a:ln/>
        </p:spPr>
      </p:sp>
      <p:sp>
        <p:nvSpPr>
          <p:cNvPr id="13" name="Shape 11"/>
          <p:cNvSpPr/>
          <p:nvPr/>
        </p:nvSpPr>
        <p:spPr>
          <a:xfrm>
            <a:off x="5892800" y="3864614"/>
            <a:ext cx="406400" cy="120650"/>
          </a:xfrm>
          <a:prstGeom prst="roundRect">
            <a:avLst>
              <a:gd name="adj" fmla="val 21053"/>
            </a:avLst>
          </a:prstGeom>
          <a:solidFill>
            <a:srgbClr val="B54A28"/>
          </a:solidFill>
          <a:ln/>
        </p:spPr>
      </p:sp>
      <p:sp>
        <p:nvSpPr>
          <p:cNvPr id="14" name="Shape 12"/>
          <p:cNvSpPr/>
          <p:nvPr/>
        </p:nvSpPr>
        <p:spPr>
          <a:xfrm>
            <a:off x="6400800" y="3540764"/>
            <a:ext cx="406400" cy="444500"/>
          </a:xfrm>
          <a:prstGeom prst="roundRect">
            <a:avLst>
              <a:gd name="adj" fmla="val 6250"/>
            </a:avLst>
          </a:prstGeom>
          <a:solidFill>
            <a:srgbClr val="C9A63C"/>
          </a:solidFill>
          <a:ln/>
        </p:spPr>
      </p:sp>
      <p:sp>
        <p:nvSpPr>
          <p:cNvPr id="15" name="Shape 13"/>
          <p:cNvSpPr/>
          <p:nvPr/>
        </p:nvSpPr>
        <p:spPr>
          <a:xfrm>
            <a:off x="6908800" y="3223264"/>
            <a:ext cx="406400" cy="762000"/>
          </a:xfrm>
          <a:prstGeom prst="roundRect">
            <a:avLst>
              <a:gd name="adj" fmla="val 6250"/>
            </a:avLst>
          </a:prstGeom>
          <a:solidFill>
            <a:srgbClr val="C9A63C"/>
          </a:solidFill>
          <a:ln/>
        </p:spPr>
      </p:sp>
      <p:sp>
        <p:nvSpPr>
          <p:cNvPr id="16" name="Shape 14"/>
          <p:cNvSpPr/>
          <p:nvPr/>
        </p:nvSpPr>
        <p:spPr>
          <a:xfrm>
            <a:off x="7416800" y="3064514"/>
            <a:ext cx="406400" cy="920750"/>
          </a:xfrm>
          <a:prstGeom prst="roundRect">
            <a:avLst>
              <a:gd name="adj" fmla="val 6250"/>
            </a:avLst>
          </a:prstGeom>
          <a:solidFill>
            <a:srgbClr val="C9A63C"/>
          </a:solidFill>
          <a:ln/>
        </p:spPr>
      </p:sp>
      <p:sp>
        <p:nvSpPr>
          <p:cNvPr id="17" name="Shape 15"/>
          <p:cNvSpPr/>
          <p:nvPr/>
        </p:nvSpPr>
        <p:spPr>
          <a:xfrm>
            <a:off x="7924800" y="3318514"/>
            <a:ext cx="406400" cy="666750"/>
          </a:xfrm>
          <a:prstGeom prst="roundRect">
            <a:avLst>
              <a:gd name="adj" fmla="val 6250"/>
            </a:avLst>
          </a:prstGeom>
          <a:solidFill>
            <a:srgbClr val="C9A63C"/>
          </a:solidFill>
          <a:ln/>
        </p:spPr>
      </p:sp>
      <p:sp>
        <p:nvSpPr>
          <p:cNvPr id="18" name="Shape 16"/>
          <p:cNvSpPr/>
          <p:nvPr/>
        </p:nvSpPr>
        <p:spPr>
          <a:xfrm>
            <a:off x="8432800" y="3959864"/>
            <a:ext cx="406400" cy="25400"/>
          </a:xfrm>
          <a:prstGeom prst="roundRect">
            <a:avLst>
              <a:gd name="adj" fmla="val 50000"/>
            </a:avLst>
          </a:prstGeom>
          <a:solidFill>
            <a:srgbClr val="B9AF9B"/>
          </a:solidFill>
          <a:ln/>
        </p:spPr>
      </p:sp>
      <p:sp>
        <p:nvSpPr>
          <p:cNvPr id="19" name="Shape 17"/>
          <p:cNvSpPr/>
          <p:nvPr/>
        </p:nvSpPr>
        <p:spPr>
          <a:xfrm>
            <a:off x="8940800" y="3242314"/>
            <a:ext cx="406400" cy="742950"/>
          </a:xfrm>
          <a:prstGeom prst="roundRect">
            <a:avLst>
              <a:gd name="adj" fmla="val 6250"/>
            </a:avLst>
          </a:prstGeom>
          <a:solidFill>
            <a:srgbClr val="B54A28"/>
          </a:solidFill>
          <a:ln/>
        </p:spPr>
      </p:sp>
      <p:sp>
        <p:nvSpPr>
          <p:cNvPr id="20" name="Shape 18"/>
          <p:cNvSpPr/>
          <p:nvPr/>
        </p:nvSpPr>
        <p:spPr>
          <a:xfrm>
            <a:off x="9448800" y="2651764"/>
            <a:ext cx="406400" cy="1333500"/>
          </a:xfrm>
          <a:prstGeom prst="roundRect">
            <a:avLst>
              <a:gd name="adj" fmla="val 6250"/>
            </a:avLst>
          </a:prstGeom>
          <a:solidFill>
            <a:srgbClr val="B54A28"/>
          </a:solidFill>
          <a:ln/>
        </p:spPr>
      </p:sp>
      <p:sp>
        <p:nvSpPr>
          <p:cNvPr id="21" name="Shape 19"/>
          <p:cNvSpPr/>
          <p:nvPr/>
        </p:nvSpPr>
        <p:spPr>
          <a:xfrm>
            <a:off x="9956800" y="3001014"/>
            <a:ext cx="406400" cy="984250"/>
          </a:xfrm>
          <a:prstGeom prst="roundRect">
            <a:avLst>
              <a:gd name="adj" fmla="val 6250"/>
            </a:avLst>
          </a:prstGeom>
          <a:solidFill>
            <a:srgbClr val="C9A63C"/>
          </a:solidFill>
          <a:ln/>
        </p:spPr>
      </p:sp>
      <p:sp>
        <p:nvSpPr>
          <p:cNvPr id="22" name="Shape 20"/>
          <p:cNvSpPr/>
          <p:nvPr/>
        </p:nvSpPr>
        <p:spPr>
          <a:xfrm>
            <a:off x="10464800" y="3420114"/>
            <a:ext cx="406400" cy="565150"/>
          </a:xfrm>
          <a:prstGeom prst="roundRect">
            <a:avLst>
              <a:gd name="adj" fmla="val 6250"/>
            </a:avLst>
          </a:prstGeom>
          <a:solidFill>
            <a:srgbClr val="C9A63C"/>
          </a:solidFill>
          <a:ln/>
        </p:spPr>
      </p:sp>
      <p:sp>
        <p:nvSpPr>
          <p:cNvPr id="23" name="Shape 21"/>
          <p:cNvSpPr/>
          <p:nvPr/>
        </p:nvSpPr>
        <p:spPr>
          <a:xfrm>
            <a:off x="10972800" y="3521714"/>
            <a:ext cx="406400" cy="463550"/>
          </a:xfrm>
          <a:prstGeom prst="roundRect">
            <a:avLst>
              <a:gd name="adj" fmla="val 6250"/>
            </a:avLst>
          </a:prstGeom>
          <a:solidFill>
            <a:srgbClr val="C9A63C"/>
          </a:solidFill>
          <a:ln/>
        </p:spPr>
      </p:sp>
      <p:sp>
        <p:nvSpPr>
          <p:cNvPr id="24" name="Shape 22"/>
          <p:cNvSpPr/>
          <p:nvPr/>
        </p:nvSpPr>
        <p:spPr>
          <a:xfrm>
            <a:off x="812800" y="4217039"/>
            <a:ext cx="10566400" cy="0"/>
          </a:xfrm>
          <a:prstGeom prst="line">
            <a:avLst/>
          </a:prstGeom>
          <a:noFill/>
          <a:ln w="6350">
            <a:solidFill>
              <a:srgbClr val="B9AF9B"/>
            </a:solidFill>
            <a:prstDash val="solid"/>
          </a:ln>
        </p:spPr>
      </p:sp>
      <p:sp>
        <p:nvSpPr>
          <p:cNvPr id="25" name="Text 23"/>
          <p:cNvSpPr/>
          <p:nvPr/>
        </p:nvSpPr>
        <p:spPr>
          <a:xfrm>
            <a:off x="812800" y="4320542"/>
            <a:ext cx="730171"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C5344"/>
                </a:solidFill>
                <a:latin typeface="Arial" pitchFamily="34" charset="0"/>
                <a:ea typeface="Arial" pitchFamily="34" charset="-122"/>
                <a:cs typeface="Arial" pitchFamily="34" charset="-120"/>
              </a:rPr>
              <a:t>Jan 2025</a:t>
            </a:r>
            <a:endParaRPr lang="en-US" sz="1300" dirty="0"/>
          </a:p>
        </p:txBody>
      </p:sp>
      <p:sp>
        <p:nvSpPr>
          <p:cNvPr id="26" name="Text 24"/>
          <p:cNvSpPr/>
          <p:nvPr/>
        </p:nvSpPr>
        <p:spPr>
          <a:xfrm>
            <a:off x="4898231" y="4320542"/>
            <a:ext cx="2438952"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C5344"/>
                </a:solidFill>
                <a:latin typeface="Arial" pitchFamily="34" charset="0"/>
                <a:ea typeface="Arial" pitchFamily="34" charset="-122"/>
                <a:cs typeface="Arial" pitchFamily="34" charset="-120"/>
              </a:rPr>
              <a:t>Tallest bar: Mar 2025, ₹1,43,126</a:t>
            </a:r>
            <a:endParaRPr lang="en-US" sz="1300" dirty="0"/>
          </a:p>
        </p:txBody>
      </p:sp>
      <p:sp>
        <p:nvSpPr>
          <p:cNvPr id="27" name="Text 25"/>
          <p:cNvSpPr/>
          <p:nvPr/>
        </p:nvSpPr>
        <p:spPr>
          <a:xfrm>
            <a:off x="10672207" y="4320542"/>
            <a:ext cx="757793"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C5344"/>
                </a:solidFill>
                <a:latin typeface="Arial" pitchFamily="34" charset="0"/>
                <a:ea typeface="Arial" pitchFamily="34" charset="-122"/>
                <a:cs typeface="Arial" pitchFamily="34" charset="-120"/>
              </a:rPr>
              <a:t>Sep 2026</a:t>
            </a:r>
            <a:endParaRPr lang="en-US" sz="1300" dirty="0"/>
          </a:p>
        </p:txBody>
      </p:sp>
      <p:sp>
        <p:nvSpPr>
          <p:cNvPr id="28" name="Shape 26"/>
          <p:cNvSpPr/>
          <p:nvPr/>
        </p:nvSpPr>
        <p:spPr>
          <a:xfrm>
            <a:off x="812800" y="4828542"/>
            <a:ext cx="254000" cy="152400"/>
          </a:xfrm>
          <a:prstGeom prst="roundRect">
            <a:avLst>
              <a:gd name="adj" fmla="val 16667"/>
            </a:avLst>
          </a:prstGeom>
          <a:solidFill>
            <a:srgbClr val="B54A28"/>
          </a:solidFill>
          <a:ln/>
        </p:spPr>
      </p:sp>
      <p:sp>
        <p:nvSpPr>
          <p:cNvPr id="29" name="Text 27"/>
          <p:cNvSpPr/>
          <p:nvPr/>
        </p:nvSpPr>
        <p:spPr>
          <a:xfrm>
            <a:off x="1155700" y="4780279"/>
            <a:ext cx="232114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7140F"/>
                </a:solidFill>
                <a:latin typeface="Arial" pitchFamily="34" charset="0"/>
                <a:ea typeface="Arial" pitchFamily="34" charset="-122"/>
                <a:cs typeface="Arial" pitchFamily="34" charset="-120"/>
              </a:rPr>
              <a:t>No lead recorded that month</a:t>
            </a:r>
            <a:endParaRPr lang="en-US" sz="1400" dirty="0"/>
          </a:p>
        </p:txBody>
      </p:sp>
      <p:sp>
        <p:nvSpPr>
          <p:cNvPr id="30" name="Shape 28"/>
          <p:cNvSpPr/>
          <p:nvPr/>
        </p:nvSpPr>
        <p:spPr>
          <a:xfrm>
            <a:off x="3714036" y="4828542"/>
            <a:ext cx="254000" cy="152400"/>
          </a:xfrm>
          <a:prstGeom prst="roundRect">
            <a:avLst>
              <a:gd name="adj" fmla="val 16667"/>
            </a:avLst>
          </a:prstGeom>
          <a:solidFill>
            <a:srgbClr val="C9A63C"/>
          </a:solidFill>
          <a:ln/>
        </p:spPr>
      </p:sp>
      <p:sp>
        <p:nvSpPr>
          <p:cNvPr id="31" name="Text 29"/>
          <p:cNvSpPr/>
          <p:nvPr/>
        </p:nvSpPr>
        <p:spPr>
          <a:xfrm>
            <a:off x="4056936" y="4780279"/>
            <a:ext cx="1286431"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7140F"/>
                </a:solidFill>
                <a:latin typeface="Arial" pitchFamily="34" charset="0"/>
                <a:ea typeface="Arial" pitchFamily="34" charset="-122"/>
                <a:cs typeface="Arial" pitchFamily="34" charset="-120"/>
              </a:rPr>
              <a:t>Leads recorded</a:t>
            </a:r>
            <a:endParaRPr lang="en-US" sz="1400" dirty="0"/>
          </a:p>
        </p:txBody>
      </p:sp>
      <p:sp>
        <p:nvSpPr>
          <p:cNvPr id="32" name="Text 30"/>
          <p:cNvSpPr/>
          <p:nvPr/>
        </p:nvSpPr>
        <p:spPr>
          <a:xfrm>
            <a:off x="5597366" y="4780279"/>
            <a:ext cx="211773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C5344"/>
                </a:solidFill>
                <a:latin typeface="Arial" pitchFamily="34" charset="0"/>
                <a:ea typeface="Arial" pitchFamily="34" charset="-122"/>
                <a:cs typeface="Arial" pitchFamily="34" charset="-120"/>
              </a:rPr>
              <a:t>April 2026: no spend at all</a:t>
            </a:r>
            <a:endParaRPr lang="en-US" sz="1400" dirty="0"/>
          </a:p>
        </p:txBody>
      </p:sp>
      <p:sp>
        <p:nvSpPr>
          <p:cNvPr id="33" name="Text 31"/>
          <p:cNvSpPr/>
          <p:nvPr/>
        </p:nvSpPr>
        <p:spPr>
          <a:xfrm>
            <a:off x="812800" y="6238242"/>
            <a:ext cx="706741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071"/>
                </a:solidFill>
                <a:latin typeface="Arial" pitchFamily="34" charset="0"/>
                <a:ea typeface="Arial" pitchFamily="34" charset="-122"/>
                <a:cs typeface="Arial" pitchFamily="34" charset="-120"/>
              </a:rPr>
              <a:t>Source: Meta Ads Manager monthly export. Bars are spend; colour is whether any lead was recorded.</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3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612140"/>
          </a:xfrm>
          <a:prstGeom prst="rect">
            <a:avLst/>
          </a:prstGeom>
          <a:noFill/>
          <a:ln/>
        </p:spPr>
        <p:txBody>
          <a:bodyPr wrap="square" lIns="0" tIns="0" rIns="0" bIns="0" rtlCol="0" anchor="t">
            <a:normAutofit/>
          </a:bodyPr>
          <a:lstStyle/>
          <a:p>
            <a:pPr marL="0" indent="0" algn="l">
              <a:lnSpc>
                <a:spcPts val="4620"/>
              </a:lnSpc>
              <a:buNone/>
            </a:pPr>
            <a:r>
              <a:rPr lang="en-US" sz="4400" dirty="0">
                <a:solidFill>
                  <a:srgbClr val="17140F"/>
                </a:solidFill>
                <a:latin typeface="Georgia" pitchFamily="34" charset="0"/>
                <a:ea typeface="Georgia" pitchFamily="34" charset="-122"/>
                <a:cs typeface="Georgia" pitchFamily="34" charset="-120"/>
              </a:rPr>
              <a:t>Cost per lead swings by a factor of 393</a:t>
            </a:r>
            <a:endParaRPr lang="en-US" sz="44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1663702"/>
          <a:ext cx="10556241" cy="3281680"/>
        </p:xfrm>
        <a:graphic>
          <a:graphicData uri="http://schemas.openxmlformats.org/drawingml/2006/table">
            <a:tbl>
              <a:tblPr/>
              <a:tblGrid>
                <a:gridCol w="2533498">
                  <a:extLst>
                    <a:ext uri="{9D8B030D-6E8A-4147-A177-3AD203B41FA5}">
                      <a16:colId xmlns:a16="http://schemas.microsoft.com/office/drawing/2014/main" val="20000"/>
                    </a:ext>
                  </a:extLst>
                </a:gridCol>
                <a:gridCol w="2533498">
                  <a:extLst>
                    <a:ext uri="{9D8B030D-6E8A-4147-A177-3AD203B41FA5}">
                      <a16:colId xmlns:a16="http://schemas.microsoft.com/office/drawing/2014/main" val="20001"/>
                    </a:ext>
                  </a:extLst>
                </a:gridCol>
                <a:gridCol w="1900123">
                  <a:extLst>
                    <a:ext uri="{9D8B030D-6E8A-4147-A177-3AD203B41FA5}">
                      <a16:colId xmlns:a16="http://schemas.microsoft.com/office/drawing/2014/main" val="20002"/>
                    </a:ext>
                  </a:extLst>
                </a:gridCol>
                <a:gridCol w="3589122">
                  <a:extLst>
                    <a:ext uri="{9D8B030D-6E8A-4147-A177-3AD203B41FA5}">
                      <a16:colId xmlns:a16="http://schemas.microsoft.com/office/drawing/2014/main" val="20003"/>
                    </a:ext>
                  </a:extLst>
                </a:gridCol>
              </a:tblGrid>
              <a:tr h="410210">
                <a:tc>
                  <a:txBody>
                    <a:bodyPr/>
                    <a:lstStyle/>
                    <a:p>
                      <a:pPr marL="0" indent="0">
                        <a:lnSpc>
                          <a:spcPts val="2100"/>
                        </a:lnSpc>
                        <a:buNone/>
                      </a:pPr>
                      <a:r>
                        <a:rPr lang="en-US" sz="1500" b="1" dirty="0">
                          <a:solidFill>
                            <a:srgbClr val="F7F3EA"/>
                          </a:solidFill>
                          <a:latin typeface="Arial" pitchFamily="34" charset="0"/>
                          <a:ea typeface="Arial" pitchFamily="34" charset="-122"/>
                          <a:cs typeface="Arial" pitchFamily="34" charset="-120"/>
                        </a:rPr>
                        <a:t>Month</a:t>
                      </a:r>
                      <a:endParaRPr lang="en-US" sz="1500" dirty="0">
                        <a:latin typeface="Arial" charset="0"/>
                        <a:ea typeface="Arial" charset="0"/>
                        <a:cs typeface="Arial" charset="0"/>
                      </a:endParaRPr>
                    </a:p>
                  </a:txBody>
                  <a:tcPr marL="66675" marR="66675" marT="66675" marB="66675">
                    <a:lnL w="12700" cap="flat" cmpd="sng" algn="ctr">
                      <a:solidFill>
                        <a:srgbClr val="C5C2BB"/>
                      </a:solidFill>
                      <a:prstDash val="solid"/>
                      <a:round/>
                      <a:headEnd type="none" w="med" len="med"/>
                      <a:tailEnd type="none" w="med" len="med"/>
                    </a:lnL>
                    <a:lnR w="12700" cap="flat" cmpd="sng" algn="ctr">
                      <a:solidFill>
                        <a:srgbClr val="161410"/>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161410"/>
                      </a:solidFill>
                      <a:prstDash val="solid"/>
                      <a:round/>
                      <a:headEnd type="none" w="med" len="med"/>
                      <a:tailEnd type="none" w="med" len="med"/>
                    </a:lnB>
                    <a:solidFill>
                      <a:srgbClr val="17140F"/>
                    </a:solidFill>
                  </a:tcPr>
                </a:tc>
                <a:tc>
                  <a:txBody>
                    <a:bodyPr/>
                    <a:lstStyle/>
                    <a:p>
                      <a:pPr marL="0" indent="0">
                        <a:lnSpc>
                          <a:spcPts val="2100"/>
                        </a:lnSpc>
                        <a:buNone/>
                      </a:pPr>
                      <a:r>
                        <a:rPr lang="en-US" sz="1500" b="1" dirty="0">
                          <a:solidFill>
                            <a:srgbClr val="F7F3EA"/>
                          </a:solidFill>
                          <a:latin typeface="Arial" pitchFamily="34" charset="0"/>
                          <a:ea typeface="Arial" pitchFamily="34" charset="-122"/>
                          <a:cs typeface="Arial" pitchFamily="34" charset="-120"/>
                        </a:rPr>
                        <a:t>Spend</a:t>
                      </a:r>
                      <a:endParaRPr lang="en-US" sz="1500" dirty="0">
                        <a:latin typeface="Arial" charset="0"/>
                        <a:ea typeface="Arial" charset="0"/>
                        <a:cs typeface="Arial" charset="0"/>
                      </a:endParaRPr>
                    </a:p>
                  </a:txBody>
                  <a:tcPr marL="66675" marR="66675" marT="66675" marB="66675">
                    <a:lnL w="12700" cap="flat" cmpd="sng" algn="ctr">
                      <a:solidFill>
                        <a:srgbClr val="161410"/>
                      </a:solidFill>
                      <a:prstDash val="solid"/>
                      <a:round/>
                      <a:headEnd type="none" w="med" len="med"/>
                      <a:tailEnd type="none" w="med" len="med"/>
                    </a:lnL>
                    <a:lnR w="12700" cap="flat" cmpd="sng" algn="ctr">
                      <a:solidFill>
                        <a:srgbClr val="161410"/>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161410"/>
                      </a:solidFill>
                      <a:prstDash val="solid"/>
                      <a:round/>
                      <a:headEnd type="none" w="med" len="med"/>
                      <a:tailEnd type="none" w="med" len="med"/>
                    </a:lnB>
                    <a:solidFill>
                      <a:srgbClr val="17140F"/>
                    </a:solidFill>
                  </a:tcPr>
                </a:tc>
                <a:tc>
                  <a:txBody>
                    <a:bodyPr/>
                    <a:lstStyle/>
                    <a:p>
                      <a:pPr marL="0" indent="0">
                        <a:lnSpc>
                          <a:spcPts val="2100"/>
                        </a:lnSpc>
                        <a:buNone/>
                      </a:pPr>
                      <a:r>
                        <a:rPr lang="en-US" sz="1500" b="1" dirty="0">
                          <a:solidFill>
                            <a:srgbClr val="F7F3EA"/>
                          </a:solidFill>
                          <a:latin typeface="Arial" pitchFamily="34" charset="0"/>
                          <a:ea typeface="Arial" pitchFamily="34" charset="-122"/>
                          <a:cs typeface="Arial" pitchFamily="34" charset="-120"/>
                        </a:rPr>
                        <a:t>Leads</a:t>
                      </a:r>
                      <a:endParaRPr lang="en-US" sz="1500" dirty="0">
                        <a:latin typeface="Arial" charset="0"/>
                        <a:ea typeface="Arial" charset="0"/>
                        <a:cs typeface="Arial" charset="0"/>
                      </a:endParaRPr>
                    </a:p>
                  </a:txBody>
                  <a:tcPr marL="66675" marR="66675" marT="66675" marB="66675">
                    <a:lnL w="12700" cap="flat" cmpd="sng" algn="ctr">
                      <a:solidFill>
                        <a:srgbClr val="161410"/>
                      </a:solidFill>
                      <a:prstDash val="solid"/>
                      <a:round/>
                      <a:headEnd type="none" w="med" len="med"/>
                      <a:tailEnd type="none" w="med" len="med"/>
                    </a:lnL>
                    <a:lnR w="12700" cap="flat" cmpd="sng" algn="ctr">
                      <a:solidFill>
                        <a:srgbClr val="161410"/>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161410"/>
                      </a:solidFill>
                      <a:prstDash val="solid"/>
                      <a:round/>
                      <a:headEnd type="none" w="med" len="med"/>
                      <a:tailEnd type="none" w="med" len="med"/>
                    </a:lnB>
                    <a:solidFill>
                      <a:srgbClr val="17140F"/>
                    </a:solidFill>
                  </a:tcPr>
                </a:tc>
                <a:tc>
                  <a:txBody>
                    <a:bodyPr/>
                    <a:lstStyle/>
                    <a:p>
                      <a:pPr marL="0" indent="0">
                        <a:lnSpc>
                          <a:spcPts val="2100"/>
                        </a:lnSpc>
                        <a:buNone/>
                      </a:pPr>
                      <a:r>
                        <a:rPr lang="en-US" sz="1500" b="1" dirty="0">
                          <a:solidFill>
                            <a:srgbClr val="F7F3EA"/>
                          </a:solidFill>
                          <a:latin typeface="Arial" pitchFamily="34" charset="0"/>
                          <a:ea typeface="Arial" pitchFamily="34" charset="-122"/>
                          <a:cs typeface="Arial" pitchFamily="34" charset="-120"/>
                        </a:rPr>
                        <a:t>Cost per lead</a:t>
                      </a:r>
                      <a:endParaRPr lang="en-US" sz="1500" dirty="0">
                        <a:latin typeface="Arial" charset="0"/>
                        <a:ea typeface="Arial" charset="0"/>
                        <a:cs typeface="Arial" charset="0"/>
                      </a:endParaRPr>
                    </a:p>
                  </a:txBody>
                  <a:tcPr marL="66675" marR="66675" marT="66675" marB="66675">
                    <a:lnL w="12700" cap="flat" cmpd="sng" algn="ctr">
                      <a:solidFill>
                        <a:srgbClr val="161410"/>
                      </a:solidFill>
                      <a:prstDash val="solid"/>
                      <a:round/>
                      <a:headEnd type="none" w="med" len="med"/>
                      <a:tailEnd type="none" w="med" len="med"/>
                    </a:lnL>
                    <a:lnR w="12700" cap="flat" cmpd="sng" algn="ctr">
                      <a:solidFill>
                        <a:srgbClr val="161410"/>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161410"/>
                      </a:solidFill>
                      <a:prstDash val="solid"/>
                      <a:round/>
                      <a:headEnd type="none" w="med" len="med"/>
                      <a:tailEnd type="none" w="med" len="med"/>
                    </a:lnB>
                    <a:solidFill>
                      <a:srgbClr val="17140F"/>
                    </a:solidFill>
                  </a:tcPr>
                </a:tc>
                <a:extLst>
                  <a:ext uri="{0D108BD9-81ED-4DB2-BD59-A6C34878D82A}">
                    <a16:rowId xmlns:a16="http://schemas.microsoft.com/office/drawing/2014/main" val="10000"/>
                  </a:ext>
                </a:extLst>
              </a:tr>
              <a:tr h="410210">
                <a:tc>
                  <a:txBody>
                    <a:bodyPr/>
                    <a:lstStyle/>
                    <a:p>
                      <a:pPr marL="0" indent="0">
                        <a:lnSpc>
                          <a:spcPts val="2100"/>
                        </a:lnSpc>
                        <a:buNone/>
                      </a:pPr>
                      <a:r>
                        <a:rPr lang="en-US" sz="1500" dirty="0">
                          <a:solidFill>
                            <a:srgbClr val="17140F"/>
                          </a:solidFill>
                          <a:latin typeface="Arial" pitchFamily="34" charset="0"/>
                          <a:ea typeface="Arial" pitchFamily="34" charset="-122"/>
                          <a:cs typeface="Arial" pitchFamily="34" charset="-120"/>
                        </a:rPr>
                        <a:t>May 2025</a:t>
                      </a:r>
                      <a:endParaRPr lang="en-US" sz="1500" dirty="0">
                        <a:latin typeface="Arial" charset="0"/>
                        <a:ea typeface="Arial" charset="0"/>
                        <a:cs typeface="Arial" charset="0"/>
                      </a:endParaRPr>
                    </a:p>
                  </a:txBody>
                  <a:tcPr marL="66675" marR="66675" marT="66675" marB="66675">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161410"/>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2100"/>
                        </a:lnSpc>
                        <a:buNone/>
                      </a:pPr>
                      <a:r>
                        <a:rPr lang="en-US" sz="1500" dirty="0">
                          <a:solidFill>
                            <a:srgbClr val="17140F"/>
                          </a:solidFill>
                          <a:latin typeface="Arial" pitchFamily="34" charset="0"/>
                          <a:ea typeface="Arial" pitchFamily="34" charset="-122"/>
                          <a:cs typeface="Arial" pitchFamily="34" charset="-120"/>
                        </a:rPr>
                        <a:t>₹79,611</a:t>
                      </a:r>
                      <a:endParaRPr lang="en-US" sz="1500" dirty="0">
                        <a:latin typeface="Arial" charset="0"/>
                        <a:ea typeface="Arial" charset="0"/>
                        <a:cs typeface="Arial" charset="0"/>
                      </a:endParaRPr>
                    </a:p>
                  </a:txBody>
                  <a:tcPr marL="66675" marR="66675" marT="66675" marB="66675">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161410"/>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2100"/>
                        </a:lnSpc>
                        <a:buNone/>
                      </a:pPr>
                      <a:r>
                        <a:rPr lang="en-US" sz="1500" dirty="0">
                          <a:solidFill>
                            <a:srgbClr val="17140F"/>
                          </a:solidFill>
                          <a:latin typeface="Arial" pitchFamily="34" charset="0"/>
                          <a:ea typeface="Arial" pitchFamily="34" charset="-122"/>
                          <a:cs typeface="Arial" pitchFamily="34" charset="-120"/>
                        </a:rPr>
                        <a:t>285</a:t>
                      </a:r>
                      <a:endParaRPr lang="en-US" sz="1500" dirty="0">
                        <a:latin typeface="Arial" charset="0"/>
                        <a:ea typeface="Arial" charset="0"/>
                        <a:cs typeface="Arial" charset="0"/>
                      </a:endParaRPr>
                    </a:p>
                  </a:txBody>
                  <a:tcPr marL="66675" marR="66675" marT="66675" marB="66675">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161410"/>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2100"/>
                        </a:lnSpc>
                        <a:buNone/>
                      </a:pPr>
                      <a:r>
                        <a:rPr lang="en-US" sz="1500" dirty="0">
                          <a:solidFill>
                            <a:srgbClr val="17140F"/>
                          </a:solidFill>
                          <a:latin typeface="Arial" pitchFamily="34" charset="0"/>
                          <a:ea typeface="Arial" pitchFamily="34" charset="-122"/>
                          <a:cs typeface="Arial" pitchFamily="34" charset="-120"/>
                        </a:rPr>
                        <a:t>₹279</a:t>
                      </a:r>
                      <a:endParaRPr lang="en-US" sz="1500" dirty="0">
                        <a:latin typeface="Arial" charset="0"/>
                        <a:ea typeface="Arial" charset="0"/>
                        <a:cs typeface="Arial" charset="0"/>
                      </a:endParaRPr>
                    </a:p>
                  </a:txBody>
                  <a:tcPr marL="66675" marR="66675" marT="66675" marB="66675">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161410"/>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extLst>
                  <a:ext uri="{0D108BD9-81ED-4DB2-BD59-A6C34878D82A}">
                    <a16:rowId xmlns:a16="http://schemas.microsoft.com/office/drawing/2014/main" val="10001"/>
                  </a:ext>
                </a:extLst>
              </a:tr>
              <a:tr h="410210">
                <a:tc>
                  <a:txBody>
                    <a:bodyPr/>
                    <a:lstStyle/>
                    <a:p>
                      <a:pPr marL="0" indent="0">
                        <a:lnSpc>
                          <a:spcPts val="2100"/>
                        </a:lnSpc>
                        <a:buNone/>
                      </a:pPr>
                      <a:r>
                        <a:rPr lang="en-US" sz="1500" dirty="0">
                          <a:solidFill>
                            <a:srgbClr val="17140F"/>
                          </a:solidFill>
                          <a:latin typeface="Arial" pitchFamily="34" charset="0"/>
                          <a:ea typeface="Arial" pitchFamily="34" charset="-122"/>
                          <a:cs typeface="Arial" pitchFamily="34" charset="-120"/>
                        </a:rPr>
                        <a:t>Jul 2025</a:t>
                      </a:r>
                      <a:endParaRPr lang="en-US" sz="1500" dirty="0">
                        <a:latin typeface="Arial" charset="0"/>
                        <a:ea typeface="Arial" charset="0"/>
                        <a:cs typeface="Arial" charset="0"/>
                      </a:endParaRPr>
                    </a:p>
                  </a:txBody>
                  <a:tcPr marL="66675" marR="66675" marT="66675" marB="66675">
                    <a:lnL w="12700" cap="flat" cmpd="sng" algn="ctr">
                      <a:solidFill>
                        <a:srgbClr val="C5C2BB"/>
                      </a:solidFill>
                      <a:prstDash val="solid"/>
                      <a:round/>
                      <a:headEnd type="none" w="med" len="med"/>
                      <a:tailEnd type="none" w="med" len="med"/>
                    </a:lnL>
                    <a:lnR w="12700" cap="flat" cmpd="sng" algn="ctr">
                      <a:solidFill>
                        <a:srgbClr val="C0AEA6"/>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0AEA6"/>
                      </a:solidFill>
                      <a:prstDash val="solid"/>
                      <a:round/>
                      <a:headEnd type="none" w="med" len="med"/>
                      <a:tailEnd type="none" w="med" len="med"/>
                    </a:lnB>
                    <a:solidFill>
                      <a:srgbClr val="F0D9CF"/>
                    </a:solidFill>
                  </a:tcPr>
                </a:tc>
                <a:tc>
                  <a:txBody>
                    <a:bodyPr/>
                    <a:lstStyle/>
                    <a:p>
                      <a:pPr marL="0" indent="0">
                        <a:lnSpc>
                          <a:spcPts val="2100"/>
                        </a:lnSpc>
                        <a:buNone/>
                      </a:pPr>
                      <a:r>
                        <a:rPr lang="en-US" sz="1500" dirty="0">
                          <a:solidFill>
                            <a:srgbClr val="17140F"/>
                          </a:solidFill>
                          <a:latin typeface="Arial" pitchFamily="34" charset="0"/>
                          <a:ea typeface="Arial" pitchFamily="34" charset="-122"/>
                          <a:cs typeface="Arial" pitchFamily="34" charset="-120"/>
                        </a:rPr>
                        <a:t>₹92,713</a:t>
                      </a:r>
                      <a:endParaRPr lang="en-US" sz="1500" dirty="0">
                        <a:latin typeface="Arial" charset="0"/>
                        <a:ea typeface="Arial" charset="0"/>
                        <a:cs typeface="Arial" charset="0"/>
                      </a:endParaRPr>
                    </a:p>
                  </a:txBody>
                  <a:tcPr marL="66675" marR="66675" marT="66675" marB="66675">
                    <a:lnL w="12700" cap="flat" cmpd="sng" algn="ctr">
                      <a:solidFill>
                        <a:srgbClr val="C0AEA6"/>
                      </a:solidFill>
                      <a:prstDash val="solid"/>
                      <a:round/>
                      <a:headEnd type="none" w="med" len="med"/>
                      <a:tailEnd type="none" w="med" len="med"/>
                    </a:lnL>
                    <a:lnR w="12700" cap="flat" cmpd="sng" algn="ctr">
                      <a:solidFill>
                        <a:srgbClr val="C0AEA6"/>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0AEA6"/>
                      </a:solidFill>
                      <a:prstDash val="solid"/>
                      <a:round/>
                      <a:headEnd type="none" w="med" len="med"/>
                      <a:tailEnd type="none" w="med" len="med"/>
                    </a:lnB>
                    <a:solidFill>
                      <a:srgbClr val="F0D9CF"/>
                    </a:solidFill>
                  </a:tcPr>
                </a:tc>
                <a:tc>
                  <a:txBody>
                    <a:bodyPr/>
                    <a:lstStyle/>
                    <a:p>
                      <a:pPr marL="0" indent="0">
                        <a:lnSpc>
                          <a:spcPts val="2100"/>
                        </a:lnSpc>
                        <a:buNone/>
                      </a:pPr>
                      <a:r>
                        <a:rPr lang="en-US" sz="1500" dirty="0">
                          <a:solidFill>
                            <a:srgbClr val="17140F"/>
                          </a:solidFill>
                          <a:latin typeface="Arial" pitchFamily="34" charset="0"/>
                          <a:ea typeface="Arial" pitchFamily="34" charset="-122"/>
                          <a:cs typeface="Arial" pitchFamily="34" charset="-120"/>
                        </a:rPr>
                        <a:t>1</a:t>
                      </a:r>
                      <a:endParaRPr lang="en-US" sz="1500" dirty="0">
                        <a:latin typeface="Arial" charset="0"/>
                        <a:ea typeface="Arial" charset="0"/>
                        <a:cs typeface="Arial" charset="0"/>
                      </a:endParaRPr>
                    </a:p>
                  </a:txBody>
                  <a:tcPr marL="66675" marR="66675" marT="66675" marB="66675">
                    <a:lnL w="12700" cap="flat" cmpd="sng" algn="ctr">
                      <a:solidFill>
                        <a:srgbClr val="C0AEA6"/>
                      </a:solidFill>
                      <a:prstDash val="solid"/>
                      <a:round/>
                      <a:headEnd type="none" w="med" len="med"/>
                      <a:tailEnd type="none" w="med" len="med"/>
                    </a:lnL>
                    <a:lnR w="12700" cap="flat" cmpd="sng" algn="ctr">
                      <a:solidFill>
                        <a:srgbClr val="C0AEA6"/>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0AEA6"/>
                      </a:solidFill>
                      <a:prstDash val="solid"/>
                      <a:round/>
                      <a:headEnd type="none" w="med" len="med"/>
                      <a:tailEnd type="none" w="med" len="med"/>
                    </a:lnB>
                    <a:solidFill>
                      <a:srgbClr val="F0D9CF"/>
                    </a:solidFill>
                  </a:tcPr>
                </a:tc>
                <a:tc>
                  <a:txBody>
                    <a:bodyPr/>
                    <a:lstStyle/>
                    <a:p>
                      <a:pPr marL="0" indent="0">
                        <a:lnSpc>
                          <a:spcPts val="2100"/>
                        </a:lnSpc>
                        <a:buNone/>
                      </a:pPr>
                      <a:r>
                        <a:rPr lang="en-US" sz="1500" dirty="0">
                          <a:solidFill>
                            <a:srgbClr val="B54A28"/>
                          </a:solidFill>
                          <a:latin typeface="Arial" pitchFamily="34" charset="0"/>
                          <a:ea typeface="Arial" pitchFamily="34" charset="-122"/>
                          <a:cs typeface="Arial" pitchFamily="34" charset="-120"/>
                        </a:rPr>
                        <a:t>₹92,713</a:t>
                      </a:r>
                      <a:endParaRPr lang="en-US" sz="1500" dirty="0">
                        <a:latin typeface="Arial" charset="0"/>
                        <a:ea typeface="Arial" charset="0"/>
                        <a:cs typeface="Arial" charset="0"/>
                      </a:endParaRPr>
                    </a:p>
                  </a:txBody>
                  <a:tcPr marL="66675" marR="66675" marT="66675" marB="66675">
                    <a:lnL w="12700" cap="flat" cmpd="sng" algn="ctr">
                      <a:solidFill>
                        <a:srgbClr val="C0AEA6"/>
                      </a:solidFill>
                      <a:prstDash val="solid"/>
                      <a:round/>
                      <a:headEnd type="none" w="med" len="med"/>
                      <a:tailEnd type="none" w="med" len="med"/>
                    </a:lnL>
                    <a:lnR w="12700" cap="flat" cmpd="sng" algn="ctr">
                      <a:solidFill>
                        <a:srgbClr val="C0AEA6"/>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0AEA6"/>
                      </a:solidFill>
                      <a:prstDash val="solid"/>
                      <a:round/>
                      <a:headEnd type="none" w="med" len="med"/>
                      <a:tailEnd type="none" w="med" len="med"/>
                    </a:lnB>
                    <a:solidFill>
                      <a:srgbClr val="F0D9CF"/>
                    </a:solidFill>
                  </a:tcPr>
                </a:tc>
                <a:extLst>
                  <a:ext uri="{0D108BD9-81ED-4DB2-BD59-A6C34878D82A}">
                    <a16:rowId xmlns:a16="http://schemas.microsoft.com/office/drawing/2014/main" val="10002"/>
                  </a:ext>
                </a:extLst>
              </a:tr>
              <a:tr h="410210">
                <a:tc>
                  <a:txBody>
                    <a:bodyPr/>
                    <a:lstStyle/>
                    <a:p>
                      <a:pPr marL="0" indent="0">
                        <a:lnSpc>
                          <a:spcPts val="2100"/>
                        </a:lnSpc>
                        <a:buNone/>
                      </a:pPr>
                      <a:r>
                        <a:rPr lang="en-US" sz="1500" dirty="0">
                          <a:solidFill>
                            <a:srgbClr val="17140F"/>
                          </a:solidFill>
                          <a:latin typeface="Arial" pitchFamily="34" charset="0"/>
                          <a:ea typeface="Arial" pitchFamily="34" charset="-122"/>
                          <a:cs typeface="Arial" pitchFamily="34" charset="-120"/>
                        </a:rPr>
                        <a:t>Sep 2025</a:t>
                      </a:r>
                      <a:endParaRPr lang="en-US" sz="1500" dirty="0">
                        <a:latin typeface="Arial" charset="0"/>
                        <a:ea typeface="Arial" charset="0"/>
                        <a:cs typeface="Arial" charset="0"/>
                      </a:endParaRPr>
                    </a:p>
                  </a:txBody>
                  <a:tcPr marL="66675" marR="66675" marT="66675" marB="66675">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0AEA6"/>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2100"/>
                        </a:lnSpc>
                        <a:buNone/>
                      </a:pPr>
                      <a:r>
                        <a:rPr lang="en-US" sz="1500" dirty="0">
                          <a:solidFill>
                            <a:srgbClr val="17140F"/>
                          </a:solidFill>
                          <a:latin typeface="Arial" pitchFamily="34" charset="0"/>
                          <a:ea typeface="Arial" pitchFamily="34" charset="-122"/>
                          <a:cs typeface="Arial" pitchFamily="34" charset="-120"/>
                        </a:rPr>
                        <a:t>₹1,14,830</a:t>
                      </a:r>
                      <a:endParaRPr lang="en-US" sz="1500" dirty="0">
                        <a:latin typeface="Arial" charset="0"/>
                        <a:ea typeface="Arial" charset="0"/>
                        <a:cs typeface="Arial" charset="0"/>
                      </a:endParaRPr>
                    </a:p>
                  </a:txBody>
                  <a:tcPr marL="66675" marR="66675" marT="66675" marB="66675">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0AEA6"/>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2100"/>
                        </a:lnSpc>
                        <a:buNone/>
                      </a:pPr>
                      <a:r>
                        <a:rPr lang="en-US" sz="1500" dirty="0">
                          <a:solidFill>
                            <a:srgbClr val="17140F"/>
                          </a:solidFill>
                          <a:latin typeface="Arial" pitchFamily="34" charset="0"/>
                          <a:ea typeface="Arial" pitchFamily="34" charset="-122"/>
                          <a:cs typeface="Arial" pitchFamily="34" charset="-120"/>
                        </a:rPr>
                        <a:t>51</a:t>
                      </a:r>
                      <a:endParaRPr lang="en-US" sz="1500" dirty="0">
                        <a:latin typeface="Arial" charset="0"/>
                        <a:ea typeface="Arial" charset="0"/>
                        <a:cs typeface="Arial" charset="0"/>
                      </a:endParaRPr>
                    </a:p>
                  </a:txBody>
                  <a:tcPr marL="66675" marR="66675" marT="66675" marB="66675">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0AEA6"/>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2100"/>
                        </a:lnSpc>
                        <a:buNone/>
                      </a:pPr>
                      <a:r>
                        <a:rPr lang="en-US" sz="1500" dirty="0">
                          <a:solidFill>
                            <a:srgbClr val="17140F"/>
                          </a:solidFill>
                          <a:latin typeface="Arial" pitchFamily="34" charset="0"/>
                          <a:ea typeface="Arial" pitchFamily="34" charset="-122"/>
                          <a:cs typeface="Arial" pitchFamily="34" charset="-120"/>
                        </a:rPr>
                        <a:t>₹2,252</a:t>
                      </a:r>
                      <a:endParaRPr lang="en-US" sz="1500" dirty="0">
                        <a:latin typeface="Arial" charset="0"/>
                        <a:ea typeface="Arial" charset="0"/>
                        <a:cs typeface="Arial" charset="0"/>
                      </a:endParaRPr>
                    </a:p>
                  </a:txBody>
                  <a:tcPr marL="66675" marR="66675" marT="66675" marB="66675">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0AEA6"/>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extLst>
                  <a:ext uri="{0D108BD9-81ED-4DB2-BD59-A6C34878D82A}">
                    <a16:rowId xmlns:a16="http://schemas.microsoft.com/office/drawing/2014/main" val="10003"/>
                  </a:ext>
                </a:extLst>
              </a:tr>
              <a:tr h="410210">
                <a:tc>
                  <a:txBody>
                    <a:bodyPr/>
                    <a:lstStyle/>
                    <a:p>
                      <a:pPr marL="0" indent="0">
                        <a:lnSpc>
                          <a:spcPts val="2100"/>
                        </a:lnSpc>
                        <a:buNone/>
                      </a:pPr>
                      <a:r>
                        <a:rPr lang="en-US" sz="1500" dirty="0">
                          <a:solidFill>
                            <a:srgbClr val="17140F"/>
                          </a:solidFill>
                          <a:latin typeface="Arial" pitchFamily="34" charset="0"/>
                          <a:ea typeface="Arial" pitchFamily="34" charset="-122"/>
                          <a:cs typeface="Arial" pitchFamily="34" charset="-120"/>
                        </a:rPr>
                        <a:t>Dec 2025</a:t>
                      </a:r>
                      <a:endParaRPr lang="en-US" sz="1500" dirty="0">
                        <a:latin typeface="Arial" charset="0"/>
                        <a:ea typeface="Arial" charset="0"/>
                        <a:cs typeface="Arial" charset="0"/>
                      </a:endParaRPr>
                    </a:p>
                  </a:txBody>
                  <a:tcPr marL="66675" marR="66675" marT="66675" marB="66675">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2100"/>
                        </a:lnSpc>
                        <a:buNone/>
                      </a:pPr>
                      <a:r>
                        <a:rPr lang="en-US" sz="1500" dirty="0">
                          <a:solidFill>
                            <a:srgbClr val="17140F"/>
                          </a:solidFill>
                          <a:latin typeface="Arial" pitchFamily="34" charset="0"/>
                          <a:ea typeface="Arial" pitchFamily="34" charset="-122"/>
                          <a:cs typeface="Arial" pitchFamily="34" charset="-120"/>
                        </a:rPr>
                        <a:t>₹33,379</a:t>
                      </a:r>
                      <a:endParaRPr lang="en-US" sz="1500" dirty="0">
                        <a:latin typeface="Arial" charset="0"/>
                        <a:ea typeface="Arial" charset="0"/>
                        <a:cs typeface="Arial" charset="0"/>
                      </a:endParaRPr>
                    </a:p>
                  </a:txBody>
                  <a:tcPr marL="66675" marR="66675" marT="66675" marB="66675">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2100"/>
                        </a:lnSpc>
                        <a:buNone/>
                      </a:pPr>
                      <a:r>
                        <a:rPr lang="en-US" sz="1500" dirty="0">
                          <a:solidFill>
                            <a:srgbClr val="17140F"/>
                          </a:solidFill>
                          <a:latin typeface="Arial" pitchFamily="34" charset="0"/>
                          <a:ea typeface="Arial" pitchFamily="34" charset="-122"/>
                          <a:cs typeface="Arial" pitchFamily="34" charset="-120"/>
                        </a:rPr>
                        <a:t>130</a:t>
                      </a:r>
                      <a:endParaRPr lang="en-US" sz="1500" dirty="0">
                        <a:latin typeface="Arial" charset="0"/>
                        <a:ea typeface="Arial" charset="0"/>
                        <a:cs typeface="Arial" charset="0"/>
                      </a:endParaRPr>
                    </a:p>
                  </a:txBody>
                  <a:tcPr marL="66675" marR="66675" marT="66675" marB="66675">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2100"/>
                        </a:lnSpc>
                        <a:buNone/>
                      </a:pPr>
                      <a:r>
                        <a:rPr lang="en-US" sz="1500" dirty="0">
                          <a:solidFill>
                            <a:srgbClr val="17140F"/>
                          </a:solidFill>
                          <a:latin typeface="Arial" pitchFamily="34" charset="0"/>
                          <a:ea typeface="Arial" pitchFamily="34" charset="-122"/>
                          <a:cs typeface="Arial" pitchFamily="34" charset="-120"/>
                        </a:rPr>
                        <a:t>₹257</a:t>
                      </a:r>
                      <a:endParaRPr lang="en-US" sz="1500" dirty="0">
                        <a:latin typeface="Arial" charset="0"/>
                        <a:ea typeface="Arial" charset="0"/>
                        <a:cs typeface="Arial" charset="0"/>
                      </a:endParaRPr>
                    </a:p>
                  </a:txBody>
                  <a:tcPr marL="66675" marR="66675" marT="66675" marB="66675">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extLst>
                  <a:ext uri="{0D108BD9-81ED-4DB2-BD59-A6C34878D82A}">
                    <a16:rowId xmlns:a16="http://schemas.microsoft.com/office/drawing/2014/main" val="10004"/>
                  </a:ext>
                </a:extLst>
              </a:tr>
              <a:tr h="410210">
                <a:tc>
                  <a:txBody>
                    <a:bodyPr/>
                    <a:lstStyle/>
                    <a:p>
                      <a:pPr marL="0" indent="0">
                        <a:lnSpc>
                          <a:spcPts val="2100"/>
                        </a:lnSpc>
                        <a:buNone/>
                      </a:pPr>
                      <a:r>
                        <a:rPr lang="en-US" sz="1500" dirty="0">
                          <a:solidFill>
                            <a:srgbClr val="17140F"/>
                          </a:solidFill>
                          <a:latin typeface="Arial" pitchFamily="34" charset="0"/>
                          <a:ea typeface="Arial" pitchFamily="34" charset="-122"/>
                          <a:cs typeface="Arial" pitchFamily="34" charset="-120"/>
                        </a:rPr>
                        <a:t>Jan 2026</a:t>
                      </a:r>
                      <a:endParaRPr lang="en-US" sz="1500" dirty="0">
                        <a:latin typeface="Arial" charset="0"/>
                        <a:ea typeface="Arial" charset="0"/>
                        <a:cs typeface="Arial" charset="0"/>
                      </a:endParaRPr>
                    </a:p>
                  </a:txBody>
                  <a:tcPr marL="66675" marR="66675" marT="66675" marB="66675">
                    <a:lnL w="12700" cap="flat" cmpd="sng" algn="ctr">
                      <a:solidFill>
                        <a:srgbClr val="C5C2BB"/>
                      </a:solidFill>
                      <a:prstDash val="solid"/>
                      <a:round/>
                      <a:headEnd type="none" w="med" len="med"/>
                      <a:tailEnd type="none" w="med" len="med"/>
                    </a:lnL>
                    <a:lnR w="12700" cap="flat" cmpd="sng" algn="ctr">
                      <a:solidFill>
                        <a:srgbClr val="B9B4A9"/>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B9B4A9"/>
                      </a:solidFill>
                      <a:prstDash val="solid"/>
                      <a:round/>
                      <a:headEnd type="none" w="med" len="med"/>
                      <a:tailEnd type="none" w="med" len="med"/>
                    </a:lnB>
                    <a:solidFill>
                      <a:srgbClr val="E8E1D3"/>
                    </a:solidFill>
                  </a:tcPr>
                </a:tc>
                <a:tc>
                  <a:txBody>
                    <a:bodyPr/>
                    <a:lstStyle/>
                    <a:p>
                      <a:pPr marL="0" indent="0">
                        <a:lnSpc>
                          <a:spcPts val="2100"/>
                        </a:lnSpc>
                        <a:buNone/>
                      </a:pPr>
                      <a:r>
                        <a:rPr lang="en-US" sz="1500" dirty="0">
                          <a:solidFill>
                            <a:srgbClr val="17140F"/>
                          </a:solidFill>
                          <a:latin typeface="Arial" pitchFamily="34" charset="0"/>
                          <a:ea typeface="Arial" pitchFamily="34" charset="-122"/>
                          <a:cs typeface="Arial" pitchFamily="34" charset="-120"/>
                        </a:rPr>
                        <a:t>₹57,163</a:t>
                      </a:r>
                      <a:endParaRPr lang="en-US" sz="1500" dirty="0">
                        <a:latin typeface="Arial" charset="0"/>
                        <a:ea typeface="Arial" charset="0"/>
                        <a:cs typeface="Arial" charset="0"/>
                      </a:endParaRPr>
                    </a:p>
                  </a:txBody>
                  <a:tcPr marL="66675" marR="66675" marT="66675" marB="66675">
                    <a:lnL w="12700" cap="flat" cmpd="sng" algn="ctr">
                      <a:solidFill>
                        <a:srgbClr val="B9B4A9"/>
                      </a:solidFill>
                      <a:prstDash val="solid"/>
                      <a:round/>
                      <a:headEnd type="none" w="med" len="med"/>
                      <a:tailEnd type="none" w="med" len="med"/>
                    </a:lnL>
                    <a:lnR w="12700" cap="flat" cmpd="sng" algn="ctr">
                      <a:solidFill>
                        <a:srgbClr val="B9B4A9"/>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B9B4A9"/>
                      </a:solidFill>
                      <a:prstDash val="solid"/>
                      <a:round/>
                      <a:headEnd type="none" w="med" len="med"/>
                      <a:tailEnd type="none" w="med" len="med"/>
                    </a:lnB>
                    <a:solidFill>
                      <a:srgbClr val="E8E1D3"/>
                    </a:solidFill>
                  </a:tcPr>
                </a:tc>
                <a:tc>
                  <a:txBody>
                    <a:bodyPr/>
                    <a:lstStyle/>
                    <a:p>
                      <a:pPr marL="0" indent="0">
                        <a:lnSpc>
                          <a:spcPts val="2100"/>
                        </a:lnSpc>
                        <a:buNone/>
                      </a:pPr>
                      <a:r>
                        <a:rPr lang="en-US" sz="1500" dirty="0">
                          <a:solidFill>
                            <a:srgbClr val="17140F"/>
                          </a:solidFill>
                          <a:latin typeface="Arial" pitchFamily="34" charset="0"/>
                          <a:ea typeface="Arial" pitchFamily="34" charset="-122"/>
                          <a:cs typeface="Arial" pitchFamily="34" charset="-120"/>
                        </a:rPr>
                        <a:t>242</a:t>
                      </a:r>
                      <a:endParaRPr lang="en-US" sz="1500" dirty="0">
                        <a:latin typeface="Arial" charset="0"/>
                        <a:ea typeface="Arial" charset="0"/>
                        <a:cs typeface="Arial" charset="0"/>
                      </a:endParaRPr>
                    </a:p>
                  </a:txBody>
                  <a:tcPr marL="66675" marR="66675" marT="66675" marB="66675">
                    <a:lnL w="12700" cap="flat" cmpd="sng" algn="ctr">
                      <a:solidFill>
                        <a:srgbClr val="B9B4A9"/>
                      </a:solidFill>
                      <a:prstDash val="solid"/>
                      <a:round/>
                      <a:headEnd type="none" w="med" len="med"/>
                      <a:tailEnd type="none" w="med" len="med"/>
                    </a:lnL>
                    <a:lnR w="12700" cap="flat" cmpd="sng" algn="ctr">
                      <a:solidFill>
                        <a:srgbClr val="B9B4A9"/>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B9B4A9"/>
                      </a:solidFill>
                      <a:prstDash val="solid"/>
                      <a:round/>
                      <a:headEnd type="none" w="med" len="med"/>
                      <a:tailEnd type="none" w="med" len="med"/>
                    </a:lnB>
                    <a:solidFill>
                      <a:srgbClr val="E8E1D3"/>
                    </a:solidFill>
                  </a:tcPr>
                </a:tc>
                <a:tc>
                  <a:txBody>
                    <a:bodyPr/>
                    <a:lstStyle/>
                    <a:p>
                      <a:pPr marL="0" indent="0">
                        <a:lnSpc>
                          <a:spcPts val="2100"/>
                        </a:lnSpc>
                        <a:buNone/>
                      </a:pPr>
                      <a:r>
                        <a:rPr lang="en-US" sz="1500" dirty="0">
                          <a:solidFill>
                            <a:srgbClr val="17140F"/>
                          </a:solidFill>
                          <a:latin typeface="Arial" pitchFamily="34" charset="0"/>
                          <a:ea typeface="Arial" pitchFamily="34" charset="-122"/>
                          <a:cs typeface="Arial" pitchFamily="34" charset="-120"/>
                        </a:rPr>
                        <a:t>₹236</a:t>
                      </a:r>
                      <a:endParaRPr lang="en-US" sz="1500" dirty="0">
                        <a:latin typeface="Arial" charset="0"/>
                        <a:ea typeface="Arial" charset="0"/>
                        <a:cs typeface="Arial" charset="0"/>
                      </a:endParaRPr>
                    </a:p>
                  </a:txBody>
                  <a:tcPr marL="66675" marR="66675" marT="66675" marB="66675">
                    <a:lnL w="12700" cap="flat" cmpd="sng" algn="ctr">
                      <a:solidFill>
                        <a:srgbClr val="B9B4A9"/>
                      </a:solidFill>
                      <a:prstDash val="solid"/>
                      <a:round/>
                      <a:headEnd type="none" w="med" len="med"/>
                      <a:tailEnd type="none" w="med" len="med"/>
                    </a:lnL>
                    <a:lnR w="12700" cap="flat" cmpd="sng" algn="ctr">
                      <a:solidFill>
                        <a:srgbClr val="B9B4A9"/>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B9B4A9"/>
                      </a:solidFill>
                      <a:prstDash val="solid"/>
                      <a:round/>
                      <a:headEnd type="none" w="med" len="med"/>
                      <a:tailEnd type="none" w="med" len="med"/>
                    </a:lnB>
                    <a:solidFill>
                      <a:srgbClr val="E8E1D3"/>
                    </a:solidFill>
                  </a:tcPr>
                </a:tc>
                <a:extLst>
                  <a:ext uri="{0D108BD9-81ED-4DB2-BD59-A6C34878D82A}">
                    <a16:rowId xmlns:a16="http://schemas.microsoft.com/office/drawing/2014/main" val="10005"/>
                  </a:ext>
                </a:extLst>
              </a:tr>
              <a:tr h="410210">
                <a:tc>
                  <a:txBody>
                    <a:bodyPr/>
                    <a:lstStyle/>
                    <a:p>
                      <a:pPr marL="0" indent="0">
                        <a:lnSpc>
                          <a:spcPts val="2100"/>
                        </a:lnSpc>
                        <a:buNone/>
                      </a:pPr>
                      <a:r>
                        <a:rPr lang="en-US" sz="1500" dirty="0">
                          <a:solidFill>
                            <a:srgbClr val="17140F"/>
                          </a:solidFill>
                          <a:latin typeface="Arial" pitchFamily="34" charset="0"/>
                          <a:ea typeface="Arial" pitchFamily="34" charset="-122"/>
                          <a:cs typeface="Arial" pitchFamily="34" charset="-120"/>
                        </a:rPr>
                        <a:t>Jul 2026</a:t>
                      </a:r>
                      <a:endParaRPr lang="en-US" sz="1500" dirty="0">
                        <a:latin typeface="Arial" charset="0"/>
                        <a:ea typeface="Arial" charset="0"/>
                        <a:cs typeface="Arial" charset="0"/>
                      </a:endParaRPr>
                    </a:p>
                  </a:txBody>
                  <a:tcPr marL="66675" marR="66675" marT="66675" marB="66675">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B9B4A9"/>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2100"/>
                        </a:lnSpc>
                        <a:buNone/>
                      </a:pPr>
                      <a:r>
                        <a:rPr lang="en-US" sz="1500" dirty="0">
                          <a:solidFill>
                            <a:srgbClr val="17140F"/>
                          </a:solidFill>
                          <a:latin typeface="Arial" pitchFamily="34" charset="0"/>
                          <a:ea typeface="Arial" pitchFamily="34" charset="-122"/>
                          <a:cs typeface="Arial" pitchFamily="34" charset="-120"/>
                        </a:rPr>
                        <a:t>₹74,037</a:t>
                      </a:r>
                      <a:endParaRPr lang="en-US" sz="1500" dirty="0">
                        <a:latin typeface="Arial" charset="0"/>
                        <a:ea typeface="Arial" charset="0"/>
                        <a:cs typeface="Arial" charset="0"/>
                      </a:endParaRPr>
                    </a:p>
                  </a:txBody>
                  <a:tcPr marL="66675" marR="66675" marT="66675" marB="66675">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B9B4A9"/>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2100"/>
                        </a:lnSpc>
                        <a:buNone/>
                      </a:pPr>
                      <a:r>
                        <a:rPr lang="en-US" sz="1500" dirty="0">
                          <a:solidFill>
                            <a:srgbClr val="17140F"/>
                          </a:solidFill>
                          <a:latin typeface="Arial" pitchFamily="34" charset="0"/>
                          <a:ea typeface="Arial" pitchFamily="34" charset="-122"/>
                          <a:cs typeface="Arial" pitchFamily="34" charset="-120"/>
                        </a:rPr>
                        <a:t>29</a:t>
                      </a:r>
                      <a:endParaRPr lang="en-US" sz="1500" dirty="0">
                        <a:latin typeface="Arial" charset="0"/>
                        <a:ea typeface="Arial" charset="0"/>
                        <a:cs typeface="Arial" charset="0"/>
                      </a:endParaRPr>
                    </a:p>
                  </a:txBody>
                  <a:tcPr marL="66675" marR="66675" marT="66675" marB="66675">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B9B4A9"/>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2100"/>
                        </a:lnSpc>
                        <a:buNone/>
                      </a:pPr>
                      <a:r>
                        <a:rPr lang="en-US" sz="1500" dirty="0">
                          <a:solidFill>
                            <a:srgbClr val="17140F"/>
                          </a:solidFill>
                          <a:latin typeface="Arial" pitchFamily="34" charset="0"/>
                          <a:ea typeface="Arial" pitchFamily="34" charset="-122"/>
                          <a:cs typeface="Arial" pitchFamily="34" charset="-120"/>
                        </a:rPr>
                        <a:t>₹2,553</a:t>
                      </a:r>
                      <a:endParaRPr lang="en-US" sz="1500" dirty="0">
                        <a:latin typeface="Arial" charset="0"/>
                        <a:ea typeface="Arial" charset="0"/>
                        <a:cs typeface="Arial" charset="0"/>
                      </a:endParaRPr>
                    </a:p>
                  </a:txBody>
                  <a:tcPr marL="66675" marR="66675" marT="66675" marB="66675">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B9B4A9"/>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extLst>
                  <a:ext uri="{0D108BD9-81ED-4DB2-BD59-A6C34878D82A}">
                    <a16:rowId xmlns:a16="http://schemas.microsoft.com/office/drawing/2014/main" val="10006"/>
                  </a:ext>
                </a:extLst>
              </a:tr>
              <a:tr h="410210">
                <a:tc>
                  <a:txBody>
                    <a:bodyPr/>
                    <a:lstStyle/>
                    <a:p>
                      <a:pPr marL="0" indent="0">
                        <a:lnSpc>
                          <a:spcPts val="2100"/>
                        </a:lnSpc>
                        <a:buNone/>
                      </a:pPr>
                      <a:r>
                        <a:rPr lang="en-US" sz="1500" dirty="0">
                          <a:solidFill>
                            <a:srgbClr val="17140F"/>
                          </a:solidFill>
                          <a:latin typeface="Arial" pitchFamily="34" charset="0"/>
                          <a:ea typeface="Arial" pitchFamily="34" charset="-122"/>
                          <a:cs typeface="Arial" pitchFamily="34" charset="-120"/>
                        </a:rPr>
                        <a:t>Sep 2026</a:t>
                      </a:r>
                      <a:endParaRPr lang="en-US" sz="1500" dirty="0">
                        <a:latin typeface="Arial" charset="0"/>
                        <a:ea typeface="Arial" charset="0"/>
                        <a:cs typeface="Arial" charset="0"/>
                      </a:endParaRPr>
                    </a:p>
                  </a:txBody>
                  <a:tcPr marL="66675" marR="66675" marT="66675" marB="66675">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2100"/>
                        </a:lnSpc>
                        <a:buNone/>
                      </a:pPr>
                      <a:r>
                        <a:rPr lang="en-US" sz="1500" dirty="0">
                          <a:solidFill>
                            <a:srgbClr val="17140F"/>
                          </a:solidFill>
                          <a:latin typeface="Arial" pitchFamily="34" charset="0"/>
                          <a:ea typeface="Arial" pitchFamily="34" charset="-122"/>
                          <a:cs typeface="Arial" pitchFamily="34" charset="-120"/>
                        </a:rPr>
                        <a:t>₹34,883</a:t>
                      </a:r>
                      <a:endParaRPr lang="en-US" sz="1500" dirty="0">
                        <a:latin typeface="Arial" charset="0"/>
                        <a:ea typeface="Arial" charset="0"/>
                        <a:cs typeface="Arial" charset="0"/>
                      </a:endParaRPr>
                    </a:p>
                  </a:txBody>
                  <a:tcPr marL="66675" marR="66675" marT="66675" marB="66675">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2100"/>
                        </a:lnSpc>
                        <a:buNone/>
                      </a:pPr>
                      <a:r>
                        <a:rPr lang="en-US" sz="1500" dirty="0">
                          <a:solidFill>
                            <a:srgbClr val="17140F"/>
                          </a:solidFill>
                          <a:latin typeface="Arial" pitchFamily="34" charset="0"/>
                          <a:ea typeface="Arial" pitchFamily="34" charset="-122"/>
                          <a:cs typeface="Arial" pitchFamily="34" charset="-120"/>
                        </a:rPr>
                        <a:t>50</a:t>
                      </a:r>
                      <a:endParaRPr lang="en-US" sz="1500" dirty="0">
                        <a:latin typeface="Arial" charset="0"/>
                        <a:ea typeface="Arial" charset="0"/>
                        <a:cs typeface="Arial" charset="0"/>
                      </a:endParaRPr>
                    </a:p>
                  </a:txBody>
                  <a:tcPr marL="66675" marR="66675" marT="66675" marB="66675">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2100"/>
                        </a:lnSpc>
                        <a:buNone/>
                      </a:pPr>
                      <a:r>
                        <a:rPr lang="en-US" sz="1500" dirty="0">
                          <a:solidFill>
                            <a:srgbClr val="17140F"/>
                          </a:solidFill>
                          <a:latin typeface="Arial" pitchFamily="34" charset="0"/>
                          <a:ea typeface="Arial" pitchFamily="34" charset="-122"/>
                          <a:cs typeface="Arial" pitchFamily="34" charset="-120"/>
                        </a:rPr>
                        <a:t>₹698</a:t>
                      </a:r>
                      <a:endParaRPr lang="en-US" sz="1500" dirty="0">
                        <a:latin typeface="Arial" charset="0"/>
                        <a:ea typeface="Arial" charset="0"/>
                        <a:cs typeface="Arial" charset="0"/>
                      </a:endParaRPr>
                    </a:p>
                  </a:txBody>
                  <a:tcPr marL="66675" marR="66675" marT="66675" marB="66675">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4" name="Text 1"/>
          <p:cNvSpPr/>
          <p:nvPr/>
        </p:nvSpPr>
        <p:spPr>
          <a:xfrm>
            <a:off x="812800" y="5199379"/>
            <a:ext cx="10333990" cy="651510"/>
          </a:xfrm>
          <a:prstGeom prst="rect">
            <a:avLst/>
          </a:prstGeom>
          <a:noFill/>
          <a:ln/>
        </p:spPr>
        <p:txBody>
          <a:bodyPr wrap="square" lIns="0" tIns="0" rIns="0" bIns="0" rtlCol="0" anchor="t">
            <a:normAutofit/>
          </a:bodyPr>
          <a:lstStyle/>
          <a:p>
            <a:pPr marL="0" indent="0" algn="l">
              <a:lnSpc>
                <a:spcPts val="2465"/>
              </a:lnSpc>
              <a:buNone/>
            </a:pPr>
            <a:r>
              <a:rPr lang="en-US" sz="1700" dirty="0">
                <a:solidFill>
                  <a:srgbClr val="5C5344"/>
                </a:solidFill>
                <a:latin typeface="Arial" pitchFamily="34" charset="0"/>
                <a:ea typeface="Arial" pitchFamily="34" charset="-122"/>
                <a:cs typeface="Arial" pitchFamily="34" charset="-120"/>
              </a:rPr>
              <a:t>A resort's audience does not become 393 times harder to reach in two months. This is a measurement artefact, not a market shift, and it makes every optimisation decision taken on this data unsafe.</a:t>
            </a:r>
            <a:endParaRPr lang="en-US" sz="1700" dirty="0"/>
          </a:p>
        </p:txBody>
      </p:sp>
      <p:sp>
        <p:nvSpPr>
          <p:cNvPr id="5" name="Text 2"/>
          <p:cNvSpPr/>
          <p:nvPr/>
        </p:nvSpPr>
        <p:spPr>
          <a:xfrm>
            <a:off x="812800" y="6238242"/>
            <a:ext cx="422336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071"/>
                </a:solidFill>
                <a:latin typeface="Arial" pitchFamily="34" charset="0"/>
                <a:ea typeface="Arial" pitchFamily="34" charset="-122"/>
                <a:cs typeface="Arial" pitchFamily="34" charset="-120"/>
              </a:rPr>
              <a:t>Selected months. Best recorded month ₹236, worst ₹92,713.</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7140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1174671"/>
          </a:xfrm>
          <a:prstGeom prst="rect">
            <a:avLst/>
          </a:prstGeom>
          <a:noFill/>
          <a:ln/>
        </p:spPr>
        <p:txBody>
          <a:bodyPr wrap="square" lIns="0" tIns="0" rIns="0" bIns="0" rtlCol="0" anchor="t">
            <a:normAutofit/>
          </a:bodyPr>
          <a:lstStyle/>
          <a:p>
            <a:pPr marL="0" indent="0" algn="l">
              <a:lnSpc>
                <a:spcPts val="4533"/>
              </a:lnSpc>
              <a:buNone/>
            </a:pPr>
            <a:r>
              <a:rPr lang="en-US" sz="4318" dirty="0">
                <a:solidFill>
                  <a:srgbClr val="F7F3EA"/>
                </a:solidFill>
                <a:latin typeface="Georgia" pitchFamily="34" charset="0"/>
                <a:ea typeface="Georgia" pitchFamily="34" charset="-122"/>
                <a:cs typeface="Georgia" pitchFamily="34" charset="-120"/>
              </a:rPr>
              <a:t>Two thirds of the clicks you pay for never arrive</a:t>
            </a:r>
            <a:endParaRPr lang="en-US" sz="4318" dirty="0"/>
          </a:p>
        </p:txBody>
      </p:sp>
      <p:sp>
        <p:nvSpPr>
          <p:cNvPr id="3" name="Shape 1"/>
          <p:cNvSpPr/>
          <p:nvPr/>
        </p:nvSpPr>
        <p:spPr>
          <a:xfrm>
            <a:off x="812800" y="2241469"/>
            <a:ext cx="4445000" cy="3025061"/>
          </a:xfrm>
          <a:prstGeom prst="roundRect">
            <a:avLst>
              <a:gd name="adj" fmla="val 3359"/>
            </a:avLst>
          </a:prstGeom>
          <a:solidFill>
            <a:srgbClr val="B54A28"/>
          </a:solidFill>
          <a:ln/>
        </p:spPr>
      </p:sp>
      <p:sp>
        <p:nvSpPr>
          <p:cNvPr id="4" name="Text 2"/>
          <p:cNvSpPr/>
          <p:nvPr/>
        </p:nvSpPr>
        <p:spPr>
          <a:xfrm>
            <a:off x="1143000" y="2571669"/>
            <a:ext cx="3898138" cy="508714"/>
          </a:xfrm>
          <a:prstGeom prst="rect">
            <a:avLst/>
          </a:prstGeom>
          <a:noFill/>
          <a:ln/>
        </p:spPr>
        <p:txBody>
          <a:bodyPr wrap="square" lIns="0" tIns="0" rIns="0" bIns="0" rtlCol="0" anchor="t">
            <a:normAutofit/>
          </a:bodyPr>
          <a:lstStyle/>
          <a:p>
            <a:pPr marL="0" indent="0" algn="l">
              <a:lnSpc>
                <a:spcPts val="1911"/>
              </a:lnSpc>
              <a:buNone/>
            </a:pPr>
            <a:r>
              <a:rPr lang="en-US" sz="1365" dirty="0">
                <a:solidFill>
                  <a:srgbClr val="F7D9CC"/>
                </a:solidFill>
                <a:latin typeface="Arial" pitchFamily="34" charset="0"/>
                <a:ea typeface="Arial" pitchFamily="34" charset="-122"/>
                <a:cs typeface="Arial" pitchFamily="34" charset="-120"/>
              </a:rPr>
              <a:t>Outbound clicks that became a landing page view</a:t>
            </a:r>
            <a:endParaRPr lang="en-US" sz="1365" dirty="0"/>
          </a:p>
        </p:txBody>
      </p:sp>
      <p:sp>
        <p:nvSpPr>
          <p:cNvPr id="5" name="Text 3"/>
          <p:cNvSpPr/>
          <p:nvPr/>
        </p:nvSpPr>
        <p:spPr>
          <a:xfrm>
            <a:off x="1143000" y="3181989"/>
            <a:ext cx="3898138" cy="1134983"/>
          </a:xfrm>
          <a:prstGeom prst="rect">
            <a:avLst/>
          </a:prstGeom>
          <a:noFill/>
          <a:ln/>
        </p:spPr>
        <p:txBody>
          <a:bodyPr wrap="square" lIns="0" tIns="0" rIns="0" bIns="0" rtlCol="0" anchor="t">
            <a:normAutofit/>
          </a:bodyPr>
          <a:lstStyle/>
          <a:p>
            <a:pPr marL="0" indent="0" algn="l">
              <a:lnSpc>
                <a:spcPts val="8747"/>
              </a:lnSpc>
              <a:buNone/>
            </a:pPr>
            <a:r>
              <a:rPr lang="en-US" sz="8747" dirty="0">
                <a:solidFill>
                  <a:srgbClr val="F7F3EA"/>
                </a:solidFill>
                <a:latin typeface="Georgia" pitchFamily="34" charset="0"/>
                <a:ea typeface="Georgia" pitchFamily="34" charset="-122"/>
                <a:cs typeface="Georgia" pitchFamily="34" charset="-120"/>
              </a:rPr>
              <a:t>33.72%</a:t>
            </a:r>
            <a:endParaRPr lang="en-US" sz="8747" dirty="0"/>
          </a:p>
        </p:txBody>
      </p:sp>
      <p:sp>
        <p:nvSpPr>
          <p:cNvPr id="6" name="Text 4"/>
          <p:cNvSpPr/>
          <p:nvPr/>
        </p:nvSpPr>
        <p:spPr>
          <a:xfrm>
            <a:off x="1143000" y="4418571"/>
            <a:ext cx="3898138" cy="543163"/>
          </a:xfrm>
          <a:prstGeom prst="rect">
            <a:avLst/>
          </a:prstGeom>
          <a:noFill/>
          <a:ln/>
        </p:spPr>
        <p:txBody>
          <a:bodyPr wrap="square" lIns="0" tIns="0" rIns="0" bIns="0" rtlCol="0" anchor="t">
            <a:normAutofit/>
          </a:bodyPr>
          <a:lstStyle/>
          <a:p>
            <a:pPr marL="0" indent="0" algn="l">
              <a:lnSpc>
                <a:spcPts val="2061"/>
              </a:lnSpc>
              <a:buNone/>
            </a:pPr>
            <a:r>
              <a:rPr lang="en-US" sz="1472" dirty="0">
                <a:solidFill>
                  <a:srgbClr val="F7F3EA"/>
                </a:solidFill>
                <a:latin typeface="Arial" pitchFamily="34" charset="0"/>
                <a:ea typeface="Arial" pitchFamily="34" charset="-122"/>
                <a:cs typeface="Arial" pitchFamily="34" charset="-120"/>
              </a:rPr>
              <a:t>Across the full 21 months and ₹14.94L of spend.</a:t>
            </a:r>
            <a:endParaRPr lang="en-US" sz="1472" dirty="0"/>
          </a:p>
        </p:txBody>
      </p:sp>
      <p:sp>
        <p:nvSpPr>
          <p:cNvPr id="7" name="Text 5"/>
          <p:cNvSpPr/>
          <p:nvPr/>
        </p:nvSpPr>
        <p:spPr>
          <a:xfrm>
            <a:off x="5511800" y="2246474"/>
            <a:ext cx="604342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C9A63C"/>
                </a:solidFill>
                <a:latin typeface="Arial" pitchFamily="34" charset="0"/>
                <a:ea typeface="Arial" pitchFamily="34" charset="-122"/>
                <a:cs typeface="Arial" pitchFamily="34" charset="-120"/>
              </a:rPr>
              <a:t>Bare minimum</a:t>
            </a:r>
            <a:endParaRPr lang="en-US" sz="1500" dirty="0"/>
          </a:p>
        </p:txBody>
      </p:sp>
      <p:sp>
        <p:nvSpPr>
          <p:cNvPr id="8" name="Text 6"/>
          <p:cNvSpPr/>
          <p:nvPr/>
        </p:nvSpPr>
        <p:spPr>
          <a:xfrm>
            <a:off x="5511800" y="2563974"/>
            <a:ext cx="6043422"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7F3EA"/>
                </a:solidFill>
                <a:latin typeface="Arial" pitchFamily="34" charset="0"/>
                <a:ea typeface="Arial" pitchFamily="34" charset="-122"/>
                <a:cs typeface="Arial" pitchFamily="34" charset="-120"/>
              </a:rPr>
              <a:t>60–70%. Below this, the page or the pixel is the problem, not the audience.</a:t>
            </a:r>
            <a:endParaRPr lang="en-US" sz="1600" dirty="0"/>
          </a:p>
        </p:txBody>
      </p:sp>
      <p:sp>
        <p:nvSpPr>
          <p:cNvPr id="9" name="Text 7"/>
          <p:cNvSpPr/>
          <p:nvPr/>
        </p:nvSpPr>
        <p:spPr>
          <a:xfrm>
            <a:off x="5511800" y="3310731"/>
            <a:ext cx="604342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C9A63C"/>
                </a:solidFill>
                <a:latin typeface="Arial" pitchFamily="34" charset="0"/>
                <a:ea typeface="Arial" pitchFamily="34" charset="-122"/>
                <a:cs typeface="Arial" pitchFamily="34" charset="-120"/>
              </a:rPr>
              <a:t>Healthy</a:t>
            </a:r>
            <a:endParaRPr lang="en-US" sz="1500" dirty="0"/>
          </a:p>
        </p:txBody>
      </p:sp>
      <p:sp>
        <p:nvSpPr>
          <p:cNvPr id="10" name="Text 8"/>
          <p:cNvSpPr/>
          <p:nvPr/>
        </p:nvSpPr>
        <p:spPr>
          <a:xfrm>
            <a:off x="5511800" y="3628231"/>
            <a:ext cx="6043422"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7F3EA"/>
                </a:solidFill>
                <a:latin typeface="Arial" pitchFamily="34" charset="0"/>
                <a:ea typeface="Arial" pitchFamily="34" charset="-122"/>
                <a:cs typeface="Arial" pitchFamily="34" charset="-120"/>
              </a:rPr>
              <a:t>Above 80%. The click, the page and the measurement are all doing their job.</a:t>
            </a:r>
            <a:endParaRPr lang="en-US" sz="1600" dirty="0"/>
          </a:p>
        </p:txBody>
      </p:sp>
      <p:sp>
        <p:nvSpPr>
          <p:cNvPr id="11" name="Text 9"/>
          <p:cNvSpPr/>
          <p:nvPr/>
        </p:nvSpPr>
        <p:spPr>
          <a:xfrm>
            <a:off x="5511800" y="4374995"/>
            <a:ext cx="604342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B54A28"/>
                </a:solidFill>
                <a:latin typeface="Arial" pitchFamily="34" charset="0"/>
                <a:ea typeface="Arial" pitchFamily="34" charset="-122"/>
                <a:cs typeface="Arial" pitchFamily="34" charset="-120"/>
              </a:rPr>
              <a:t>Where Guhantara sits</a:t>
            </a:r>
            <a:endParaRPr lang="en-US" sz="1500" dirty="0"/>
          </a:p>
        </p:txBody>
      </p:sp>
      <p:sp>
        <p:nvSpPr>
          <p:cNvPr id="12" name="Text 10"/>
          <p:cNvSpPr/>
          <p:nvPr/>
        </p:nvSpPr>
        <p:spPr>
          <a:xfrm>
            <a:off x="5511800" y="4692495"/>
            <a:ext cx="6043422"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7F3EA"/>
                </a:solidFill>
                <a:latin typeface="Arial" pitchFamily="34" charset="0"/>
                <a:ea typeface="Arial" pitchFamily="34" charset="-122"/>
                <a:cs typeface="Arial" pitchFamily="34" charset="-120"/>
              </a:rPr>
              <a:t>33.72%. Two out of every three paid clicks are either bouncing before the page loads or not being recorded at all.</a:t>
            </a:r>
            <a:endParaRPr lang="en-US" sz="1600" dirty="0"/>
          </a:p>
        </p:txBody>
      </p:sp>
      <p:sp>
        <p:nvSpPr>
          <p:cNvPr id="13" name="Text 11"/>
          <p:cNvSpPr/>
          <p:nvPr/>
        </p:nvSpPr>
        <p:spPr>
          <a:xfrm>
            <a:off x="812800" y="5545931"/>
            <a:ext cx="10333990" cy="321469"/>
          </a:xfrm>
          <a:prstGeom prst="rect">
            <a:avLst/>
          </a:prstGeom>
          <a:noFill/>
          <a:ln/>
        </p:spPr>
        <p:txBody>
          <a:bodyPr wrap="square" lIns="0" tIns="0" rIns="0" bIns="0" rtlCol="0" anchor="t">
            <a:normAutofit/>
          </a:bodyPr>
          <a:lstStyle/>
          <a:p>
            <a:pPr marL="0" indent="0" algn="l">
              <a:lnSpc>
                <a:spcPts val="2373"/>
              </a:lnSpc>
              <a:buNone/>
            </a:pPr>
            <a:r>
              <a:rPr lang="en-US" sz="1695" dirty="0">
                <a:solidFill>
                  <a:srgbClr val="A79C89"/>
                </a:solidFill>
                <a:latin typeface="Arial" pitchFamily="34" charset="0"/>
                <a:ea typeface="Arial" pitchFamily="34" charset="-122"/>
                <a:cs typeface="Arial" pitchFamily="34" charset="-120"/>
              </a:rPr>
              <a:t>On ₹14.94L of spend, closing the gap to 70% is worth more than any creative change in this deck.</a:t>
            </a:r>
            <a:endParaRPr lang="en-US" sz="1695" dirty="0"/>
          </a:p>
        </p:txBody>
      </p:sp>
      <p:sp>
        <p:nvSpPr>
          <p:cNvPr id="14" name="Text 12"/>
          <p:cNvSpPr/>
          <p:nvPr/>
        </p:nvSpPr>
        <p:spPr>
          <a:xfrm>
            <a:off x="812800" y="6238242"/>
            <a:ext cx="556711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071"/>
                </a:solidFill>
                <a:latin typeface="Arial" pitchFamily="34" charset="0"/>
                <a:ea typeface="Arial" pitchFamily="34" charset="-122"/>
                <a:cs typeface="Arial" pitchFamily="34" charset="-120"/>
              </a:rPr>
              <a:t>OBC&gt;LPV = outbound clicks to landing page views. Source: Meta Ads Manager.</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3EA"/>
        </a:solidFill>
        <a:effectLst/>
      </p:bgPr>
    </p:bg>
    <p:spTree>
      <p:nvGrpSpPr>
        <p:cNvPr id="1" name=""/>
        <p:cNvGrpSpPr/>
        <p:nvPr/>
      </p:nvGrpSpPr>
      <p:grpSpPr>
        <a:xfrm>
          <a:off x="0" y="0"/>
          <a:ext cx="0" cy="0"/>
          <a:chOff x="0" y="0"/>
          <a:chExt cx="0" cy="0"/>
        </a:xfrm>
      </p:grpSpPr>
      <p:sp>
        <p:nvSpPr>
          <p:cNvPr id="2" name="Text 0"/>
          <p:cNvSpPr/>
          <p:nvPr/>
        </p:nvSpPr>
        <p:spPr>
          <a:xfrm>
            <a:off x="812800" y="1429072"/>
            <a:ext cx="10883392" cy="274320"/>
          </a:xfrm>
          <a:prstGeom prst="rect">
            <a:avLst/>
          </a:prstGeom>
          <a:noFill/>
          <a:ln/>
        </p:spPr>
        <p:txBody>
          <a:bodyPr wrap="square" lIns="0" tIns="0" rIns="0" bIns="0" rtlCol="0" anchor="t">
            <a:normAutofit/>
          </a:bodyPr>
          <a:lstStyle/>
          <a:p>
            <a:pPr marL="0" indent="0" algn="l">
              <a:lnSpc>
                <a:spcPts val="1960"/>
              </a:lnSpc>
              <a:buNone/>
            </a:pPr>
            <a:r>
              <a:rPr lang="en-US" sz="1400" kern="0" spc="200" dirty="0">
                <a:solidFill>
                  <a:srgbClr val="B54A28"/>
                </a:solidFill>
                <a:latin typeface="Arial" pitchFamily="34" charset="0"/>
                <a:ea typeface="Arial" pitchFamily="34" charset="-122"/>
                <a:cs typeface="Arial" pitchFamily="34" charset="-120"/>
              </a:rPr>
              <a:t>OCTOBER 2025</a:t>
            </a:r>
            <a:endParaRPr lang="en-US" sz="1400" dirty="0"/>
          </a:p>
        </p:txBody>
      </p:sp>
      <p:sp>
        <p:nvSpPr>
          <p:cNvPr id="3" name="Text 1"/>
          <p:cNvSpPr/>
          <p:nvPr/>
        </p:nvSpPr>
        <p:spPr>
          <a:xfrm>
            <a:off x="812800" y="1957388"/>
            <a:ext cx="10883392" cy="1041400"/>
          </a:xfrm>
          <a:prstGeom prst="rect">
            <a:avLst/>
          </a:prstGeom>
          <a:noFill/>
          <a:ln/>
        </p:spPr>
        <p:txBody>
          <a:bodyPr wrap="square" lIns="0" tIns="0" rIns="0" bIns="0" rtlCol="0" anchor="t">
            <a:normAutofit/>
          </a:bodyPr>
          <a:lstStyle/>
          <a:p>
            <a:pPr marL="0" indent="0" algn="l">
              <a:lnSpc>
                <a:spcPts val="8000"/>
              </a:lnSpc>
              <a:buNone/>
            </a:pPr>
            <a:r>
              <a:rPr lang="en-US" sz="8000" dirty="0">
                <a:solidFill>
                  <a:srgbClr val="B54A28"/>
                </a:solidFill>
                <a:latin typeface="Georgia" pitchFamily="34" charset="0"/>
                <a:ea typeface="Georgia" pitchFamily="34" charset="-122"/>
                <a:cs typeface="Georgia" pitchFamily="34" charset="-120"/>
              </a:rPr>
              <a:t>133.33%</a:t>
            </a:r>
            <a:endParaRPr lang="en-US" sz="8000" dirty="0"/>
          </a:p>
        </p:txBody>
      </p:sp>
      <p:sp>
        <p:nvSpPr>
          <p:cNvPr id="4" name="Text 2"/>
          <p:cNvSpPr/>
          <p:nvPr/>
        </p:nvSpPr>
        <p:spPr>
          <a:xfrm>
            <a:off x="812800" y="3252788"/>
            <a:ext cx="10203180" cy="779780"/>
          </a:xfrm>
          <a:prstGeom prst="rect">
            <a:avLst/>
          </a:prstGeom>
          <a:noFill/>
          <a:ln/>
        </p:spPr>
        <p:txBody>
          <a:bodyPr wrap="square" lIns="0" tIns="0" rIns="0" bIns="0" rtlCol="0" anchor="t">
            <a:normAutofit/>
          </a:bodyPr>
          <a:lstStyle/>
          <a:p>
            <a:pPr marL="0" indent="0" algn="l">
              <a:lnSpc>
                <a:spcPts val="2970"/>
              </a:lnSpc>
              <a:buNone/>
            </a:pPr>
            <a:r>
              <a:rPr lang="en-US" sz="2200" dirty="0">
                <a:solidFill>
                  <a:srgbClr val="17140F"/>
                </a:solidFill>
                <a:latin typeface="Arial" pitchFamily="34" charset="0"/>
                <a:ea typeface="Arial" pitchFamily="34" charset="-122"/>
                <a:cs typeface="Arial" pitchFamily="34" charset="-120"/>
              </a:rPr>
              <a:t>of outbound clicks became landing page views. More people arrived at the page than left the advert to get there.</a:t>
            </a:r>
            <a:endParaRPr lang="en-US" sz="2200" dirty="0"/>
          </a:p>
        </p:txBody>
      </p:sp>
      <p:sp>
        <p:nvSpPr>
          <p:cNvPr id="5" name="Text 3"/>
          <p:cNvSpPr/>
          <p:nvPr/>
        </p:nvSpPr>
        <p:spPr>
          <a:xfrm>
            <a:off x="812800" y="4286572"/>
            <a:ext cx="9941560" cy="964565"/>
          </a:xfrm>
          <a:prstGeom prst="rect">
            <a:avLst/>
          </a:prstGeom>
          <a:noFill/>
          <a:ln/>
        </p:spPr>
        <p:txBody>
          <a:bodyPr wrap="square" lIns="0" tIns="0" rIns="0" bIns="0" rtlCol="0" anchor="t">
            <a:normAutofit/>
          </a:bodyPr>
          <a:lstStyle/>
          <a:p>
            <a:pPr marL="0" indent="0" algn="l">
              <a:lnSpc>
                <a:spcPts val="2465"/>
              </a:lnSpc>
              <a:buNone/>
            </a:pPr>
            <a:r>
              <a:rPr lang="en-US" sz="1700" dirty="0">
                <a:solidFill>
                  <a:srgbClr val="5C5344"/>
                </a:solidFill>
                <a:latin typeface="Arial" pitchFamily="34" charset="0"/>
                <a:ea typeface="Arial" pitchFamily="34" charset="-122"/>
                <a:cs typeface="Arial" pitchFamily="34" charset="-120"/>
              </a:rPr>
              <a:t>That is arithmetically impossible, and it is the cleanest single proof that the measurement is broken. In the same 21 months the figure ranges from </a:t>
            </a:r>
            <a:r>
              <a:rPr lang="en-US" sz="1700" b="1" dirty="0">
                <a:solidFill>
                  <a:srgbClr val="5C5344"/>
                </a:solidFill>
                <a:latin typeface="Arial" pitchFamily="34" charset="0"/>
                <a:ea typeface="Arial" pitchFamily="34" charset="-122"/>
                <a:cs typeface="Arial" pitchFamily="34" charset="-120"/>
              </a:rPr>
              <a:t>0.01%</a:t>
            </a:r>
            <a:r>
              <a:rPr lang="en-US" sz="1700" dirty="0">
                <a:solidFill>
                  <a:srgbClr val="5C5344"/>
                </a:solidFill>
                <a:latin typeface="Arial" pitchFamily="34" charset="0"/>
                <a:ea typeface="Arial" pitchFamily="34" charset="-122"/>
                <a:cs typeface="Arial" pitchFamily="34" charset="-120"/>
              </a:rPr>
              <a:t> in January 2025 to this. Neither end is a real audience behaviour.</a:t>
            </a:r>
            <a:endParaRPr lang="en-US" sz="1700" dirty="0"/>
          </a:p>
        </p:txBody>
      </p:sp>
      <p:sp>
        <p:nvSpPr>
          <p:cNvPr id="6" name="Text 4"/>
          <p:cNvSpPr/>
          <p:nvPr/>
        </p:nvSpPr>
        <p:spPr>
          <a:xfrm>
            <a:off x="812800" y="6238242"/>
            <a:ext cx="438426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071"/>
                </a:solidFill>
                <a:latin typeface="Arial" pitchFamily="34" charset="0"/>
                <a:ea typeface="Arial" pitchFamily="34" charset="-122"/>
                <a:cs typeface="Arial" pitchFamily="34" charset="-120"/>
              </a:rPr>
              <a:t>Source: Meta Ads Manager monthly export, OBC&gt;LPV column.</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3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1198880"/>
          </a:xfrm>
          <a:prstGeom prst="rect">
            <a:avLst/>
          </a:prstGeom>
          <a:noFill/>
          <a:ln/>
        </p:spPr>
        <p:txBody>
          <a:bodyPr wrap="square" lIns="0" tIns="0" rIns="0" bIns="0" rtlCol="0" anchor="t">
            <a:normAutofit/>
          </a:bodyPr>
          <a:lstStyle/>
          <a:p>
            <a:pPr marL="0" indent="0" algn="l">
              <a:lnSpc>
                <a:spcPts val="4620"/>
              </a:lnSpc>
              <a:buNone/>
            </a:pPr>
            <a:r>
              <a:rPr lang="en-US" sz="4400" dirty="0">
                <a:solidFill>
                  <a:srgbClr val="17140F"/>
                </a:solidFill>
                <a:latin typeface="Georgia" pitchFamily="34" charset="0"/>
                <a:ea typeface="Georgia" pitchFamily="34" charset="-122"/>
                <a:cs typeface="Georgia" pitchFamily="34" charset="-120"/>
              </a:rPr>
              <a:t>Women cost half as much, and get a quarter of the budget</a:t>
            </a:r>
            <a:endParaRPr lang="en-US" sz="4400" dirty="0"/>
          </a:p>
        </p:txBody>
      </p:sp>
      <p:sp>
        <p:nvSpPr>
          <p:cNvPr id="3" name="Shape 1"/>
          <p:cNvSpPr/>
          <p:nvPr/>
        </p:nvSpPr>
        <p:spPr>
          <a:xfrm>
            <a:off x="815975" y="2268860"/>
            <a:ext cx="3387090" cy="2586990"/>
          </a:xfrm>
          <a:prstGeom prst="roundRect">
            <a:avLst>
              <a:gd name="adj" fmla="val 3805"/>
            </a:avLst>
          </a:prstGeom>
          <a:solidFill>
            <a:srgbClr val="FFFFFF"/>
          </a:solidFill>
          <a:ln w="6350">
            <a:solidFill>
              <a:srgbClr val="DDD5C5"/>
            </a:solidFill>
            <a:prstDash val="solid"/>
          </a:ln>
        </p:spPr>
      </p:sp>
      <p:sp>
        <p:nvSpPr>
          <p:cNvPr id="4" name="Text 2"/>
          <p:cNvSpPr/>
          <p:nvPr/>
        </p:nvSpPr>
        <p:spPr>
          <a:xfrm>
            <a:off x="1097280" y="2550158"/>
            <a:ext cx="2909215"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7140F"/>
                </a:solidFill>
                <a:latin typeface="Arial" pitchFamily="34" charset="0"/>
                <a:ea typeface="Arial" pitchFamily="34" charset="-122"/>
                <a:cs typeface="Arial" pitchFamily="34" charset="-120"/>
              </a:rPr>
              <a:t>Men</a:t>
            </a:r>
            <a:endParaRPr lang="en-US" sz="1800" dirty="0"/>
          </a:p>
        </p:txBody>
      </p:sp>
      <p:sp>
        <p:nvSpPr>
          <p:cNvPr id="5" name="Text 3"/>
          <p:cNvSpPr/>
          <p:nvPr/>
        </p:nvSpPr>
        <p:spPr>
          <a:xfrm>
            <a:off x="1097280" y="2913385"/>
            <a:ext cx="2909215" cy="612140"/>
          </a:xfrm>
          <a:prstGeom prst="rect">
            <a:avLst/>
          </a:prstGeom>
          <a:noFill/>
          <a:ln/>
        </p:spPr>
        <p:txBody>
          <a:bodyPr wrap="square" lIns="0" tIns="0" rIns="0" bIns="0" rtlCol="0" anchor="t">
            <a:normAutofit/>
          </a:bodyPr>
          <a:lstStyle/>
          <a:p>
            <a:pPr marL="0" indent="0" algn="l">
              <a:lnSpc>
                <a:spcPts val="4620"/>
              </a:lnSpc>
              <a:buNone/>
            </a:pPr>
            <a:r>
              <a:rPr lang="en-US" sz="4200" dirty="0">
                <a:solidFill>
                  <a:srgbClr val="B54A28"/>
                </a:solidFill>
                <a:latin typeface="Georgia" pitchFamily="34" charset="0"/>
                <a:ea typeface="Georgia" pitchFamily="34" charset="-122"/>
                <a:cs typeface="Georgia" pitchFamily="34" charset="-120"/>
              </a:rPr>
              <a:t>₹1,458</a:t>
            </a:r>
            <a:endParaRPr lang="en-US" sz="4200" dirty="0"/>
          </a:p>
        </p:txBody>
      </p:sp>
      <p:sp>
        <p:nvSpPr>
          <p:cNvPr id="6" name="Text 4"/>
          <p:cNvSpPr/>
          <p:nvPr/>
        </p:nvSpPr>
        <p:spPr>
          <a:xfrm>
            <a:off x="1097280" y="3589027"/>
            <a:ext cx="2909215"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C5344"/>
                </a:solidFill>
                <a:latin typeface="Arial" pitchFamily="34" charset="0"/>
                <a:ea typeface="Arial" pitchFamily="34" charset="-122"/>
                <a:cs typeface="Arial" pitchFamily="34" charset="-120"/>
              </a:rPr>
              <a:t>per lead · ₹10,86,080 spent, 72.7% of budget · 745 leads, 59.2% of leads</a:t>
            </a:r>
            <a:endParaRPr lang="en-US" sz="1400" dirty="0"/>
          </a:p>
        </p:txBody>
      </p:sp>
      <p:sp>
        <p:nvSpPr>
          <p:cNvPr id="7" name="Shape 5"/>
          <p:cNvSpPr/>
          <p:nvPr/>
        </p:nvSpPr>
        <p:spPr>
          <a:xfrm>
            <a:off x="4409440" y="2265685"/>
            <a:ext cx="3383280" cy="2593340"/>
          </a:xfrm>
          <a:prstGeom prst="roundRect">
            <a:avLst>
              <a:gd name="adj" fmla="val 3918"/>
            </a:avLst>
          </a:prstGeom>
          <a:solidFill>
            <a:srgbClr val="17140F"/>
          </a:solidFill>
          <a:ln/>
        </p:spPr>
      </p:sp>
      <p:sp>
        <p:nvSpPr>
          <p:cNvPr id="8" name="Text 6"/>
          <p:cNvSpPr/>
          <p:nvPr/>
        </p:nvSpPr>
        <p:spPr>
          <a:xfrm>
            <a:off x="4688840" y="2545085"/>
            <a:ext cx="2909215"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7F3EA"/>
                </a:solidFill>
                <a:latin typeface="Arial" pitchFamily="34" charset="0"/>
                <a:ea typeface="Arial" pitchFamily="34" charset="-122"/>
                <a:cs typeface="Arial" pitchFamily="34" charset="-120"/>
              </a:rPr>
              <a:t>Women</a:t>
            </a:r>
            <a:endParaRPr lang="en-US" sz="1800" dirty="0"/>
          </a:p>
        </p:txBody>
      </p:sp>
      <p:sp>
        <p:nvSpPr>
          <p:cNvPr id="9" name="Text 7"/>
          <p:cNvSpPr/>
          <p:nvPr/>
        </p:nvSpPr>
        <p:spPr>
          <a:xfrm>
            <a:off x="4688840" y="2908300"/>
            <a:ext cx="2909215" cy="612140"/>
          </a:xfrm>
          <a:prstGeom prst="rect">
            <a:avLst/>
          </a:prstGeom>
          <a:noFill/>
          <a:ln/>
        </p:spPr>
        <p:txBody>
          <a:bodyPr wrap="square" lIns="0" tIns="0" rIns="0" bIns="0" rtlCol="0" anchor="t">
            <a:normAutofit/>
          </a:bodyPr>
          <a:lstStyle/>
          <a:p>
            <a:pPr marL="0" indent="0" algn="l">
              <a:lnSpc>
                <a:spcPts val="4620"/>
              </a:lnSpc>
              <a:buNone/>
            </a:pPr>
            <a:r>
              <a:rPr lang="en-US" sz="4200" dirty="0">
                <a:solidFill>
                  <a:srgbClr val="C9A63C"/>
                </a:solidFill>
                <a:latin typeface="Georgia" pitchFamily="34" charset="0"/>
                <a:ea typeface="Georgia" pitchFamily="34" charset="-122"/>
                <a:cs typeface="Georgia" pitchFamily="34" charset="-120"/>
              </a:rPr>
              <a:t>₹789</a:t>
            </a:r>
            <a:endParaRPr lang="en-US" sz="4200" dirty="0"/>
          </a:p>
        </p:txBody>
      </p:sp>
      <p:sp>
        <p:nvSpPr>
          <p:cNvPr id="10" name="Text 8"/>
          <p:cNvSpPr/>
          <p:nvPr/>
        </p:nvSpPr>
        <p:spPr>
          <a:xfrm>
            <a:off x="4688840" y="3583942"/>
            <a:ext cx="2909215"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A79C89"/>
                </a:solidFill>
                <a:latin typeface="Arial" pitchFamily="34" charset="0"/>
                <a:ea typeface="Arial" pitchFamily="34" charset="-122"/>
                <a:cs typeface="Arial" pitchFamily="34" charset="-120"/>
              </a:rPr>
              <a:t>per lead · ₹4,04,808 spent, 27.1% of budget · 513 leads, 40.7% of leads</a:t>
            </a:r>
            <a:endParaRPr lang="en-US" sz="1400" dirty="0"/>
          </a:p>
        </p:txBody>
      </p:sp>
      <p:sp>
        <p:nvSpPr>
          <p:cNvPr id="11" name="Shape 9"/>
          <p:cNvSpPr/>
          <p:nvPr/>
        </p:nvSpPr>
        <p:spPr>
          <a:xfrm>
            <a:off x="7995920" y="2265685"/>
            <a:ext cx="3383280" cy="2593340"/>
          </a:xfrm>
          <a:prstGeom prst="roundRect">
            <a:avLst>
              <a:gd name="adj" fmla="val 3918"/>
            </a:avLst>
          </a:prstGeom>
          <a:solidFill>
            <a:srgbClr val="C9A63C"/>
          </a:solidFill>
          <a:ln/>
        </p:spPr>
      </p:sp>
      <p:sp>
        <p:nvSpPr>
          <p:cNvPr id="12" name="Text 10"/>
          <p:cNvSpPr/>
          <p:nvPr/>
        </p:nvSpPr>
        <p:spPr>
          <a:xfrm>
            <a:off x="8275320" y="2545085"/>
            <a:ext cx="2909215"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7140F"/>
                </a:solidFill>
                <a:latin typeface="Arial" pitchFamily="34" charset="0"/>
                <a:ea typeface="Arial" pitchFamily="34" charset="-122"/>
                <a:cs typeface="Arial" pitchFamily="34" charset="-120"/>
              </a:rPr>
              <a:t>The opportunity</a:t>
            </a:r>
            <a:endParaRPr lang="en-US" sz="1800" dirty="0"/>
          </a:p>
        </p:txBody>
      </p:sp>
      <p:sp>
        <p:nvSpPr>
          <p:cNvPr id="13" name="Text 11"/>
          <p:cNvSpPr/>
          <p:nvPr/>
        </p:nvSpPr>
        <p:spPr>
          <a:xfrm>
            <a:off x="8275320" y="2908300"/>
            <a:ext cx="2909215" cy="612140"/>
          </a:xfrm>
          <a:prstGeom prst="rect">
            <a:avLst/>
          </a:prstGeom>
          <a:noFill/>
          <a:ln/>
        </p:spPr>
        <p:txBody>
          <a:bodyPr wrap="square" lIns="0" tIns="0" rIns="0" bIns="0" rtlCol="0" anchor="t">
            <a:normAutofit/>
          </a:bodyPr>
          <a:lstStyle/>
          <a:p>
            <a:pPr marL="0" indent="0" algn="l">
              <a:lnSpc>
                <a:spcPts val="4620"/>
              </a:lnSpc>
              <a:buNone/>
            </a:pPr>
            <a:r>
              <a:rPr lang="en-US" sz="4200" dirty="0">
                <a:solidFill>
                  <a:srgbClr val="17140F"/>
                </a:solidFill>
                <a:latin typeface="Georgia" pitchFamily="34" charset="0"/>
                <a:ea typeface="Georgia" pitchFamily="34" charset="-122"/>
                <a:cs typeface="Georgia" pitchFamily="34" charset="-120"/>
              </a:rPr>
              <a:t>+631</a:t>
            </a:r>
            <a:endParaRPr lang="en-US" sz="4200" dirty="0"/>
          </a:p>
        </p:txBody>
      </p:sp>
      <p:sp>
        <p:nvSpPr>
          <p:cNvPr id="14" name="Text 12"/>
          <p:cNvSpPr/>
          <p:nvPr/>
        </p:nvSpPr>
        <p:spPr>
          <a:xfrm>
            <a:off x="8275320" y="3583942"/>
            <a:ext cx="2909215" cy="10210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7140F"/>
                </a:solidFill>
                <a:latin typeface="Arial" pitchFamily="34" charset="0"/>
                <a:ea typeface="Arial" pitchFamily="34" charset="-122"/>
                <a:cs typeface="Arial" pitchFamily="34" charset="-120"/>
              </a:rPr>
              <a:t>leads. If the male budget had converted at the female cost per lead, it would have returned 1,376 instead of 745.</a:t>
            </a:r>
            <a:endParaRPr lang="en-US" sz="1400" dirty="0"/>
          </a:p>
        </p:txBody>
      </p:sp>
      <p:sp>
        <p:nvSpPr>
          <p:cNvPr id="15" name="Text 13"/>
          <p:cNvSpPr/>
          <p:nvPr/>
        </p:nvSpPr>
        <p:spPr>
          <a:xfrm>
            <a:off x="812800" y="5138427"/>
            <a:ext cx="10333990" cy="651510"/>
          </a:xfrm>
          <a:prstGeom prst="rect">
            <a:avLst/>
          </a:prstGeom>
          <a:noFill/>
          <a:ln/>
        </p:spPr>
        <p:txBody>
          <a:bodyPr wrap="square" lIns="0" tIns="0" rIns="0" bIns="0" rtlCol="0" anchor="t">
            <a:normAutofit/>
          </a:bodyPr>
          <a:lstStyle/>
          <a:p>
            <a:pPr marL="0" indent="0" algn="l">
              <a:lnSpc>
                <a:spcPts val="2465"/>
              </a:lnSpc>
              <a:buNone/>
            </a:pPr>
            <a:r>
              <a:rPr lang="en-US" sz="1700" dirty="0">
                <a:solidFill>
                  <a:srgbClr val="5C5344"/>
                </a:solidFill>
                <a:latin typeface="Arial" pitchFamily="34" charset="0"/>
                <a:ea typeface="Arial" pitchFamily="34" charset="-122"/>
                <a:cs typeface="Arial" pitchFamily="34" charset="-120"/>
              </a:rPr>
              <a:t>Women are 1.85 times more efficient in this account and have been for 21 months. Nothing in the targeting reflects that. This is the fastest efficiency gain available, and it needs no new creative.</a:t>
            </a:r>
            <a:endParaRPr lang="en-US" sz="1700" dirty="0"/>
          </a:p>
        </p:txBody>
      </p:sp>
      <p:sp>
        <p:nvSpPr>
          <p:cNvPr id="16" name="Text 14"/>
          <p:cNvSpPr/>
          <p:nvPr/>
        </p:nvSpPr>
        <p:spPr>
          <a:xfrm>
            <a:off x="812800" y="6238242"/>
            <a:ext cx="816867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071"/>
                </a:solidFill>
                <a:latin typeface="Arial" pitchFamily="34" charset="0"/>
                <a:ea typeface="Arial" pitchFamily="34" charset="-122"/>
                <a:cs typeface="Arial" pitchFamily="34" charset="-120"/>
              </a:rPr>
              <a:t>Source: Meta Ads Manager, gender breakdown. The +631 figure is arithmetic on existing cost per lead, not a forecast.</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3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1123791"/>
          </a:xfrm>
          <a:prstGeom prst="rect">
            <a:avLst/>
          </a:prstGeom>
          <a:noFill/>
          <a:ln/>
        </p:spPr>
        <p:txBody>
          <a:bodyPr wrap="square" lIns="0" tIns="0" rIns="0" bIns="0" rtlCol="0" anchor="t">
            <a:normAutofit/>
          </a:bodyPr>
          <a:lstStyle/>
          <a:p>
            <a:pPr marL="0" indent="0" algn="l">
              <a:lnSpc>
                <a:spcPts val="4331"/>
              </a:lnSpc>
              <a:buNone/>
            </a:pPr>
            <a:r>
              <a:rPr lang="en-US" sz="4125" dirty="0">
                <a:solidFill>
                  <a:srgbClr val="17140F"/>
                </a:solidFill>
                <a:latin typeface="Georgia" pitchFamily="34" charset="0"/>
                <a:ea typeface="Georgia" pitchFamily="34" charset="-122"/>
                <a:cs typeface="Georgia" pitchFamily="34" charset="-120"/>
              </a:rPr>
              <a:t>Where the money goes, and where the leads come from</a:t>
            </a:r>
            <a:endParaRPr lang="en-US" sz="4125"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2149949"/>
          <a:ext cx="10556240" cy="2687796"/>
        </p:xfrm>
        <a:graphic>
          <a:graphicData uri="http://schemas.openxmlformats.org/drawingml/2006/table">
            <a:tbl>
              <a:tblPr/>
              <a:tblGrid>
                <a:gridCol w="1477874">
                  <a:extLst>
                    <a:ext uri="{9D8B030D-6E8A-4147-A177-3AD203B41FA5}">
                      <a16:colId xmlns:a16="http://schemas.microsoft.com/office/drawing/2014/main" val="20000"/>
                    </a:ext>
                  </a:extLst>
                </a:gridCol>
                <a:gridCol w="2322373">
                  <a:extLst>
                    <a:ext uri="{9D8B030D-6E8A-4147-A177-3AD203B41FA5}">
                      <a16:colId xmlns:a16="http://schemas.microsoft.com/office/drawing/2014/main" val="20001"/>
                    </a:ext>
                  </a:extLst>
                </a:gridCol>
                <a:gridCol w="1688998">
                  <a:extLst>
                    <a:ext uri="{9D8B030D-6E8A-4147-A177-3AD203B41FA5}">
                      <a16:colId xmlns:a16="http://schemas.microsoft.com/office/drawing/2014/main" val="20002"/>
                    </a:ext>
                  </a:extLst>
                </a:gridCol>
                <a:gridCol w="1688998">
                  <a:extLst>
                    <a:ext uri="{9D8B030D-6E8A-4147-A177-3AD203B41FA5}">
                      <a16:colId xmlns:a16="http://schemas.microsoft.com/office/drawing/2014/main" val="20003"/>
                    </a:ext>
                  </a:extLst>
                </a:gridCol>
                <a:gridCol w="3377997">
                  <a:extLst>
                    <a:ext uri="{9D8B030D-6E8A-4147-A177-3AD203B41FA5}">
                      <a16:colId xmlns:a16="http://schemas.microsoft.com/office/drawing/2014/main" val="20004"/>
                    </a:ext>
                  </a:extLst>
                </a:gridCol>
              </a:tblGrid>
              <a:tr h="383937">
                <a:tc>
                  <a:txBody>
                    <a:bodyPr/>
                    <a:lstStyle/>
                    <a:p>
                      <a:pPr marL="0" indent="0">
                        <a:lnSpc>
                          <a:spcPts val="1962"/>
                        </a:lnSpc>
                        <a:buNone/>
                      </a:pPr>
                      <a:r>
                        <a:rPr lang="en-US" sz="1402" b="1" dirty="0">
                          <a:solidFill>
                            <a:srgbClr val="F7F3EA"/>
                          </a:solidFill>
                          <a:latin typeface="Arial" pitchFamily="34" charset="0"/>
                          <a:ea typeface="Arial" pitchFamily="34" charset="-122"/>
                          <a:cs typeface="Arial" pitchFamily="34" charset="-120"/>
                        </a:rPr>
                        <a:t>Age</a:t>
                      </a:r>
                      <a:endParaRPr lang="en-US" sz="1402" dirty="0">
                        <a:latin typeface="Arial" charset="0"/>
                        <a:ea typeface="Arial" charset="0"/>
                        <a:cs typeface="Arial" charset="0"/>
                      </a:endParaRPr>
                    </a:p>
                  </a:txBody>
                  <a:tcPr marL="62299" marR="62299" marT="62299" marB="62299">
                    <a:lnL w="12700" cap="flat" cmpd="sng" algn="ctr">
                      <a:solidFill>
                        <a:srgbClr val="C5C2BB"/>
                      </a:solidFill>
                      <a:prstDash val="solid"/>
                      <a:round/>
                      <a:headEnd type="none" w="med" len="med"/>
                      <a:tailEnd type="none" w="med" len="med"/>
                    </a:lnL>
                    <a:lnR w="12700" cap="flat" cmpd="sng" algn="ctr">
                      <a:solidFill>
                        <a:srgbClr val="161410"/>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161410"/>
                      </a:solidFill>
                      <a:prstDash val="solid"/>
                      <a:round/>
                      <a:headEnd type="none" w="med" len="med"/>
                      <a:tailEnd type="none" w="med" len="med"/>
                    </a:lnB>
                    <a:solidFill>
                      <a:srgbClr val="17140F"/>
                    </a:solidFill>
                  </a:tcPr>
                </a:tc>
                <a:tc>
                  <a:txBody>
                    <a:bodyPr/>
                    <a:lstStyle/>
                    <a:p>
                      <a:pPr marL="0" indent="0">
                        <a:lnSpc>
                          <a:spcPts val="1962"/>
                        </a:lnSpc>
                        <a:buNone/>
                      </a:pPr>
                      <a:r>
                        <a:rPr lang="en-US" sz="1402" b="1" dirty="0">
                          <a:solidFill>
                            <a:srgbClr val="F7F3EA"/>
                          </a:solidFill>
                          <a:latin typeface="Arial" pitchFamily="34" charset="0"/>
                          <a:ea typeface="Arial" pitchFamily="34" charset="-122"/>
                          <a:cs typeface="Arial" pitchFamily="34" charset="-120"/>
                        </a:rPr>
                        <a:t>Spend</a:t>
                      </a:r>
                      <a:endParaRPr lang="en-US" sz="1402" dirty="0">
                        <a:latin typeface="Arial" charset="0"/>
                        <a:ea typeface="Arial" charset="0"/>
                        <a:cs typeface="Arial" charset="0"/>
                      </a:endParaRPr>
                    </a:p>
                  </a:txBody>
                  <a:tcPr marL="62299" marR="62299" marT="62299" marB="62299">
                    <a:lnL w="12700" cap="flat" cmpd="sng" algn="ctr">
                      <a:solidFill>
                        <a:srgbClr val="161410"/>
                      </a:solidFill>
                      <a:prstDash val="solid"/>
                      <a:round/>
                      <a:headEnd type="none" w="med" len="med"/>
                      <a:tailEnd type="none" w="med" len="med"/>
                    </a:lnL>
                    <a:lnR w="12700" cap="flat" cmpd="sng" algn="ctr">
                      <a:solidFill>
                        <a:srgbClr val="161410"/>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161410"/>
                      </a:solidFill>
                      <a:prstDash val="solid"/>
                      <a:round/>
                      <a:headEnd type="none" w="med" len="med"/>
                      <a:tailEnd type="none" w="med" len="med"/>
                    </a:lnB>
                    <a:solidFill>
                      <a:srgbClr val="17140F"/>
                    </a:solidFill>
                  </a:tcPr>
                </a:tc>
                <a:tc>
                  <a:txBody>
                    <a:bodyPr/>
                    <a:lstStyle/>
                    <a:p>
                      <a:pPr marL="0" indent="0">
                        <a:lnSpc>
                          <a:spcPts val="1962"/>
                        </a:lnSpc>
                        <a:buNone/>
                      </a:pPr>
                      <a:r>
                        <a:rPr lang="en-US" sz="1402" b="1" dirty="0">
                          <a:solidFill>
                            <a:srgbClr val="F7F3EA"/>
                          </a:solidFill>
                          <a:latin typeface="Arial" pitchFamily="34" charset="0"/>
                          <a:ea typeface="Arial" pitchFamily="34" charset="-122"/>
                          <a:cs typeface="Arial" pitchFamily="34" charset="-120"/>
                        </a:rPr>
                        <a:t>Share</a:t>
                      </a:r>
                      <a:endParaRPr lang="en-US" sz="1402" dirty="0">
                        <a:latin typeface="Arial" charset="0"/>
                        <a:ea typeface="Arial" charset="0"/>
                        <a:cs typeface="Arial" charset="0"/>
                      </a:endParaRPr>
                    </a:p>
                  </a:txBody>
                  <a:tcPr marL="62299" marR="62299" marT="62299" marB="62299">
                    <a:lnL w="12700" cap="flat" cmpd="sng" algn="ctr">
                      <a:solidFill>
                        <a:srgbClr val="161410"/>
                      </a:solidFill>
                      <a:prstDash val="solid"/>
                      <a:round/>
                      <a:headEnd type="none" w="med" len="med"/>
                      <a:tailEnd type="none" w="med" len="med"/>
                    </a:lnL>
                    <a:lnR w="12700" cap="flat" cmpd="sng" algn="ctr">
                      <a:solidFill>
                        <a:srgbClr val="161410"/>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161410"/>
                      </a:solidFill>
                      <a:prstDash val="solid"/>
                      <a:round/>
                      <a:headEnd type="none" w="med" len="med"/>
                      <a:tailEnd type="none" w="med" len="med"/>
                    </a:lnB>
                    <a:solidFill>
                      <a:srgbClr val="17140F"/>
                    </a:solidFill>
                  </a:tcPr>
                </a:tc>
                <a:tc>
                  <a:txBody>
                    <a:bodyPr/>
                    <a:lstStyle/>
                    <a:p>
                      <a:pPr marL="0" indent="0">
                        <a:lnSpc>
                          <a:spcPts val="1962"/>
                        </a:lnSpc>
                        <a:buNone/>
                      </a:pPr>
                      <a:r>
                        <a:rPr lang="en-US" sz="1402" b="1" dirty="0">
                          <a:solidFill>
                            <a:srgbClr val="F7F3EA"/>
                          </a:solidFill>
                          <a:latin typeface="Arial" pitchFamily="34" charset="0"/>
                          <a:ea typeface="Arial" pitchFamily="34" charset="-122"/>
                          <a:cs typeface="Arial" pitchFamily="34" charset="-120"/>
                        </a:rPr>
                        <a:t>Leads</a:t>
                      </a:r>
                      <a:endParaRPr lang="en-US" sz="1402" dirty="0">
                        <a:latin typeface="Arial" charset="0"/>
                        <a:ea typeface="Arial" charset="0"/>
                        <a:cs typeface="Arial" charset="0"/>
                      </a:endParaRPr>
                    </a:p>
                  </a:txBody>
                  <a:tcPr marL="62299" marR="62299" marT="62299" marB="62299">
                    <a:lnL w="12700" cap="flat" cmpd="sng" algn="ctr">
                      <a:solidFill>
                        <a:srgbClr val="161410"/>
                      </a:solidFill>
                      <a:prstDash val="solid"/>
                      <a:round/>
                      <a:headEnd type="none" w="med" len="med"/>
                      <a:tailEnd type="none" w="med" len="med"/>
                    </a:lnL>
                    <a:lnR w="12700" cap="flat" cmpd="sng" algn="ctr">
                      <a:solidFill>
                        <a:srgbClr val="161410"/>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161410"/>
                      </a:solidFill>
                      <a:prstDash val="solid"/>
                      <a:round/>
                      <a:headEnd type="none" w="med" len="med"/>
                      <a:tailEnd type="none" w="med" len="med"/>
                    </a:lnB>
                    <a:solidFill>
                      <a:srgbClr val="17140F"/>
                    </a:solidFill>
                  </a:tcPr>
                </a:tc>
                <a:tc>
                  <a:txBody>
                    <a:bodyPr/>
                    <a:lstStyle/>
                    <a:p>
                      <a:pPr marL="0" indent="0">
                        <a:lnSpc>
                          <a:spcPts val="1962"/>
                        </a:lnSpc>
                        <a:buNone/>
                      </a:pPr>
                      <a:r>
                        <a:rPr lang="en-US" sz="1402" b="1" dirty="0">
                          <a:solidFill>
                            <a:srgbClr val="F7F3EA"/>
                          </a:solidFill>
                          <a:latin typeface="Arial" pitchFamily="34" charset="0"/>
                          <a:ea typeface="Arial" pitchFamily="34" charset="-122"/>
                          <a:cs typeface="Arial" pitchFamily="34" charset="-120"/>
                        </a:rPr>
                        <a:t>Cost per lead</a:t>
                      </a:r>
                      <a:endParaRPr lang="en-US" sz="1402" dirty="0">
                        <a:latin typeface="Arial" charset="0"/>
                        <a:ea typeface="Arial" charset="0"/>
                        <a:cs typeface="Arial" charset="0"/>
                      </a:endParaRPr>
                    </a:p>
                  </a:txBody>
                  <a:tcPr marL="62299" marR="62299" marT="62299" marB="62299">
                    <a:lnL w="12700" cap="flat" cmpd="sng" algn="ctr">
                      <a:solidFill>
                        <a:srgbClr val="161410"/>
                      </a:solidFill>
                      <a:prstDash val="solid"/>
                      <a:round/>
                      <a:headEnd type="none" w="med" len="med"/>
                      <a:tailEnd type="none" w="med" len="med"/>
                    </a:lnL>
                    <a:lnR w="12700" cap="flat" cmpd="sng" algn="ctr">
                      <a:solidFill>
                        <a:srgbClr val="161410"/>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161410"/>
                      </a:solidFill>
                      <a:prstDash val="solid"/>
                      <a:round/>
                      <a:headEnd type="none" w="med" len="med"/>
                      <a:tailEnd type="none" w="med" len="med"/>
                    </a:lnB>
                    <a:solidFill>
                      <a:srgbClr val="17140F"/>
                    </a:solidFill>
                  </a:tcPr>
                </a:tc>
                <a:extLst>
                  <a:ext uri="{0D108BD9-81ED-4DB2-BD59-A6C34878D82A}">
                    <a16:rowId xmlns:a16="http://schemas.microsoft.com/office/drawing/2014/main" val="10000"/>
                  </a:ext>
                </a:extLst>
              </a:tr>
              <a:tr h="383937">
                <a:tc>
                  <a:txBody>
                    <a:bodyPr/>
                    <a:lstStyle/>
                    <a:p>
                      <a:pPr marL="0" indent="0">
                        <a:lnSpc>
                          <a:spcPts val="1962"/>
                        </a:lnSpc>
                        <a:buNone/>
                      </a:pPr>
                      <a:r>
                        <a:rPr lang="en-US" sz="1402" dirty="0">
                          <a:solidFill>
                            <a:srgbClr val="17140F"/>
                          </a:solidFill>
                          <a:latin typeface="Arial" pitchFamily="34" charset="0"/>
                          <a:ea typeface="Arial" pitchFamily="34" charset="-122"/>
                          <a:cs typeface="Arial" pitchFamily="34" charset="-120"/>
                        </a:rPr>
                        <a:t>35–44</a:t>
                      </a:r>
                      <a:endParaRPr lang="en-US" sz="1402" dirty="0">
                        <a:latin typeface="Arial" charset="0"/>
                        <a:ea typeface="Arial" charset="0"/>
                        <a:cs typeface="Arial" charset="0"/>
                      </a:endParaRPr>
                    </a:p>
                  </a:txBody>
                  <a:tcPr marL="62299" marR="62299" marT="62299" marB="62299">
                    <a:lnL w="12700" cap="flat" cmpd="sng" algn="ctr">
                      <a:solidFill>
                        <a:srgbClr val="C5C2BB"/>
                      </a:solidFill>
                      <a:prstDash val="solid"/>
                      <a:round/>
                      <a:headEnd type="none" w="med" len="med"/>
                      <a:tailEnd type="none" w="med" len="med"/>
                    </a:lnL>
                    <a:lnR w="12700" cap="flat" cmpd="sng" algn="ctr">
                      <a:solidFill>
                        <a:srgbClr val="B9B4A9"/>
                      </a:solidFill>
                      <a:prstDash val="solid"/>
                      <a:round/>
                      <a:headEnd type="none" w="med" len="med"/>
                      <a:tailEnd type="none" w="med" len="med"/>
                    </a:lnR>
                    <a:lnT w="12700" cap="flat" cmpd="sng" algn="ctr">
                      <a:solidFill>
                        <a:srgbClr val="161410"/>
                      </a:solidFill>
                      <a:prstDash val="solid"/>
                      <a:round/>
                      <a:headEnd type="none" w="med" len="med"/>
                      <a:tailEnd type="none" w="med" len="med"/>
                    </a:lnT>
                    <a:lnB w="12700" cap="flat" cmpd="sng" algn="ctr">
                      <a:solidFill>
                        <a:srgbClr val="B9B4A9"/>
                      </a:solidFill>
                      <a:prstDash val="solid"/>
                      <a:round/>
                      <a:headEnd type="none" w="med" len="med"/>
                      <a:tailEnd type="none" w="med" len="med"/>
                    </a:lnB>
                    <a:solidFill>
                      <a:srgbClr val="E8E1D3"/>
                    </a:solidFill>
                  </a:tcPr>
                </a:tc>
                <a:tc>
                  <a:txBody>
                    <a:bodyPr/>
                    <a:lstStyle/>
                    <a:p>
                      <a:pPr marL="0" indent="0">
                        <a:lnSpc>
                          <a:spcPts val="1962"/>
                        </a:lnSpc>
                        <a:buNone/>
                      </a:pPr>
                      <a:r>
                        <a:rPr lang="en-US" sz="1402" dirty="0">
                          <a:solidFill>
                            <a:srgbClr val="17140F"/>
                          </a:solidFill>
                          <a:latin typeface="Arial" pitchFamily="34" charset="0"/>
                          <a:ea typeface="Arial" pitchFamily="34" charset="-122"/>
                          <a:cs typeface="Arial" pitchFamily="34" charset="-120"/>
                        </a:rPr>
                        <a:t>₹4,20,881</a:t>
                      </a:r>
                      <a:endParaRPr lang="en-US" sz="1402" dirty="0">
                        <a:latin typeface="Arial" charset="0"/>
                        <a:ea typeface="Arial" charset="0"/>
                        <a:cs typeface="Arial" charset="0"/>
                      </a:endParaRPr>
                    </a:p>
                  </a:txBody>
                  <a:tcPr marL="62299" marR="62299" marT="62299" marB="62299">
                    <a:lnL w="12700" cap="flat" cmpd="sng" algn="ctr">
                      <a:solidFill>
                        <a:srgbClr val="B9B4A9"/>
                      </a:solidFill>
                      <a:prstDash val="solid"/>
                      <a:round/>
                      <a:headEnd type="none" w="med" len="med"/>
                      <a:tailEnd type="none" w="med" len="med"/>
                    </a:lnL>
                    <a:lnR w="12700" cap="flat" cmpd="sng" algn="ctr">
                      <a:solidFill>
                        <a:srgbClr val="B9B4A9"/>
                      </a:solidFill>
                      <a:prstDash val="solid"/>
                      <a:round/>
                      <a:headEnd type="none" w="med" len="med"/>
                      <a:tailEnd type="none" w="med" len="med"/>
                    </a:lnR>
                    <a:lnT w="12700" cap="flat" cmpd="sng" algn="ctr">
                      <a:solidFill>
                        <a:srgbClr val="161410"/>
                      </a:solidFill>
                      <a:prstDash val="solid"/>
                      <a:round/>
                      <a:headEnd type="none" w="med" len="med"/>
                      <a:tailEnd type="none" w="med" len="med"/>
                    </a:lnT>
                    <a:lnB w="12700" cap="flat" cmpd="sng" algn="ctr">
                      <a:solidFill>
                        <a:srgbClr val="B9B4A9"/>
                      </a:solidFill>
                      <a:prstDash val="solid"/>
                      <a:round/>
                      <a:headEnd type="none" w="med" len="med"/>
                      <a:tailEnd type="none" w="med" len="med"/>
                    </a:lnB>
                    <a:solidFill>
                      <a:srgbClr val="E8E1D3"/>
                    </a:solidFill>
                  </a:tcPr>
                </a:tc>
                <a:tc>
                  <a:txBody>
                    <a:bodyPr/>
                    <a:lstStyle/>
                    <a:p>
                      <a:pPr marL="0" indent="0">
                        <a:lnSpc>
                          <a:spcPts val="1962"/>
                        </a:lnSpc>
                        <a:buNone/>
                      </a:pPr>
                      <a:r>
                        <a:rPr lang="en-US" sz="1402" dirty="0">
                          <a:solidFill>
                            <a:srgbClr val="17140F"/>
                          </a:solidFill>
                          <a:latin typeface="Arial" pitchFamily="34" charset="0"/>
                          <a:ea typeface="Arial" pitchFamily="34" charset="-122"/>
                          <a:cs typeface="Arial" pitchFamily="34" charset="-120"/>
                        </a:rPr>
                        <a:t>28.2%</a:t>
                      </a:r>
                      <a:endParaRPr lang="en-US" sz="1402" dirty="0">
                        <a:latin typeface="Arial" charset="0"/>
                        <a:ea typeface="Arial" charset="0"/>
                        <a:cs typeface="Arial" charset="0"/>
                      </a:endParaRPr>
                    </a:p>
                  </a:txBody>
                  <a:tcPr marL="62299" marR="62299" marT="62299" marB="62299">
                    <a:lnL w="12700" cap="flat" cmpd="sng" algn="ctr">
                      <a:solidFill>
                        <a:srgbClr val="B9B4A9"/>
                      </a:solidFill>
                      <a:prstDash val="solid"/>
                      <a:round/>
                      <a:headEnd type="none" w="med" len="med"/>
                      <a:tailEnd type="none" w="med" len="med"/>
                    </a:lnL>
                    <a:lnR w="12700" cap="flat" cmpd="sng" algn="ctr">
                      <a:solidFill>
                        <a:srgbClr val="B9B4A9"/>
                      </a:solidFill>
                      <a:prstDash val="solid"/>
                      <a:round/>
                      <a:headEnd type="none" w="med" len="med"/>
                      <a:tailEnd type="none" w="med" len="med"/>
                    </a:lnR>
                    <a:lnT w="12700" cap="flat" cmpd="sng" algn="ctr">
                      <a:solidFill>
                        <a:srgbClr val="161410"/>
                      </a:solidFill>
                      <a:prstDash val="solid"/>
                      <a:round/>
                      <a:headEnd type="none" w="med" len="med"/>
                      <a:tailEnd type="none" w="med" len="med"/>
                    </a:lnT>
                    <a:lnB w="12700" cap="flat" cmpd="sng" algn="ctr">
                      <a:solidFill>
                        <a:srgbClr val="B9B4A9"/>
                      </a:solidFill>
                      <a:prstDash val="solid"/>
                      <a:round/>
                      <a:headEnd type="none" w="med" len="med"/>
                      <a:tailEnd type="none" w="med" len="med"/>
                    </a:lnB>
                    <a:solidFill>
                      <a:srgbClr val="E8E1D3"/>
                    </a:solidFill>
                  </a:tcPr>
                </a:tc>
                <a:tc>
                  <a:txBody>
                    <a:bodyPr/>
                    <a:lstStyle/>
                    <a:p>
                      <a:pPr marL="0" indent="0">
                        <a:lnSpc>
                          <a:spcPts val="1962"/>
                        </a:lnSpc>
                        <a:buNone/>
                      </a:pPr>
                      <a:r>
                        <a:rPr lang="en-US" sz="1402" dirty="0">
                          <a:solidFill>
                            <a:srgbClr val="17140F"/>
                          </a:solidFill>
                          <a:latin typeface="Arial" pitchFamily="34" charset="0"/>
                          <a:ea typeface="Arial" pitchFamily="34" charset="-122"/>
                          <a:cs typeface="Arial" pitchFamily="34" charset="-120"/>
                        </a:rPr>
                        <a:t>440</a:t>
                      </a:r>
                      <a:endParaRPr lang="en-US" sz="1402" dirty="0">
                        <a:latin typeface="Arial" charset="0"/>
                        <a:ea typeface="Arial" charset="0"/>
                        <a:cs typeface="Arial" charset="0"/>
                      </a:endParaRPr>
                    </a:p>
                  </a:txBody>
                  <a:tcPr marL="62299" marR="62299" marT="62299" marB="62299">
                    <a:lnL w="12700" cap="flat" cmpd="sng" algn="ctr">
                      <a:solidFill>
                        <a:srgbClr val="B9B4A9"/>
                      </a:solidFill>
                      <a:prstDash val="solid"/>
                      <a:round/>
                      <a:headEnd type="none" w="med" len="med"/>
                      <a:tailEnd type="none" w="med" len="med"/>
                    </a:lnL>
                    <a:lnR w="12700" cap="flat" cmpd="sng" algn="ctr">
                      <a:solidFill>
                        <a:srgbClr val="B9B4A9"/>
                      </a:solidFill>
                      <a:prstDash val="solid"/>
                      <a:round/>
                      <a:headEnd type="none" w="med" len="med"/>
                      <a:tailEnd type="none" w="med" len="med"/>
                    </a:lnR>
                    <a:lnT w="12700" cap="flat" cmpd="sng" algn="ctr">
                      <a:solidFill>
                        <a:srgbClr val="161410"/>
                      </a:solidFill>
                      <a:prstDash val="solid"/>
                      <a:round/>
                      <a:headEnd type="none" w="med" len="med"/>
                      <a:tailEnd type="none" w="med" len="med"/>
                    </a:lnT>
                    <a:lnB w="12700" cap="flat" cmpd="sng" algn="ctr">
                      <a:solidFill>
                        <a:srgbClr val="B9B4A9"/>
                      </a:solidFill>
                      <a:prstDash val="solid"/>
                      <a:round/>
                      <a:headEnd type="none" w="med" len="med"/>
                      <a:tailEnd type="none" w="med" len="med"/>
                    </a:lnB>
                    <a:solidFill>
                      <a:srgbClr val="E8E1D3"/>
                    </a:solidFill>
                  </a:tcPr>
                </a:tc>
                <a:tc>
                  <a:txBody>
                    <a:bodyPr/>
                    <a:lstStyle/>
                    <a:p>
                      <a:pPr marL="0" indent="0">
                        <a:lnSpc>
                          <a:spcPts val="1962"/>
                        </a:lnSpc>
                        <a:buNone/>
                      </a:pPr>
                      <a:r>
                        <a:rPr lang="en-US" sz="1402" dirty="0">
                          <a:solidFill>
                            <a:srgbClr val="17140F"/>
                          </a:solidFill>
                          <a:latin typeface="Arial" pitchFamily="34" charset="0"/>
                          <a:ea typeface="Arial" pitchFamily="34" charset="-122"/>
                          <a:cs typeface="Arial" pitchFamily="34" charset="-120"/>
                        </a:rPr>
                        <a:t>₹957 — best</a:t>
                      </a:r>
                      <a:endParaRPr lang="en-US" sz="1402" dirty="0">
                        <a:latin typeface="Arial" charset="0"/>
                        <a:ea typeface="Arial" charset="0"/>
                        <a:cs typeface="Arial" charset="0"/>
                      </a:endParaRPr>
                    </a:p>
                  </a:txBody>
                  <a:tcPr marL="62299" marR="62299" marT="62299" marB="62299">
                    <a:lnL w="12700" cap="flat" cmpd="sng" algn="ctr">
                      <a:solidFill>
                        <a:srgbClr val="B9B4A9"/>
                      </a:solidFill>
                      <a:prstDash val="solid"/>
                      <a:round/>
                      <a:headEnd type="none" w="med" len="med"/>
                      <a:tailEnd type="none" w="med" len="med"/>
                    </a:lnL>
                    <a:lnR w="12700" cap="flat" cmpd="sng" algn="ctr">
                      <a:solidFill>
                        <a:srgbClr val="B9B4A9"/>
                      </a:solidFill>
                      <a:prstDash val="solid"/>
                      <a:round/>
                      <a:headEnd type="none" w="med" len="med"/>
                      <a:tailEnd type="none" w="med" len="med"/>
                    </a:lnR>
                    <a:lnT w="12700" cap="flat" cmpd="sng" algn="ctr">
                      <a:solidFill>
                        <a:srgbClr val="161410"/>
                      </a:solidFill>
                      <a:prstDash val="solid"/>
                      <a:round/>
                      <a:headEnd type="none" w="med" len="med"/>
                      <a:tailEnd type="none" w="med" len="med"/>
                    </a:lnT>
                    <a:lnB w="12700" cap="flat" cmpd="sng" algn="ctr">
                      <a:solidFill>
                        <a:srgbClr val="B9B4A9"/>
                      </a:solidFill>
                      <a:prstDash val="solid"/>
                      <a:round/>
                      <a:headEnd type="none" w="med" len="med"/>
                      <a:tailEnd type="none" w="med" len="med"/>
                    </a:lnB>
                    <a:solidFill>
                      <a:srgbClr val="E8E1D3"/>
                    </a:solidFill>
                  </a:tcPr>
                </a:tc>
                <a:extLst>
                  <a:ext uri="{0D108BD9-81ED-4DB2-BD59-A6C34878D82A}">
                    <a16:rowId xmlns:a16="http://schemas.microsoft.com/office/drawing/2014/main" val="10001"/>
                  </a:ext>
                </a:extLst>
              </a:tr>
              <a:tr h="383937">
                <a:tc>
                  <a:txBody>
                    <a:bodyPr/>
                    <a:lstStyle/>
                    <a:p>
                      <a:pPr marL="0" indent="0">
                        <a:lnSpc>
                          <a:spcPts val="1962"/>
                        </a:lnSpc>
                        <a:buNone/>
                      </a:pPr>
                      <a:r>
                        <a:rPr lang="en-US" sz="1402" dirty="0">
                          <a:solidFill>
                            <a:srgbClr val="17140F"/>
                          </a:solidFill>
                          <a:latin typeface="Arial" pitchFamily="34" charset="0"/>
                          <a:ea typeface="Arial" pitchFamily="34" charset="-122"/>
                          <a:cs typeface="Arial" pitchFamily="34" charset="-120"/>
                        </a:rPr>
                        <a:t>25–34</a:t>
                      </a:r>
                      <a:endParaRPr lang="en-US" sz="1402" dirty="0">
                        <a:latin typeface="Arial" charset="0"/>
                        <a:ea typeface="Arial" charset="0"/>
                        <a:cs typeface="Arial" charset="0"/>
                      </a:endParaRPr>
                    </a:p>
                  </a:txBody>
                  <a:tcPr marL="62299" marR="62299" marT="62299" marB="62299">
                    <a:lnL w="12700" cap="flat" cmpd="sng" algn="ctr">
                      <a:solidFill>
                        <a:srgbClr val="C5C2BB"/>
                      </a:solidFill>
                      <a:prstDash val="solid"/>
                      <a:round/>
                      <a:headEnd type="none" w="med" len="med"/>
                      <a:tailEnd type="none" w="med" len="med"/>
                    </a:lnL>
                    <a:lnR w="12700" cap="flat" cmpd="sng" algn="ctr">
                      <a:solidFill>
                        <a:srgbClr val="B9B4A9"/>
                      </a:solidFill>
                      <a:prstDash val="solid"/>
                      <a:round/>
                      <a:headEnd type="none" w="med" len="med"/>
                      <a:tailEnd type="none" w="med" len="med"/>
                    </a:lnR>
                    <a:lnT w="12700" cap="flat" cmpd="sng" algn="ctr">
                      <a:solidFill>
                        <a:srgbClr val="B9B4A9"/>
                      </a:solidFill>
                      <a:prstDash val="solid"/>
                      <a:round/>
                      <a:headEnd type="none" w="med" len="med"/>
                      <a:tailEnd type="none" w="med" len="med"/>
                    </a:lnT>
                    <a:lnB w="12700" cap="flat" cmpd="sng" algn="ctr">
                      <a:solidFill>
                        <a:srgbClr val="B9B4A9"/>
                      </a:solidFill>
                      <a:prstDash val="solid"/>
                      <a:round/>
                      <a:headEnd type="none" w="med" len="med"/>
                      <a:tailEnd type="none" w="med" len="med"/>
                    </a:lnB>
                    <a:solidFill>
                      <a:srgbClr val="E8E1D3"/>
                    </a:solidFill>
                  </a:tcPr>
                </a:tc>
                <a:tc>
                  <a:txBody>
                    <a:bodyPr/>
                    <a:lstStyle/>
                    <a:p>
                      <a:pPr marL="0" indent="0">
                        <a:lnSpc>
                          <a:spcPts val="1962"/>
                        </a:lnSpc>
                        <a:buNone/>
                      </a:pPr>
                      <a:r>
                        <a:rPr lang="en-US" sz="1402" dirty="0">
                          <a:solidFill>
                            <a:srgbClr val="17140F"/>
                          </a:solidFill>
                          <a:latin typeface="Arial" pitchFamily="34" charset="0"/>
                          <a:ea typeface="Arial" pitchFamily="34" charset="-122"/>
                          <a:cs typeface="Arial" pitchFamily="34" charset="-120"/>
                        </a:rPr>
                        <a:t>₹6,32,199</a:t>
                      </a:r>
                      <a:endParaRPr lang="en-US" sz="1402" dirty="0">
                        <a:latin typeface="Arial" charset="0"/>
                        <a:ea typeface="Arial" charset="0"/>
                        <a:cs typeface="Arial" charset="0"/>
                      </a:endParaRPr>
                    </a:p>
                  </a:txBody>
                  <a:tcPr marL="62299" marR="62299" marT="62299" marB="62299">
                    <a:lnL w="12700" cap="flat" cmpd="sng" algn="ctr">
                      <a:solidFill>
                        <a:srgbClr val="B9B4A9"/>
                      </a:solidFill>
                      <a:prstDash val="solid"/>
                      <a:round/>
                      <a:headEnd type="none" w="med" len="med"/>
                      <a:tailEnd type="none" w="med" len="med"/>
                    </a:lnL>
                    <a:lnR w="12700" cap="flat" cmpd="sng" algn="ctr">
                      <a:solidFill>
                        <a:srgbClr val="B9B4A9"/>
                      </a:solidFill>
                      <a:prstDash val="solid"/>
                      <a:round/>
                      <a:headEnd type="none" w="med" len="med"/>
                      <a:tailEnd type="none" w="med" len="med"/>
                    </a:lnR>
                    <a:lnT w="12700" cap="flat" cmpd="sng" algn="ctr">
                      <a:solidFill>
                        <a:srgbClr val="B9B4A9"/>
                      </a:solidFill>
                      <a:prstDash val="solid"/>
                      <a:round/>
                      <a:headEnd type="none" w="med" len="med"/>
                      <a:tailEnd type="none" w="med" len="med"/>
                    </a:lnT>
                    <a:lnB w="12700" cap="flat" cmpd="sng" algn="ctr">
                      <a:solidFill>
                        <a:srgbClr val="B9B4A9"/>
                      </a:solidFill>
                      <a:prstDash val="solid"/>
                      <a:round/>
                      <a:headEnd type="none" w="med" len="med"/>
                      <a:tailEnd type="none" w="med" len="med"/>
                    </a:lnB>
                    <a:solidFill>
                      <a:srgbClr val="E8E1D3"/>
                    </a:solidFill>
                  </a:tcPr>
                </a:tc>
                <a:tc>
                  <a:txBody>
                    <a:bodyPr/>
                    <a:lstStyle/>
                    <a:p>
                      <a:pPr marL="0" indent="0">
                        <a:lnSpc>
                          <a:spcPts val="1962"/>
                        </a:lnSpc>
                        <a:buNone/>
                      </a:pPr>
                      <a:r>
                        <a:rPr lang="en-US" sz="1402" dirty="0">
                          <a:solidFill>
                            <a:srgbClr val="17140F"/>
                          </a:solidFill>
                          <a:latin typeface="Arial" pitchFamily="34" charset="0"/>
                          <a:ea typeface="Arial" pitchFamily="34" charset="-122"/>
                          <a:cs typeface="Arial" pitchFamily="34" charset="-120"/>
                        </a:rPr>
                        <a:t>42.3%</a:t>
                      </a:r>
                      <a:endParaRPr lang="en-US" sz="1402" dirty="0">
                        <a:latin typeface="Arial" charset="0"/>
                        <a:ea typeface="Arial" charset="0"/>
                        <a:cs typeface="Arial" charset="0"/>
                      </a:endParaRPr>
                    </a:p>
                  </a:txBody>
                  <a:tcPr marL="62299" marR="62299" marT="62299" marB="62299">
                    <a:lnL w="12700" cap="flat" cmpd="sng" algn="ctr">
                      <a:solidFill>
                        <a:srgbClr val="B9B4A9"/>
                      </a:solidFill>
                      <a:prstDash val="solid"/>
                      <a:round/>
                      <a:headEnd type="none" w="med" len="med"/>
                      <a:tailEnd type="none" w="med" len="med"/>
                    </a:lnL>
                    <a:lnR w="12700" cap="flat" cmpd="sng" algn="ctr">
                      <a:solidFill>
                        <a:srgbClr val="B9B4A9"/>
                      </a:solidFill>
                      <a:prstDash val="solid"/>
                      <a:round/>
                      <a:headEnd type="none" w="med" len="med"/>
                      <a:tailEnd type="none" w="med" len="med"/>
                    </a:lnR>
                    <a:lnT w="12700" cap="flat" cmpd="sng" algn="ctr">
                      <a:solidFill>
                        <a:srgbClr val="B9B4A9"/>
                      </a:solidFill>
                      <a:prstDash val="solid"/>
                      <a:round/>
                      <a:headEnd type="none" w="med" len="med"/>
                      <a:tailEnd type="none" w="med" len="med"/>
                    </a:lnT>
                    <a:lnB w="12700" cap="flat" cmpd="sng" algn="ctr">
                      <a:solidFill>
                        <a:srgbClr val="B9B4A9"/>
                      </a:solidFill>
                      <a:prstDash val="solid"/>
                      <a:round/>
                      <a:headEnd type="none" w="med" len="med"/>
                      <a:tailEnd type="none" w="med" len="med"/>
                    </a:lnB>
                    <a:solidFill>
                      <a:srgbClr val="E8E1D3"/>
                    </a:solidFill>
                  </a:tcPr>
                </a:tc>
                <a:tc>
                  <a:txBody>
                    <a:bodyPr/>
                    <a:lstStyle/>
                    <a:p>
                      <a:pPr marL="0" indent="0">
                        <a:lnSpc>
                          <a:spcPts val="1962"/>
                        </a:lnSpc>
                        <a:buNone/>
                      </a:pPr>
                      <a:r>
                        <a:rPr lang="en-US" sz="1402" dirty="0">
                          <a:solidFill>
                            <a:srgbClr val="17140F"/>
                          </a:solidFill>
                          <a:latin typeface="Arial" pitchFamily="34" charset="0"/>
                          <a:ea typeface="Arial" pitchFamily="34" charset="-122"/>
                          <a:cs typeface="Arial" pitchFamily="34" charset="-120"/>
                        </a:rPr>
                        <a:t>561</a:t>
                      </a:r>
                      <a:endParaRPr lang="en-US" sz="1402" dirty="0">
                        <a:latin typeface="Arial" charset="0"/>
                        <a:ea typeface="Arial" charset="0"/>
                        <a:cs typeface="Arial" charset="0"/>
                      </a:endParaRPr>
                    </a:p>
                  </a:txBody>
                  <a:tcPr marL="62299" marR="62299" marT="62299" marB="62299">
                    <a:lnL w="12700" cap="flat" cmpd="sng" algn="ctr">
                      <a:solidFill>
                        <a:srgbClr val="B9B4A9"/>
                      </a:solidFill>
                      <a:prstDash val="solid"/>
                      <a:round/>
                      <a:headEnd type="none" w="med" len="med"/>
                      <a:tailEnd type="none" w="med" len="med"/>
                    </a:lnL>
                    <a:lnR w="12700" cap="flat" cmpd="sng" algn="ctr">
                      <a:solidFill>
                        <a:srgbClr val="B9B4A9"/>
                      </a:solidFill>
                      <a:prstDash val="solid"/>
                      <a:round/>
                      <a:headEnd type="none" w="med" len="med"/>
                      <a:tailEnd type="none" w="med" len="med"/>
                    </a:lnR>
                    <a:lnT w="12700" cap="flat" cmpd="sng" algn="ctr">
                      <a:solidFill>
                        <a:srgbClr val="B9B4A9"/>
                      </a:solidFill>
                      <a:prstDash val="solid"/>
                      <a:round/>
                      <a:headEnd type="none" w="med" len="med"/>
                      <a:tailEnd type="none" w="med" len="med"/>
                    </a:lnT>
                    <a:lnB w="12700" cap="flat" cmpd="sng" algn="ctr">
                      <a:solidFill>
                        <a:srgbClr val="B9B4A9"/>
                      </a:solidFill>
                      <a:prstDash val="solid"/>
                      <a:round/>
                      <a:headEnd type="none" w="med" len="med"/>
                      <a:tailEnd type="none" w="med" len="med"/>
                    </a:lnB>
                    <a:solidFill>
                      <a:srgbClr val="E8E1D3"/>
                    </a:solidFill>
                  </a:tcPr>
                </a:tc>
                <a:tc>
                  <a:txBody>
                    <a:bodyPr/>
                    <a:lstStyle/>
                    <a:p>
                      <a:pPr marL="0" indent="0">
                        <a:lnSpc>
                          <a:spcPts val="1962"/>
                        </a:lnSpc>
                        <a:buNone/>
                      </a:pPr>
                      <a:r>
                        <a:rPr lang="en-US" sz="1402" dirty="0">
                          <a:solidFill>
                            <a:srgbClr val="17140F"/>
                          </a:solidFill>
                          <a:latin typeface="Arial" pitchFamily="34" charset="0"/>
                          <a:ea typeface="Arial" pitchFamily="34" charset="-122"/>
                          <a:cs typeface="Arial" pitchFamily="34" charset="-120"/>
                        </a:rPr>
                        <a:t>₹1,127</a:t>
                      </a:r>
                      <a:endParaRPr lang="en-US" sz="1402" dirty="0">
                        <a:latin typeface="Arial" charset="0"/>
                        <a:ea typeface="Arial" charset="0"/>
                        <a:cs typeface="Arial" charset="0"/>
                      </a:endParaRPr>
                    </a:p>
                  </a:txBody>
                  <a:tcPr marL="62299" marR="62299" marT="62299" marB="62299">
                    <a:lnL w="12700" cap="flat" cmpd="sng" algn="ctr">
                      <a:solidFill>
                        <a:srgbClr val="B9B4A9"/>
                      </a:solidFill>
                      <a:prstDash val="solid"/>
                      <a:round/>
                      <a:headEnd type="none" w="med" len="med"/>
                      <a:tailEnd type="none" w="med" len="med"/>
                    </a:lnL>
                    <a:lnR w="12700" cap="flat" cmpd="sng" algn="ctr">
                      <a:solidFill>
                        <a:srgbClr val="B9B4A9"/>
                      </a:solidFill>
                      <a:prstDash val="solid"/>
                      <a:round/>
                      <a:headEnd type="none" w="med" len="med"/>
                      <a:tailEnd type="none" w="med" len="med"/>
                    </a:lnR>
                    <a:lnT w="12700" cap="flat" cmpd="sng" algn="ctr">
                      <a:solidFill>
                        <a:srgbClr val="B9B4A9"/>
                      </a:solidFill>
                      <a:prstDash val="solid"/>
                      <a:round/>
                      <a:headEnd type="none" w="med" len="med"/>
                      <a:tailEnd type="none" w="med" len="med"/>
                    </a:lnT>
                    <a:lnB w="12700" cap="flat" cmpd="sng" algn="ctr">
                      <a:solidFill>
                        <a:srgbClr val="B9B4A9"/>
                      </a:solidFill>
                      <a:prstDash val="solid"/>
                      <a:round/>
                      <a:headEnd type="none" w="med" len="med"/>
                      <a:tailEnd type="none" w="med" len="med"/>
                    </a:lnB>
                    <a:solidFill>
                      <a:srgbClr val="E8E1D3"/>
                    </a:solidFill>
                  </a:tcPr>
                </a:tc>
                <a:extLst>
                  <a:ext uri="{0D108BD9-81ED-4DB2-BD59-A6C34878D82A}">
                    <a16:rowId xmlns:a16="http://schemas.microsoft.com/office/drawing/2014/main" val="10002"/>
                  </a:ext>
                </a:extLst>
              </a:tr>
              <a:tr h="383937">
                <a:tc>
                  <a:txBody>
                    <a:bodyPr/>
                    <a:lstStyle/>
                    <a:p>
                      <a:pPr marL="0" indent="0">
                        <a:lnSpc>
                          <a:spcPts val="1962"/>
                        </a:lnSpc>
                        <a:buNone/>
                      </a:pPr>
                      <a:r>
                        <a:rPr lang="en-US" sz="1402" dirty="0">
                          <a:solidFill>
                            <a:srgbClr val="17140F"/>
                          </a:solidFill>
                          <a:latin typeface="Arial" pitchFamily="34" charset="0"/>
                          <a:ea typeface="Arial" pitchFamily="34" charset="-122"/>
                          <a:cs typeface="Arial" pitchFamily="34" charset="-120"/>
                        </a:rPr>
                        <a:t>45–54</a:t>
                      </a:r>
                      <a:endParaRPr lang="en-US" sz="1402" dirty="0">
                        <a:latin typeface="Arial" charset="0"/>
                        <a:ea typeface="Arial" charset="0"/>
                        <a:cs typeface="Arial" charset="0"/>
                      </a:endParaRPr>
                    </a:p>
                  </a:txBody>
                  <a:tcPr marL="62299" marR="62299" marT="62299" marB="62299">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B9B4A9"/>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962"/>
                        </a:lnSpc>
                        <a:buNone/>
                      </a:pPr>
                      <a:r>
                        <a:rPr lang="en-US" sz="1402" dirty="0">
                          <a:solidFill>
                            <a:srgbClr val="17140F"/>
                          </a:solidFill>
                          <a:latin typeface="Arial" pitchFamily="34" charset="0"/>
                          <a:ea typeface="Arial" pitchFamily="34" charset="-122"/>
                          <a:cs typeface="Arial" pitchFamily="34" charset="-120"/>
                        </a:rPr>
                        <a:t>₹1,46,045</a:t>
                      </a:r>
                      <a:endParaRPr lang="en-US" sz="1402" dirty="0">
                        <a:latin typeface="Arial" charset="0"/>
                        <a:ea typeface="Arial" charset="0"/>
                        <a:cs typeface="Arial" charset="0"/>
                      </a:endParaRPr>
                    </a:p>
                  </a:txBody>
                  <a:tcPr marL="62299" marR="62299" marT="62299" marB="62299">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B9B4A9"/>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962"/>
                        </a:lnSpc>
                        <a:buNone/>
                      </a:pPr>
                      <a:r>
                        <a:rPr lang="en-US" sz="1402" dirty="0">
                          <a:solidFill>
                            <a:srgbClr val="17140F"/>
                          </a:solidFill>
                          <a:latin typeface="Arial" pitchFamily="34" charset="0"/>
                          <a:ea typeface="Arial" pitchFamily="34" charset="-122"/>
                          <a:cs typeface="Arial" pitchFamily="34" charset="-120"/>
                        </a:rPr>
                        <a:t>9.8%</a:t>
                      </a:r>
                      <a:endParaRPr lang="en-US" sz="1402" dirty="0">
                        <a:latin typeface="Arial" charset="0"/>
                        <a:ea typeface="Arial" charset="0"/>
                        <a:cs typeface="Arial" charset="0"/>
                      </a:endParaRPr>
                    </a:p>
                  </a:txBody>
                  <a:tcPr marL="62299" marR="62299" marT="62299" marB="62299">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B9B4A9"/>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962"/>
                        </a:lnSpc>
                        <a:buNone/>
                      </a:pPr>
                      <a:r>
                        <a:rPr lang="en-US" sz="1402" dirty="0">
                          <a:solidFill>
                            <a:srgbClr val="17140F"/>
                          </a:solidFill>
                          <a:latin typeface="Arial" pitchFamily="34" charset="0"/>
                          <a:ea typeface="Arial" pitchFamily="34" charset="-122"/>
                          <a:cs typeface="Arial" pitchFamily="34" charset="-120"/>
                        </a:rPr>
                        <a:t>126</a:t>
                      </a:r>
                      <a:endParaRPr lang="en-US" sz="1402" dirty="0">
                        <a:latin typeface="Arial" charset="0"/>
                        <a:ea typeface="Arial" charset="0"/>
                        <a:cs typeface="Arial" charset="0"/>
                      </a:endParaRPr>
                    </a:p>
                  </a:txBody>
                  <a:tcPr marL="62299" marR="62299" marT="62299" marB="62299">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B9B4A9"/>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962"/>
                        </a:lnSpc>
                        <a:buNone/>
                      </a:pPr>
                      <a:r>
                        <a:rPr lang="en-US" sz="1402" dirty="0">
                          <a:solidFill>
                            <a:srgbClr val="17140F"/>
                          </a:solidFill>
                          <a:latin typeface="Arial" pitchFamily="34" charset="0"/>
                          <a:ea typeface="Arial" pitchFamily="34" charset="-122"/>
                          <a:cs typeface="Arial" pitchFamily="34" charset="-120"/>
                        </a:rPr>
                        <a:t>₹1,159</a:t>
                      </a:r>
                      <a:endParaRPr lang="en-US" sz="1402" dirty="0">
                        <a:latin typeface="Arial" charset="0"/>
                        <a:ea typeface="Arial" charset="0"/>
                        <a:cs typeface="Arial" charset="0"/>
                      </a:endParaRPr>
                    </a:p>
                  </a:txBody>
                  <a:tcPr marL="62299" marR="62299" marT="62299" marB="62299">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B9B4A9"/>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extLst>
                  <a:ext uri="{0D108BD9-81ED-4DB2-BD59-A6C34878D82A}">
                    <a16:rowId xmlns:a16="http://schemas.microsoft.com/office/drawing/2014/main" val="10003"/>
                  </a:ext>
                </a:extLst>
              </a:tr>
              <a:tr h="384016">
                <a:tc>
                  <a:txBody>
                    <a:bodyPr/>
                    <a:lstStyle/>
                    <a:p>
                      <a:pPr marL="0" indent="0">
                        <a:lnSpc>
                          <a:spcPts val="1962"/>
                        </a:lnSpc>
                        <a:buNone/>
                      </a:pPr>
                      <a:r>
                        <a:rPr lang="en-US" sz="1402" dirty="0">
                          <a:solidFill>
                            <a:srgbClr val="17140F"/>
                          </a:solidFill>
                          <a:latin typeface="Arial" pitchFamily="34" charset="0"/>
                          <a:ea typeface="Arial" pitchFamily="34" charset="-122"/>
                          <a:cs typeface="Arial" pitchFamily="34" charset="-120"/>
                        </a:rPr>
                        <a:t>18–24</a:t>
                      </a:r>
                      <a:endParaRPr lang="en-US" sz="1402" dirty="0">
                        <a:latin typeface="Arial" charset="0"/>
                        <a:ea typeface="Arial" charset="0"/>
                        <a:cs typeface="Arial" charset="0"/>
                      </a:endParaRPr>
                    </a:p>
                  </a:txBody>
                  <a:tcPr marL="62299" marR="62299" marT="62299" marB="62299">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962"/>
                        </a:lnSpc>
                        <a:buNone/>
                      </a:pPr>
                      <a:r>
                        <a:rPr lang="en-US" sz="1402" dirty="0">
                          <a:solidFill>
                            <a:srgbClr val="17140F"/>
                          </a:solidFill>
                          <a:latin typeface="Arial" pitchFamily="34" charset="0"/>
                          <a:ea typeface="Arial" pitchFamily="34" charset="-122"/>
                          <a:cs typeface="Arial" pitchFamily="34" charset="-120"/>
                        </a:rPr>
                        <a:t>₹2,28,355</a:t>
                      </a:r>
                      <a:endParaRPr lang="en-US" sz="1402" dirty="0">
                        <a:latin typeface="Arial" charset="0"/>
                        <a:ea typeface="Arial" charset="0"/>
                        <a:cs typeface="Arial" charset="0"/>
                      </a:endParaRPr>
                    </a:p>
                  </a:txBody>
                  <a:tcPr marL="62299" marR="62299" marT="62299" marB="62299">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962"/>
                        </a:lnSpc>
                        <a:buNone/>
                      </a:pPr>
                      <a:r>
                        <a:rPr lang="en-US" sz="1402" dirty="0">
                          <a:solidFill>
                            <a:srgbClr val="17140F"/>
                          </a:solidFill>
                          <a:latin typeface="Arial" pitchFamily="34" charset="0"/>
                          <a:ea typeface="Arial" pitchFamily="34" charset="-122"/>
                          <a:cs typeface="Arial" pitchFamily="34" charset="-120"/>
                        </a:rPr>
                        <a:t>15.3%</a:t>
                      </a:r>
                      <a:endParaRPr lang="en-US" sz="1402" dirty="0">
                        <a:latin typeface="Arial" charset="0"/>
                        <a:ea typeface="Arial" charset="0"/>
                        <a:cs typeface="Arial" charset="0"/>
                      </a:endParaRPr>
                    </a:p>
                  </a:txBody>
                  <a:tcPr marL="62299" marR="62299" marT="62299" marB="62299">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962"/>
                        </a:lnSpc>
                        <a:buNone/>
                      </a:pPr>
                      <a:r>
                        <a:rPr lang="en-US" sz="1402" dirty="0">
                          <a:solidFill>
                            <a:srgbClr val="17140F"/>
                          </a:solidFill>
                          <a:latin typeface="Arial" pitchFamily="34" charset="0"/>
                          <a:ea typeface="Arial" pitchFamily="34" charset="-122"/>
                          <a:cs typeface="Arial" pitchFamily="34" charset="-120"/>
                        </a:rPr>
                        <a:t>123</a:t>
                      </a:r>
                      <a:endParaRPr lang="en-US" sz="1402" dirty="0">
                        <a:latin typeface="Arial" charset="0"/>
                        <a:ea typeface="Arial" charset="0"/>
                        <a:cs typeface="Arial" charset="0"/>
                      </a:endParaRPr>
                    </a:p>
                  </a:txBody>
                  <a:tcPr marL="62299" marR="62299" marT="62299" marB="62299">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962"/>
                        </a:lnSpc>
                        <a:buNone/>
                      </a:pPr>
                      <a:r>
                        <a:rPr lang="en-US" sz="1402" dirty="0">
                          <a:solidFill>
                            <a:srgbClr val="17140F"/>
                          </a:solidFill>
                          <a:latin typeface="Arial" pitchFamily="34" charset="0"/>
                          <a:ea typeface="Arial" pitchFamily="34" charset="-122"/>
                          <a:cs typeface="Arial" pitchFamily="34" charset="-120"/>
                        </a:rPr>
                        <a:t>₹1,857</a:t>
                      </a:r>
                      <a:endParaRPr lang="en-US" sz="1402" dirty="0">
                        <a:latin typeface="Arial" charset="0"/>
                        <a:ea typeface="Arial" charset="0"/>
                        <a:cs typeface="Arial" charset="0"/>
                      </a:endParaRPr>
                    </a:p>
                  </a:txBody>
                  <a:tcPr marL="62299" marR="62299" marT="62299" marB="62299">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extLst>
                  <a:ext uri="{0D108BD9-81ED-4DB2-BD59-A6C34878D82A}">
                    <a16:rowId xmlns:a16="http://schemas.microsoft.com/office/drawing/2014/main" val="10004"/>
                  </a:ext>
                </a:extLst>
              </a:tr>
              <a:tr h="384016">
                <a:tc>
                  <a:txBody>
                    <a:bodyPr/>
                    <a:lstStyle/>
                    <a:p>
                      <a:pPr marL="0" indent="0">
                        <a:lnSpc>
                          <a:spcPts val="1962"/>
                        </a:lnSpc>
                        <a:buNone/>
                      </a:pPr>
                      <a:r>
                        <a:rPr lang="en-US" sz="1402" dirty="0">
                          <a:solidFill>
                            <a:srgbClr val="17140F"/>
                          </a:solidFill>
                          <a:latin typeface="Arial" pitchFamily="34" charset="0"/>
                          <a:ea typeface="Arial" pitchFamily="34" charset="-122"/>
                          <a:cs typeface="Arial" pitchFamily="34" charset="-120"/>
                        </a:rPr>
                        <a:t>55–64</a:t>
                      </a:r>
                      <a:endParaRPr lang="en-US" sz="1402" dirty="0">
                        <a:latin typeface="Arial" charset="0"/>
                        <a:ea typeface="Arial" charset="0"/>
                        <a:cs typeface="Arial" charset="0"/>
                      </a:endParaRPr>
                    </a:p>
                  </a:txBody>
                  <a:tcPr marL="62299" marR="62299" marT="62299" marB="62299">
                    <a:lnL w="12700" cap="flat" cmpd="sng" algn="ctr">
                      <a:solidFill>
                        <a:srgbClr val="C5C2BB"/>
                      </a:solidFill>
                      <a:prstDash val="solid"/>
                      <a:round/>
                      <a:headEnd type="none" w="med" len="med"/>
                      <a:tailEnd type="none" w="med" len="med"/>
                    </a:lnL>
                    <a:lnR w="12700" cap="flat" cmpd="sng" algn="ctr">
                      <a:solidFill>
                        <a:srgbClr val="C0AEA6"/>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0AEA6"/>
                      </a:solidFill>
                      <a:prstDash val="solid"/>
                      <a:round/>
                      <a:headEnd type="none" w="med" len="med"/>
                      <a:tailEnd type="none" w="med" len="med"/>
                    </a:lnB>
                    <a:solidFill>
                      <a:srgbClr val="F0D9CF"/>
                    </a:solidFill>
                  </a:tcPr>
                </a:tc>
                <a:tc>
                  <a:txBody>
                    <a:bodyPr/>
                    <a:lstStyle/>
                    <a:p>
                      <a:pPr marL="0" indent="0">
                        <a:lnSpc>
                          <a:spcPts val="1962"/>
                        </a:lnSpc>
                        <a:buNone/>
                      </a:pPr>
                      <a:r>
                        <a:rPr lang="en-US" sz="1402" dirty="0">
                          <a:solidFill>
                            <a:srgbClr val="17140F"/>
                          </a:solidFill>
                          <a:latin typeface="Arial" pitchFamily="34" charset="0"/>
                          <a:ea typeface="Arial" pitchFamily="34" charset="-122"/>
                          <a:cs typeface="Arial" pitchFamily="34" charset="-120"/>
                        </a:rPr>
                        <a:t>₹41,432</a:t>
                      </a:r>
                      <a:endParaRPr lang="en-US" sz="1402" dirty="0">
                        <a:latin typeface="Arial" charset="0"/>
                        <a:ea typeface="Arial" charset="0"/>
                        <a:cs typeface="Arial" charset="0"/>
                      </a:endParaRPr>
                    </a:p>
                  </a:txBody>
                  <a:tcPr marL="62299" marR="62299" marT="62299" marB="62299">
                    <a:lnL w="12700" cap="flat" cmpd="sng" algn="ctr">
                      <a:solidFill>
                        <a:srgbClr val="C0AEA6"/>
                      </a:solidFill>
                      <a:prstDash val="solid"/>
                      <a:round/>
                      <a:headEnd type="none" w="med" len="med"/>
                      <a:tailEnd type="none" w="med" len="med"/>
                    </a:lnL>
                    <a:lnR w="12700" cap="flat" cmpd="sng" algn="ctr">
                      <a:solidFill>
                        <a:srgbClr val="C0AEA6"/>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0AEA6"/>
                      </a:solidFill>
                      <a:prstDash val="solid"/>
                      <a:round/>
                      <a:headEnd type="none" w="med" len="med"/>
                      <a:tailEnd type="none" w="med" len="med"/>
                    </a:lnB>
                    <a:solidFill>
                      <a:srgbClr val="F0D9CF"/>
                    </a:solidFill>
                  </a:tcPr>
                </a:tc>
                <a:tc>
                  <a:txBody>
                    <a:bodyPr/>
                    <a:lstStyle/>
                    <a:p>
                      <a:pPr marL="0" indent="0">
                        <a:lnSpc>
                          <a:spcPts val="1962"/>
                        </a:lnSpc>
                        <a:buNone/>
                      </a:pPr>
                      <a:r>
                        <a:rPr lang="en-US" sz="1402" dirty="0">
                          <a:solidFill>
                            <a:srgbClr val="17140F"/>
                          </a:solidFill>
                          <a:latin typeface="Arial" pitchFamily="34" charset="0"/>
                          <a:ea typeface="Arial" pitchFamily="34" charset="-122"/>
                          <a:cs typeface="Arial" pitchFamily="34" charset="-120"/>
                        </a:rPr>
                        <a:t>2.8%</a:t>
                      </a:r>
                      <a:endParaRPr lang="en-US" sz="1402" dirty="0">
                        <a:latin typeface="Arial" charset="0"/>
                        <a:ea typeface="Arial" charset="0"/>
                        <a:cs typeface="Arial" charset="0"/>
                      </a:endParaRPr>
                    </a:p>
                  </a:txBody>
                  <a:tcPr marL="62299" marR="62299" marT="62299" marB="62299">
                    <a:lnL w="12700" cap="flat" cmpd="sng" algn="ctr">
                      <a:solidFill>
                        <a:srgbClr val="C0AEA6"/>
                      </a:solidFill>
                      <a:prstDash val="solid"/>
                      <a:round/>
                      <a:headEnd type="none" w="med" len="med"/>
                      <a:tailEnd type="none" w="med" len="med"/>
                    </a:lnL>
                    <a:lnR w="12700" cap="flat" cmpd="sng" algn="ctr">
                      <a:solidFill>
                        <a:srgbClr val="C0AEA6"/>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0AEA6"/>
                      </a:solidFill>
                      <a:prstDash val="solid"/>
                      <a:round/>
                      <a:headEnd type="none" w="med" len="med"/>
                      <a:tailEnd type="none" w="med" len="med"/>
                    </a:lnB>
                    <a:solidFill>
                      <a:srgbClr val="F0D9CF"/>
                    </a:solidFill>
                  </a:tcPr>
                </a:tc>
                <a:tc>
                  <a:txBody>
                    <a:bodyPr/>
                    <a:lstStyle/>
                    <a:p>
                      <a:pPr marL="0" indent="0">
                        <a:lnSpc>
                          <a:spcPts val="1962"/>
                        </a:lnSpc>
                        <a:buNone/>
                      </a:pPr>
                      <a:r>
                        <a:rPr lang="en-US" sz="1402" dirty="0">
                          <a:solidFill>
                            <a:srgbClr val="17140F"/>
                          </a:solidFill>
                          <a:latin typeface="Arial" pitchFamily="34" charset="0"/>
                          <a:ea typeface="Arial" pitchFamily="34" charset="-122"/>
                          <a:cs typeface="Arial" pitchFamily="34" charset="-120"/>
                        </a:rPr>
                        <a:t>8</a:t>
                      </a:r>
                      <a:endParaRPr lang="en-US" sz="1402" dirty="0">
                        <a:latin typeface="Arial" charset="0"/>
                        <a:ea typeface="Arial" charset="0"/>
                        <a:cs typeface="Arial" charset="0"/>
                      </a:endParaRPr>
                    </a:p>
                  </a:txBody>
                  <a:tcPr marL="62299" marR="62299" marT="62299" marB="62299">
                    <a:lnL w="12700" cap="flat" cmpd="sng" algn="ctr">
                      <a:solidFill>
                        <a:srgbClr val="C0AEA6"/>
                      </a:solidFill>
                      <a:prstDash val="solid"/>
                      <a:round/>
                      <a:headEnd type="none" w="med" len="med"/>
                      <a:tailEnd type="none" w="med" len="med"/>
                    </a:lnL>
                    <a:lnR w="12700" cap="flat" cmpd="sng" algn="ctr">
                      <a:solidFill>
                        <a:srgbClr val="C0AEA6"/>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0AEA6"/>
                      </a:solidFill>
                      <a:prstDash val="solid"/>
                      <a:round/>
                      <a:headEnd type="none" w="med" len="med"/>
                      <a:tailEnd type="none" w="med" len="med"/>
                    </a:lnB>
                    <a:solidFill>
                      <a:srgbClr val="F0D9CF"/>
                    </a:solidFill>
                  </a:tcPr>
                </a:tc>
                <a:tc>
                  <a:txBody>
                    <a:bodyPr/>
                    <a:lstStyle/>
                    <a:p>
                      <a:pPr marL="0" indent="0">
                        <a:lnSpc>
                          <a:spcPts val="1962"/>
                        </a:lnSpc>
                        <a:buNone/>
                      </a:pPr>
                      <a:r>
                        <a:rPr lang="en-US" sz="1402" dirty="0">
                          <a:solidFill>
                            <a:srgbClr val="B54A28"/>
                          </a:solidFill>
                          <a:latin typeface="Arial" pitchFamily="34" charset="0"/>
                          <a:ea typeface="Arial" pitchFamily="34" charset="-122"/>
                          <a:cs typeface="Arial" pitchFamily="34" charset="-120"/>
                        </a:rPr>
                        <a:t>₹5,179</a:t>
                      </a:r>
                      <a:endParaRPr lang="en-US" sz="1402" dirty="0">
                        <a:latin typeface="Arial" charset="0"/>
                        <a:ea typeface="Arial" charset="0"/>
                        <a:cs typeface="Arial" charset="0"/>
                      </a:endParaRPr>
                    </a:p>
                  </a:txBody>
                  <a:tcPr marL="62299" marR="62299" marT="62299" marB="62299">
                    <a:lnL w="12700" cap="flat" cmpd="sng" algn="ctr">
                      <a:solidFill>
                        <a:srgbClr val="C0AEA6"/>
                      </a:solidFill>
                      <a:prstDash val="solid"/>
                      <a:round/>
                      <a:headEnd type="none" w="med" len="med"/>
                      <a:tailEnd type="none" w="med" len="med"/>
                    </a:lnL>
                    <a:lnR w="12700" cap="flat" cmpd="sng" algn="ctr">
                      <a:solidFill>
                        <a:srgbClr val="C0AEA6"/>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0AEA6"/>
                      </a:solidFill>
                      <a:prstDash val="solid"/>
                      <a:round/>
                      <a:headEnd type="none" w="med" len="med"/>
                      <a:tailEnd type="none" w="med" len="med"/>
                    </a:lnB>
                    <a:solidFill>
                      <a:srgbClr val="F0D9CF"/>
                    </a:solidFill>
                  </a:tcPr>
                </a:tc>
                <a:extLst>
                  <a:ext uri="{0D108BD9-81ED-4DB2-BD59-A6C34878D82A}">
                    <a16:rowId xmlns:a16="http://schemas.microsoft.com/office/drawing/2014/main" val="10005"/>
                  </a:ext>
                </a:extLst>
              </a:tr>
              <a:tr h="384016">
                <a:tc>
                  <a:txBody>
                    <a:bodyPr/>
                    <a:lstStyle/>
                    <a:p>
                      <a:pPr marL="0" indent="0">
                        <a:lnSpc>
                          <a:spcPts val="1962"/>
                        </a:lnSpc>
                        <a:buNone/>
                      </a:pPr>
                      <a:r>
                        <a:rPr lang="en-US" sz="1402" dirty="0">
                          <a:solidFill>
                            <a:srgbClr val="17140F"/>
                          </a:solidFill>
                          <a:latin typeface="Arial" pitchFamily="34" charset="0"/>
                          <a:ea typeface="Arial" pitchFamily="34" charset="-122"/>
                          <a:cs typeface="Arial" pitchFamily="34" charset="-120"/>
                        </a:rPr>
                        <a:t>65+</a:t>
                      </a:r>
                      <a:endParaRPr lang="en-US" sz="1402" dirty="0">
                        <a:latin typeface="Arial" charset="0"/>
                        <a:ea typeface="Arial" charset="0"/>
                        <a:cs typeface="Arial" charset="0"/>
                      </a:endParaRPr>
                    </a:p>
                  </a:txBody>
                  <a:tcPr marL="62299" marR="62299" marT="62299" marB="62299">
                    <a:lnL w="12700" cap="flat" cmpd="sng" algn="ctr">
                      <a:solidFill>
                        <a:srgbClr val="C5C2BB"/>
                      </a:solidFill>
                      <a:prstDash val="solid"/>
                      <a:round/>
                      <a:headEnd type="none" w="med" len="med"/>
                      <a:tailEnd type="none" w="med" len="med"/>
                    </a:lnL>
                    <a:lnR w="12700" cap="flat" cmpd="sng" algn="ctr">
                      <a:solidFill>
                        <a:srgbClr val="C0AEA6"/>
                      </a:solidFill>
                      <a:prstDash val="solid"/>
                      <a:round/>
                      <a:headEnd type="none" w="med" len="med"/>
                      <a:tailEnd type="none" w="med" len="med"/>
                    </a:lnR>
                    <a:lnT w="12700" cap="flat" cmpd="sng" algn="ctr">
                      <a:solidFill>
                        <a:srgbClr val="C0AEA6"/>
                      </a:solidFill>
                      <a:prstDash val="solid"/>
                      <a:round/>
                      <a:headEnd type="none" w="med" len="med"/>
                      <a:tailEnd type="none" w="med" len="med"/>
                    </a:lnT>
                    <a:lnB w="12700" cap="flat" cmpd="sng" algn="ctr">
                      <a:solidFill>
                        <a:srgbClr val="C0AEA6"/>
                      </a:solidFill>
                      <a:prstDash val="solid"/>
                      <a:round/>
                      <a:headEnd type="none" w="med" len="med"/>
                      <a:tailEnd type="none" w="med" len="med"/>
                    </a:lnB>
                    <a:solidFill>
                      <a:srgbClr val="F0D9CF"/>
                    </a:solidFill>
                  </a:tcPr>
                </a:tc>
                <a:tc>
                  <a:txBody>
                    <a:bodyPr/>
                    <a:lstStyle/>
                    <a:p>
                      <a:pPr marL="0" indent="0">
                        <a:lnSpc>
                          <a:spcPts val="1962"/>
                        </a:lnSpc>
                        <a:buNone/>
                      </a:pPr>
                      <a:r>
                        <a:rPr lang="en-US" sz="1402" dirty="0">
                          <a:solidFill>
                            <a:srgbClr val="17140F"/>
                          </a:solidFill>
                          <a:latin typeface="Arial" pitchFamily="34" charset="0"/>
                          <a:ea typeface="Arial" pitchFamily="34" charset="-122"/>
                          <a:cs typeface="Arial" pitchFamily="34" charset="-120"/>
                        </a:rPr>
                        <a:t>₹24,589</a:t>
                      </a:r>
                      <a:endParaRPr lang="en-US" sz="1402" dirty="0">
                        <a:latin typeface="Arial" charset="0"/>
                        <a:ea typeface="Arial" charset="0"/>
                        <a:cs typeface="Arial" charset="0"/>
                      </a:endParaRPr>
                    </a:p>
                  </a:txBody>
                  <a:tcPr marL="62299" marR="62299" marT="62299" marB="62299">
                    <a:lnL w="12700" cap="flat" cmpd="sng" algn="ctr">
                      <a:solidFill>
                        <a:srgbClr val="C0AEA6"/>
                      </a:solidFill>
                      <a:prstDash val="solid"/>
                      <a:round/>
                      <a:headEnd type="none" w="med" len="med"/>
                      <a:tailEnd type="none" w="med" len="med"/>
                    </a:lnL>
                    <a:lnR w="12700" cap="flat" cmpd="sng" algn="ctr">
                      <a:solidFill>
                        <a:srgbClr val="C0AEA6"/>
                      </a:solidFill>
                      <a:prstDash val="solid"/>
                      <a:round/>
                      <a:headEnd type="none" w="med" len="med"/>
                      <a:tailEnd type="none" w="med" len="med"/>
                    </a:lnR>
                    <a:lnT w="12700" cap="flat" cmpd="sng" algn="ctr">
                      <a:solidFill>
                        <a:srgbClr val="C0AEA6"/>
                      </a:solidFill>
                      <a:prstDash val="solid"/>
                      <a:round/>
                      <a:headEnd type="none" w="med" len="med"/>
                      <a:tailEnd type="none" w="med" len="med"/>
                    </a:lnT>
                    <a:lnB w="12700" cap="flat" cmpd="sng" algn="ctr">
                      <a:solidFill>
                        <a:srgbClr val="C0AEA6"/>
                      </a:solidFill>
                      <a:prstDash val="solid"/>
                      <a:round/>
                      <a:headEnd type="none" w="med" len="med"/>
                      <a:tailEnd type="none" w="med" len="med"/>
                    </a:lnB>
                    <a:solidFill>
                      <a:srgbClr val="F0D9CF"/>
                    </a:solidFill>
                  </a:tcPr>
                </a:tc>
                <a:tc>
                  <a:txBody>
                    <a:bodyPr/>
                    <a:lstStyle/>
                    <a:p>
                      <a:pPr marL="0" indent="0">
                        <a:lnSpc>
                          <a:spcPts val="1962"/>
                        </a:lnSpc>
                        <a:buNone/>
                      </a:pPr>
                      <a:r>
                        <a:rPr lang="en-US" sz="1402" dirty="0">
                          <a:solidFill>
                            <a:srgbClr val="17140F"/>
                          </a:solidFill>
                          <a:latin typeface="Arial" pitchFamily="34" charset="0"/>
                          <a:ea typeface="Arial" pitchFamily="34" charset="-122"/>
                          <a:cs typeface="Arial" pitchFamily="34" charset="-120"/>
                        </a:rPr>
                        <a:t>1.6%</a:t>
                      </a:r>
                      <a:endParaRPr lang="en-US" sz="1402" dirty="0">
                        <a:latin typeface="Arial" charset="0"/>
                        <a:ea typeface="Arial" charset="0"/>
                        <a:cs typeface="Arial" charset="0"/>
                      </a:endParaRPr>
                    </a:p>
                  </a:txBody>
                  <a:tcPr marL="62299" marR="62299" marT="62299" marB="62299">
                    <a:lnL w="12700" cap="flat" cmpd="sng" algn="ctr">
                      <a:solidFill>
                        <a:srgbClr val="C0AEA6"/>
                      </a:solidFill>
                      <a:prstDash val="solid"/>
                      <a:round/>
                      <a:headEnd type="none" w="med" len="med"/>
                      <a:tailEnd type="none" w="med" len="med"/>
                    </a:lnL>
                    <a:lnR w="12700" cap="flat" cmpd="sng" algn="ctr">
                      <a:solidFill>
                        <a:srgbClr val="C0AEA6"/>
                      </a:solidFill>
                      <a:prstDash val="solid"/>
                      <a:round/>
                      <a:headEnd type="none" w="med" len="med"/>
                      <a:tailEnd type="none" w="med" len="med"/>
                    </a:lnR>
                    <a:lnT w="12700" cap="flat" cmpd="sng" algn="ctr">
                      <a:solidFill>
                        <a:srgbClr val="C0AEA6"/>
                      </a:solidFill>
                      <a:prstDash val="solid"/>
                      <a:round/>
                      <a:headEnd type="none" w="med" len="med"/>
                      <a:tailEnd type="none" w="med" len="med"/>
                    </a:lnT>
                    <a:lnB w="12700" cap="flat" cmpd="sng" algn="ctr">
                      <a:solidFill>
                        <a:srgbClr val="C0AEA6"/>
                      </a:solidFill>
                      <a:prstDash val="solid"/>
                      <a:round/>
                      <a:headEnd type="none" w="med" len="med"/>
                      <a:tailEnd type="none" w="med" len="med"/>
                    </a:lnB>
                    <a:solidFill>
                      <a:srgbClr val="F0D9CF"/>
                    </a:solidFill>
                  </a:tcPr>
                </a:tc>
                <a:tc>
                  <a:txBody>
                    <a:bodyPr/>
                    <a:lstStyle/>
                    <a:p>
                      <a:pPr marL="0" indent="0">
                        <a:lnSpc>
                          <a:spcPts val="1962"/>
                        </a:lnSpc>
                        <a:buNone/>
                      </a:pPr>
                      <a:r>
                        <a:rPr lang="en-US" sz="1402" dirty="0">
                          <a:solidFill>
                            <a:srgbClr val="17140F"/>
                          </a:solidFill>
                          <a:latin typeface="Arial" pitchFamily="34" charset="0"/>
                          <a:ea typeface="Arial" pitchFamily="34" charset="-122"/>
                          <a:cs typeface="Arial" pitchFamily="34" charset="-120"/>
                        </a:rPr>
                        <a:t>1</a:t>
                      </a:r>
                      <a:endParaRPr lang="en-US" sz="1402" dirty="0">
                        <a:latin typeface="Arial" charset="0"/>
                        <a:ea typeface="Arial" charset="0"/>
                        <a:cs typeface="Arial" charset="0"/>
                      </a:endParaRPr>
                    </a:p>
                  </a:txBody>
                  <a:tcPr marL="62299" marR="62299" marT="62299" marB="62299">
                    <a:lnL w="12700" cap="flat" cmpd="sng" algn="ctr">
                      <a:solidFill>
                        <a:srgbClr val="C0AEA6"/>
                      </a:solidFill>
                      <a:prstDash val="solid"/>
                      <a:round/>
                      <a:headEnd type="none" w="med" len="med"/>
                      <a:tailEnd type="none" w="med" len="med"/>
                    </a:lnL>
                    <a:lnR w="12700" cap="flat" cmpd="sng" algn="ctr">
                      <a:solidFill>
                        <a:srgbClr val="C0AEA6"/>
                      </a:solidFill>
                      <a:prstDash val="solid"/>
                      <a:round/>
                      <a:headEnd type="none" w="med" len="med"/>
                      <a:tailEnd type="none" w="med" len="med"/>
                    </a:lnR>
                    <a:lnT w="12700" cap="flat" cmpd="sng" algn="ctr">
                      <a:solidFill>
                        <a:srgbClr val="C0AEA6"/>
                      </a:solidFill>
                      <a:prstDash val="solid"/>
                      <a:round/>
                      <a:headEnd type="none" w="med" len="med"/>
                      <a:tailEnd type="none" w="med" len="med"/>
                    </a:lnT>
                    <a:lnB w="12700" cap="flat" cmpd="sng" algn="ctr">
                      <a:solidFill>
                        <a:srgbClr val="C0AEA6"/>
                      </a:solidFill>
                      <a:prstDash val="solid"/>
                      <a:round/>
                      <a:headEnd type="none" w="med" len="med"/>
                      <a:tailEnd type="none" w="med" len="med"/>
                    </a:lnB>
                    <a:solidFill>
                      <a:srgbClr val="F0D9CF"/>
                    </a:solidFill>
                  </a:tcPr>
                </a:tc>
                <a:tc>
                  <a:txBody>
                    <a:bodyPr/>
                    <a:lstStyle/>
                    <a:p>
                      <a:pPr marL="0" indent="0">
                        <a:lnSpc>
                          <a:spcPts val="1962"/>
                        </a:lnSpc>
                        <a:buNone/>
                      </a:pPr>
                      <a:r>
                        <a:rPr lang="en-US" sz="1402" dirty="0">
                          <a:solidFill>
                            <a:srgbClr val="B54A28"/>
                          </a:solidFill>
                          <a:latin typeface="Arial" pitchFamily="34" charset="0"/>
                          <a:ea typeface="Arial" pitchFamily="34" charset="-122"/>
                          <a:cs typeface="Arial" pitchFamily="34" charset="-120"/>
                        </a:rPr>
                        <a:t>₹24,589</a:t>
                      </a:r>
                      <a:endParaRPr lang="en-US" sz="1402" dirty="0">
                        <a:latin typeface="Arial" charset="0"/>
                        <a:ea typeface="Arial" charset="0"/>
                        <a:cs typeface="Arial" charset="0"/>
                      </a:endParaRPr>
                    </a:p>
                  </a:txBody>
                  <a:tcPr marL="62299" marR="62299" marT="62299" marB="62299">
                    <a:lnL w="12700" cap="flat" cmpd="sng" algn="ctr">
                      <a:solidFill>
                        <a:srgbClr val="C0AEA6"/>
                      </a:solidFill>
                      <a:prstDash val="solid"/>
                      <a:round/>
                      <a:headEnd type="none" w="med" len="med"/>
                      <a:tailEnd type="none" w="med" len="med"/>
                    </a:lnL>
                    <a:lnR w="12700" cap="flat" cmpd="sng" algn="ctr">
                      <a:solidFill>
                        <a:srgbClr val="C0AEA6"/>
                      </a:solidFill>
                      <a:prstDash val="solid"/>
                      <a:round/>
                      <a:headEnd type="none" w="med" len="med"/>
                      <a:tailEnd type="none" w="med" len="med"/>
                    </a:lnR>
                    <a:lnT w="12700" cap="flat" cmpd="sng" algn="ctr">
                      <a:solidFill>
                        <a:srgbClr val="C0AEA6"/>
                      </a:solidFill>
                      <a:prstDash val="solid"/>
                      <a:round/>
                      <a:headEnd type="none" w="med" len="med"/>
                      <a:tailEnd type="none" w="med" len="med"/>
                    </a:lnT>
                    <a:lnB w="12700" cap="flat" cmpd="sng" algn="ctr">
                      <a:solidFill>
                        <a:srgbClr val="C0AEA6"/>
                      </a:solidFill>
                      <a:prstDash val="solid"/>
                      <a:round/>
                      <a:headEnd type="none" w="med" len="med"/>
                      <a:tailEnd type="none" w="med" len="med"/>
                    </a:lnB>
                    <a:solidFill>
                      <a:srgbClr val="F0D9CF"/>
                    </a:solidFill>
                  </a:tcPr>
                </a:tc>
                <a:extLst>
                  <a:ext uri="{0D108BD9-81ED-4DB2-BD59-A6C34878D82A}">
                    <a16:rowId xmlns:a16="http://schemas.microsoft.com/office/drawing/2014/main" val="10006"/>
                  </a:ext>
                </a:extLst>
              </a:tr>
            </a:tbl>
          </a:graphicData>
        </a:graphic>
      </p:graphicFrame>
      <p:sp>
        <p:nvSpPr>
          <p:cNvPr id="4" name="Text 1"/>
          <p:cNvSpPr/>
          <p:nvPr/>
        </p:nvSpPr>
        <p:spPr>
          <a:xfrm>
            <a:off x="812800" y="5066345"/>
            <a:ext cx="3488212" cy="801053"/>
          </a:xfrm>
          <a:prstGeom prst="rect">
            <a:avLst/>
          </a:prstGeom>
          <a:noFill/>
          <a:ln/>
        </p:spPr>
        <p:txBody>
          <a:bodyPr wrap="square" lIns="0" tIns="0" rIns="0" bIns="0" rtlCol="0" anchor="t">
            <a:normAutofit fontScale="77500" lnSpcReduction="20000"/>
          </a:bodyPr>
          <a:lstStyle/>
          <a:p>
            <a:pPr marL="0" indent="0" algn="l">
              <a:lnSpc>
                <a:spcPts val="2175"/>
              </a:lnSpc>
              <a:buNone/>
            </a:pPr>
            <a:r>
              <a:rPr lang="en-US" sz="1500" b="1" dirty="0">
                <a:solidFill>
                  <a:srgbClr val="5C5344"/>
                </a:solidFill>
                <a:latin typeface="Arial" pitchFamily="34" charset="0"/>
                <a:ea typeface="Arial" pitchFamily="34" charset="-122"/>
                <a:cs typeface="Arial" pitchFamily="34" charset="-120"/>
              </a:rPr>
              <a:t>55 and over</a:t>
            </a:r>
            <a:r>
              <a:rPr lang="en-US" sz="1500" dirty="0">
                <a:solidFill>
                  <a:srgbClr val="5C5344"/>
                </a:solidFill>
                <a:latin typeface="Arial" pitchFamily="34" charset="0"/>
                <a:ea typeface="Arial" pitchFamily="34" charset="-122"/>
                <a:cs typeface="Arial" pitchFamily="34" charset="-120"/>
              </a:rPr>
              <a:t> took 4.4% of the budget and produced 0.7% of the leads. ₹66,021 for nine leads.</a:t>
            </a:r>
            <a:endParaRPr lang="en-US" sz="1500" dirty="0"/>
          </a:p>
        </p:txBody>
      </p:sp>
      <p:sp>
        <p:nvSpPr>
          <p:cNvPr id="5" name="Text 2"/>
          <p:cNvSpPr/>
          <p:nvPr/>
        </p:nvSpPr>
        <p:spPr>
          <a:xfrm>
            <a:off x="4402614" y="5066345"/>
            <a:ext cx="3488294" cy="801053"/>
          </a:xfrm>
          <a:prstGeom prst="rect">
            <a:avLst/>
          </a:prstGeom>
          <a:noFill/>
          <a:ln/>
        </p:spPr>
        <p:txBody>
          <a:bodyPr wrap="square" lIns="0" tIns="0" rIns="0" bIns="0" rtlCol="0" anchor="t">
            <a:normAutofit fontScale="77500" lnSpcReduction="20000"/>
          </a:bodyPr>
          <a:lstStyle/>
          <a:p>
            <a:pPr marL="0" indent="0" algn="l">
              <a:lnSpc>
                <a:spcPts val="2175"/>
              </a:lnSpc>
              <a:buNone/>
            </a:pPr>
            <a:r>
              <a:rPr lang="en-US" sz="1500" b="1" dirty="0">
                <a:solidFill>
                  <a:srgbClr val="5C5344"/>
                </a:solidFill>
                <a:latin typeface="Arial" pitchFamily="34" charset="0"/>
                <a:ea typeface="Arial" pitchFamily="34" charset="-122"/>
                <a:cs typeface="Arial" pitchFamily="34" charset="-120"/>
              </a:rPr>
              <a:t>18–24</a:t>
            </a:r>
            <a:r>
              <a:rPr lang="en-US" sz="1500" dirty="0">
                <a:solidFill>
                  <a:srgbClr val="5C5344"/>
                </a:solidFill>
                <a:latin typeface="Arial" pitchFamily="34" charset="0"/>
                <a:ea typeface="Arial" pitchFamily="34" charset="-122"/>
                <a:cs typeface="Arial" pitchFamily="34" charset="-120"/>
              </a:rPr>
              <a:t> took 15.3% of the budget at the second-worst cost per lead. They browse, they do not book.</a:t>
            </a:r>
            <a:endParaRPr lang="en-US" sz="1500" dirty="0"/>
          </a:p>
        </p:txBody>
      </p:sp>
      <p:sp>
        <p:nvSpPr>
          <p:cNvPr id="6" name="Text 3"/>
          <p:cNvSpPr/>
          <p:nvPr/>
        </p:nvSpPr>
        <p:spPr>
          <a:xfrm>
            <a:off x="7992507" y="5066345"/>
            <a:ext cx="3488294" cy="801053"/>
          </a:xfrm>
          <a:prstGeom prst="rect">
            <a:avLst/>
          </a:prstGeom>
          <a:noFill/>
          <a:ln/>
        </p:spPr>
        <p:txBody>
          <a:bodyPr wrap="square" lIns="0" tIns="0" rIns="0" bIns="0" rtlCol="0" anchor="t">
            <a:normAutofit fontScale="77500" lnSpcReduction="20000"/>
          </a:bodyPr>
          <a:lstStyle/>
          <a:p>
            <a:pPr marL="0" indent="0" algn="l">
              <a:lnSpc>
                <a:spcPts val="2175"/>
              </a:lnSpc>
              <a:buNone/>
            </a:pPr>
            <a:r>
              <a:rPr lang="en-US" sz="1500" b="1" dirty="0">
                <a:solidFill>
                  <a:srgbClr val="5C5344"/>
                </a:solidFill>
                <a:latin typeface="Arial" pitchFamily="34" charset="0"/>
                <a:ea typeface="Arial" pitchFamily="34" charset="-122"/>
                <a:cs typeface="Arial" pitchFamily="34" charset="-120"/>
              </a:rPr>
              <a:t>25–44</a:t>
            </a:r>
            <a:r>
              <a:rPr lang="en-US" sz="1500" dirty="0">
                <a:solidFill>
                  <a:srgbClr val="5C5344"/>
                </a:solidFill>
                <a:latin typeface="Arial" pitchFamily="34" charset="0"/>
                <a:ea typeface="Arial" pitchFamily="34" charset="-122"/>
                <a:cs typeface="Arial" pitchFamily="34" charset="-120"/>
              </a:rPr>
              <a:t> is the business: 70.5% of spend, 79.5% of leads. Corporate video performs hardest here.</a:t>
            </a:r>
            <a:endParaRPr lang="en-US" sz="1500" dirty="0"/>
          </a:p>
        </p:txBody>
      </p:sp>
      <p:sp>
        <p:nvSpPr>
          <p:cNvPr id="7" name="Text 4"/>
          <p:cNvSpPr/>
          <p:nvPr/>
        </p:nvSpPr>
        <p:spPr>
          <a:xfrm>
            <a:off x="812800" y="6238242"/>
            <a:ext cx="502670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071"/>
                </a:solidFill>
                <a:latin typeface="Arial" pitchFamily="34" charset="0"/>
                <a:ea typeface="Arial" pitchFamily="34" charset="-122"/>
                <a:cs typeface="Arial" pitchFamily="34" charset="-120"/>
              </a:rPr>
              <a:t>Source: Meta Ads Manager, age breakdown, 1 Jan 2025 – 29 Sep 2026.</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3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1168003"/>
          </a:xfrm>
          <a:prstGeom prst="rect">
            <a:avLst/>
          </a:prstGeom>
          <a:noFill/>
          <a:ln/>
        </p:spPr>
        <p:txBody>
          <a:bodyPr wrap="square" lIns="0" tIns="0" rIns="0" bIns="0" rtlCol="0" anchor="t">
            <a:normAutofit/>
          </a:bodyPr>
          <a:lstStyle/>
          <a:p>
            <a:pPr marL="0" indent="0" algn="l">
              <a:lnSpc>
                <a:spcPts val="4505"/>
              </a:lnSpc>
              <a:buNone/>
            </a:pPr>
            <a:r>
              <a:rPr lang="en-US" sz="4290" dirty="0">
                <a:solidFill>
                  <a:srgbClr val="17140F"/>
                </a:solidFill>
                <a:latin typeface="Georgia" pitchFamily="34" charset="0"/>
                <a:ea typeface="Georgia" pitchFamily="34" charset="-122"/>
                <a:cs typeface="Georgia" pitchFamily="34" charset="-120"/>
              </a:rPr>
              <a:t>Instagram does the work. Facebook takes the budget.</a:t>
            </a:r>
            <a:endParaRPr lang="en-US" sz="4290" dirty="0"/>
          </a:p>
        </p:txBody>
      </p:sp>
      <p:sp>
        <p:nvSpPr>
          <p:cNvPr id="3" name="Shape 1"/>
          <p:cNvSpPr/>
          <p:nvPr/>
        </p:nvSpPr>
        <p:spPr>
          <a:xfrm>
            <a:off x="812800" y="2234803"/>
            <a:ext cx="3383280" cy="2718118"/>
          </a:xfrm>
          <a:prstGeom prst="roundRect">
            <a:avLst>
              <a:gd name="adj" fmla="val 3738"/>
            </a:avLst>
          </a:prstGeom>
          <a:solidFill>
            <a:srgbClr val="17140F"/>
          </a:solidFill>
          <a:ln/>
        </p:spPr>
      </p:sp>
      <p:sp>
        <p:nvSpPr>
          <p:cNvPr id="4" name="Text 2"/>
          <p:cNvSpPr/>
          <p:nvPr/>
        </p:nvSpPr>
        <p:spPr>
          <a:xfrm>
            <a:off x="1117600" y="2539603"/>
            <a:ext cx="2856891"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C9A63C"/>
                </a:solidFill>
                <a:latin typeface="Arial" pitchFamily="34" charset="0"/>
                <a:ea typeface="Arial" pitchFamily="34" charset="-122"/>
                <a:cs typeface="Arial" pitchFamily="34" charset="-120"/>
              </a:rPr>
              <a:t>Instagram</a:t>
            </a:r>
            <a:endParaRPr lang="en-US" sz="2000" dirty="0"/>
          </a:p>
        </p:txBody>
      </p:sp>
      <p:sp>
        <p:nvSpPr>
          <p:cNvPr id="5" name="Text 3"/>
          <p:cNvSpPr/>
          <p:nvPr/>
        </p:nvSpPr>
        <p:spPr>
          <a:xfrm>
            <a:off x="1117600" y="2946003"/>
            <a:ext cx="2856891" cy="668020"/>
          </a:xfrm>
          <a:prstGeom prst="rect">
            <a:avLst/>
          </a:prstGeom>
          <a:noFill/>
          <a:ln/>
        </p:spPr>
        <p:txBody>
          <a:bodyPr wrap="square" lIns="0" tIns="0" rIns="0" bIns="0" rtlCol="0" anchor="t">
            <a:normAutofit/>
          </a:bodyPr>
          <a:lstStyle/>
          <a:p>
            <a:pPr marL="0" indent="0" algn="l">
              <a:lnSpc>
                <a:spcPts val="5060"/>
              </a:lnSpc>
              <a:buNone/>
            </a:pPr>
            <a:r>
              <a:rPr lang="en-US" sz="4600" dirty="0">
                <a:solidFill>
                  <a:srgbClr val="F7F3EA"/>
                </a:solidFill>
                <a:latin typeface="Georgia" pitchFamily="34" charset="0"/>
                <a:ea typeface="Georgia" pitchFamily="34" charset="-122"/>
                <a:cs typeface="Georgia" pitchFamily="34" charset="-120"/>
              </a:rPr>
              <a:t>₹929</a:t>
            </a:r>
            <a:endParaRPr lang="en-US" sz="4600" dirty="0"/>
          </a:p>
        </p:txBody>
      </p:sp>
      <p:sp>
        <p:nvSpPr>
          <p:cNvPr id="6" name="Text 4"/>
          <p:cNvSpPr/>
          <p:nvPr/>
        </p:nvSpPr>
        <p:spPr>
          <a:xfrm>
            <a:off x="1117600" y="3690231"/>
            <a:ext cx="2856891" cy="798830"/>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A79C89"/>
                </a:solidFill>
                <a:latin typeface="Arial" pitchFamily="34" charset="0"/>
                <a:ea typeface="Arial" pitchFamily="34" charset="-122"/>
                <a:cs typeface="Arial" pitchFamily="34" charset="-120"/>
              </a:rPr>
              <a:t>per lead · 61.8% of spend · </a:t>
            </a:r>
            <a:r>
              <a:rPr lang="en-US" sz="1400" b="1" dirty="0">
                <a:solidFill>
                  <a:srgbClr val="A79C89"/>
                </a:solidFill>
                <a:latin typeface="Arial" pitchFamily="34" charset="0"/>
                <a:ea typeface="Arial" pitchFamily="34" charset="-122"/>
                <a:cs typeface="Arial" pitchFamily="34" charset="-120"/>
              </a:rPr>
              <a:t>78.9% of leads</a:t>
            </a:r>
            <a:r>
              <a:rPr lang="en-US" sz="1400" dirty="0">
                <a:solidFill>
                  <a:srgbClr val="A79C89"/>
                </a:solidFill>
                <a:latin typeface="Arial" pitchFamily="34" charset="0"/>
                <a:ea typeface="Arial" pitchFamily="34" charset="-122"/>
                <a:cs typeface="Arial" pitchFamily="34" charset="-120"/>
              </a:rPr>
              <a:t> · 993 leads from ₹9,22,738</a:t>
            </a:r>
            <a:endParaRPr lang="en-US" sz="1400" dirty="0"/>
          </a:p>
        </p:txBody>
      </p:sp>
      <p:sp>
        <p:nvSpPr>
          <p:cNvPr id="7" name="Shape 5"/>
          <p:cNvSpPr/>
          <p:nvPr/>
        </p:nvSpPr>
        <p:spPr>
          <a:xfrm>
            <a:off x="4402455" y="2237978"/>
            <a:ext cx="3387090" cy="2711768"/>
          </a:xfrm>
          <a:prstGeom prst="roundRect">
            <a:avLst>
              <a:gd name="adj" fmla="val 3630"/>
            </a:avLst>
          </a:prstGeom>
          <a:solidFill>
            <a:srgbClr val="FFFFFF"/>
          </a:solidFill>
          <a:ln w="6350">
            <a:solidFill>
              <a:srgbClr val="DDD5C5"/>
            </a:solidFill>
            <a:prstDash val="solid"/>
          </a:ln>
        </p:spPr>
      </p:sp>
      <p:sp>
        <p:nvSpPr>
          <p:cNvPr id="8" name="Text 6"/>
          <p:cNvSpPr/>
          <p:nvPr/>
        </p:nvSpPr>
        <p:spPr>
          <a:xfrm>
            <a:off x="4709160" y="2544688"/>
            <a:ext cx="2856891"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B54A28"/>
                </a:solidFill>
                <a:latin typeface="Arial" pitchFamily="34" charset="0"/>
                <a:ea typeface="Arial" pitchFamily="34" charset="-122"/>
                <a:cs typeface="Arial" pitchFamily="34" charset="-120"/>
              </a:rPr>
              <a:t>Facebook</a:t>
            </a:r>
            <a:endParaRPr lang="en-US" sz="2000" dirty="0"/>
          </a:p>
        </p:txBody>
      </p:sp>
      <p:sp>
        <p:nvSpPr>
          <p:cNvPr id="9" name="Text 7"/>
          <p:cNvSpPr/>
          <p:nvPr/>
        </p:nvSpPr>
        <p:spPr>
          <a:xfrm>
            <a:off x="4709160" y="2951088"/>
            <a:ext cx="2856891" cy="668020"/>
          </a:xfrm>
          <a:prstGeom prst="rect">
            <a:avLst/>
          </a:prstGeom>
          <a:noFill/>
          <a:ln/>
        </p:spPr>
        <p:txBody>
          <a:bodyPr wrap="square" lIns="0" tIns="0" rIns="0" bIns="0" rtlCol="0" anchor="t">
            <a:normAutofit/>
          </a:bodyPr>
          <a:lstStyle/>
          <a:p>
            <a:pPr marL="0" indent="0" algn="l">
              <a:lnSpc>
                <a:spcPts val="5060"/>
              </a:lnSpc>
              <a:buNone/>
            </a:pPr>
            <a:r>
              <a:rPr lang="en-US" sz="4600" dirty="0">
                <a:solidFill>
                  <a:srgbClr val="B54A28"/>
                </a:solidFill>
                <a:latin typeface="Georgia" pitchFamily="34" charset="0"/>
                <a:ea typeface="Georgia" pitchFamily="34" charset="-122"/>
                <a:cs typeface="Georgia" pitchFamily="34" charset="-120"/>
              </a:rPr>
              <a:t>₹2,064</a:t>
            </a:r>
            <a:endParaRPr lang="en-US" sz="4600" dirty="0"/>
          </a:p>
        </p:txBody>
      </p:sp>
      <p:sp>
        <p:nvSpPr>
          <p:cNvPr id="10" name="Text 8"/>
          <p:cNvSpPr/>
          <p:nvPr/>
        </p:nvSpPr>
        <p:spPr>
          <a:xfrm>
            <a:off x="4709160" y="3695303"/>
            <a:ext cx="2856891" cy="798830"/>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5C5344"/>
                </a:solidFill>
                <a:latin typeface="Arial" pitchFamily="34" charset="0"/>
                <a:ea typeface="Arial" pitchFamily="34" charset="-122"/>
                <a:cs typeface="Arial" pitchFamily="34" charset="-120"/>
              </a:rPr>
              <a:t>per lead · 36.8% of spend · </a:t>
            </a:r>
            <a:r>
              <a:rPr lang="en-US" sz="1400" b="1" dirty="0">
                <a:solidFill>
                  <a:srgbClr val="5C5344"/>
                </a:solidFill>
                <a:latin typeface="Arial" pitchFamily="34" charset="0"/>
                <a:ea typeface="Arial" pitchFamily="34" charset="-122"/>
                <a:cs typeface="Arial" pitchFamily="34" charset="-120"/>
              </a:rPr>
              <a:t>21.1% of leads</a:t>
            </a:r>
            <a:r>
              <a:rPr lang="en-US" sz="1400" dirty="0">
                <a:solidFill>
                  <a:srgbClr val="5C5344"/>
                </a:solidFill>
                <a:latin typeface="Arial" pitchFamily="34" charset="0"/>
                <a:ea typeface="Arial" pitchFamily="34" charset="-122"/>
                <a:cs typeface="Arial" pitchFamily="34" charset="-120"/>
              </a:rPr>
              <a:t> · 266 leads from ₹5,48,958</a:t>
            </a:r>
            <a:endParaRPr lang="en-US" sz="1400" dirty="0"/>
          </a:p>
        </p:txBody>
      </p:sp>
      <p:sp>
        <p:nvSpPr>
          <p:cNvPr id="11" name="Shape 9"/>
          <p:cNvSpPr/>
          <p:nvPr/>
        </p:nvSpPr>
        <p:spPr>
          <a:xfrm>
            <a:off x="7995920" y="2234803"/>
            <a:ext cx="3383280" cy="2718118"/>
          </a:xfrm>
          <a:prstGeom prst="roundRect">
            <a:avLst>
              <a:gd name="adj" fmla="val 3738"/>
            </a:avLst>
          </a:prstGeom>
          <a:solidFill>
            <a:srgbClr val="C9A63C"/>
          </a:solidFill>
          <a:ln/>
        </p:spPr>
      </p:sp>
      <p:sp>
        <p:nvSpPr>
          <p:cNvPr id="12" name="Text 10"/>
          <p:cNvSpPr/>
          <p:nvPr/>
        </p:nvSpPr>
        <p:spPr>
          <a:xfrm>
            <a:off x="8300720" y="2539603"/>
            <a:ext cx="2856891" cy="318929"/>
          </a:xfrm>
          <a:prstGeom prst="rect">
            <a:avLst/>
          </a:prstGeom>
          <a:noFill/>
          <a:ln/>
        </p:spPr>
        <p:txBody>
          <a:bodyPr wrap="square" lIns="0" tIns="0" rIns="0" bIns="0" rtlCol="0" anchor="t">
            <a:normAutofit/>
          </a:bodyPr>
          <a:lstStyle/>
          <a:p>
            <a:pPr marL="0" indent="0" algn="l">
              <a:lnSpc>
                <a:spcPts val="2318"/>
              </a:lnSpc>
              <a:buNone/>
            </a:pPr>
            <a:r>
              <a:rPr lang="en-US" sz="1931" b="1" dirty="0">
                <a:solidFill>
                  <a:srgbClr val="17140F"/>
                </a:solidFill>
                <a:latin typeface="Arial" pitchFamily="34" charset="0"/>
                <a:ea typeface="Arial" pitchFamily="34" charset="-122"/>
                <a:cs typeface="Arial" pitchFamily="34" charset="-120"/>
              </a:rPr>
              <a:t>The gap</a:t>
            </a:r>
            <a:endParaRPr lang="en-US" sz="1931" dirty="0"/>
          </a:p>
        </p:txBody>
      </p:sp>
      <p:sp>
        <p:nvSpPr>
          <p:cNvPr id="13" name="Text 11"/>
          <p:cNvSpPr/>
          <p:nvPr/>
        </p:nvSpPr>
        <p:spPr>
          <a:xfrm>
            <a:off x="8300720" y="2934729"/>
            <a:ext cx="2856891" cy="644208"/>
          </a:xfrm>
          <a:prstGeom prst="rect">
            <a:avLst/>
          </a:prstGeom>
          <a:noFill/>
          <a:ln/>
        </p:spPr>
        <p:txBody>
          <a:bodyPr wrap="square" lIns="0" tIns="0" rIns="0" bIns="0" rtlCol="0" anchor="t">
            <a:normAutofit/>
          </a:bodyPr>
          <a:lstStyle/>
          <a:p>
            <a:pPr marL="0" indent="0" algn="l">
              <a:lnSpc>
                <a:spcPts val="4870"/>
              </a:lnSpc>
              <a:buNone/>
            </a:pPr>
            <a:r>
              <a:rPr lang="en-US" sz="4428" dirty="0">
                <a:solidFill>
                  <a:srgbClr val="17140F"/>
                </a:solidFill>
                <a:latin typeface="Georgia" pitchFamily="34" charset="0"/>
                <a:ea typeface="Georgia" pitchFamily="34" charset="-122"/>
                <a:cs typeface="Georgia" pitchFamily="34" charset="-120"/>
              </a:rPr>
              <a:t>2.2×</a:t>
            </a:r>
            <a:endParaRPr lang="en-US" sz="4428" dirty="0"/>
          </a:p>
        </p:txBody>
      </p:sp>
      <p:sp>
        <p:nvSpPr>
          <p:cNvPr id="14" name="Text 12"/>
          <p:cNvSpPr/>
          <p:nvPr/>
        </p:nvSpPr>
        <p:spPr>
          <a:xfrm>
            <a:off x="8300720" y="3655144"/>
            <a:ext cx="2856891" cy="1018381"/>
          </a:xfrm>
          <a:prstGeom prst="rect">
            <a:avLst/>
          </a:prstGeom>
          <a:noFill/>
          <a:ln/>
        </p:spPr>
        <p:txBody>
          <a:bodyPr wrap="square" lIns="0" tIns="0" rIns="0" bIns="0" rtlCol="0" anchor="t">
            <a:normAutofit/>
          </a:bodyPr>
          <a:lstStyle/>
          <a:p>
            <a:pPr marL="0" indent="0" algn="l">
              <a:lnSpc>
                <a:spcPts val="1954"/>
              </a:lnSpc>
              <a:buNone/>
            </a:pPr>
            <a:r>
              <a:rPr lang="en-US" sz="1347" dirty="0">
                <a:solidFill>
                  <a:srgbClr val="17140F"/>
                </a:solidFill>
                <a:latin typeface="Arial" pitchFamily="34" charset="0"/>
                <a:ea typeface="Arial" pitchFamily="34" charset="-122"/>
                <a:cs typeface="Arial" pitchFamily="34" charset="-120"/>
              </a:rPr>
              <a:t>Facebook costs 2.2 times more per lead. The same budget at Instagram's rate would have returned </a:t>
            </a:r>
            <a:r>
              <a:rPr lang="en-US" sz="1347" b="1" dirty="0">
                <a:solidFill>
                  <a:srgbClr val="17140F"/>
                </a:solidFill>
                <a:latin typeface="Arial" pitchFamily="34" charset="0"/>
                <a:ea typeface="Arial" pitchFamily="34" charset="-122"/>
                <a:cs typeface="Arial" pitchFamily="34" charset="-120"/>
              </a:rPr>
              <a:t>591 leads, not 266</a:t>
            </a:r>
            <a:r>
              <a:rPr lang="en-US" sz="1347" dirty="0">
                <a:solidFill>
                  <a:srgbClr val="17140F"/>
                </a:solidFill>
                <a:latin typeface="Arial" pitchFamily="34" charset="0"/>
                <a:ea typeface="Arial" pitchFamily="34" charset="-122"/>
                <a:cs typeface="Arial" pitchFamily="34" charset="-120"/>
              </a:rPr>
              <a:t>.</a:t>
            </a:r>
            <a:endParaRPr lang="en-US" sz="1347" dirty="0"/>
          </a:p>
        </p:txBody>
      </p:sp>
      <p:sp>
        <p:nvSpPr>
          <p:cNvPr id="15" name="Text 13"/>
          <p:cNvSpPr/>
          <p:nvPr/>
        </p:nvSpPr>
        <p:spPr>
          <a:xfrm>
            <a:off x="812800" y="5232326"/>
            <a:ext cx="10333990" cy="635079"/>
          </a:xfrm>
          <a:prstGeom prst="rect">
            <a:avLst/>
          </a:prstGeom>
          <a:noFill/>
          <a:ln/>
        </p:spPr>
        <p:txBody>
          <a:bodyPr wrap="square" lIns="0" tIns="0" rIns="0" bIns="0" rtlCol="0" anchor="t">
            <a:normAutofit/>
          </a:bodyPr>
          <a:lstStyle/>
          <a:p>
            <a:pPr marL="0" indent="0" algn="l">
              <a:lnSpc>
                <a:spcPts val="2411"/>
              </a:lnSpc>
              <a:buNone/>
            </a:pPr>
            <a:r>
              <a:rPr lang="en-US" sz="1663" dirty="0">
                <a:solidFill>
                  <a:srgbClr val="5C5344"/>
                </a:solidFill>
                <a:latin typeface="Arial" pitchFamily="34" charset="0"/>
                <a:ea typeface="Arial" pitchFamily="34" charset="-122"/>
                <a:cs typeface="Arial" pitchFamily="34" charset="-120"/>
              </a:rPr>
              <a:t>Facebook is not worthless — it reaches an older, family-planning audience the corporate and wedding products need. But it is funded as though it performs like Instagram, and it does not.</a:t>
            </a:r>
            <a:endParaRPr lang="en-US" sz="1663" dirty="0"/>
          </a:p>
        </p:txBody>
      </p:sp>
      <p:sp>
        <p:nvSpPr>
          <p:cNvPr id="16" name="Text 14"/>
          <p:cNvSpPr/>
          <p:nvPr/>
        </p:nvSpPr>
        <p:spPr>
          <a:xfrm>
            <a:off x="812800" y="6238242"/>
            <a:ext cx="340294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071"/>
                </a:solidFill>
                <a:latin typeface="Arial" pitchFamily="34" charset="0"/>
                <a:ea typeface="Arial" pitchFamily="34" charset="-122"/>
                <a:cs typeface="Arial" pitchFamily="34" charset="-120"/>
              </a:rPr>
              <a:t>Source: Meta Ads Manager, platform breakdown.</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7140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988536"/>
          </a:xfrm>
          <a:prstGeom prst="rect">
            <a:avLst/>
          </a:prstGeom>
          <a:noFill/>
          <a:ln/>
        </p:spPr>
        <p:txBody>
          <a:bodyPr wrap="square" lIns="0" tIns="0" rIns="0" bIns="0" rtlCol="0" anchor="t">
            <a:normAutofit/>
          </a:bodyPr>
          <a:lstStyle/>
          <a:p>
            <a:pPr marL="0" indent="0" algn="l">
              <a:lnSpc>
                <a:spcPts val="4187"/>
              </a:lnSpc>
              <a:buNone/>
            </a:pPr>
            <a:r>
              <a:rPr lang="en-US" sz="3988" dirty="0">
                <a:solidFill>
                  <a:srgbClr val="F7F3EA"/>
                </a:solidFill>
                <a:latin typeface="Georgia" pitchFamily="34" charset="0"/>
                <a:ea typeface="Georgia" pitchFamily="34" charset="-122"/>
                <a:cs typeface="Georgia" pitchFamily="34" charset="-120"/>
              </a:rPr>
              <a:t>Money spent where nothing has ever converted</a:t>
            </a:r>
            <a:endParaRPr lang="en-US" sz="3988" dirty="0"/>
          </a:p>
        </p:txBody>
      </p:sp>
      <p:sp>
        <p:nvSpPr>
          <p:cNvPr id="3" name="Shape 1"/>
          <p:cNvSpPr/>
          <p:nvPr/>
        </p:nvSpPr>
        <p:spPr>
          <a:xfrm>
            <a:off x="812800" y="2211784"/>
            <a:ext cx="4064000" cy="2468880"/>
          </a:xfrm>
          <a:prstGeom prst="roundRect">
            <a:avLst>
              <a:gd name="adj" fmla="val 4115"/>
            </a:avLst>
          </a:prstGeom>
          <a:solidFill>
            <a:srgbClr val="B54A28"/>
          </a:solidFill>
          <a:ln/>
        </p:spPr>
      </p:sp>
      <p:sp>
        <p:nvSpPr>
          <p:cNvPr id="4" name="Text 2"/>
          <p:cNvSpPr/>
          <p:nvPr/>
        </p:nvSpPr>
        <p:spPr>
          <a:xfrm>
            <a:off x="1143000" y="2541984"/>
            <a:ext cx="3505708"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D9CC"/>
                </a:solidFill>
                <a:latin typeface="Arial" pitchFamily="34" charset="0"/>
                <a:ea typeface="Arial" pitchFamily="34" charset="-122"/>
                <a:cs typeface="Arial" pitchFamily="34" charset="-120"/>
              </a:rPr>
              <a:t>Across four placements and platforms</a:t>
            </a:r>
            <a:endParaRPr lang="en-US" sz="1400" dirty="0"/>
          </a:p>
        </p:txBody>
      </p:sp>
      <p:sp>
        <p:nvSpPr>
          <p:cNvPr id="5" name="Text 3"/>
          <p:cNvSpPr/>
          <p:nvPr/>
        </p:nvSpPr>
        <p:spPr>
          <a:xfrm>
            <a:off x="1143000" y="2867112"/>
            <a:ext cx="3505708" cy="863600"/>
          </a:xfrm>
          <a:prstGeom prst="rect">
            <a:avLst/>
          </a:prstGeom>
          <a:noFill/>
          <a:ln/>
        </p:spPr>
        <p:txBody>
          <a:bodyPr wrap="square" lIns="0" tIns="0" rIns="0" bIns="0" rtlCol="0" anchor="t">
            <a:normAutofit/>
          </a:bodyPr>
          <a:lstStyle/>
          <a:p>
            <a:pPr marL="0" indent="0" algn="l">
              <a:lnSpc>
                <a:spcPts val="6600"/>
              </a:lnSpc>
              <a:buNone/>
            </a:pPr>
            <a:r>
              <a:rPr lang="en-US" sz="6600" dirty="0">
                <a:solidFill>
                  <a:srgbClr val="F7F3EA"/>
                </a:solidFill>
                <a:latin typeface="Georgia" pitchFamily="34" charset="0"/>
                <a:ea typeface="Georgia" pitchFamily="34" charset="-122"/>
                <a:cs typeface="Georgia" pitchFamily="34" charset="-120"/>
              </a:rPr>
              <a:t>₹67,188</a:t>
            </a:r>
            <a:endParaRPr lang="en-US" sz="6600" dirty="0"/>
          </a:p>
        </p:txBody>
      </p:sp>
      <p:sp>
        <p:nvSpPr>
          <p:cNvPr id="6" name="Text 4"/>
          <p:cNvSpPr/>
          <p:nvPr/>
        </p:nvSpPr>
        <p:spPr>
          <a:xfrm>
            <a:off x="1143000" y="3781512"/>
            <a:ext cx="3505708"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7F3EA"/>
                </a:solidFill>
                <a:latin typeface="Arial" pitchFamily="34" charset="0"/>
                <a:ea typeface="Arial" pitchFamily="34" charset="-122"/>
                <a:cs typeface="Arial" pitchFamily="34" charset="-120"/>
              </a:rPr>
              <a:t>and not one recorded lead in 21 months.</a:t>
            </a:r>
            <a:endParaRPr lang="en-US" sz="1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242560" y="1792687"/>
          <a:ext cx="6136640" cy="3317240"/>
        </p:xfrm>
        <a:graphic>
          <a:graphicData uri="http://schemas.openxmlformats.org/drawingml/2006/table">
            <a:tbl>
              <a:tblPr/>
              <a:tblGrid>
                <a:gridCol w="3191053">
                  <a:extLst>
                    <a:ext uri="{9D8B030D-6E8A-4147-A177-3AD203B41FA5}">
                      <a16:colId xmlns:a16="http://schemas.microsoft.com/office/drawing/2014/main" val="20000"/>
                    </a:ext>
                  </a:extLst>
                </a:gridCol>
                <a:gridCol w="1595526">
                  <a:extLst>
                    <a:ext uri="{9D8B030D-6E8A-4147-A177-3AD203B41FA5}">
                      <a16:colId xmlns:a16="http://schemas.microsoft.com/office/drawing/2014/main" val="20001"/>
                    </a:ext>
                  </a:extLst>
                </a:gridCol>
                <a:gridCol w="1350061">
                  <a:extLst>
                    <a:ext uri="{9D8B030D-6E8A-4147-A177-3AD203B41FA5}">
                      <a16:colId xmlns:a16="http://schemas.microsoft.com/office/drawing/2014/main" val="20002"/>
                    </a:ext>
                  </a:extLst>
                </a:gridCol>
              </a:tblGrid>
              <a:tr h="383540">
                <a:tc>
                  <a:txBody>
                    <a:bodyPr/>
                    <a:lstStyle/>
                    <a:p>
                      <a:pPr marL="0" indent="0">
                        <a:lnSpc>
                          <a:spcPts val="1960"/>
                        </a:lnSpc>
                        <a:buNone/>
                      </a:pPr>
                      <a:r>
                        <a:rPr lang="en-US" sz="1400" b="1" dirty="0">
                          <a:solidFill>
                            <a:srgbClr val="F7F3EA"/>
                          </a:solidFill>
                          <a:latin typeface="Arial" pitchFamily="34" charset="0"/>
                          <a:ea typeface="Arial" pitchFamily="34" charset="-122"/>
                          <a:cs typeface="Arial" pitchFamily="34" charset="-120"/>
                        </a:rPr>
                        <a:t>Where</a:t>
                      </a:r>
                      <a:endParaRPr lang="en-US" sz="1400" dirty="0">
                        <a:latin typeface="Arial" charset="0"/>
                        <a:ea typeface="Arial" charset="0"/>
                        <a:cs typeface="Arial" charset="0"/>
                      </a:endParaRPr>
                    </a:p>
                  </a:txBody>
                  <a:tcPr marL="62230" marR="62230" marT="62230" marB="62230">
                    <a:lnL w="12700" cap="flat" cmpd="sng" algn="ctr">
                      <a:solidFill>
                        <a:srgbClr val="494642"/>
                      </a:solidFill>
                      <a:prstDash val="solid"/>
                      <a:round/>
                      <a:headEnd type="none" w="med" len="med"/>
                      <a:tailEnd type="none" w="med" len="med"/>
                    </a:lnL>
                    <a:lnR w="12700" cap="flat" cmpd="sng" algn="ctr">
                      <a:solidFill>
                        <a:srgbClr val="645F57"/>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645F57"/>
                      </a:solidFill>
                      <a:prstDash val="solid"/>
                      <a:round/>
                      <a:headEnd type="none" w="med" len="med"/>
                      <a:tailEnd type="none" w="med" len="med"/>
                    </a:lnB>
                    <a:solidFill>
                      <a:srgbClr val="3A342A"/>
                    </a:solidFill>
                  </a:tcPr>
                </a:tc>
                <a:tc>
                  <a:txBody>
                    <a:bodyPr/>
                    <a:lstStyle/>
                    <a:p>
                      <a:pPr marL="0" indent="0">
                        <a:lnSpc>
                          <a:spcPts val="1960"/>
                        </a:lnSpc>
                        <a:buNone/>
                      </a:pPr>
                      <a:r>
                        <a:rPr lang="en-US" sz="1400" b="1" dirty="0">
                          <a:solidFill>
                            <a:srgbClr val="F7F3EA"/>
                          </a:solidFill>
                          <a:latin typeface="Arial" pitchFamily="34" charset="0"/>
                          <a:ea typeface="Arial" pitchFamily="34" charset="-122"/>
                          <a:cs typeface="Arial" pitchFamily="34" charset="-120"/>
                        </a:rPr>
                        <a:t>Spend</a:t>
                      </a:r>
                      <a:endParaRPr lang="en-US" sz="1400" dirty="0">
                        <a:latin typeface="Arial" charset="0"/>
                        <a:ea typeface="Arial" charset="0"/>
                        <a:cs typeface="Arial" charset="0"/>
                      </a:endParaRPr>
                    </a:p>
                  </a:txBody>
                  <a:tcPr marL="62230" marR="62230" marT="62230" marB="62230">
                    <a:lnL w="12700" cap="flat" cmpd="sng" algn="ctr">
                      <a:solidFill>
                        <a:srgbClr val="645F57"/>
                      </a:solidFill>
                      <a:prstDash val="solid"/>
                      <a:round/>
                      <a:headEnd type="none" w="med" len="med"/>
                      <a:tailEnd type="none" w="med" len="med"/>
                    </a:lnL>
                    <a:lnR w="12700" cap="flat" cmpd="sng" algn="ctr">
                      <a:solidFill>
                        <a:srgbClr val="645F57"/>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645F57"/>
                      </a:solidFill>
                      <a:prstDash val="solid"/>
                      <a:round/>
                      <a:headEnd type="none" w="med" len="med"/>
                      <a:tailEnd type="none" w="med" len="med"/>
                    </a:lnB>
                    <a:solidFill>
                      <a:srgbClr val="3A342A"/>
                    </a:solidFill>
                  </a:tcPr>
                </a:tc>
                <a:tc>
                  <a:txBody>
                    <a:bodyPr/>
                    <a:lstStyle/>
                    <a:p>
                      <a:pPr marL="0" indent="0">
                        <a:lnSpc>
                          <a:spcPts val="1960"/>
                        </a:lnSpc>
                        <a:buNone/>
                      </a:pPr>
                      <a:r>
                        <a:rPr lang="en-US" sz="1400" b="1" dirty="0">
                          <a:solidFill>
                            <a:srgbClr val="F7F3EA"/>
                          </a:solidFill>
                          <a:latin typeface="Arial" pitchFamily="34" charset="0"/>
                          <a:ea typeface="Arial" pitchFamily="34" charset="-122"/>
                          <a:cs typeface="Arial" pitchFamily="34" charset="-120"/>
                        </a:rPr>
                        <a:t>Leads</a:t>
                      </a:r>
                      <a:endParaRPr lang="en-US" sz="1400" dirty="0">
                        <a:latin typeface="Arial" charset="0"/>
                        <a:ea typeface="Arial" charset="0"/>
                        <a:cs typeface="Arial" charset="0"/>
                      </a:endParaRPr>
                    </a:p>
                  </a:txBody>
                  <a:tcPr marL="62230" marR="62230" marT="62230" marB="62230">
                    <a:lnL w="12700" cap="flat" cmpd="sng" algn="ctr">
                      <a:solidFill>
                        <a:srgbClr val="645F57"/>
                      </a:solidFill>
                      <a:prstDash val="solid"/>
                      <a:round/>
                      <a:headEnd type="none" w="med" len="med"/>
                      <a:tailEnd type="none" w="med" len="med"/>
                    </a:lnL>
                    <a:lnR w="12700" cap="flat" cmpd="sng" algn="ctr">
                      <a:solidFill>
                        <a:srgbClr val="645F57"/>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645F57"/>
                      </a:solidFill>
                      <a:prstDash val="solid"/>
                      <a:round/>
                      <a:headEnd type="none" w="med" len="med"/>
                      <a:tailEnd type="none" w="med" len="med"/>
                    </a:lnB>
                    <a:solidFill>
                      <a:srgbClr val="3A342A"/>
                    </a:solidFill>
                  </a:tcPr>
                </a:tc>
                <a:extLst>
                  <a:ext uri="{0D108BD9-81ED-4DB2-BD59-A6C34878D82A}">
                    <a16:rowId xmlns:a16="http://schemas.microsoft.com/office/drawing/2014/main" val="10000"/>
                  </a:ext>
                </a:extLst>
              </a:tr>
              <a:tr h="383540">
                <a:tc>
                  <a:txBody>
                    <a:bodyPr/>
                    <a:lstStyle/>
                    <a:p>
                      <a:pPr marL="0" indent="0">
                        <a:lnSpc>
                          <a:spcPts val="1960"/>
                        </a:lnSpc>
                        <a:buNone/>
                      </a:pPr>
                      <a:r>
                        <a:rPr lang="en-US" sz="1400" dirty="0">
                          <a:solidFill>
                            <a:srgbClr val="F7F3EA"/>
                          </a:solidFill>
                          <a:latin typeface="Arial" pitchFamily="34" charset="0"/>
                          <a:ea typeface="Arial" pitchFamily="34" charset="-122"/>
                          <a:cs typeface="Arial" pitchFamily="34" charset="-120"/>
                        </a:rPr>
                        <a:t>Audience Network</a:t>
                      </a:r>
                      <a:endParaRPr lang="en-US" sz="1400" dirty="0">
                        <a:latin typeface="Arial" charset="0"/>
                        <a:ea typeface="Arial" charset="0"/>
                        <a:cs typeface="Arial" charset="0"/>
                      </a:endParaRPr>
                    </a:p>
                  </a:txBody>
                  <a:tcPr marL="62230" marR="62230" marT="62230" marB="62230">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645F57"/>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960"/>
                        </a:lnSpc>
                        <a:buNone/>
                      </a:pPr>
                      <a:r>
                        <a:rPr lang="en-US" sz="1400" dirty="0">
                          <a:solidFill>
                            <a:srgbClr val="F7F3EA"/>
                          </a:solidFill>
                          <a:latin typeface="Arial" pitchFamily="34" charset="0"/>
                          <a:ea typeface="Arial" pitchFamily="34" charset="-122"/>
                          <a:cs typeface="Arial" pitchFamily="34" charset="-120"/>
                        </a:rPr>
                        <a:t>₹20,315</a:t>
                      </a:r>
                      <a:endParaRPr lang="en-US" sz="1400" dirty="0">
                        <a:latin typeface="Arial" charset="0"/>
                        <a:ea typeface="Arial" charset="0"/>
                        <a:cs typeface="Arial" charset="0"/>
                      </a:endParaRPr>
                    </a:p>
                  </a:txBody>
                  <a:tcPr marL="62230" marR="62230" marT="62230" marB="62230">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645F57"/>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960"/>
                        </a:lnSpc>
                        <a:buNone/>
                      </a:pPr>
                      <a:r>
                        <a:rPr lang="en-US" sz="1400" dirty="0">
                          <a:solidFill>
                            <a:srgbClr val="F7F3EA"/>
                          </a:solidFill>
                          <a:latin typeface="Arial" pitchFamily="34" charset="0"/>
                          <a:ea typeface="Arial" pitchFamily="34" charset="-122"/>
                          <a:cs typeface="Arial" pitchFamily="34" charset="-120"/>
                        </a:rPr>
                        <a:t>0</a:t>
                      </a:r>
                      <a:endParaRPr lang="en-US" sz="1400" dirty="0">
                        <a:latin typeface="Arial" charset="0"/>
                        <a:ea typeface="Arial" charset="0"/>
                        <a:cs typeface="Arial" charset="0"/>
                      </a:endParaRPr>
                    </a:p>
                  </a:txBody>
                  <a:tcPr marL="62230" marR="62230" marT="62230" marB="62230">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645F57"/>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extLst>
                  <a:ext uri="{0D108BD9-81ED-4DB2-BD59-A6C34878D82A}">
                    <a16:rowId xmlns:a16="http://schemas.microsoft.com/office/drawing/2014/main" val="10001"/>
                  </a:ext>
                </a:extLst>
              </a:tr>
              <a:tr h="383540">
                <a:tc>
                  <a:txBody>
                    <a:bodyPr/>
                    <a:lstStyle/>
                    <a:p>
                      <a:pPr marL="0" indent="0">
                        <a:lnSpc>
                          <a:spcPts val="1960"/>
                        </a:lnSpc>
                        <a:buNone/>
                      </a:pPr>
                      <a:r>
                        <a:rPr lang="en-US" sz="1400" dirty="0">
                          <a:solidFill>
                            <a:srgbClr val="F7F3EA"/>
                          </a:solidFill>
                          <a:latin typeface="Arial" pitchFamily="34" charset="0"/>
                          <a:ea typeface="Arial" pitchFamily="34" charset="-122"/>
                          <a:cs typeface="Arial" pitchFamily="34" charset="-120"/>
                        </a:rPr>
                        <a:t>Feed: video feeds</a:t>
                      </a:r>
                      <a:endParaRPr lang="en-US" sz="1400" dirty="0">
                        <a:latin typeface="Arial" charset="0"/>
                        <a:ea typeface="Arial" charset="0"/>
                        <a:cs typeface="Arial" charset="0"/>
                      </a:endParaRPr>
                    </a:p>
                  </a:txBody>
                  <a:tcPr marL="62230" marR="62230" marT="62230" marB="62230">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960"/>
                        </a:lnSpc>
                        <a:buNone/>
                      </a:pPr>
                      <a:r>
                        <a:rPr lang="en-US" sz="1400" dirty="0">
                          <a:solidFill>
                            <a:srgbClr val="F7F3EA"/>
                          </a:solidFill>
                          <a:latin typeface="Arial" pitchFamily="34" charset="0"/>
                          <a:ea typeface="Arial" pitchFamily="34" charset="-122"/>
                          <a:cs typeface="Arial" pitchFamily="34" charset="-120"/>
                        </a:rPr>
                        <a:t>₹17,700</a:t>
                      </a:r>
                      <a:endParaRPr lang="en-US" sz="1400" dirty="0">
                        <a:latin typeface="Arial" charset="0"/>
                        <a:ea typeface="Arial" charset="0"/>
                        <a:cs typeface="Arial" charset="0"/>
                      </a:endParaRPr>
                    </a:p>
                  </a:txBody>
                  <a:tcPr marL="62230" marR="62230" marT="62230" marB="62230">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960"/>
                        </a:lnSpc>
                        <a:buNone/>
                      </a:pPr>
                      <a:r>
                        <a:rPr lang="en-US" sz="1400" dirty="0">
                          <a:solidFill>
                            <a:srgbClr val="F7F3EA"/>
                          </a:solidFill>
                          <a:latin typeface="Arial" pitchFamily="34" charset="0"/>
                          <a:ea typeface="Arial" pitchFamily="34" charset="-122"/>
                          <a:cs typeface="Arial" pitchFamily="34" charset="-120"/>
                        </a:rPr>
                        <a:t>0</a:t>
                      </a:r>
                      <a:endParaRPr lang="en-US" sz="1400" dirty="0">
                        <a:latin typeface="Arial" charset="0"/>
                        <a:ea typeface="Arial" charset="0"/>
                        <a:cs typeface="Arial" charset="0"/>
                      </a:endParaRPr>
                    </a:p>
                  </a:txBody>
                  <a:tcPr marL="62230" marR="62230" marT="62230" marB="62230">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extLst>
                  <a:ext uri="{0D108BD9-81ED-4DB2-BD59-A6C34878D82A}">
                    <a16:rowId xmlns:a16="http://schemas.microsoft.com/office/drawing/2014/main" val="10002"/>
                  </a:ext>
                </a:extLst>
              </a:tr>
              <a:tr h="383540">
                <a:tc>
                  <a:txBody>
                    <a:bodyPr/>
                    <a:lstStyle/>
                    <a:p>
                      <a:pPr marL="0" indent="0">
                        <a:lnSpc>
                          <a:spcPts val="1960"/>
                        </a:lnSpc>
                        <a:buNone/>
                      </a:pPr>
                      <a:r>
                        <a:rPr lang="en-US" sz="1400" dirty="0">
                          <a:solidFill>
                            <a:srgbClr val="F7F3EA"/>
                          </a:solidFill>
                          <a:latin typeface="Arial" pitchFamily="34" charset="0"/>
                          <a:ea typeface="Arial" pitchFamily="34" charset="-122"/>
                          <a:cs typeface="Arial" pitchFamily="34" charset="-120"/>
                        </a:rPr>
                        <a:t>Native, banner, interstitial</a:t>
                      </a:r>
                      <a:endParaRPr lang="en-US" sz="1400" dirty="0">
                        <a:latin typeface="Arial" charset="0"/>
                        <a:ea typeface="Arial" charset="0"/>
                        <a:cs typeface="Arial" charset="0"/>
                      </a:endParaRPr>
                    </a:p>
                  </a:txBody>
                  <a:tcPr marL="62230" marR="62230" marT="62230" marB="62230">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960"/>
                        </a:lnSpc>
                        <a:buNone/>
                      </a:pPr>
                      <a:r>
                        <a:rPr lang="en-US" sz="1400" dirty="0">
                          <a:solidFill>
                            <a:srgbClr val="F7F3EA"/>
                          </a:solidFill>
                          <a:latin typeface="Arial" pitchFamily="34" charset="0"/>
                          <a:ea typeface="Arial" pitchFamily="34" charset="-122"/>
                          <a:cs typeface="Arial" pitchFamily="34" charset="-120"/>
                        </a:rPr>
                        <a:t>₹15,474</a:t>
                      </a:r>
                      <a:endParaRPr lang="en-US" sz="1400" dirty="0">
                        <a:latin typeface="Arial" charset="0"/>
                        <a:ea typeface="Arial" charset="0"/>
                        <a:cs typeface="Arial" charset="0"/>
                      </a:endParaRPr>
                    </a:p>
                  </a:txBody>
                  <a:tcPr marL="62230" marR="62230" marT="62230" marB="62230">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960"/>
                        </a:lnSpc>
                        <a:buNone/>
                      </a:pPr>
                      <a:r>
                        <a:rPr lang="en-US" sz="1400" dirty="0">
                          <a:solidFill>
                            <a:srgbClr val="F7F3EA"/>
                          </a:solidFill>
                          <a:latin typeface="Arial" pitchFamily="34" charset="0"/>
                          <a:ea typeface="Arial" pitchFamily="34" charset="-122"/>
                          <a:cs typeface="Arial" pitchFamily="34" charset="-120"/>
                        </a:rPr>
                        <a:t>0</a:t>
                      </a:r>
                      <a:endParaRPr lang="en-US" sz="1400" dirty="0">
                        <a:latin typeface="Arial" charset="0"/>
                        <a:ea typeface="Arial" charset="0"/>
                        <a:cs typeface="Arial" charset="0"/>
                      </a:endParaRPr>
                    </a:p>
                  </a:txBody>
                  <a:tcPr marL="62230" marR="62230" marT="62230" marB="62230">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extLst>
                  <a:ext uri="{0D108BD9-81ED-4DB2-BD59-A6C34878D82A}">
                    <a16:rowId xmlns:a16="http://schemas.microsoft.com/office/drawing/2014/main" val="10003"/>
                  </a:ext>
                </a:extLst>
              </a:tr>
              <a:tr h="383540">
                <a:tc>
                  <a:txBody>
                    <a:bodyPr/>
                    <a:lstStyle/>
                    <a:p>
                      <a:pPr marL="0" indent="0">
                        <a:lnSpc>
                          <a:spcPts val="1960"/>
                        </a:lnSpc>
                        <a:buNone/>
                      </a:pPr>
                      <a:r>
                        <a:rPr lang="en-US" sz="1400" dirty="0">
                          <a:solidFill>
                            <a:srgbClr val="F7F3EA"/>
                          </a:solidFill>
                          <a:latin typeface="Arial" pitchFamily="34" charset="0"/>
                          <a:ea typeface="Arial" pitchFamily="34" charset="-122"/>
                          <a:cs typeface="Arial" pitchFamily="34" charset="-120"/>
                        </a:rPr>
                        <a:t>Explore home</a:t>
                      </a:r>
                      <a:endParaRPr lang="en-US" sz="1400" dirty="0">
                        <a:latin typeface="Arial" charset="0"/>
                        <a:ea typeface="Arial" charset="0"/>
                        <a:cs typeface="Arial" charset="0"/>
                      </a:endParaRPr>
                    </a:p>
                  </a:txBody>
                  <a:tcPr marL="62230" marR="62230" marT="62230" marB="62230">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960"/>
                        </a:lnSpc>
                        <a:buNone/>
                      </a:pPr>
                      <a:r>
                        <a:rPr lang="en-US" sz="1400" dirty="0">
                          <a:solidFill>
                            <a:srgbClr val="F7F3EA"/>
                          </a:solidFill>
                          <a:latin typeface="Arial" pitchFamily="34" charset="0"/>
                          <a:ea typeface="Arial" pitchFamily="34" charset="-122"/>
                          <a:cs typeface="Arial" pitchFamily="34" charset="-120"/>
                        </a:rPr>
                        <a:t>₹6,397</a:t>
                      </a:r>
                      <a:endParaRPr lang="en-US" sz="1400" dirty="0">
                        <a:latin typeface="Arial" charset="0"/>
                        <a:ea typeface="Arial" charset="0"/>
                        <a:cs typeface="Arial" charset="0"/>
                      </a:endParaRPr>
                    </a:p>
                  </a:txBody>
                  <a:tcPr marL="62230" marR="62230" marT="62230" marB="62230">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960"/>
                        </a:lnSpc>
                        <a:buNone/>
                      </a:pPr>
                      <a:r>
                        <a:rPr lang="en-US" sz="1400" dirty="0">
                          <a:solidFill>
                            <a:srgbClr val="F7F3EA"/>
                          </a:solidFill>
                          <a:latin typeface="Arial" pitchFamily="34" charset="0"/>
                          <a:ea typeface="Arial" pitchFamily="34" charset="-122"/>
                          <a:cs typeface="Arial" pitchFamily="34" charset="-120"/>
                        </a:rPr>
                        <a:t>0</a:t>
                      </a:r>
                      <a:endParaRPr lang="en-US" sz="1400" dirty="0">
                        <a:latin typeface="Arial" charset="0"/>
                        <a:ea typeface="Arial" charset="0"/>
                        <a:cs typeface="Arial" charset="0"/>
                      </a:endParaRPr>
                    </a:p>
                  </a:txBody>
                  <a:tcPr marL="62230" marR="62230" marT="62230" marB="62230">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extLst>
                  <a:ext uri="{0D108BD9-81ED-4DB2-BD59-A6C34878D82A}">
                    <a16:rowId xmlns:a16="http://schemas.microsoft.com/office/drawing/2014/main" val="10004"/>
                  </a:ext>
                </a:extLst>
              </a:tr>
              <a:tr h="383540">
                <a:tc>
                  <a:txBody>
                    <a:bodyPr/>
                    <a:lstStyle/>
                    <a:p>
                      <a:pPr marL="0" indent="0">
                        <a:lnSpc>
                          <a:spcPts val="1960"/>
                        </a:lnSpc>
                        <a:buNone/>
                      </a:pPr>
                      <a:r>
                        <a:rPr lang="en-US" sz="1400" dirty="0">
                          <a:solidFill>
                            <a:srgbClr val="F7F3EA"/>
                          </a:solidFill>
                          <a:latin typeface="Arial" pitchFamily="34" charset="0"/>
                          <a:ea typeface="Arial" pitchFamily="34" charset="-122"/>
                          <a:cs typeface="Arial" pitchFamily="34" charset="-120"/>
                        </a:rPr>
                        <a:t>In-stream reels</a:t>
                      </a:r>
                      <a:endParaRPr lang="en-US" sz="1400" dirty="0">
                        <a:latin typeface="Arial" charset="0"/>
                        <a:ea typeface="Arial" charset="0"/>
                        <a:cs typeface="Arial" charset="0"/>
                      </a:endParaRPr>
                    </a:p>
                  </a:txBody>
                  <a:tcPr marL="62230" marR="62230" marT="62230" marB="62230">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960"/>
                        </a:lnSpc>
                        <a:buNone/>
                      </a:pPr>
                      <a:r>
                        <a:rPr lang="en-US" sz="1400" dirty="0">
                          <a:solidFill>
                            <a:srgbClr val="F7F3EA"/>
                          </a:solidFill>
                          <a:latin typeface="Arial" pitchFamily="34" charset="0"/>
                          <a:ea typeface="Arial" pitchFamily="34" charset="-122"/>
                          <a:cs typeface="Arial" pitchFamily="34" charset="-120"/>
                        </a:rPr>
                        <a:t>₹5,774</a:t>
                      </a:r>
                      <a:endParaRPr lang="en-US" sz="1400" dirty="0">
                        <a:latin typeface="Arial" charset="0"/>
                        <a:ea typeface="Arial" charset="0"/>
                        <a:cs typeface="Arial" charset="0"/>
                      </a:endParaRPr>
                    </a:p>
                  </a:txBody>
                  <a:tcPr marL="62230" marR="62230" marT="62230" marB="62230">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960"/>
                        </a:lnSpc>
                        <a:buNone/>
                      </a:pPr>
                      <a:r>
                        <a:rPr lang="en-US" sz="1400" dirty="0">
                          <a:solidFill>
                            <a:srgbClr val="F7F3EA"/>
                          </a:solidFill>
                          <a:latin typeface="Arial" pitchFamily="34" charset="0"/>
                          <a:ea typeface="Arial" pitchFamily="34" charset="-122"/>
                          <a:cs typeface="Arial" pitchFamily="34" charset="-120"/>
                        </a:rPr>
                        <a:t>0</a:t>
                      </a:r>
                      <a:endParaRPr lang="en-US" sz="1400" dirty="0">
                        <a:latin typeface="Arial" charset="0"/>
                        <a:ea typeface="Arial" charset="0"/>
                        <a:cs typeface="Arial" charset="0"/>
                      </a:endParaRPr>
                    </a:p>
                  </a:txBody>
                  <a:tcPr marL="62230" marR="62230" marT="62230" marB="62230">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extLst>
                  <a:ext uri="{0D108BD9-81ED-4DB2-BD59-A6C34878D82A}">
                    <a16:rowId xmlns:a16="http://schemas.microsoft.com/office/drawing/2014/main" val="10005"/>
                  </a:ext>
                </a:extLst>
              </a:tr>
              <a:tr h="383540">
                <a:tc>
                  <a:txBody>
                    <a:bodyPr/>
                    <a:lstStyle/>
                    <a:p>
                      <a:pPr marL="0" indent="0">
                        <a:lnSpc>
                          <a:spcPts val="1960"/>
                        </a:lnSpc>
                        <a:buNone/>
                      </a:pPr>
                      <a:r>
                        <a:rPr lang="en-US" sz="1400" dirty="0">
                          <a:solidFill>
                            <a:srgbClr val="F7F3EA"/>
                          </a:solidFill>
                          <a:latin typeface="Arial" pitchFamily="34" charset="0"/>
                          <a:ea typeface="Arial" pitchFamily="34" charset="-122"/>
                          <a:cs typeface="Arial" pitchFamily="34" charset="-120"/>
                        </a:rPr>
                        <a:t>Threads</a:t>
                      </a:r>
                      <a:endParaRPr lang="en-US" sz="1400" dirty="0">
                        <a:latin typeface="Arial" charset="0"/>
                        <a:ea typeface="Arial" charset="0"/>
                        <a:cs typeface="Arial" charset="0"/>
                      </a:endParaRPr>
                    </a:p>
                  </a:txBody>
                  <a:tcPr marL="62230" marR="62230" marT="62230" marB="62230">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960"/>
                        </a:lnSpc>
                        <a:buNone/>
                      </a:pPr>
                      <a:r>
                        <a:rPr lang="en-US" sz="1400" dirty="0">
                          <a:solidFill>
                            <a:srgbClr val="F7F3EA"/>
                          </a:solidFill>
                          <a:latin typeface="Arial" pitchFamily="34" charset="0"/>
                          <a:ea typeface="Arial" pitchFamily="34" charset="-122"/>
                          <a:cs typeface="Arial" pitchFamily="34" charset="-120"/>
                        </a:rPr>
                        <a:t>₹1,207</a:t>
                      </a:r>
                      <a:endParaRPr lang="en-US" sz="1400" dirty="0">
                        <a:latin typeface="Arial" charset="0"/>
                        <a:ea typeface="Arial" charset="0"/>
                        <a:cs typeface="Arial" charset="0"/>
                      </a:endParaRPr>
                    </a:p>
                  </a:txBody>
                  <a:tcPr marL="62230" marR="62230" marT="62230" marB="62230">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960"/>
                        </a:lnSpc>
                        <a:buNone/>
                      </a:pPr>
                      <a:r>
                        <a:rPr lang="en-US" sz="1400" dirty="0">
                          <a:solidFill>
                            <a:srgbClr val="F7F3EA"/>
                          </a:solidFill>
                          <a:latin typeface="Arial" pitchFamily="34" charset="0"/>
                          <a:ea typeface="Arial" pitchFamily="34" charset="-122"/>
                          <a:cs typeface="Arial" pitchFamily="34" charset="-120"/>
                        </a:rPr>
                        <a:t>0</a:t>
                      </a:r>
                      <a:endParaRPr lang="en-US" sz="1400" dirty="0">
                        <a:latin typeface="Arial" charset="0"/>
                        <a:ea typeface="Arial" charset="0"/>
                        <a:cs typeface="Arial" charset="0"/>
                      </a:endParaRPr>
                    </a:p>
                  </a:txBody>
                  <a:tcPr marL="62230" marR="62230" marT="62230" marB="62230">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extLst>
                  <a:ext uri="{0D108BD9-81ED-4DB2-BD59-A6C34878D82A}">
                    <a16:rowId xmlns:a16="http://schemas.microsoft.com/office/drawing/2014/main" val="10006"/>
                  </a:ext>
                </a:extLst>
              </a:tr>
              <a:tr h="632460">
                <a:tc>
                  <a:txBody>
                    <a:bodyPr/>
                    <a:lstStyle/>
                    <a:p>
                      <a:pPr marL="0" indent="0">
                        <a:lnSpc>
                          <a:spcPts val="1960"/>
                        </a:lnSpc>
                        <a:buNone/>
                      </a:pPr>
                      <a:r>
                        <a:rPr lang="en-US" sz="1400" dirty="0">
                          <a:solidFill>
                            <a:srgbClr val="F7F3EA"/>
                          </a:solidFill>
                          <a:latin typeface="Arial" pitchFamily="34" charset="0"/>
                          <a:ea typeface="Arial" pitchFamily="34" charset="-122"/>
                          <a:cs typeface="Arial" pitchFamily="34" charset="-120"/>
                        </a:rPr>
                        <a:t>WhatsApp and Messenger placements</a:t>
                      </a:r>
                      <a:endParaRPr lang="en-US" sz="1400" dirty="0">
                        <a:latin typeface="Arial" charset="0"/>
                        <a:ea typeface="Arial" charset="0"/>
                        <a:cs typeface="Arial" charset="0"/>
                      </a:endParaRPr>
                    </a:p>
                  </a:txBody>
                  <a:tcPr marL="62230" marR="62230" marT="62230" marB="62230">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960"/>
                        </a:lnSpc>
                        <a:buNone/>
                      </a:pPr>
                      <a:r>
                        <a:rPr lang="en-US" sz="1400" dirty="0">
                          <a:solidFill>
                            <a:srgbClr val="F7F3EA"/>
                          </a:solidFill>
                          <a:latin typeface="Arial" pitchFamily="34" charset="0"/>
                          <a:ea typeface="Arial" pitchFamily="34" charset="-122"/>
                          <a:cs typeface="Arial" pitchFamily="34" charset="-120"/>
                        </a:rPr>
                        <a:t>₹322</a:t>
                      </a:r>
                      <a:endParaRPr lang="en-US" sz="1400" dirty="0">
                        <a:latin typeface="Arial" charset="0"/>
                        <a:ea typeface="Arial" charset="0"/>
                        <a:cs typeface="Arial" charset="0"/>
                      </a:endParaRPr>
                    </a:p>
                  </a:txBody>
                  <a:tcPr marL="62230" marR="62230" marT="62230" marB="62230">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960"/>
                        </a:lnSpc>
                        <a:buNone/>
                      </a:pPr>
                      <a:r>
                        <a:rPr lang="en-US" sz="1400" dirty="0">
                          <a:solidFill>
                            <a:srgbClr val="F7F3EA"/>
                          </a:solidFill>
                          <a:latin typeface="Arial" pitchFamily="34" charset="0"/>
                          <a:ea typeface="Arial" pitchFamily="34" charset="-122"/>
                          <a:cs typeface="Arial" pitchFamily="34" charset="-120"/>
                        </a:rPr>
                        <a:t>0</a:t>
                      </a:r>
                      <a:endParaRPr lang="en-US" sz="1400" dirty="0">
                        <a:latin typeface="Arial" charset="0"/>
                        <a:ea typeface="Arial" charset="0"/>
                        <a:cs typeface="Arial" charset="0"/>
                      </a:endParaRPr>
                    </a:p>
                  </a:txBody>
                  <a:tcPr marL="62230" marR="62230" marT="62230" marB="62230">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8" name="Text 5"/>
          <p:cNvSpPr/>
          <p:nvPr/>
        </p:nvSpPr>
        <p:spPr>
          <a:xfrm>
            <a:off x="812800" y="5116513"/>
            <a:ext cx="10333990" cy="750888"/>
          </a:xfrm>
          <a:prstGeom prst="rect">
            <a:avLst/>
          </a:prstGeom>
          <a:noFill/>
          <a:ln/>
        </p:spPr>
        <p:txBody>
          <a:bodyPr wrap="square" lIns="0" tIns="0" rIns="0" bIns="0" rtlCol="0" anchor="t">
            <a:normAutofit fontScale="70000" lnSpcReduction="20000"/>
          </a:bodyPr>
          <a:lstStyle/>
          <a:p>
            <a:pPr marL="0" indent="0" algn="l">
              <a:lnSpc>
                <a:spcPts val="2211"/>
              </a:lnSpc>
              <a:buNone/>
            </a:pPr>
            <a:r>
              <a:rPr lang="en-US" sz="1525" dirty="0">
                <a:solidFill>
                  <a:srgbClr val="A79C89"/>
                </a:solidFill>
                <a:latin typeface="Arial" pitchFamily="34" charset="0"/>
                <a:ea typeface="Arial" pitchFamily="34" charset="-122"/>
                <a:cs typeface="Arial" pitchFamily="34" charset="-120"/>
              </a:rPr>
              <a:t>Audience Network and Threads rarely produce a result for any brand we run, so the honest move is to exclude them outright and cap anything similar to a token share of budget. Here they sit inside ₹67,188 — roughly 4.5% of Meta spend — left on because placements default to automatic and nobody has looked.</a:t>
            </a:r>
            <a:endParaRPr lang="en-US" sz="1525" dirty="0"/>
          </a:p>
        </p:txBody>
      </p:sp>
      <p:sp>
        <p:nvSpPr>
          <p:cNvPr id="9" name="Text 6"/>
          <p:cNvSpPr/>
          <p:nvPr/>
        </p:nvSpPr>
        <p:spPr>
          <a:xfrm>
            <a:off x="812800" y="6238242"/>
            <a:ext cx="455472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071"/>
                </a:solidFill>
                <a:latin typeface="Arial" pitchFamily="34" charset="0"/>
                <a:ea typeface="Arial" pitchFamily="34" charset="-122"/>
                <a:cs typeface="Arial" pitchFamily="34" charset="-120"/>
              </a:rPr>
              <a:t>Source: Meta Ads Manager, platform and placement breakdowns.</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3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612140"/>
          </a:xfrm>
          <a:prstGeom prst="rect">
            <a:avLst/>
          </a:prstGeom>
          <a:noFill/>
          <a:ln/>
        </p:spPr>
        <p:txBody>
          <a:bodyPr wrap="square" lIns="0" tIns="0" rIns="0" bIns="0" rtlCol="0" anchor="t">
            <a:normAutofit/>
          </a:bodyPr>
          <a:lstStyle/>
          <a:p>
            <a:pPr marL="0" indent="0" algn="l">
              <a:lnSpc>
                <a:spcPts val="4620"/>
              </a:lnSpc>
              <a:buNone/>
            </a:pPr>
            <a:r>
              <a:rPr lang="en-US" sz="4400" dirty="0">
                <a:solidFill>
                  <a:srgbClr val="17140F"/>
                </a:solidFill>
                <a:latin typeface="Georgia" pitchFamily="34" charset="0"/>
                <a:ea typeface="Georgia" pitchFamily="34" charset="-122"/>
                <a:cs typeface="Georgia" pitchFamily="34" charset="-120"/>
              </a:rPr>
              <a:t>The biggest placement is the worst one</a:t>
            </a:r>
            <a:endParaRPr lang="en-US" sz="44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1663702"/>
          <a:ext cx="10556240" cy="2461260"/>
        </p:xfrm>
        <a:graphic>
          <a:graphicData uri="http://schemas.openxmlformats.org/drawingml/2006/table">
            <a:tbl>
              <a:tblPr/>
              <a:tblGrid>
                <a:gridCol w="2744622">
                  <a:extLst>
                    <a:ext uri="{9D8B030D-6E8A-4147-A177-3AD203B41FA5}">
                      <a16:colId xmlns:a16="http://schemas.microsoft.com/office/drawing/2014/main" val="20000"/>
                    </a:ext>
                  </a:extLst>
                </a:gridCol>
                <a:gridCol w="2111248">
                  <a:extLst>
                    <a:ext uri="{9D8B030D-6E8A-4147-A177-3AD203B41FA5}">
                      <a16:colId xmlns:a16="http://schemas.microsoft.com/office/drawing/2014/main" val="20001"/>
                    </a:ext>
                  </a:extLst>
                </a:gridCol>
                <a:gridCol w="1477874">
                  <a:extLst>
                    <a:ext uri="{9D8B030D-6E8A-4147-A177-3AD203B41FA5}">
                      <a16:colId xmlns:a16="http://schemas.microsoft.com/office/drawing/2014/main" val="20002"/>
                    </a:ext>
                  </a:extLst>
                </a:gridCol>
                <a:gridCol w="1477874">
                  <a:extLst>
                    <a:ext uri="{9D8B030D-6E8A-4147-A177-3AD203B41FA5}">
                      <a16:colId xmlns:a16="http://schemas.microsoft.com/office/drawing/2014/main" val="20003"/>
                    </a:ext>
                  </a:extLst>
                </a:gridCol>
                <a:gridCol w="2744622">
                  <a:extLst>
                    <a:ext uri="{9D8B030D-6E8A-4147-A177-3AD203B41FA5}">
                      <a16:colId xmlns:a16="http://schemas.microsoft.com/office/drawing/2014/main" val="20004"/>
                    </a:ext>
                  </a:extLst>
                </a:gridCol>
              </a:tblGrid>
              <a:tr h="410210">
                <a:tc>
                  <a:txBody>
                    <a:bodyPr/>
                    <a:lstStyle/>
                    <a:p>
                      <a:pPr marL="0" indent="0">
                        <a:lnSpc>
                          <a:spcPts val="2100"/>
                        </a:lnSpc>
                        <a:buNone/>
                      </a:pPr>
                      <a:r>
                        <a:rPr lang="en-US" sz="1500" b="1" dirty="0">
                          <a:solidFill>
                            <a:srgbClr val="F7F3EA"/>
                          </a:solidFill>
                          <a:latin typeface="Arial" pitchFamily="34" charset="0"/>
                          <a:ea typeface="Arial" pitchFamily="34" charset="-122"/>
                          <a:cs typeface="Arial" pitchFamily="34" charset="-120"/>
                        </a:rPr>
                        <a:t>Placement</a:t>
                      </a:r>
                      <a:endParaRPr lang="en-US" sz="1500" dirty="0">
                        <a:latin typeface="Arial" charset="0"/>
                        <a:ea typeface="Arial" charset="0"/>
                        <a:cs typeface="Arial" charset="0"/>
                      </a:endParaRPr>
                    </a:p>
                  </a:txBody>
                  <a:tcPr marL="66675" marR="66675" marT="66675" marB="66675">
                    <a:lnL w="12700" cap="flat" cmpd="sng" algn="ctr">
                      <a:solidFill>
                        <a:srgbClr val="C5C2BB"/>
                      </a:solidFill>
                      <a:prstDash val="solid"/>
                      <a:round/>
                      <a:headEnd type="none" w="med" len="med"/>
                      <a:tailEnd type="none" w="med" len="med"/>
                    </a:lnL>
                    <a:lnR w="12700" cap="flat" cmpd="sng" algn="ctr">
                      <a:solidFill>
                        <a:srgbClr val="161410"/>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161410"/>
                      </a:solidFill>
                      <a:prstDash val="solid"/>
                      <a:round/>
                      <a:headEnd type="none" w="med" len="med"/>
                      <a:tailEnd type="none" w="med" len="med"/>
                    </a:lnB>
                    <a:solidFill>
                      <a:srgbClr val="17140F"/>
                    </a:solidFill>
                  </a:tcPr>
                </a:tc>
                <a:tc>
                  <a:txBody>
                    <a:bodyPr/>
                    <a:lstStyle/>
                    <a:p>
                      <a:pPr marL="0" indent="0">
                        <a:lnSpc>
                          <a:spcPts val="2100"/>
                        </a:lnSpc>
                        <a:buNone/>
                      </a:pPr>
                      <a:r>
                        <a:rPr lang="en-US" sz="1500" b="1" dirty="0">
                          <a:solidFill>
                            <a:srgbClr val="F7F3EA"/>
                          </a:solidFill>
                          <a:latin typeface="Arial" pitchFamily="34" charset="0"/>
                          <a:ea typeface="Arial" pitchFamily="34" charset="-122"/>
                          <a:cs typeface="Arial" pitchFamily="34" charset="-120"/>
                        </a:rPr>
                        <a:t>Spend</a:t>
                      </a:r>
                      <a:endParaRPr lang="en-US" sz="1500" dirty="0">
                        <a:latin typeface="Arial" charset="0"/>
                        <a:ea typeface="Arial" charset="0"/>
                        <a:cs typeface="Arial" charset="0"/>
                      </a:endParaRPr>
                    </a:p>
                  </a:txBody>
                  <a:tcPr marL="66675" marR="66675" marT="66675" marB="66675">
                    <a:lnL w="12700" cap="flat" cmpd="sng" algn="ctr">
                      <a:solidFill>
                        <a:srgbClr val="161410"/>
                      </a:solidFill>
                      <a:prstDash val="solid"/>
                      <a:round/>
                      <a:headEnd type="none" w="med" len="med"/>
                      <a:tailEnd type="none" w="med" len="med"/>
                    </a:lnL>
                    <a:lnR w="12700" cap="flat" cmpd="sng" algn="ctr">
                      <a:solidFill>
                        <a:srgbClr val="161410"/>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161410"/>
                      </a:solidFill>
                      <a:prstDash val="solid"/>
                      <a:round/>
                      <a:headEnd type="none" w="med" len="med"/>
                      <a:tailEnd type="none" w="med" len="med"/>
                    </a:lnB>
                    <a:solidFill>
                      <a:srgbClr val="17140F"/>
                    </a:solidFill>
                  </a:tcPr>
                </a:tc>
                <a:tc>
                  <a:txBody>
                    <a:bodyPr/>
                    <a:lstStyle/>
                    <a:p>
                      <a:pPr marL="0" indent="0">
                        <a:lnSpc>
                          <a:spcPts val="2100"/>
                        </a:lnSpc>
                        <a:buNone/>
                      </a:pPr>
                      <a:r>
                        <a:rPr lang="en-US" sz="1500" b="1" dirty="0">
                          <a:solidFill>
                            <a:srgbClr val="F7F3EA"/>
                          </a:solidFill>
                          <a:latin typeface="Arial" pitchFamily="34" charset="0"/>
                          <a:ea typeface="Arial" pitchFamily="34" charset="-122"/>
                          <a:cs typeface="Arial" pitchFamily="34" charset="-120"/>
                        </a:rPr>
                        <a:t>Share</a:t>
                      </a:r>
                      <a:endParaRPr lang="en-US" sz="1500" dirty="0">
                        <a:latin typeface="Arial" charset="0"/>
                        <a:ea typeface="Arial" charset="0"/>
                        <a:cs typeface="Arial" charset="0"/>
                      </a:endParaRPr>
                    </a:p>
                  </a:txBody>
                  <a:tcPr marL="66675" marR="66675" marT="66675" marB="66675">
                    <a:lnL w="12700" cap="flat" cmpd="sng" algn="ctr">
                      <a:solidFill>
                        <a:srgbClr val="161410"/>
                      </a:solidFill>
                      <a:prstDash val="solid"/>
                      <a:round/>
                      <a:headEnd type="none" w="med" len="med"/>
                      <a:tailEnd type="none" w="med" len="med"/>
                    </a:lnL>
                    <a:lnR w="12700" cap="flat" cmpd="sng" algn="ctr">
                      <a:solidFill>
                        <a:srgbClr val="161410"/>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161410"/>
                      </a:solidFill>
                      <a:prstDash val="solid"/>
                      <a:round/>
                      <a:headEnd type="none" w="med" len="med"/>
                      <a:tailEnd type="none" w="med" len="med"/>
                    </a:lnB>
                    <a:solidFill>
                      <a:srgbClr val="17140F"/>
                    </a:solidFill>
                  </a:tcPr>
                </a:tc>
                <a:tc>
                  <a:txBody>
                    <a:bodyPr/>
                    <a:lstStyle/>
                    <a:p>
                      <a:pPr marL="0" indent="0">
                        <a:lnSpc>
                          <a:spcPts val="2100"/>
                        </a:lnSpc>
                        <a:buNone/>
                      </a:pPr>
                      <a:r>
                        <a:rPr lang="en-US" sz="1500" b="1" dirty="0">
                          <a:solidFill>
                            <a:srgbClr val="F7F3EA"/>
                          </a:solidFill>
                          <a:latin typeface="Arial" pitchFamily="34" charset="0"/>
                          <a:ea typeface="Arial" pitchFamily="34" charset="-122"/>
                          <a:cs typeface="Arial" pitchFamily="34" charset="-120"/>
                        </a:rPr>
                        <a:t>Leads</a:t>
                      </a:r>
                      <a:endParaRPr lang="en-US" sz="1500" dirty="0">
                        <a:latin typeface="Arial" charset="0"/>
                        <a:ea typeface="Arial" charset="0"/>
                        <a:cs typeface="Arial" charset="0"/>
                      </a:endParaRPr>
                    </a:p>
                  </a:txBody>
                  <a:tcPr marL="66675" marR="66675" marT="66675" marB="66675">
                    <a:lnL w="12700" cap="flat" cmpd="sng" algn="ctr">
                      <a:solidFill>
                        <a:srgbClr val="161410"/>
                      </a:solidFill>
                      <a:prstDash val="solid"/>
                      <a:round/>
                      <a:headEnd type="none" w="med" len="med"/>
                      <a:tailEnd type="none" w="med" len="med"/>
                    </a:lnL>
                    <a:lnR w="12700" cap="flat" cmpd="sng" algn="ctr">
                      <a:solidFill>
                        <a:srgbClr val="161410"/>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161410"/>
                      </a:solidFill>
                      <a:prstDash val="solid"/>
                      <a:round/>
                      <a:headEnd type="none" w="med" len="med"/>
                      <a:tailEnd type="none" w="med" len="med"/>
                    </a:lnB>
                    <a:solidFill>
                      <a:srgbClr val="17140F"/>
                    </a:solidFill>
                  </a:tcPr>
                </a:tc>
                <a:tc>
                  <a:txBody>
                    <a:bodyPr/>
                    <a:lstStyle/>
                    <a:p>
                      <a:pPr marL="0" indent="0">
                        <a:lnSpc>
                          <a:spcPts val="2100"/>
                        </a:lnSpc>
                        <a:buNone/>
                      </a:pPr>
                      <a:r>
                        <a:rPr lang="en-US" sz="1500" b="1" dirty="0">
                          <a:solidFill>
                            <a:srgbClr val="F7F3EA"/>
                          </a:solidFill>
                          <a:latin typeface="Arial" pitchFamily="34" charset="0"/>
                          <a:ea typeface="Arial" pitchFamily="34" charset="-122"/>
                          <a:cs typeface="Arial" pitchFamily="34" charset="-120"/>
                        </a:rPr>
                        <a:t>Cost per lead</a:t>
                      </a:r>
                      <a:endParaRPr lang="en-US" sz="1500" dirty="0">
                        <a:latin typeface="Arial" charset="0"/>
                        <a:ea typeface="Arial" charset="0"/>
                        <a:cs typeface="Arial" charset="0"/>
                      </a:endParaRPr>
                    </a:p>
                  </a:txBody>
                  <a:tcPr marL="66675" marR="66675" marT="66675" marB="66675">
                    <a:lnL w="12700" cap="flat" cmpd="sng" algn="ctr">
                      <a:solidFill>
                        <a:srgbClr val="161410"/>
                      </a:solidFill>
                      <a:prstDash val="solid"/>
                      <a:round/>
                      <a:headEnd type="none" w="med" len="med"/>
                      <a:tailEnd type="none" w="med" len="med"/>
                    </a:lnL>
                    <a:lnR w="12700" cap="flat" cmpd="sng" algn="ctr">
                      <a:solidFill>
                        <a:srgbClr val="161410"/>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161410"/>
                      </a:solidFill>
                      <a:prstDash val="solid"/>
                      <a:round/>
                      <a:headEnd type="none" w="med" len="med"/>
                      <a:tailEnd type="none" w="med" len="med"/>
                    </a:lnB>
                    <a:solidFill>
                      <a:srgbClr val="17140F"/>
                    </a:solidFill>
                  </a:tcPr>
                </a:tc>
                <a:extLst>
                  <a:ext uri="{0D108BD9-81ED-4DB2-BD59-A6C34878D82A}">
                    <a16:rowId xmlns:a16="http://schemas.microsoft.com/office/drawing/2014/main" val="10000"/>
                  </a:ext>
                </a:extLst>
              </a:tr>
              <a:tr h="410210">
                <a:tc>
                  <a:txBody>
                    <a:bodyPr/>
                    <a:lstStyle/>
                    <a:p>
                      <a:pPr marL="0" indent="0">
                        <a:lnSpc>
                          <a:spcPts val="2100"/>
                        </a:lnSpc>
                        <a:buNone/>
                      </a:pPr>
                      <a:r>
                        <a:rPr lang="en-US" sz="1500" dirty="0">
                          <a:solidFill>
                            <a:srgbClr val="17140F"/>
                          </a:solidFill>
                          <a:latin typeface="Arial" pitchFamily="34" charset="0"/>
                          <a:ea typeface="Arial" pitchFamily="34" charset="-122"/>
                          <a:cs typeface="Arial" pitchFamily="34" charset="-120"/>
                        </a:rPr>
                        <a:t>Feed</a:t>
                      </a:r>
                      <a:endParaRPr lang="en-US" sz="1500" dirty="0">
                        <a:latin typeface="Arial" charset="0"/>
                        <a:ea typeface="Arial" charset="0"/>
                        <a:cs typeface="Arial" charset="0"/>
                      </a:endParaRPr>
                    </a:p>
                  </a:txBody>
                  <a:tcPr marL="66675" marR="66675" marT="66675" marB="66675">
                    <a:lnL w="12700" cap="flat" cmpd="sng" algn="ctr">
                      <a:solidFill>
                        <a:srgbClr val="C5C2BB"/>
                      </a:solidFill>
                      <a:prstDash val="solid"/>
                      <a:round/>
                      <a:headEnd type="none" w="med" len="med"/>
                      <a:tailEnd type="none" w="med" len="med"/>
                    </a:lnL>
                    <a:lnR w="12700" cap="flat" cmpd="sng" algn="ctr">
                      <a:solidFill>
                        <a:srgbClr val="C0AEA6"/>
                      </a:solidFill>
                      <a:prstDash val="solid"/>
                      <a:round/>
                      <a:headEnd type="none" w="med" len="med"/>
                      <a:tailEnd type="none" w="med" len="med"/>
                    </a:lnR>
                    <a:lnT w="12700" cap="flat" cmpd="sng" algn="ctr">
                      <a:solidFill>
                        <a:srgbClr val="161410"/>
                      </a:solidFill>
                      <a:prstDash val="solid"/>
                      <a:round/>
                      <a:headEnd type="none" w="med" len="med"/>
                      <a:tailEnd type="none" w="med" len="med"/>
                    </a:lnT>
                    <a:lnB w="12700" cap="flat" cmpd="sng" algn="ctr">
                      <a:solidFill>
                        <a:srgbClr val="C0AEA6"/>
                      </a:solidFill>
                      <a:prstDash val="solid"/>
                      <a:round/>
                      <a:headEnd type="none" w="med" len="med"/>
                      <a:tailEnd type="none" w="med" len="med"/>
                    </a:lnB>
                    <a:solidFill>
                      <a:srgbClr val="F0D9CF"/>
                    </a:solidFill>
                  </a:tcPr>
                </a:tc>
                <a:tc>
                  <a:txBody>
                    <a:bodyPr/>
                    <a:lstStyle/>
                    <a:p>
                      <a:pPr marL="0" indent="0">
                        <a:lnSpc>
                          <a:spcPts val="2100"/>
                        </a:lnSpc>
                        <a:buNone/>
                      </a:pPr>
                      <a:r>
                        <a:rPr lang="en-US" sz="1500" dirty="0">
                          <a:solidFill>
                            <a:srgbClr val="17140F"/>
                          </a:solidFill>
                          <a:latin typeface="Arial" pitchFamily="34" charset="0"/>
                          <a:ea typeface="Arial" pitchFamily="34" charset="-122"/>
                          <a:cs typeface="Arial" pitchFamily="34" charset="-120"/>
                        </a:rPr>
                        <a:t>₹5,48,073</a:t>
                      </a:r>
                      <a:endParaRPr lang="en-US" sz="1500" dirty="0">
                        <a:latin typeface="Arial" charset="0"/>
                        <a:ea typeface="Arial" charset="0"/>
                        <a:cs typeface="Arial" charset="0"/>
                      </a:endParaRPr>
                    </a:p>
                  </a:txBody>
                  <a:tcPr marL="66675" marR="66675" marT="66675" marB="66675">
                    <a:lnL w="12700" cap="flat" cmpd="sng" algn="ctr">
                      <a:solidFill>
                        <a:srgbClr val="C0AEA6"/>
                      </a:solidFill>
                      <a:prstDash val="solid"/>
                      <a:round/>
                      <a:headEnd type="none" w="med" len="med"/>
                      <a:tailEnd type="none" w="med" len="med"/>
                    </a:lnL>
                    <a:lnR w="12700" cap="flat" cmpd="sng" algn="ctr">
                      <a:solidFill>
                        <a:srgbClr val="C0AEA6"/>
                      </a:solidFill>
                      <a:prstDash val="solid"/>
                      <a:round/>
                      <a:headEnd type="none" w="med" len="med"/>
                      <a:tailEnd type="none" w="med" len="med"/>
                    </a:lnR>
                    <a:lnT w="12700" cap="flat" cmpd="sng" algn="ctr">
                      <a:solidFill>
                        <a:srgbClr val="161410"/>
                      </a:solidFill>
                      <a:prstDash val="solid"/>
                      <a:round/>
                      <a:headEnd type="none" w="med" len="med"/>
                      <a:tailEnd type="none" w="med" len="med"/>
                    </a:lnT>
                    <a:lnB w="12700" cap="flat" cmpd="sng" algn="ctr">
                      <a:solidFill>
                        <a:srgbClr val="C0AEA6"/>
                      </a:solidFill>
                      <a:prstDash val="solid"/>
                      <a:round/>
                      <a:headEnd type="none" w="med" len="med"/>
                      <a:tailEnd type="none" w="med" len="med"/>
                    </a:lnB>
                    <a:solidFill>
                      <a:srgbClr val="F0D9CF"/>
                    </a:solidFill>
                  </a:tcPr>
                </a:tc>
                <a:tc>
                  <a:txBody>
                    <a:bodyPr/>
                    <a:lstStyle/>
                    <a:p>
                      <a:pPr marL="0" indent="0">
                        <a:lnSpc>
                          <a:spcPts val="2100"/>
                        </a:lnSpc>
                        <a:buNone/>
                      </a:pPr>
                      <a:r>
                        <a:rPr lang="en-US" sz="1500" dirty="0">
                          <a:solidFill>
                            <a:srgbClr val="17140F"/>
                          </a:solidFill>
                          <a:latin typeface="Arial" pitchFamily="34" charset="0"/>
                          <a:ea typeface="Arial" pitchFamily="34" charset="-122"/>
                          <a:cs typeface="Arial" pitchFamily="34" charset="-120"/>
                        </a:rPr>
                        <a:t>36.7%</a:t>
                      </a:r>
                      <a:endParaRPr lang="en-US" sz="1500" dirty="0">
                        <a:latin typeface="Arial" charset="0"/>
                        <a:ea typeface="Arial" charset="0"/>
                        <a:cs typeface="Arial" charset="0"/>
                      </a:endParaRPr>
                    </a:p>
                  </a:txBody>
                  <a:tcPr marL="66675" marR="66675" marT="66675" marB="66675">
                    <a:lnL w="12700" cap="flat" cmpd="sng" algn="ctr">
                      <a:solidFill>
                        <a:srgbClr val="C0AEA6"/>
                      </a:solidFill>
                      <a:prstDash val="solid"/>
                      <a:round/>
                      <a:headEnd type="none" w="med" len="med"/>
                      <a:tailEnd type="none" w="med" len="med"/>
                    </a:lnL>
                    <a:lnR w="12700" cap="flat" cmpd="sng" algn="ctr">
                      <a:solidFill>
                        <a:srgbClr val="C0AEA6"/>
                      </a:solidFill>
                      <a:prstDash val="solid"/>
                      <a:round/>
                      <a:headEnd type="none" w="med" len="med"/>
                      <a:tailEnd type="none" w="med" len="med"/>
                    </a:lnR>
                    <a:lnT w="12700" cap="flat" cmpd="sng" algn="ctr">
                      <a:solidFill>
                        <a:srgbClr val="161410"/>
                      </a:solidFill>
                      <a:prstDash val="solid"/>
                      <a:round/>
                      <a:headEnd type="none" w="med" len="med"/>
                      <a:tailEnd type="none" w="med" len="med"/>
                    </a:lnT>
                    <a:lnB w="12700" cap="flat" cmpd="sng" algn="ctr">
                      <a:solidFill>
                        <a:srgbClr val="C0AEA6"/>
                      </a:solidFill>
                      <a:prstDash val="solid"/>
                      <a:round/>
                      <a:headEnd type="none" w="med" len="med"/>
                      <a:tailEnd type="none" w="med" len="med"/>
                    </a:lnB>
                    <a:solidFill>
                      <a:srgbClr val="F0D9CF"/>
                    </a:solidFill>
                  </a:tcPr>
                </a:tc>
                <a:tc>
                  <a:txBody>
                    <a:bodyPr/>
                    <a:lstStyle/>
                    <a:p>
                      <a:pPr marL="0" indent="0">
                        <a:lnSpc>
                          <a:spcPts val="2100"/>
                        </a:lnSpc>
                        <a:buNone/>
                      </a:pPr>
                      <a:r>
                        <a:rPr lang="en-US" sz="1500" dirty="0">
                          <a:solidFill>
                            <a:srgbClr val="17140F"/>
                          </a:solidFill>
                          <a:latin typeface="Arial" pitchFamily="34" charset="0"/>
                          <a:ea typeface="Arial" pitchFamily="34" charset="-122"/>
                          <a:cs typeface="Arial" pitchFamily="34" charset="-120"/>
                        </a:rPr>
                        <a:t>393</a:t>
                      </a:r>
                      <a:endParaRPr lang="en-US" sz="1500" dirty="0">
                        <a:latin typeface="Arial" charset="0"/>
                        <a:ea typeface="Arial" charset="0"/>
                        <a:cs typeface="Arial" charset="0"/>
                      </a:endParaRPr>
                    </a:p>
                  </a:txBody>
                  <a:tcPr marL="66675" marR="66675" marT="66675" marB="66675">
                    <a:lnL w="12700" cap="flat" cmpd="sng" algn="ctr">
                      <a:solidFill>
                        <a:srgbClr val="C0AEA6"/>
                      </a:solidFill>
                      <a:prstDash val="solid"/>
                      <a:round/>
                      <a:headEnd type="none" w="med" len="med"/>
                      <a:tailEnd type="none" w="med" len="med"/>
                    </a:lnL>
                    <a:lnR w="12700" cap="flat" cmpd="sng" algn="ctr">
                      <a:solidFill>
                        <a:srgbClr val="C0AEA6"/>
                      </a:solidFill>
                      <a:prstDash val="solid"/>
                      <a:round/>
                      <a:headEnd type="none" w="med" len="med"/>
                      <a:tailEnd type="none" w="med" len="med"/>
                    </a:lnR>
                    <a:lnT w="12700" cap="flat" cmpd="sng" algn="ctr">
                      <a:solidFill>
                        <a:srgbClr val="161410"/>
                      </a:solidFill>
                      <a:prstDash val="solid"/>
                      <a:round/>
                      <a:headEnd type="none" w="med" len="med"/>
                      <a:tailEnd type="none" w="med" len="med"/>
                    </a:lnT>
                    <a:lnB w="12700" cap="flat" cmpd="sng" algn="ctr">
                      <a:solidFill>
                        <a:srgbClr val="C0AEA6"/>
                      </a:solidFill>
                      <a:prstDash val="solid"/>
                      <a:round/>
                      <a:headEnd type="none" w="med" len="med"/>
                      <a:tailEnd type="none" w="med" len="med"/>
                    </a:lnB>
                    <a:solidFill>
                      <a:srgbClr val="F0D9CF"/>
                    </a:solidFill>
                  </a:tcPr>
                </a:tc>
                <a:tc>
                  <a:txBody>
                    <a:bodyPr/>
                    <a:lstStyle/>
                    <a:p>
                      <a:pPr marL="0" indent="0">
                        <a:lnSpc>
                          <a:spcPts val="2100"/>
                        </a:lnSpc>
                        <a:buNone/>
                      </a:pPr>
                      <a:r>
                        <a:rPr lang="en-US" sz="1500" dirty="0">
                          <a:solidFill>
                            <a:srgbClr val="B54A28"/>
                          </a:solidFill>
                          <a:latin typeface="Arial" pitchFamily="34" charset="0"/>
                          <a:ea typeface="Arial" pitchFamily="34" charset="-122"/>
                          <a:cs typeface="Arial" pitchFamily="34" charset="-120"/>
                        </a:rPr>
                        <a:t>₹1,395 — worst</a:t>
                      </a:r>
                      <a:endParaRPr lang="en-US" sz="1500" dirty="0">
                        <a:latin typeface="Arial" charset="0"/>
                        <a:ea typeface="Arial" charset="0"/>
                        <a:cs typeface="Arial" charset="0"/>
                      </a:endParaRPr>
                    </a:p>
                  </a:txBody>
                  <a:tcPr marL="66675" marR="66675" marT="66675" marB="66675">
                    <a:lnL w="12700" cap="flat" cmpd="sng" algn="ctr">
                      <a:solidFill>
                        <a:srgbClr val="C0AEA6"/>
                      </a:solidFill>
                      <a:prstDash val="solid"/>
                      <a:round/>
                      <a:headEnd type="none" w="med" len="med"/>
                      <a:tailEnd type="none" w="med" len="med"/>
                    </a:lnL>
                    <a:lnR w="12700" cap="flat" cmpd="sng" algn="ctr">
                      <a:solidFill>
                        <a:srgbClr val="C0AEA6"/>
                      </a:solidFill>
                      <a:prstDash val="solid"/>
                      <a:round/>
                      <a:headEnd type="none" w="med" len="med"/>
                      <a:tailEnd type="none" w="med" len="med"/>
                    </a:lnR>
                    <a:lnT w="12700" cap="flat" cmpd="sng" algn="ctr">
                      <a:solidFill>
                        <a:srgbClr val="161410"/>
                      </a:solidFill>
                      <a:prstDash val="solid"/>
                      <a:round/>
                      <a:headEnd type="none" w="med" len="med"/>
                      <a:tailEnd type="none" w="med" len="med"/>
                    </a:lnT>
                    <a:lnB w="12700" cap="flat" cmpd="sng" algn="ctr">
                      <a:solidFill>
                        <a:srgbClr val="C0AEA6"/>
                      </a:solidFill>
                      <a:prstDash val="solid"/>
                      <a:round/>
                      <a:headEnd type="none" w="med" len="med"/>
                      <a:tailEnd type="none" w="med" len="med"/>
                    </a:lnB>
                    <a:solidFill>
                      <a:srgbClr val="F0D9CF"/>
                    </a:solidFill>
                  </a:tcPr>
                </a:tc>
                <a:extLst>
                  <a:ext uri="{0D108BD9-81ED-4DB2-BD59-A6C34878D82A}">
                    <a16:rowId xmlns:a16="http://schemas.microsoft.com/office/drawing/2014/main" val="10001"/>
                  </a:ext>
                </a:extLst>
              </a:tr>
              <a:tr h="410210">
                <a:tc>
                  <a:txBody>
                    <a:bodyPr/>
                    <a:lstStyle/>
                    <a:p>
                      <a:pPr marL="0" indent="0">
                        <a:lnSpc>
                          <a:spcPts val="2100"/>
                        </a:lnSpc>
                        <a:buNone/>
                      </a:pPr>
                      <a:r>
                        <a:rPr lang="en-US" sz="1500" dirty="0">
                          <a:solidFill>
                            <a:srgbClr val="17140F"/>
                          </a:solidFill>
                          <a:latin typeface="Arial" pitchFamily="34" charset="0"/>
                          <a:ea typeface="Arial" pitchFamily="34" charset="-122"/>
                          <a:cs typeface="Arial" pitchFamily="34" charset="-120"/>
                        </a:rPr>
                        <a:t>Instagram Reels</a:t>
                      </a:r>
                      <a:endParaRPr lang="en-US" sz="1500" dirty="0">
                        <a:latin typeface="Arial" charset="0"/>
                        <a:ea typeface="Arial" charset="0"/>
                        <a:cs typeface="Arial" charset="0"/>
                      </a:endParaRPr>
                    </a:p>
                  </a:txBody>
                  <a:tcPr marL="66675" marR="66675" marT="66675" marB="66675">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0AEA6"/>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2100"/>
                        </a:lnSpc>
                        <a:buNone/>
                      </a:pPr>
                      <a:r>
                        <a:rPr lang="en-US" sz="1500" dirty="0">
                          <a:solidFill>
                            <a:srgbClr val="17140F"/>
                          </a:solidFill>
                          <a:latin typeface="Arial" pitchFamily="34" charset="0"/>
                          <a:ea typeface="Arial" pitchFamily="34" charset="-122"/>
                          <a:cs typeface="Arial" pitchFamily="34" charset="-120"/>
                        </a:rPr>
                        <a:t>₹4,28,107</a:t>
                      </a:r>
                      <a:endParaRPr lang="en-US" sz="1500" dirty="0">
                        <a:latin typeface="Arial" charset="0"/>
                        <a:ea typeface="Arial" charset="0"/>
                        <a:cs typeface="Arial" charset="0"/>
                      </a:endParaRPr>
                    </a:p>
                  </a:txBody>
                  <a:tcPr marL="66675" marR="66675" marT="66675" marB="66675">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0AEA6"/>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2100"/>
                        </a:lnSpc>
                        <a:buNone/>
                      </a:pPr>
                      <a:r>
                        <a:rPr lang="en-US" sz="1500" dirty="0">
                          <a:solidFill>
                            <a:srgbClr val="17140F"/>
                          </a:solidFill>
                          <a:latin typeface="Arial" pitchFamily="34" charset="0"/>
                          <a:ea typeface="Arial" pitchFamily="34" charset="-122"/>
                          <a:cs typeface="Arial" pitchFamily="34" charset="-120"/>
                        </a:rPr>
                        <a:t>28.7%</a:t>
                      </a:r>
                      <a:endParaRPr lang="en-US" sz="1500" dirty="0">
                        <a:latin typeface="Arial" charset="0"/>
                        <a:ea typeface="Arial" charset="0"/>
                        <a:cs typeface="Arial" charset="0"/>
                      </a:endParaRPr>
                    </a:p>
                  </a:txBody>
                  <a:tcPr marL="66675" marR="66675" marT="66675" marB="66675">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0AEA6"/>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2100"/>
                        </a:lnSpc>
                        <a:buNone/>
                      </a:pPr>
                      <a:r>
                        <a:rPr lang="en-US" sz="1500" dirty="0">
                          <a:solidFill>
                            <a:srgbClr val="17140F"/>
                          </a:solidFill>
                          <a:latin typeface="Arial" pitchFamily="34" charset="0"/>
                          <a:ea typeface="Arial" pitchFamily="34" charset="-122"/>
                          <a:cs typeface="Arial" pitchFamily="34" charset="-120"/>
                        </a:rPr>
                        <a:t>404</a:t>
                      </a:r>
                      <a:endParaRPr lang="en-US" sz="1500" dirty="0">
                        <a:latin typeface="Arial" charset="0"/>
                        <a:ea typeface="Arial" charset="0"/>
                        <a:cs typeface="Arial" charset="0"/>
                      </a:endParaRPr>
                    </a:p>
                  </a:txBody>
                  <a:tcPr marL="66675" marR="66675" marT="66675" marB="66675">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0AEA6"/>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2100"/>
                        </a:lnSpc>
                        <a:buNone/>
                      </a:pPr>
                      <a:r>
                        <a:rPr lang="en-US" sz="1500" dirty="0">
                          <a:solidFill>
                            <a:srgbClr val="17140F"/>
                          </a:solidFill>
                          <a:latin typeface="Arial" pitchFamily="34" charset="0"/>
                          <a:ea typeface="Arial" pitchFamily="34" charset="-122"/>
                          <a:cs typeface="Arial" pitchFamily="34" charset="-120"/>
                        </a:rPr>
                        <a:t>₹1,060</a:t>
                      </a:r>
                      <a:endParaRPr lang="en-US" sz="1500" dirty="0">
                        <a:latin typeface="Arial" charset="0"/>
                        <a:ea typeface="Arial" charset="0"/>
                        <a:cs typeface="Arial" charset="0"/>
                      </a:endParaRPr>
                    </a:p>
                  </a:txBody>
                  <a:tcPr marL="66675" marR="66675" marT="66675" marB="66675">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0AEA6"/>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extLst>
                  <a:ext uri="{0D108BD9-81ED-4DB2-BD59-A6C34878D82A}">
                    <a16:rowId xmlns:a16="http://schemas.microsoft.com/office/drawing/2014/main" val="10002"/>
                  </a:ext>
                </a:extLst>
              </a:tr>
              <a:tr h="410210">
                <a:tc>
                  <a:txBody>
                    <a:bodyPr/>
                    <a:lstStyle/>
                    <a:p>
                      <a:pPr marL="0" indent="0">
                        <a:lnSpc>
                          <a:spcPts val="2100"/>
                        </a:lnSpc>
                        <a:buNone/>
                      </a:pPr>
                      <a:r>
                        <a:rPr lang="en-US" sz="1500" dirty="0">
                          <a:solidFill>
                            <a:srgbClr val="17140F"/>
                          </a:solidFill>
                          <a:latin typeface="Arial" pitchFamily="34" charset="0"/>
                          <a:ea typeface="Arial" pitchFamily="34" charset="-122"/>
                          <a:cs typeface="Arial" pitchFamily="34" charset="-120"/>
                        </a:rPr>
                        <a:t>Instagram Stories</a:t>
                      </a:r>
                      <a:endParaRPr lang="en-US" sz="1500" dirty="0">
                        <a:latin typeface="Arial" charset="0"/>
                        <a:ea typeface="Arial" charset="0"/>
                        <a:cs typeface="Arial" charset="0"/>
                      </a:endParaRPr>
                    </a:p>
                  </a:txBody>
                  <a:tcPr marL="66675" marR="66675" marT="66675" marB="66675">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2100"/>
                        </a:lnSpc>
                        <a:buNone/>
                      </a:pPr>
                      <a:r>
                        <a:rPr lang="en-US" sz="1500" dirty="0">
                          <a:solidFill>
                            <a:srgbClr val="17140F"/>
                          </a:solidFill>
                          <a:latin typeface="Arial" pitchFamily="34" charset="0"/>
                          <a:ea typeface="Arial" pitchFamily="34" charset="-122"/>
                          <a:cs typeface="Arial" pitchFamily="34" charset="-120"/>
                        </a:rPr>
                        <a:t>₹2,94,803</a:t>
                      </a:r>
                      <a:endParaRPr lang="en-US" sz="1500" dirty="0">
                        <a:latin typeface="Arial" charset="0"/>
                        <a:ea typeface="Arial" charset="0"/>
                        <a:cs typeface="Arial" charset="0"/>
                      </a:endParaRPr>
                    </a:p>
                  </a:txBody>
                  <a:tcPr marL="66675" marR="66675" marT="66675" marB="66675">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2100"/>
                        </a:lnSpc>
                        <a:buNone/>
                      </a:pPr>
                      <a:r>
                        <a:rPr lang="en-US" sz="1500" dirty="0">
                          <a:solidFill>
                            <a:srgbClr val="17140F"/>
                          </a:solidFill>
                          <a:latin typeface="Arial" pitchFamily="34" charset="0"/>
                          <a:ea typeface="Arial" pitchFamily="34" charset="-122"/>
                          <a:cs typeface="Arial" pitchFamily="34" charset="-120"/>
                        </a:rPr>
                        <a:t>19.7%</a:t>
                      </a:r>
                      <a:endParaRPr lang="en-US" sz="1500" dirty="0">
                        <a:latin typeface="Arial" charset="0"/>
                        <a:ea typeface="Arial" charset="0"/>
                        <a:cs typeface="Arial" charset="0"/>
                      </a:endParaRPr>
                    </a:p>
                  </a:txBody>
                  <a:tcPr marL="66675" marR="66675" marT="66675" marB="66675">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2100"/>
                        </a:lnSpc>
                        <a:buNone/>
                      </a:pPr>
                      <a:r>
                        <a:rPr lang="en-US" sz="1500" dirty="0">
                          <a:solidFill>
                            <a:srgbClr val="17140F"/>
                          </a:solidFill>
                          <a:latin typeface="Arial" pitchFamily="34" charset="0"/>
                          <a:ea typeface="Arial" pitchFamily="34" charset="-122"/>
                          <a:cs typeface="Arial" pitchFamily="34" charset="-120"/>
                        </a:rPr>
                        <a:t>268</a:t>
                      </a:r>
                      <a:endParaRPr lang="en-US" sz="1500" dirty="0">
                        <a:latin typeface="Arial" charset="0"/>
                        <a:ea typeface="Arial" charset="0"/>
                        <a:cs typeface="Arial" charset="0"/>
                      </a:endParaRPr>
                    </a:p>
                  </a:txBody>
                  <a:tcPr marL="66675" marR="66675" marT="66675" marB="66675">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2100"/>
                        </a:lnSpc>
                        <a:buNone/>
                      </a:pPr>
                      <a:r>
                        <a:rPr lang="en-US" sz="1500" dirty="0">
                          <a:solidFill>
                            <a:srgbClr val="17140F"/>
                          </a:solidFill>
                          <a:latin typeface="Arial" pitchFamily="34" charset="0"/>
                          <a:ea typeface="Arial" pitchFamily="34" charset="-122"/>
                          <a:cs typeface="Arial" pitchFamily="34" charset="-120"/>
                        </a:rPr>
                        <a:t>₹1,100</a:t>
                      </a:r>
                      <a:endParaRPr lang="en-US" sz="1500" dirty="0">
                        <a:latin typeface="Arial" charset="0"/>
                        <a:ea typeface="Arial" charset="0"/>
                        <a:cs typeface="Arial" charset="0"/>
                      </a:endParaRPr>
                    </a:p>
                  </a:txBody>
                  <a:tcPr marL="66675" marR="66675" marT="66675" marB="66675">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extLst>
                  <a:ext uri="{0D108BD9-81ED-4DB2-BD59-A6C34878D82A}">
                    <a16:rowId xmlns:a16="http://schemas.microsoft.com/office/drawing/2014/main" val="10003"/>
                  </a:ext>
                </a:extLst>
              </a:tr>
              <a:tr h="410210">
                <a:tc>
                  <a:txBody>
                    <a:bodyPr/>
                    <a:lstStyle/>
                    <a:p>
                      <a:pPr marL="0" indent="0">
                        <a:lnSpc>
                          <a:spcPts val="2100"/>
                        </a:lnSpc>
                        <a:buNone/>
                      </a:pPr>
                      <a:r>
                        <a:rPr lang="en-US" sz="1500" dirty="0">
                          <a:solidFill>
                            <a:srgbClr val="17140F"/>
                          </a:solidFill>
                          <a:latin typeface="Arial" pitchFamily="34" charset="0"/>
                          <a:ea typeface="Arial" pitchFamily="34" charset="-122"/>
                          <a:cs typeface="Arial" pitchFamily="34" charset="-120"/>
                        </a:rPr>
                        <a:t>Facebook Reels</a:t>
                      </a:r>
                      <a:endParaRPr lang="en-US" sz="1500" dirty="0">
                        <a:latin typeface="Arial" charset="0"/>
                        <a:ea typeface="Arial" charset="0"/>
                        <a:cs typeface="Arial" charset="0"/>
                      </a:endParaRPr>
                    </a:p>
                  </a:txBody>
                  <a:tcPr marL="66675" marR="66675" marT="66675" marB="66675">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2100"/>
                        </a:lnSpc>
                        <a:buNone/>
                      </a:pPr>
                      <a:r>
                        <a:rPr lang="en-US" sz="1500" dirty="0">
                          <a:solidFill>
                            <a:srgbClr val="17140F"/>
                          </a:solidFill>
                          <a:latin typeface="Arial" pitchFamily="34" charset="0"/>
                          <a:ea typeface="Arial" pitchFamily="34" charset="-122"/>
                          <a:cs typeface="Arial" pitchFamily="34" charset="-120"/>
                        </a:rPr>
                        <a:t>₹1,48,209</a:t>
                      </a:r>
                      <a:endParaRPr lang="en-US" sz="1500" dirty="0">
                        <a:latin typeface="Arial" charset="0"/>
                        <a:ea typeface="Arial" charset="0"/>
                        <a:cs typeface="Arial" charset="0"/>
                      </a:endParaRPr>
                    </a:p>
                  </a:txBody>
                  <a:tcPr marL="66675" marR="66675" marT="66675" marB="66675">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2100"/>
                        </a:lnSpc>
                        <a:buNone/>
                      </a:pPr>
                      <a:r>
                        <a:rPr lang="en-US" sz="1500" dirty="0">
                          <a:solidFill>
                            <a:srgbClr val="17140F"/>
                          </a:solidFill>
                          <a:latin typeface="Arial" pitchFamily="34" charset="0"/>
                          <a:ea typeface="Arial" pitchFamily="34" charset="-122"/>
                          <a:cs typeface="Arial" pitchFamily="34" charset="-120"/>
                        </a:rPr>
                        <a:t>9.9%</a:t>
                      </a:r>
                      <a:endParaRPr lang="en-US" sz="1500" dirty="0">
                        <a:latin typeface="Arial" charset="0"/>
                        <a:ea typeface="Arial" charset="0"/>
                        <a:cs typeface="Arial" charset="0"/>
                      </a:endParaRPr>
                    </a:p>
                  </a:txBody>
                  <a:tcPr marL="66675" marR="66675" marT="66675" marB="66675">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2100"/>
                        </a:lnSpc>
                        <a:buNone/>
                      </a:pPr>
                      <a:r>
                        <a:rPr lang="en-US" sz="1500" dirty="0">
                          <a:solidFill>
                            <a:srgbClr val="17140F"/>
                          </a:solidFill>
                          <a:latin typeface="Arial" pitchFamily="34" charset="0"/>
                          <a:ea typeface="Arial" pitchFamily="34" charset="-122"/>
                          <a:cs typeface="Arial" pitchFamily="34" charset="-120"/>
                        </a:rPr>
                        <a:t>152</a:t>
                      </a:r>
                      <a:endParaRPr lang="en-US" sz="1500" dirty="0">
                        <a:latin typeface="Arial" charset="0"/>
                        <a:ea typeface="Arial" charset="0"/>
                        <a:cs typeface="Arial" charset="0"/>
                      </a:endParaRPr>
                    </a:p>
                  </a:txBody>
                  <a:tcPr marL="66675" marR="66675" marT="66675" marB="66675">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2100"/>
                        </a:lnSpc>
                        <a:buNone/>
                      </a:pPr>
                      <a:r>
                        <a:rPr lang="en-US" sz="1500" dirty="0">
                          <a:solidFill>
                            <a:srgbClr val="17140F"/>
                          </a:solidFill>
                          <a:latin typeface="Arial" pitchFamily="34" charset="0"/>
                          <a:ea typeface="Arial" pitchFamily="34" charset="-122"/>
                          <a:cs typeface="Arial" pitchFamily="34" charset="-120"/>
                        </a:rPr>
                        <a:t>₹975</a:t>
                      </a:r>
                      <a:endParaRPr lang="en-US" sz="1500" dirty="0">
                        <a:latin typeface="Arial" charset="0"/>
                        <a:ea typeface="Arial" charset="0"/>
                        <a:cs typeface="Arial" charset="0"/>
                      </a:endParaRPr>
                    </a:p>
                  </a:txBody>
                  <a:tcPr marL="66675" marR="66675" marT="66675" marB="66675">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extLst>
                  <a:ext uri="{0D108BD9-81ED-4DB2-BD59-A6C34878D82A}">
                    <a16:rowId xmlns:a16="http://schemas.microsoft.com/office/drawing/2014/main" val="10004"/>
                  </a:ext>
                </a:extLst>
              </a:tr>
              <a:tr h="410210">
                <a:tc>
                  <a:txBody>
                    <a:bodyPr/>
                    <a:lstStyle/>
                    <a:p>
                      <a:pPr marL="0" indent="0">
                        <a:lnSpc>
                          <a:spcPts val="2100"/>
                        </a:lnSpc>
                        <a:buNone/>
                      </a:pPr>
                      <a:r>
                        <a:rPr lang="en-US" sz="1500" dirty="0">
                          <a:solidFill>
                            <a:srgbClr val="17140F"/>
                          </a:solidFill>
                          <a:latin typeface="Arial" pitchFamily="34" charset="0"/>
                          <a:ea typeface="Arial" pitchFamily="34" charset="-122"/>
                          <a:cs typeface="Arial" pitchFamily="34" charset="-120"/>
                        </a:rPr>
                        <a:t>Facebook Stories</a:t>
                      </a:r>
                      <a:endParaRPr lang="en-US" sz="1500" dirty="0">
                        <a:latin typeface="Arial" charset="0"/>
                        <a:ea typeface="Arial" charset="0"/>
                        <a:cs typeface="Arial" charset="0"/>
                      </a:endParaRPr>
                    </a:p>
                  </a:txBody>
                  <a:tcPr marL="66675" marR="66675" marT="66675" marB="66675">
                    <a:lnL w="12700" cap="flat" cmpd="sng" algn="ctr">
                      <a:solidFill>
                        <a:srgbClr val="C5C2BB"/>
                      </a:solidFill>
                      <a:prstDash val="solid"/>
                      <a:round/>
                      <a:headEnd type="none" w="med" len="med"/>
                      <a:tailEnd type="none" w="med" len="med"/>
                    </a:lnL>
                    <a:lnR w="12700" cap="flat" cmpd="sng" algn="ctr">
                      <a:solidFill>
                        <a:srgbClr val="B9B4A9"/>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B9B4A9"/>
                      </a:solidFill>
                      <a:prstDash val="solid"/>
                      <a:round/>
                      <a:headEnd type="none" w="med" len="med"/>
                      <a:tailEnd type="none" w="med" len="med"/>
                    </a:lnB>
                    <a:solidFill>
                      <a:srgbClr val="E8E1D3"/>
                    </a:solidFill>
                  </a:tcPr>
                </a:tc>
                <a:tc>
                  <a:txBody>
                    <a:bodyPr/>
                    <a:lstStyle/>
                    <a:p>
                      <a:pPr marL="0" indent="0">
                        <a:lnSpc>
                          <a:spcPts val="2100"/>
                        </a:lnSpc>
                        <a:buNone/>
                      </a:pPr>
                      <a:r>
                        <a:rPr lang="en-US" sz="1500" dirty="0">
                          <a:solidFill>
                            <a:srgbClr val="17140F"/>
                          </a:solidFill>
                          <a:latin typeface="Arial" pitchFamily="34" charset="0"/>
                          <a:ea typeface="Arial" pitchFamily="34" charset="-122"/>
                          <a:cs typeface="Arial" pitchFamily="34" charset="-120"/>
                        </a:rPr>
                        <a:t>₹15,787</a:t>
                      </a:r>
                      <a:endParaRPr lang="en-US" sz="1500" dirty="0">
                        <a:latin typeface="Arial" charset="0"/>
                        <a:ea typeface="Arial" charset="0"/>
                        <a:cs typeface="Arial" charset="0"/>
                      </a:endParaRPr>
                    </a:p>
                  </a:txBody>
                  <a:tcPr marL="66675" marR="66675" marT="66675" marB="66675">
                    <a:lnL w="12700" cap="flat" cmpd="sng" algn="ctr">
                      <a:solidFill>
                        <a:srgbClr val="B9B4A9"/>
                      </a:solidFill>
                      <a:prstDash val="solid"/>
                      <a:round/>
                      <a:headEnd type="none" w="med" len="med"/>
                      <a:tailEnd type="none" w="med" len="med"/>
                    </a:lnL>
                    <a:lnR w="12700" cap="flat" cmpd="sng" algn="ctr">
                      <a:solidFill>
                        <a:srgbClr val="B9B4A9"/>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B9B4A9"/>
                      </a:solidFill>
                      <a:prstDash val="solid"/>
                      <a:round/>
                      <a:headEnd type="none" w="med" len="med"/>
                      <a:tailEnd type="none" w="med" len="med"/>
                    </a:lnB>
                    <a:solidFill>
                      <a:srgbClr val="E8E1D3"/>
                    </a:solidFill>
                  </a:tcPr>
                </a:tc>
                <a:tc>
                  <a:txBody>
                    <a:bodyPr/>
                    <a:lstStyle/>
                    <a:p>
                      <a:pPr marL="0" indent="0">
                        <a:lnSpc>
                          <a:spcPts val="2100"/>
                        </a:lnSpc>
                        <a:buNone/>
                      </a:pPr>
                      <a:r>
                        <a:rPr lang="en-US" sz="1500" dirty="0">
                          <a:solidFill>
                            <a:srgbClr val="17140F"/>
                          </a:solidFill>
                          <a:latin typeface="Arial" pitchFamily="34" charset="0"/>
                          <a:ea typeface="Arial" pitchFamily="34" charset="-122"/>
                          <a:cs typeface="Arial" pitchFamily="34" charset="-120"/>
                        </a:rPr>
                        <a:t>1.1%</a:t>
                      </a:r>
                      <a:endParaRPr lang="en-US" sz="1500" dirty="0">
                        <a:latin typeface="Arial" charset="0"/>
                        <a:ea typeface="Arial" charset="0"/>
                        <a:cs typeface="Arial" charset="0"/>
                      </a:endParaRPr>
                    </a:p>
                  </a:txBody>
                  <a:tcPr marL="66675" marR="66675" marT="66675" marB="66675">
                    <a:lnL w="12700" cap="flat" cmpd="sng" algn="ctr">
                      <a:solidFill>
                        <a:srgbClr val="B9B4A9"/>
                      </a:solidFill>
                      <a:prstDash val="solid"/>
                      <a:round/>
                      <a:headEnd type="none" w="med" len="med"/>
                      <a:tailEnd type="none" w="med" len="med"/>
                    </a:lnL>
                    <a:lnR w="12700" cap="flat" cmpd="sng" algn="ctr">
                      <a:solidFill>
                        <a:srgbClr val="B9B4A9"/>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B9B4A9"/>
                      </a:solidFill>
                      <a:prstDash val="solid"/>
                      <a:round/>
                      <a:headEnd type="none" w="med" len="med"/>
                      <a:tailEnd type="none" w="med" len="med"/>
                    </a:lnB>
                    <a:solidFill>
                      <a:srgbClr val="E8E1D3"/>
                    </a:solidFill>
                  </a:tcPr>
                </a:tc>
                <a:tc>
                  <a:txBody>
                    <a:bodyPr/>
                    <a:lstStyle/>
                    <a:p>
                      <a:pPr marL="0" indent="0">
                        <a:lnSpc>
                          <a:spcPts val="2100"/>
                        </a:lnSpc>
                        <a:buNone/>
                      </a:pPr>
                      <a:r>
                        <a:rPr lang="en-US" sz="1500" dirty="0">
                          <a:solidFill>
                            <a:srgbClr val="17140F"/>
                          </a:solidFill>
                          <a:latin typeface="Arial" pitchFamily="34" charset="0"/>
                          <a:ea typeface="Arial" pitchFamily="34" charset="-122"/>
                          <a:cs typeface="Arial" pitchFamily="34" charset="-120"/>
                        </a:rPr>
                        <a:t>37</a:t>
                      </a:r>
                      <a:endParaRPr lang="en-US" sz="1500" dirty="0">
                        <a:latin typeface="Arial" charset="0"/>
                        <a:ea typeface="Arial" charset="0"/>
                        <a:cs typeface="Arial" charset="0"/>
                      </a:endParaRPr>
                    </a:p>
                  </a:txBody>
                  <a:tcPr marL="66675" marR="66675" marT="66675" marB="66675">
                    <a:lnL w="12700" cap="flat" cmpd="sng" algn="ctr">
                      <a:solidFill>
                        <a:srgbClr val="B9B4A9"/>
                      </a:solidFill>
                      <a:prstDash val="solid"/>
                      <a:round/>
                      <a:headEnd type="none" w="med" len="med"/>
                      <a:tailEnd type="none" w="med" len="med"/>
                    </a:lnL>
                    <a:lnR w="12700" cap="flat" cmpd="sng" algn="ctr">
                      <a:solidFill>
                        <a:srgbClr val="B9B4A9"/>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B9B4A9"/>
                      </a:solidFill>
                      <a:prstDash val="solid"/>
                      <a:round/>
                      <a:headEnd type="none" w="med" len="med"/>
                      <a:tailEnd type="none" w="med" len="med"/>
                    </a:lnB>
                    <a:solidFill>
                      <a:srgbClr val="E8E1D3"/>
                    </a:solidFill>
                  </a:tcPr>
                </a:tc>
                <a:tc>
                  <a:txBody>
                    <a:bodyPr/>
                    <a:lstStyle/>
                    <a:p>
                      <a:pPr marL="0" indent="0">
                        <a:lnSpc>
                          <a:spcPts val="2100"/>
                        </a:lnSpc>
                        <a:buNone/>
                      </a:pPr>
                      <a:r>
                        <a:rPr lang="en-US" sz="1500" dirty="0">
                          <a:solidFill>
                            <a:srgbClr val="17140F"/>
                          </a:solidFill>
                          <a:latin typeface="Arial" pitchFamily="34" charset="0"/>
                          <a:ea typeface="Arial" pitchFamily="34" charset="-122"/>
                          <a:cs typeface="Arial" pitchFamily="34" charset="-120"/>
                        </a:rPr>
                        <a:t>₹427 — best</a:t>
                      </a:r>
                      <a:endParaRPr lang="en-US" sz="1500" dirty="0">
                        <a:latin typeface="Arial" charset="0"/>
                        <a:ea typeface="Arial" charset="0"/>
                        <a:cs typeface="Arial" charset="0"/>
                      </a:endParaRPr>
                    </a:p>
                  </a:txBody>
                  <a:tcPr marL="66675" marR="66675" marT="66675" marB="66675">
                    <a:lnL w="12700" cap="flat" cmpd="sng" algn="ctr">
                      <a:solidFill>
                        <a:srgbClr val="B9B4A9"/>
                      </a:solidFill>
                      <a:prstDash val="solid"/>
                      <a:round/>
                      <a:headEnd type="none" w="med" len="med"/>
                      <a:tailEnd type="none" w="med" len="med"/>
                    </a:lnL>
                    <a:lnR w="12700" cap="flat" cmpd="sng" algn="ctr">
                      <a:solidFill>
                        <a:srgbClr val="B9B4A9"/>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B9B4A9"/>
                      </a:solidFill>
                      <a:prstDash val="solid"/>
                      <a:round/>
                      <a:headEnd type="none" w="med" len="med"/>
                      <a:tailEnd type="none" w="med" len="med"/>
                    </a:lnB>
                    <a:solidFill>
                      <a:srgbClr val="E8E1D3"/>
                    </a:solidFill>
                  </a:tcPr>
                </a:tc>
                <a:extLst>
                  <a:ext uri="{0D108BD9-81ED-4DB2-BD59-A6C34878D82A}">
                    <a16:rowId xmlns:a16="http://schemas.microsoft.com/office/drawing/2014/main" val="10005"/>
                  </a:ext>
                </a:extLst>
              </a:tr>
            </a:tbl>
          </a:graphicData>
        </a:graphic>
      </p:graphicFrame>
      <p:sp>
        <p:nvSpPr>
          <p:cNvPr id="4" name="Text 1"/>
          <p:cNvSpPr/>
          <p:nvPr/>
        </p:nvSpPr>
        <p:spPr>
          <a:xfrm>
            <a:off x="812800" y="4378958"/>
            <a:ext cx="10333990" cy="964565"/>
          </a:xfrm>
          <a:prstGeom prst="rect">
            <a:avLst/>
          </a:prstGeom>
          <a:noFill/>
          <a:ln/>
        </p:spPr>
        <p:txBody>
          <a:bodyPr wrap="square" lIns="0" tIns="0" rIns="0" bIns="0" rtlCol="0" anchor="t">
            <a:normAutofit/>
          </a:bodyPr>
          <a:lstStyle/>
          <a:p>
            <a:pPr marL="0" indent="0" algn="l">
              <a:lnSpc>
                <a:spcPts val="2465"/>
              </a:lnSpc>
              <a:buNone/>
            </a:pPr>
            <a:r>
              <a:rPr lang="en-US" sz="1700" dirty="0">
                <a:solidFill>
                  <a:srgbClr val="5C5344"/>
                </a:solidFill>
                <a:latin typeface="Arial" pitchFamily="34" charset="0"/>
                <a:ea typeface="Arial" pitchFamily="34" charset="-122"/>
                <a:cs typeface="Arial" pitchFamily="34" charset="-120"/>
              </a:rPr>
              <a:t>Feed absorbs more than a third of the budget and returns the most expensive leads of the four major placements. Moving that budget to Instagram Reels at its own historical rate implies roughly </a:t>
            </a:r>
            <a:r>
              <a:rPr lang="en-US" sz="1700" b="1" dirty="0">
                <a:solidFill>
                  <a:srgbClr val="5C5344"/>
                </a:solidFill>
                <a:latin typeface="Arial" pitchFamily="34" charset="0"/>
                <a:ea typeface="Arial" pitchFamily="34" charset="-122"/>
                <a:cs typeface="Arial" pitchFamily="34" charset="-120"/>
              </a:rPr>
              <a:t>124 more leads for the same money</a:t>
            </a:r>
            <a:r>
              <a:rPr lang="en-US" sz="1700" dirty="0">
                <a:solidFill>
                  <a:srgbClr val="5C5344"/>
                </a:solidFill>
                <a:latin typeface="Arial" pitchFamily="34" charset="0"/>
                <a:ea typeface="Arial" pitchFamily="34" charset="-122"/>
                <a:cs typeface="Arial" pitchFamily="34" charset="-120"/>
              </a:rPr>
              <a:t>.</a:t>
            </a:r>
            <a:endParaRPr lang="en-US" sz="1700" dirty="0"/>
          </a:p>
        </p:txBody>
      </p:sp>
      <p:sp>
        <p:nvSpPr>
          <p:cNvPr id="5" name="Text 2"/>
          <p:cNvSpPr/>
          <p:nvPr/>
        </p:nvSpPr>
        <p:spPr>
          <a:xfrm>
            <a:off x="812800" y="6238242"/>
            <a:ext cx="853077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071"/>
                </a:solidFill>
                <a:latin typeface="Arial" pitchFamily="34" charset="0"/>
                <a:ea typeface="Arial" pitchFamily="34" charset="-122"/>
                <a:cs typeface="Arial" pitchFamily="34" charset="-120"/>
              </a:rPr>
              <a:t>Source: Meta Ads Manager, placement breakdown. Top five of 26 placements shown; these carry 99.6% of recorded leads.</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C9A63C"/>
        </a:solidFill>
        <a:effectLst/>
      </p:bgPr>
    </p:bg>
    <p:spTree>
      <p:nvGrpSpPr>
        <p:cNvPr id="1" name=""/>
        <p:cNvGrpSpPr/>
        <p:nvPr/>
      </p:nvGrpSpPr>
      <p:grpSpPr>
        <a:xfrm>
          <a:off x="0" y="0"/>
          <a:ext cx="0" cy="0"/>
          <a:chOff x="0" y="0"/>
          <a:chExt cx="0" cy="0"/>
        </a:xfrm>
      </p:grpSpPr>
      <p:sp>
        <p:nvSpPr>
          <p:cNvPr id="2" name="Text 0"/>
          <p:cNvSpPr/>
          <p:nvPr/>
        </p:nvSpPr>
        <p:spPr>
          <a:xfrm>
            <a:off x="812800" y="1683383"/>
            <a:ext cx="10883392" cy="274320"/>
          </a:xfrm>
          <a:prstGeom prst="rect">
            <a:avLst/>
          </a:prstGeom>
          <a:noFill/>
          <a:ln/>
        </p:spPr>
        <p:txBody>
          <a:bodyPr wrap="square" lIns="0" tIns="0" rIns="0" bIns="0" rtlCol="0" anchor="t">
            <a:normAutofit/>
          </a:bodyPr>
          <a:lstStyle/>
          <a:p>
            <a:pPr marL="0" indent="0" algn="l">
              <a:lnSpc>
                <a:spcPts val="1960"/>
              </a:lnSpc>
              <a:buNone/>
            </a:pPr>
            <a:r>
              <a:rPr lang="en-US" sz="1400" kern="0" spc="200" dirty="0">
                <a:solidFill>
                  <a:srgbClr val="17140F"/>
                </a:solidFill>
                <a:latin typeface="Arial" pitchFamily="34" charset="0"/>
                <a:ea typeface="Arial" pitchFamily="34" charset="-122"/>
                <a:cs typeface="Arial" pitchFamily="34" charset="-120"/>
              </a:rPr>
              <a:t>FACEBOOK STORIES</a:t>
            </a:r>
            <a:endParaRPr lang="en-US" sz="1400" dirty="0"/>
          </a:p>
        </p:txBody>
      </p:sp>
      <p:sp>
        <p:nvSpPr>
          <p:cNvPr id="3" name="Text 1"/>
          <p:cNvSpPr/>
          <p:nvPr/>
        </p:nvSpPr>
        <p:spPr>
          <a:xfrm>
            <a:off x="812800" y="2186310"/>
            <a:ext cx="10883392" cy="1041400"/>
          </a:xfrm>
          <a:prstGeom prst="rect">
            <a:avLst/>
          </a:prstGeom>
          <a:noFill/>
          <a:ln/>
        </p:spPr>
        <p:txBody>
          <a:bodyPr wrap="square" lIns="0" tIns="0" rIns="0" bIns="0" rtlCol="0" anchor="t">
            <a:normAutofit/>
          </a:bodyPr>
          <a:lstStyle/>
          <a:p>
            <a:pPr marL="0" indent="0" algn="l">
              <a:lnSpc>
                <a:spcPts val="8000"/>
              </a:lnSpc>
              <a:buNone/>
            </a:pPr>
            <a:r>
              <a:rPr lang="en-US" sz="8000" dirty="0">
                <a:solidFill>
                  <a:srgbClr val="17140F"/>
                </a:solidFill>
                <a:latin typeface="Georgia" pitchFamily="34" charset="0"/>
                <a:ea typeface="Georgia" pitchFamily="34" charset="-122"/>
                <a:cs typeface="Georgia" pitchFamily="34" charset="-120"/>
              </a:rPr>
              <a:t>₹427 a lead</a:t>
            </a:r>
            <a:endParaRPr lang="en-US" sz="8000" dirty="0"/>
          </a:p>
        </p:txBody>
      </p:sp>
      <p:sp>
        <p:nvSpPr>
          <p:cNvPr id="4" name="Text 2"/>
          <p:cNvSpPr/>
          <p:nvPr/>
        </p:nvSpPr>
        <p:spPr>
          <a:xfrm>
            <a:off x="812800" y="3456310"/>
            <a:ext cx="10203180" cy="402590"/>
          </a:xfrm>
          <a:prstGeom prst="rect">
            <a:avLst/>
          </a:prstGeom>
          <a:noFill/>
          <a:ln/>
        </p:spPr>
        <p:txBody>
          <a:bodyPr wrap="square" lIns="0" tIns="0" rIns="0" bIns="0" rtlCol="0" anchor="t">
            <a:normAutofit/>
          </a:bodyPr>
          <a:lstStyle/>
          <a:p>
            <a:pPr marL="0" indent="0" algn="l">
              <a:lnSpc>
                <a:spcPts val="2970"/>
              </a:lnSpc>
              <a:buNone/>
            </a:pPr>
            <a:r>
              <a:rPr lang="en-US" sz="2200" dirty="0">
                <a:solidFill>
                  <a:srgbClr val="17140F"/>
                </a:solidFill>
                <a:latin typeface="Arial" pitchFamily="34" charset="0"/>
                <a:ea typeface="Arial" pitchFamily="34" charset="-122"/>
                <a:cs typeface="Arial" pitchFamily="34" charset="-120"/>
              </a:rPr>
              <a:t>The cheapest lead in the entire account, on </a:t>
            </a:r>
            <a:r>
              <a:rPr lang="en-US" sz="2200" b="1" dirty="0">
                <a:solidFill>
                  <a:srgbClr val="17140F"/>
                </a:solidFill>
                <a:latin typeface="Arial" pitchFamily="34" charset="0"/>
                <a:ea typeface="Arial" pitchFamily="34" charset="-122"/>
                <a:cs typeface="Arial" pitchFamily="34" charset="-120"/>
              </a:rPr>
              <a:t>1.1% of the budget</a:t>
            </a:r>
            <a:r>
              <a:rPr lang="en-US" sz="2200" dirty="0">
                <a:solidFill>
                  <a:srgbClr val="17140F"/>
                </a:solidFill>
                <a:latin typeface="Arial" pitchFamily="34" charset="0"/>
                <a:ea typeface="Arial" pitchFamily="34" charset="-122"/>
                <a:cs typeface="Arial" pitchFamily="34" charset="-120"/>
              </a:rPr>
              <a:t>.</a:t>
            </a:r>
            <a:endParaRPr lang="en-US" sz="2200" dirty="0"/>
          </a:p>
        </p:txBody>
      </p:sp>
      <p:sp>
        <p:nvSpPr>
          <p:cNvPr id="5" name="Text 3"/>
          <p:cNvSpPr/>
          <p:nvPr/>
        </p:nvSpPr>
        <p:spPr>
          <a:xfrm>
            <a:off x="812800" y="4087502"/>
            <a:ext cx="9941560" cy="909320"/>
          </a:xfrm>
          <a:prstGeom prst="rect">
            <a:avLst/>
          </a:prstGeom>
          <a:noFill/>
          <a:ln/>
        </p:spPr>
        <p:txBody>
          <a:bodyPr wrap="square" lIns="0" tIns="0" rIns="0" bIns="0" rtlCol="0" anchor="t">
            <a:normAutofit/>
          </a:bodyPr>
          <a:lstStyle/>
          <a:p>
            <a:pPr marL="0" indent="0" algn="l">
              <a:lnSpc>
                <a:spcPts val="2320"/>
              </a:lnSpc>
              <a:buNone/>
            </a:pPr>
            <a:r>
              <a:rPr lang="en-US" sz="1600" dirty="0">
                <a:solidFill>
                  <a:srgbClr val="17140F"/>
                </a:solidFill>
                <a:latin typeface="Arial" pitchFamily="34" charset="0"/>
                <a:ea typeface="Arial" pitchFamily="34" charset="-122"/>
                <a:cs typeface="Arial" pitchFamily="34" charset="-120"/>
              </a:rPr>
              <a:t>Thirty-seven leads from ₹15,787. It is a small sample and it may not hold at scale — which is exactly why it should have been tested properly a year ago. Instead it has been left as a rounding error while Feed spent thirty-five times as much at three times the cost.</a:t>
            </a:r>
            <a:endParaRPr lang="en-US" sz="1600" dirty="0"/>
          </a:p>
        </p:txBody>
      </p:sp>
      <p:sp>
        <p:nvSpPr>
          <p:cNvPr id="6" name="Text 4"/>
          <p:cNvSpPr/>
          <p:nvPr/>
        </p:nvSpPr>
        <p:spPr>
          <a:xfrm>
            <a:off x="812800" y="6238242"/>
            <a:ext cx="8088637"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5A1F"/>
                </a:solidFill>
                <a:latin typeface="Arial" pitchFamily="34" charset="0"/>
                <a:ea typeface="Arial" pitchFamily="34" charset="-122"/>
                <a:cs typeface="Arial" pitchFamily="34" charset="-120"/>
              </a:rPr>
              <a:t>Source: Meta Ads Manager, placement breakdown. 37 leads is a small base; treat as a test signal, not a proven rate.</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3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954881"/>
          </a:xfrm>
          <a:prstGeom prst="rect">
            <a:avLst/>
          </a:prstGeom>
          <a:noFill/>
          <a:ln/>
        </p:spPr>
        <p:txBody>
          <a:bodyPr wrap="square" lIns="0" tIns="0" rIns="0" bIns="0" rtlCol="0" anchor="t">
            <a:normAutofit/>
          </a:bodyPr>
          <a:lstStyle/>
          <a:p>
            <a:pPr marL="0" indent="0" algn="l">
              <a:lnSpc>
                <a:spcPts val="3653"/>
              </a:lnSpc>
              <a:buNone/>
            </a:pPr>
            <a:r>
              <a:rPr lang="en-US" sz="3479" dirty="0">
                <a:solidFill>
                  <a:srgbClr val="17140F"/>
                </a:solidFill>
                <a:latin typeface="Georgia" pitchFamily="34" charset="0"/>
                <a:ea typeface="Georgia" pitchFamily="34" charset="-122"/>
                <a:cs typeface="Georgia" pitchFamily="34" charset="-120"/>
              </a:rPr>
              <a:t>One account, four different jobs, no consistent strategy</a:t>
            </a:r>
            <a:endParaRPr lang="en-US" sz="3479" dirty="0"/>
          </a:p>
        </p:txBody>
      </p:sp>
      <p:sp>
        <p:nvSpPr>
          <p:cNvPr id="3" name="Shape 1"/>
          <p:cNvSpPr/>
          <p:nvPr/>
        </p:nvSpPr>
        <p:spPr>
          <a:xfrm>
            <a:off x="815975" y="2024856"/>
            <a:ext cx="3383677" cy="1580912"/>
          </a:xfrm>
          <a:prstGeom prst="roundRect">
            <a:avLst>
              <a:gd name="adj" fmla="val 6226"/>
            </a:avLst>
          </a:prstGeom>
          <a:solidFill>
            <a:srgbClr val="FFFFFF"/>
          </a:solidFill>
          <a:ln w="6350">
            <a:solidFill>
              <a:srgbClr val="DDD5C5"/>
            </a:solidFill>
            <a:prstDash val="solid"/>
          </a:ln>
        </p:spPr>
      </p:sp>
      <p:sp>
        <p:nvSpPr>
          <p:cNvPr id="4" name="Text 2"/>
          <p:cNvSpPr/>
          <p:nvPr/>
        </p:nvSpPr>
        <p:spPr>
          <a:xfrm>
            <a:off x="1097280" y="2306166"/>
            <a:ext cx="2905699" cy="340360"/>
          </a:xfrm>
          <a:prstGeom prst="rect">
            <a:avLst/>
          </a:prstGeom>
          <a:noFill/>
          <a:ln/>
        </p:spPr>
        <p:txBody>
          <a:bodyPr wrap="square" lIns="0" tIns="0" rIns="0" bIns="0" rtlCol="0" anchor="t">
            <a:normAutofit/>
          </a:bodyPr>
          <a:lstStyle/>
          <a:p>
            <a:pPr marL="0" indent="0" algn="l">
              <a:lnSpc>
                <a:spcPts val="1564"/>
              </a:lnSpc>
              <a:buNone/>
            </a:pPr>
            <a:r>
              <a:rPr lang="en-US" sz="1117" dirty="0">
                <a:solidFill>
                  <a:srgbClr val="5C5344"/>
                </a:solidFill>
                <a:latin typeface="Arial" pitchFamily="34" charset="0"/>
                <a:ea typeface="Arial" pitchFamily="34" charset="-122"/>
                <a:cs typeface="Arial" pitchFamily="34" charset="-120"/>
              </a:rPr>
              <a:t>Cheapest month, cost per 1,000 impressions</a:t>
            </a:r>
            <a:endParaRPr lang="en-US" sz="1117" dirty="0"/>
          </a:p>
        </p:txBody>
      </p:sp>
      <p:sp>
        <p:nvSpPr>
          <p:cNvPr id="5" name="Text 3"/>
          <p:cNvSpPr/>
          <p:nvPr/>
        </p:nvSpPr>
        <p:spPr>
          <a:xfrm>
            <a:off x="1097280" y="2684624"/>
            <a:ext cx="2905699" cy="444262"/>
          </a:xfrm>
          <a:prstGeom prst="rect">
            <a:avLst/>
          </a:prstGeom>
          <a:noFill/>
          <a:ln/>
        </p:spPr>
        <p:txBody>
          <a:bodyPr wrap="square" lIns="0" tIns="0" rIns="0" bIns="0" rtlCol="0" anchor="t">
            <a:normAutofit/>
          </a:bodyPr>
          <a:lstStyle/>
          <a:p>
            <a:pPr marL="0" indent="0" algn="l">
              <a:lnSpc>
                <a:spcPts val="3312"/>
              </a:lnSpc>
              <a:buNone/>
            </a:pPr>
            <a:r>
              <a:rPr lang="en-US" sz="3011" dirty="0">
                <a:solidFill>
                  <a:srgbClr val="17140F"/>
                </a:solidFill>
                <a:latin typeface="Georgia" pitchFamily="34" charset="0"/>
                <a:ea typeface="Georgia" pitchFamily="34" charset="-122"/>
                <a:cs typeface="Georgia" pitchFamily="34" charset="-120"/>
              </a:rPr>
              <a:t>₹3.03</a:t>
            </a:r>
            <a:endParaRPr lang="en-US" sz="3011" dirty="0"/>
          </a:p>
        </p:txBody>
      </p:sp>
      <p:sp>
        <p:nvSpPr>
          <p:cNvPr id="6" name="Text 4"/>
          <p:cNvSpPr/>
          <p:nvPr/>
        </p:nvSpPr>
        <p:spPr>
          <a:xfrm>
            <a:off x="1097280" y="3166988"/>
            <a:ext cx="2905699" cy="182880"/>
          </a:xfrm>
          <a:prstGeom prst="rect">
            <a:avLst/>
          </a:prstGeom>
          <a:noFill/>
          <a:ln/>
        </p:spPr>
        <p:txBody>
          <a:bodyPr wrap="square" lIns="0" tIns="0" rIns="0" bIns="0" rtlCol="0" anchor="t">
            <a:normAutofit/>
          </a:bodyPr>
          <a:lstStyle/>
          <a:p>
            <a:pPr marL="0" indent="0" algn="l">
              <a:lnSpc>
                <a:spcPts val="1274"/>
              </a:lnSpc>
              <a:buNone/>
            </a:pPr>
            <a:r>
              <a:rPr lang="en-US" sz="910" dirty="0">
                <a:solidFill>
                  <a:srgbClr val="5C5344"/>
                </a:solidFill>
                <a:latin typeface="Arial" pitchFamily="34" charset="0"/>
                <a:ea typeface="Arial" pitchFamily="34" charset="-122"/>
                <a:cs typeface="Arial" pitchFamily="34" charset="-120"/>
              </a:rPr>
              <a:t>November 2025</a:t>
            </a:r>
            <a:endParaRPr lang="en-US" sz="910" dirty="0"/>
          </a:p>
        </p:txBody>
      </p:sp>
      <p:sp>
        <p:nvSpPr>
          <p:cNvPr id="7" name="Shape 5"/>
          <p:cNvSpPr/>
          <p:nvPr/>
        </p:nvSpPr>
        <p:spPr>
          <a:xfrm>
            <a:off x="4409202" y="2024856"/>
            <a:ext cx="3383756" cy="1580912"/>
          </a:xfrm>
          <a:prstGeom prst="roundRect">
            <a:avLst>
              <a:gd name="adj" fmla="val 6226"/>
            </a:avLst>
          </a:prstGeom>
          <a:solidFill>
            <a:srgbClr val="FFFFFF"/>
          </a:solidFill>
          <a:ln w="6350">
            <a:solidFill>
              <a:srgbClr val="DDD5C5"/>
            </a:solidFill>
            <a:prstDash val="solid"/>
          </a:ln>
        </p:spPr>
      </p:sp>
      <p:sp>
        <p:nvSpPr>
          <p:cNvPr id="8" name="Text 6"/>
          <p:cNvSpPr/>
          <p:nvPr/>
        </p:nvSpPr>
        <p:spPr>
          <a:xfrm>
            <a:off x="4690507" y="2306166"/>
            <a:ext cx="2905781" cy="340360"/>
          </a:xfrm>
          <a:prstGeom prst="rect">
            <a:avLst/>
          </a:prstGeom>
          <a:noFill/>
          <a:ln/>
        </p:spPr>
        <p:txBody>
          <a:bodyPr wrap="square" lIns="0" tIns="0" rIns="0" bIns="0" rtlCol="0" anchor="t">
            <a:normAutofit/>
          </a:bodyPr>
          <a:lstStyle/>
          <a:p>
            <a:pPr marL="0" indent="0" algn="l">
              <a:lnSpc>
                <a:spcPts val="1627"/>
              </a:lnSpc>
              <a:buNone/>
            </a:pPr>
            <a:r>
              <a:rPr lang="en-US" sz="1162" dirty="0">
                <a:solidFill>
                  <a:srgbClr val="5C5344"/>
                </a:solidFill>
                <a:latin typeface="Arial" pitchFamily="34" charset="0"/>
                <a:ea typeface="Arial" pitchFamily="34" charset="-122"/>
                <a:cs typeface="Arial" pitchFamily="34" charset="-120"/>
              </a:rPr>
              <a:t>Dearest month, cost per 1,000 impressions</a:t>
            </a:r>
            <a:endParaRPr lang="en-US" sz="1162" dirty="0"/>
          </a:p>
        </p:txBody>
      </p:sp>
      <p:sp>
        <p:nvSpPr>
          <p:cNvPr id="9" name="Text 7"/>
          <p:cNvSpPr/>
          <p:nvPr/>
        </p:nvSpPr>
        <p:spPr>
          <a:xfrm>
            <a:off x="4690507" y="2684624"/>
            <a:ext cx="2905781" cy="444262"/>
          </a:xfrm>
          <a:prstGeom prst="rect">
            <a:avLst/>
          </a:prstGeom>
          <a:noFill/>
          <a:ln/>
        </p:spPr>
        <p:txBody>
          <a:bodyPr wrap="square" lIns="0" tIns="0" rIns="0" bIns="0" rtlCol="0" anchor="t">
            <a:normAutofit/>
          </a:bodyPr>
          <a:lstStyle/>
          <a:p>
            <a:pPr marL="0" indent="0" algn="l">
              <a:lnSpc>
                <a:spcPts val="3312"/>
              </a:lnSpc>
              <a:buNone/>
            </a:pPr>
            <a:r>
              <a:rPr lang="en-US" sz="3011" dirty="0">
                <a:solidFill>
                  <a:srgbClr val="B54A28"/>
                </a:solidFill>
                <a:latin typeface="Georgia" pitchFamily="34" charset="0"/>
                <a:ea typeface="Georgia" pitchFamily="34" charset="-122"/>
                <a:cs typeface="Georgia" pitchFamily="34" charset="-120"/>
              </a:rPr>
              <a:t>₹125.62</a:t>
            </a:r>
            <a:endParaRPr lang="en-US" sz="3011" dirty="0"/>
          </a:p>
        </p:txBody>
      </p:sp>
      <p:sp>
        <p:nvSpPr>
          <p:cNvPr id="10" name="Text 8"/>
          <p:cNvSpPr/>
          <p:nvPr/>
        </p:nvSpPr>
        <p:spPr>
          <a:xfrm>
            <a:off x="4690507" y="3166988"/>
            <a:ext cx="2905781" cy="182880"/>
          </a:xfrm>
          <a:prstGeom prst="rect">
            <a:avLst/>
          </a:prstGeom>
          <a:noFill/>
          <a:ln/>
        </p:spPr>
        <p:txBody>
          <a:bodyPr wrap="square" lIns="0" tIns="0" rIns="0" bIns="0" rtlCol="0" anchor="t">
            <a:normAutofit/>
          </a:bodyPr>
          <a:lstStyle/>
          <a:p>
            <a:pPr marL="0" indent="0" algn="l">
              <a:lnSpc>
                <a:spcPts val="1274"/>
              </a:lnSpc>
              <a:buNone/>
            </a:pPr>
            <a:r>
              <a:rPr lang="en-US" sz="910" dirty="0">
                <a:solidFill>
                  <a:srgbClr val="5C5344"/>
                </a:solidFill>
                <a:latin typeface="Arial" pitchFamily="34" charset="0"/>
                <a:ea typeface="Arial" pitchFamily="34" charset="-122"/>
                <a:cs typeface="Arial" pitchFamily="34" charset="-120"/>
              </a:rPr>
              <a:t>March 2026</a:t>
            </a:r>
            <a:endParaRPr lang="en-US" sz="910" dirty="0"/>
          </a:p>
        </p:txBody>
      </p:sp>
      <p:sp>
        <p:nvSpPr>
          <p:cNvPr id="11" name="Shape 9"/>
          <p:cNvSpPr/>
          <p:nvPr/>
        </p:nvSpPr>
        <p:spPr>
          <a:xfrm>
            <a:off x="7999333" y="2021681"/>
            <a:ext cx="3379867" cy="1587262"/>
          </a:xfrm>
          <a:prstGeom prst="roundRect">
            <a:avLst>
              <a:gd name="adj" fmla="val 6401"/>
            </a:avLst>
          </a:prstGeom>
          <a:solidFill>
            <a:srgbClr val="17140F"/>
          </a:solidFill>
          <a:ln/>
        </p:spPr>
      </p:sp>
      <p:sp>
        <p:nvSpPr>
          <p:cNvPr id="12" name="Text 10"/>
          <p:cNvSpPr/>
          <p:nvPr/>
        </p:nvSpPr>
        <p:spPr>
          <a:xfrm>
            <a:off x="8278733" y="2301081"/>
            <a:ext cx="2905699" cy="218916"/>
          </a:xfrm>
          <a:prstGeom prst="rect">
            <a:avLst/>
          </a:prstGeom>
          <a:noFill/>
          <a:ln/>
        </p:spPr>
        <p:txBody>
          <a:bodyPr wrap="square" lIns="0" tIns="0" rIns="0" bIns="0" rtlCol="0" anchor="t">
            <a:normAutofit/>
          </a:bodyPr>
          <a:lstStyle/>
          <a:p>
            <a:pPr marL="0" indent="0" algn="l">
              <a:lnSpc>
                <a:spcPts val="1524"/>
              </a:lnSpc>
              <a:buNone/>
            </a:pPr>
            <a:r>
              <a:rPr lang="en-US" sz="1089" dirty="0">
                <a:solidFill>
                  <a:srgbClr val="A79C89"/>
                </a:solidFill>
                <a:latin typeface="Arial" pitchFamily="34" charset="0"/>
                <a:ea typeface="Arial" pitchFamily="34" charset="-122"/>
                <a:cs typeface="Arial" pitchFamily="34" charset="-120"/>
              </a:rPr>
              <a:t>Spread</a:t>
            </a:r>
            <a:endParaRPr lang="en-US" sz="1089" dirty="0"/>
          </a:p>
        </p:txBody>
      </p:sp>
      <p:sp>
        <p:nvSpPr>
          <p:cNvPr id="13" name="Text 11"/>
          <p:cNvSpPr/>
          <p:nvPr/>
        </p:nvSpPr>
        <p:spPr>
          <a:xfrm>
            <a:off x="8278733" y="2558095"/>
            <a:ext cx="2905699" cy="539909"/>
          </a:xfrm>
          <a:prstGeom prst="rect">
            <a:avLst/>
          </a:prstGeom>
          <a:noFill/>
          <a:ln/>
        </p:spPr>
        <p:txBody>
          <a:bodyPr wrap="square" lIns="0" tIns="0" rIns="0" bIns="0" rtlCol="0" anchor="t">
            <a:normAutofit/>
          </a:bodyPr>
          <a:lstStyle/>
          <a:p>
            <a:pPr marL="0" indent="0" algn="l">
              <a:lnSpc>
                <a:spcPts val="4069"/>
              </a:lnSpc>
              <a:buNone/>
            </a:pPr>
            <a:r>
              <a:rPr lang="en-US" sz="3699" dirty="0">
                <a:solidFill>
                  <a:srgbClr val="C9A63C"/>
                </a:solidFill>
                <a:latin typeface="Georgia" pitchFamily="34" charset="0"/>
                <a:ea typeface="Georgia" pitchFamily="34" charset="-122"/>
                <a:cs typeface="Georgia" pitchFamily="34" charset="-120"/>
              </a:rPr>
              <a:t>41×</a:t>
            </a:r>
            <a:endParaRPr lang="en-US" sz="3699" dirty="0"/>
          </a:p>
        </p:txBody>
      </p:sp>
      <p:sp>
        <p:nvSpPr>
          <p:cNvPr id="14" name="Text 12"/>
          <p:cNvSpPr/>
          <p:nvPr/>
        </p:nvSpPr>
        <p:spPr>
          <a:xfrm>
            <a:off x="8278733" y="3136106"/>
            <a:ext cx="2905699" cy="218837"/>
          </a:xfrm>
          <a:prstGeom prst="rect">
            <a:avLst/>
          </a:prstGeom>
          <a:noFill/>
          <a:ln/>
        </p:spPr>
        <p:txBody>
          <a:bodyPr wrap="square" lIns="0" tIns="0" rIns="0" bIns="0" rtlCol="0" anchor="t">
            <a:normAutofit/>
          </a:bodyPr>
          <a:lstStyle/>
          <a:p>
            <a:pPr marL="0" indent="0" algn="l">
              <a:lnSpc>
                <a:spcPts val="1524"/>
              </a:lnSpc>
              <a:buNone/>
            </a:pPr>
            <a:r>
              <a:rPr lang="en-US" sz="1089" dirty="0">
                <a:solidFill>
                  <a:srgbClr val="A79C89"/>
                </a:solidFill>
                <a:latin typeface="Arial" pitchFamily="34" charset="0"/>
                <a:ea typeface="Arial" pitchFamily="34" charset="-122"/>
                <a:cs typeface="Arial" pitchFamily="34" charset="-120"/>
              </a:rPr>
              <a:t>Within one account, one property</a:t>
            </a:r>
            <a:endParaRPr lang="en-US" sz="1089" dirty="0"/>
          </a:p>
        </p:txBody>
      </p:sp>
      <p:sp>
        <p:nvSpPr>
          <p:cNvPr id="15" name="Text 13"/>
          <p:cNvSpPr/>
          <p:nvPr/>
        </p:nvSpPr>
        <p:spPr>
          <a:xfrm>
            <a:off x="812800" y="3888346"/>
            <a:ext cx="10333990" cy="769223"/>
          </a:xfrm>
          <a:prstGeom prst="rect">
            <a:avLst/>
          </a:prstGeom>
          <a:noFill/>
          <a:ln/>
        </p:spPr>
        <p:txBody>
          <a:bodyPr wrap="square" lIns="0" tIns="0" rIns="0" bIns="0" rtlCol="0" anchor="t">
            <a:normAutofit/>
          </a:bodyPr>
          <a:lstStyle/>
          <a:p>
            <a:pPr marL="0" indent="0" algn="l">
              <a:lnSpc>
                <a:spcPts val="1957"/>
              </a:lnSpc>
              <a:buNone/>
            </a:pPr>
            <a:r>
              <a:rPr lang="en-US" sz="1349" dirty="0">
                <a:solidFill>
                  <a:srgbClr val="5C5344"/>
                </a:solidFill>
                <a:latin typeface="Arial" pitchFamily="34" charset="0"/>
                <a:ea typeface="Arial" pitchFamily="34" charset="-122"/>
                <a:cs typeface="Arial" pitchFamily="34" charset="-120"/>
              </a:rPr>
              <a:t>A 41-fold swing in media cost is not the auction moving. It is the account switching between reach buying and conversion buying without a plan, so Meta's learning resets every time. Add three resorts sharing one ad account and the algorithm never accumulates a clean signal for any of them.</a:t>
            </a:r>
            <a:endParaRPr lang="en-US" sz="1349" dirty="0"/>
          </a:p>
        </p:txBody>
      </p:sp>
      <p:sp>
        <p:nvSpPr>
          <p:cNvPr id="16" name="Shape 14"/>
          <p:cNvSpPr/>
          <p:nvPr/>
        </p:nvSpPr>
        <p:spPr>
          <a:xfrm>
            <a:off x="812800" y="4911564"/>
            <a:ext cx="10566400" cy="930434"/>
          </a:xfrm>
          <a:prstGeom prst="roundRect">
            <a:avLst>
              <a:gd name="adj" fmla="val 10920"/>
            </a:avLst>
          </a:prstGeom>
          <a:solidFill>
            <a:srgbClr val="E8E1D3"/>
          </a:solidFill>
          <a:ln/>
        </p:spPr>
      </p:sp>
      <p:sp>
        <p:nvSpPr>
          <p:cNvPr id="17" name="Text 15"/>
          <p:cNvSpPr/>
          <p:nvPr/>
        </p:nvSpPr>
        <p:spPr>
          <a:xfrm>
            <a:off x="1066800" y="5110088"/>
            <a:ext cx="10203180" cy="5588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7140F"/>
                </a:solidFill>
                <a:latin typeface="Arial" pitchFamily="34" charset="0"/>
                <a:ea typeface="Arial" pitchFamily="34" charset="-122"/>
                <a:cs typeface="Arial" pitchFamily="34" charset="-120"/>
              </a:rPr>
              <a:t>Recommendation:</a:t>
            </a:r>
            <a:r>
              <a:rPr lang="en-US" sz="1500" dirty="0">
                <a:solidFill>
                  <a:srgbClr val="17140F"/>
                </a:solidFill>
                <a:latin typeface="Arial" pitchFamily="34" charset="0"/>
                <a:ea typeface="Arial" pitchFamily="34" charset="-122"/>
                <a:cs typeface="Arial" pitchFamily="34" charset="-120"/>
              </a:rPr>
              <a:t> Guhantara needs its own ad account, separated from the other two resorts, before any structural optimisation is worth doing.</a:t>
            </a:r>
            <a:endParaRPr lang="en-US" sz="1500" dirty="0"/>
          </a:p>
        </p:txBody>
      </p:sp>
      <p:sp>
        <p:nvSpPr>
          <p:cNvPr id="18" name="Text 16"/>
          <p:cNvSpPr/>
          <p:nvPr/>
        </p:nvSpPr>
        <p:spPr>
          <a:xfrm>
            <a:off x="812800" y="6238242"/>
            <a:ext cx="516536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071"/>
                </a:solidFill>
                <a:latin typeface="Arial" pitchFamily="34" charset="0"/>
                <a:ea typeface="Arial" pitchFamily="34" charset="-122"/>
                <a:cs typeface="Arial" pitchFamily="34" charset="-120"/>
              </a:rPr>
              <a:t>Source: Meta Ads Manager monthly export, spend divided by impressions.</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7140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97761"/>
          </a:xfrm>
          <a:prstGeom prst="rect">
            <a:avLst/>
          </a:prstGeom>
          <a:noFill/>
          <a:ln/>
        </p:spPr>
        <p:txBody>
          <a:bodyPr wrap="square" lIns="0" tIns="0" rIns="0" bIns="0" rtlCol="0" anchor="t">
            <a:normAutofit/>
          </a:bodyPr>
          <a:lstStyle/>
          <a:p>
            <a:pPr marL="0" indent="0" algn="l">
              <a:lnSpc>
                <a:spcPts val="3725"/>
              </a:lnSpc>
              <a:buNone/>
            </a:pPr>
            <a:r>
              <a:rPr lang="en-US" sz="3548" dirty="0">
                <a:solidFill>
                  <a:srgbClr val="C9A63C"/>
                </a:solidFill>
                <a:latin typeface="Georgia" pitchFamily="34" charset="0"/>
                <a:ea typeface="Georgia" pitchFamily="34" charset="-122"/>
                <a:cs typeface="Georgia" pitchFamily="34" charset="-120"/>
              </a:rPr>
              <a:t>Meta: what we would change</a:t>
            </a:r>
            <a:endParaRPr lang="en-US" sz="3548" dirty="0"/>
          </a:p>
        </p:txBody>
      </p:sp>
      <p:graphicFrame>
        <p:nvGraphicFramePr>
          <p:cNvPr id="3" name="Table 0"/>
          <p:cNvGraphicFramePr>
            <a:graphicFrameLocks noGrp="1"/>
          </p:cNvGraphicFramePr>
          <p:nvPr>
            <p:extLst>
              <p:ext uri="{D42A27DB-BD31-4B8C-83A1-F6EECF244321}">
                <p14:modId xmlns:p14="http://schemas.microsoft.com/office/powerpoint/2010/main" val="3942720173"/>
              </p:ext>
            </p:extLst>
          </p:nvPr>
        </p:nvGraphicFramePr>
        <p:xfrm>
          <a:off x="822960" y="1549328"/>
          <a:ext cx="10556240" cy="3801507"/>
        </p:xfrm>
        <a:graphic>
          <a:graphicData uri="http://schemas.openxmlformats.org/drawingml/2006/table">
            <a:tbl>
              <a:tblPr/>
              <a:tblGrid>
                <a:gridCol w="1055624">
                  <a:extLst>
                    <a:ext uri="{9D8B030D-6E8A-4147-A177-3AD203B41FA5}">
                      <a16:colId xmlns:a16="http://schemas.microsoft.com/office/drawing/2014/main" val="20000"/>
                    </a:ext>
                  </a:extLst>
                </a:gridCol>
                <a:gridCol w="4644746">
                  <a:extLst>
                    <a:ext uri="{9D8B030D-6E8A-4147-A177-3AD203B41FA5}">
                      <a16:colId xmlns:a16="http://schemas.microsoft.com/office/drawing/2014/main" val="20001"/>
                    </a:ext>
                  </a:extLst>
                </a:gridCol>
                <a:gridCol w="4855870">
                  <a:extLst>
                    <a:ext uri="{9D8B030D-6E8A-4147-A177-3AD203B41FA5}">
                      <a16:colId xmlns:a16="http://schemas.microsoft.com/office/drawing/2014/main" val="20002"/>
                    </a:ext>
                  </a:extLst>
                </a:gridCol>
              </a:tblGrid>
              <a:tr h="359172">
                <a:tc>
                  <a:txBody>
                    <a:bodyPr/>
                    <a:lstStyle/>
                    <a:p>
                      <a:pPr marL="0" indent="0">
                        <a:lnSpc>
                          <a:spcPts val="1827"/>
                        </a:lnSpc>
                        <a:buNone/>
                      </a:pPr>
                      <a:r>
                        <a:rPr lang="en-US" sz="1305" b="1" dirty="0">
                          <a:solidFill>
                            <a:srgbClr val="F7F3EA"/>
                          </a:solidFill>
                          <a:latin typeface="Arial" pitchFamily="34" charset="0"/>
                          <a:ea typeface="Arial" pitchFamily="34" charset="-122"/>
                          <a:cs typeface="Arial" pitchFamily="34" charset="-120"/>
                        </a:rPr>
                        <a:t>When</a:t>
                      </a:r>
                      <a:endParaRPr lang="en-US" sz="1305" dirty="0">
                        <a:latin typeface="Arial" charset="0"/>
                        <a:ea typeface="Arial" charset="0"/>
                        <a:cs typeface="Arial" charset="0"/>
                      </a:endParaRPr>
                    </a:p>
                  </a:txBody>
                  <a:tcPr marL="58007" marR="58007" marT="58007" marB="58007">
                    <a:lnL w="12700" cap="flat" cmpd="sng" algn="ctr">
                      <a:solidFill>
                        <a:srgbClr val="494642"/>
                      </a:solidFill>
                      <a:prstDash val="solid"/>
                      <a:round/>
                      <a:headEnd type="none" w="med" len="med"/>
                      <a:tailEnd type="none" w="med" len="med"/>
                    </a:lnL>
                    <a:lnR w="12700" cap="flat" cmpd="sng" algn="ctr">
                      <a:solidFill>
                        <a:srgbClr val="645F57"/>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645F57"/>
                      </a:solidFill>
                      <a:prstDash val="solid"/>
                      <a:round/>
                      <a:headEnd type="none" w="med" len="med"/>
                      <a:tailEnd type="none" w="med" len="med"/>
                    </a:lnB>
                    <a:solidFill>
                      <a:srgbClr val="3A342A"/>
                    </a:solidFill>
                  </a:tcPr>
                </a:tc>
                <a:tc>
                  <a:txBody>
                    <a:bodyPr/>
                    <a:lstStyle/>
                    <a:p>
                      <a:pPr marL="0" indent="0">
                        <a:lnSpc>
                          <a:spcPts val="1827"/>
                        </a:lnSpc>
                        <a:buNone/>
                      </a:pPr>
                      <a:r>
                        <a:rPr lang="en-US" sz="1305" b="1" dirty="0">
                          <a:solidFill>
                            <a:srgbClr val="F7F3EA"/>
                          </a:solidFill>
                          <a:latin typeface="Arial" pitchFamily="34" charset="0"/>
                          <a:ea typeface="Arial" pitchFamily="34" charset="-122"/>
                          <a:cs typeface="Arial" pitchFamily="34" charset="-120"/>
                        </a:rPr>
                        <a:t>Change</a:t>
                      </a:r>
                      <a:endParaRPr lang="en-US" sz="1305" dirty="0">
                        <a:latin typeface="Arial" charset="0"/>
                        <a:ea typeface="Arial" charset="0"/>
                        <a:cs typeface="Arial" charset="0"/>
                      </a:endParaRPr>
                    </a:p>
                  </a:txBody>
                  <a:tcPr marL="58007" marR="58007" marT="58007" marB="58007">
                    <a:lnL w="12700" cap="flat" cmpd="sng" algn="ctr">
                      <a:solidFill>
                        <a:srgbClr val="645F57"/>
                      </a:solidFill>
                      <a:prstDash val="solid"/>
                      <a:round/>
                      <a:headEnd type="none" w="med" len="med"/>
                      <a:tailEnd type="none" w="med" len="med"/>
                    </a:lnL>
                    <a:lnR w="12700" cap="flat" cmpd="sng" algn="ctr">
                      <a:solidFill>
                        <a:srgbClr val="645F57"/>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645F57"/>
                      </a:solidFill>
                      <a:prstDash val="solid"/>
                      <a:round/>
                      <a:headEnd type="none" w="med" len="med"/>
                      <a:tailEnd type="none" w="med" len="med"/>
                    </a:lnB>
                    <a:solidFill>
                      <a:srgbClr val="3A342A"/>
                    </a:solidFill>
                  </a:tcPr>
                </a:tc>
                <a:tc>
                  <a:txBody>
                    <a:bodyPr/>
                    <a:lstStyle/>
                    <a:p>
                      <a:pPr marL="0" indent="0">
                        <a:lnSpc>
                          <a:spcPts val="1827"/>
                        </a:lnSpc>
                        <a:buNone/>
                      </a:pPr>
                      <a:r>
                        <a:rPr lang="en-US" sz="1305" b="1" dirty="0">
                          <a:solidFill>
                            <a:srgbClr val="F7F3EA"/>
                          </a:solidFill>
                          <a:latin typeface="Arial" pitchFamily="34" charset="0"/>
                          <a:ea typeface="Arial" pitchFamily="34" charset="-122"/>
                          <a:cs typeface="Arial" pitchFamily="34" charset="-120"/>
                        </a:rPr>
                        <a:t>Why, from this audit</a:t>
                      </a:r>
                      <a:endParaRPr lang="en-US" sz="1305" dirty="0">
                        <a:latin typeface="Arial" charset="0"/>
                        <a:ea typeface="Arial" charset="0"/>
                        <a:cs typeface="Arial" charset="0"/>
                      </a:endParaRPr>
                    </a:p>
                  </a:txBody>
                  <a:tcPr marL="58007" marR="58007" marT="58007" marB="58007">
                    <a:lnL w="12700" cap="flat" cmpd="sng" algn="ctr">
                      <a:solidFill>
                        <a:srgbClr val="645F57"/>
                      </a:solidFill>
                      <a:prstDash val="solid"/>
                      <a:round/>
                      <a:headEnd type="none" w="med" len="med"/>
                      <a:tailEnd type="none" w="med" len="med"/>
                    </a:lnL>
                    <a:lnR w="12700" cap="flat" cmpd="sng" algn="ctr">
                      <a:solidFill>
                        <a:srgbClr val="645F57"/>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645F57"/>
                      </a:solidFill>
                      <a:prstDash val="solid"/>
                      <a:round/>
                      <a:headEnd type="none" w="med" len="med"/>
                      <a:tailEnd type="none" w="med" len="med"/>
                    </a:lnB>
                    <a:solidFill>
                      <a:srgbClr val="3A342A"/>
                    </a:solidFill>
                  </a:tcPr>
                </a:tc>
                <a:extLst>
                  <a:ext uri="{0D108BD9-81ED-4DB2-BD59-A6C34878D82A}">
                    <a16:rowId xmlns:a16="http://schemas.microsoft.com/office/drawing/2014/main" val="10000"/>
                  </a:ext>
                </a:extLst>
              </a:tr>
              <a:tr h="359172">
                <a:tc>
                  <a:txBody>
                    <a:bodyPr/>
                    <a:lstStyle/>
                    <a:p>
                      <a:pPr marL="0" indent="0">
                        <a:lnSpc>
                          <a:spcPts val="1827"/>
                        </a:lnSpc>
                        <a:buNone/>
                      </a:pPr>
                      <a:r>
                        <a:rPr lang="en-US" sz="1305" dirty="0">
                          <a:solidFill>
                            <a:srgbClr val="F7F3EA"/>
                          </a:solidFill>
                          <a:latin typeface="Arial" pitchFamily="34" charset="0"/>
                          <a:ea typeface="Arial" pitchFamily="34" charset="-122"/>
                          <a:cs typeface="Arial" pitchFamily="34" charset="-120"/>
                        </a:rPr>
                        <a:t>Week 1</a:t>
                      </a:r>
                      <a:endParaRPr lang="en-US" sz="1305" dirty="0">
                        <a:latin typeface="Arial" charset="0"/>
                        <a:ea typeface="Arial" charset="0"/>
                        <a:cs typeface="Arial" charset="0"/>
                      </a:endParaRPr>
                    </a:p>
                  </a:txBody>
                  <a:tcPr marL="58007" marR="58007" marT="58007" marB="58007">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645F57"/>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827"/>
                        </a:lnSpc>
                        <a:buNone/>
                      </a:pPr>
                      <a:r>
                        <a:rPr lang="en-US" sz="1305" dirty="0">
                          <a:solidFill>
                            <a:srgbClr val="F7F3EA"/>
                          </a:solidFill>
                          <a:latin typeface="Arial" pitchFamily="34" charset="0"/>
                          <a:ea typeface="Arial" pitchFamily="34" charset="-122"/>
                          <a:cs typeface="Arial" pitchFamily="34" charset="-120"/>
                        </a:rPr>
                        <a:t>Separate ad account for Guhantara</a:t>
                      </a:r>
                      <a:endParaRPr lang="en-US" sz="1305" dirty="0">
                        <a:latin typeface="Arial" charset="0"/>
                        <a:ea typeface="Arial" charset="0"/>
                        <a:cs typeface="Arial" charset="0"/>
                      </a:endParaRPr>
                    </a:p>
                  </a:txBody>
                  <a:tcPr marL="58007" marR="58007" marT="58007" marB="58007">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645F57"/>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827"/>
                        </a:lnSpc>
                        <a:buNone/>
                      </a:pPr>
                      <a:r>
                        <a:rPr lang="en-US" sz="1305" dirty="0">
                          <a:solidFill>
                            <a:srgbClr val="F7F3EA"/>
                          </a:solidFill>
                          <a:latin typeface="Arial" pitchFamily="34" charset="0"/>
                          <a:ea typeface="Arial" pitchFamily="34" charset="-122"/>
                          <a:cs typeface="Arial" pitchFamily="34" charset="-120"/>
                        </a:rPr>
                        <a:t>Three resorts in one account, 41× cost-per-impression swing</a:t>
                      </a:r>
                      <a:endParaRPr lang="en-US" sz="1305" dirty="0">
                        <a:latin typeface="Arial" charset="0"/>
                        <a:ea typeface="Arial" charset="0"/>
                        <a:cs typeface="Arial" charset="0"/>
                      </a:endParaRPr>
                    </a:p>
                  </a:txBody>
                  <a:tcPr marL="58007" marR="58007" marT="58007" marB="58007">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645F57"/>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extLst>
                  <a:ext uri="{0D108BD9-81ED-4DB2-BD59-A6C34878D82A}">
                    <a16:rowId xmlns:a16="http://schemas.microsoft.com/office/drawing/2014/main" val="10001"/>
                  </a:ext>
                </a:extLst>
              </a:tr>
              <a:tr h="591185">
                <a:tc>
                  <a:txBody>
                    <a:bodyPr/>
                    <a:lstStyle/>
                    <a:p>
                      <a:pPr marL="0" indent="0">
                        <a:lnSpc>
                          <a:spcPts val="1827"/>
                        </a:lnSpc>
                        <a:buNone/>
                      </a:pPr>
                      <a:r>
                        <a:rPr lang="en-US" sz="1305" dirty="0">
                          <a:solidFill>
                            <a:srgbClr val="F7F3EA"/>
                          </a:solidFill>
                          <a:latin typeface="Arial" pitchFamily="34" charset="0"/>
                          <a:ea typeface="Arial" pitchFamily="34" charset="-122"/>
                          <a:cs typeface="Arial" pitchFamily="34" charset="-120"/>
                        </a:rPr>
                        <a:t>Week 1</a:t>
                      </a:r>
                      <a:endParaRPr lang="en-US" sz="1305" dirty="0">
                        <a:latin typeface="Arial" charset="0"/>
                        <a:ea typeface="Arial" charset="0"/>
                        <a:cs typeface="Arial" charset="0"/>
                      </a:endParaRPr>
                    </a:p>
                  </a:txBody>
                  <a:tcPr marL="58007" marR="58007" marT="58007" marB="58007">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827"/>
                        </a:lnSpc>
                        <a:buNone/>
                      </a:pPr>
                      <a:r>
                        <a:rPr lang="en-US" sz="1305" dirty="0">
                          <a:solidFill>
                            <a:srgbClr val="F7F3EA"/>
                          </a:solidFill>
                          <a:latin typeface="Arial" pitchFamily="34" charset="0"/>
                          <a:ea typeface="Arial" pitchFamily="34" charset="-122"/>
                          <a:cs typeface="Arial" pitchFamily="34" charset="-120"/>
                        </a:rPr>
                        <a:t>Turn off Audience Network and the five zero-lead placements</a:t>
                      </a:r>
                      <a:endParaRPr lang="en-US" sz="1305" dirty="0">
                        <a:latin typeface="Arial" charset="0"/>
                        <a:ea typeface="Arial" charset="0"/>
                        <a:cs typeface="Arial" charset="0"/>
                      </a:endParaRPr>
                    </a:p>
                  </a:txBody>
                  <a:tcPr marL="58007" marR="58007" marT="58007" marB="58007">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827"/>
                        </a:lnSpc>
                        <a:buNone/>
                      </a:pPr>
                      <a:r>
                        <a:rPr lang="en-US" sz="1305" dirty="0">
                          <a:solidFill>
                            <a:srgbClr val="F7F3EA"/>
                          </a:solidFill>
                          <a:latin typeface="Arial" pitchFamily="34" charset="0"/>
                          <a:ea typeface="Arial" pitchFamily="34" charset="-122"/>
                          <a:cs typeface="Arial" pitchFamily="34" charset="-120"/>
                        </a:rPr>
                        <a:t>₹67,188 with no recorded lead in 21 months</a:t>
                      </a:r>
                      <a:endParaRPr lang="en-US" sz="1305" dirty="0">
                        <a:latin typeface="Arial" charset="0"/>
                        <a:ea typeface="Arial" charset="0"/>
                        <a:cs typeface="Arial" charset="0"/>
                      </a:endParaRPr>
                    </a:p>
                  </a:txBody>
                  <a:tcPr marL="58007" marR="58007" marT="58007" marB="58007">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extLst>
                  <a:ext uri="{0D108BD9-81ED-4DB2-BD59-A6C34878D82A}">
                    <a16:rowId xmlns:a16="http://schemas.microsoft.com/office/drawing/2014/main" val="10002"/>
                  </a:ext>
                </a:extLst>
              </a:tr>
              <a:tr h="591185">
                <a:tc>
                  <a:txBody>
                    <a:bodyPr/>
                    <a:lstStyle/>
                    <a:p>
                      <a:pPr marL="0" indent="0">
                        <a:lnSpc>
                          <a:spcPts val="1827"/>
                        </a:lnSpc>
                        <a:buNone/>
                      </a:pPr>
                      <a:r>
                        <a:rPr lang="en-US" sz="1305" dirty="0">
                          <a:solidFill>
                            <a:srgbClr val="F7F3EA"/>
                          </a:solidFill>
                          <a:latin typeface="Arial" pitchFamily="34" charset="0"/>
                          <a:ea typeface="Arial" pitchFamily="34" charset="-122"/>
                          <a:cs typeface="Arial" pitchFamily="34" charset="-120"/>
                        </a:rPr>
                        <a:t>Week 1</a:t>
                      </a:r>
                      <a:endParaRPr lang="en-US" sz="1305" dirty="0">
                        <a:latin typeface="Arial" charset="0"/>
                        <a:ea typeface="Arial" charset="0"/>
                        <a:cs typeface="Arial" charset="0"/>
                      </a:endParaRPr>
                    </a:p>
                  </a:txBody>
                  <a:tcPr marL="58007" marR="58007" marT="58007" marB="58007">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827"/>
                        </a:lnSpc>
                        <a:buNone/>
                      </a:pPr>
                      <a:r>
                        <a:rPr lang="en-US" sz="1305" dirty="0">
                          <a:solidFill>
                            <a:srgbClr val="F7F3EA"/>
                          </a:solidFill>
                          <a:latin typeface="Arial" pitchFamily="34" charset="0"/>
                          <a:ea typeface="Arial" pitchFamily="34" charset="-122"/>
                          <a:cs typeface="Arial" pitchFamily="34" charset="-120"/>
                        </a:rPr>
                        <a:t>Ideal range is 25-35 where the most leads come from. 18-24 and 35-45 can be kept as suggestions and separate targets.</a:t>
                      </a:r>
                      <a:endParaRPr lang="en-US" sz="1305" dirty="0">
                        <a:latin typeface="Arial" charset="0"/>
                        <a:ea typeface="Arial" charset="0"/>
                        <a:cs typeface="Arial" charset="0"/>
                      </a:endParaRPr>
                    </a:p>
                  </a:txBody>
                  <a:tcPr marL="58007" marR="58007" marT="58007" marB="58007">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827"/>
                        </a:lnSpc>
                        <a:buNone/>
                      </a:pPr>
                      <a:r>
                        <a:rPr lang="en-US" sz="1305" dirty="0">
                          <a:solidFill>
                            <a:srgbClr val="F7F3EA"/>
                          </a:solidFill>
                          <a:latin typeface="Arial" pitchFamily="34" charset="0"/>
                          <a:ea typeface="Arial" pitchFamily="34" charset="-122"/>
                          <a:cs typeface="Arial" pitchFamily="34" charset="-120"/>
                        </a:rPr>
                        <a:t>₹66,021 for nine leads; 18–24 at ₹1,857</a:t>
                      </a:r>
                      <a:endParaRPr lang="en-US" sz="1305" dirty="0">
                        <a:latin typeface="Arial" charset="0"/>
                        <a:ea typeface="Arial" charset="0"/>
                        <a:cs typeface="Arial" charset="0"/>
                      </a:endParaRPr>
                    </a:p>
                  </a:txBody>
                  <a:tcPr marL="58007" marR="58007" marT="58007" marB="58007">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extLst>
                  <a:ext uri="{0D108BD9-81ED-4DB2-BD59-A6C34878D82A}">
                    <a16:rowId xmlns:a16="http://schemas.microsoft.com/office/drawing/2014/main" val="10003"/>
                  </a:ext>
                </a:extLst>
              </a:tr>
              <a:tr h="359172">
                <a:tc>
                  <a:txBody>
                    <a:bodyPr/>
                    <a:lstStyle/>
                    <a:p>
                      <a:pPr marL="0" indent="0">
                        <a:lnSpc>
                          <a:spcPts val="1827"/>
                        </a:lnSpc>
                        <a:buNone/>
                      </a:pPr>
                      <a:r>
                        <a:rPr lang="en-US" sz="1305" dirty="0">
                          <a:solidFill>
                            <a:srgbClr val="F7F3EA"/>
                          </a:solidFill>
                          <a:latin typeface="Arial" pitchFamily="34" charset="0"/>
                          <a:ea typeface="Arial" pitchFamily="34" charset="-122"/>
                          <a:cs typeface="Arial" pitchFamily="34" charset="-120"/>
                        </a:rPr>
                        <a:t>Week 2</a:t>
                      </a:r>
                      <a:endParaRPr lang="en-US" sz="1305" dirty="0">
                        <a:latin typeface="Arial" charset="0"/>
                        <a:ea typeface="Arial" charset="0"/>
                        <a:cs typeface="Arial" charset="0"/>
                      </a:endParaRPr>
                    </a:p>
                  </a:txBody>
                  <a:tcPr marL="58007" marR="58007" marT="58007" marB="58007">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827"/>
                        </a:lnSpc>
                        <a:buNone/>
                      </a:pPr>
                      <a:r>
                        <a:rPr lang="en-US" sz="1305" dirty="0">
                          <a:solidFill>
                            <a:srgbClr val="F7F3EA"/>
                          </a:solidFill>
                          <a:latin typeface="Arial" pitchFamily="34" charset="0"/>
                          <a:ea typeface="Arial" pitchFamily="34" charset="-122"/>
                          <a:cs typeface="Arial" pitchFamily="34" charset="-120"/>
                        </a:rPr>
                        <a:t>Have dedicated budgets and </a:t>
                      </a:r>
                      <a:r>
                        <a:rPr lang="en-US" sz="1305" dirty="0" err="1">
                          <a:solidFill>
                            <a:srgbClr val="F7F3EA"/>
                          </a:solidFill>
                          <a:latin typeface="Arial" pitchFamily="34" charset="0"/>
                          <a:ea typeface="Arial" pitchFamily="34" charset="-122"/>
                          <a:cs typeface="Arial" pitchFamily="34" charset="-120"/>
                        </a:rPr>
                        <a:t>targetings</a:t>
                      </a:r>
                      <a:r>
                        <a:rPr lang="en-US" sz="1305" dirty="0">
                          <a:solidFill>
                            <a:srgbClr val="F7F3EA"/>
                          </a:solidFill>
                          <a:latin typeface="Arial" pitchFamily="34" charset="0"/>
                          <a:ea typeface="Arial" pitchFamily="34" charset="-122"/>
                          <a:cs typeface="Arial" pitchFamily="34" charset="-120"/>
                        </a:rPr>
                        <a:t> for women and men </a:t>
                      </a:r>
                      <a:endParaRPr lang="en-US" sz="1305" dirty="0">
                        <a:latin typeface="Arial" charset="0"/>
                        <a:ea typeface="Arial" charset="0"/>
                        <a:cs typeface="Arial" charset="0"/>
                      </a:endParaRPr>
                    </a:p>
                  </a:txBody>
                  <a:tcPr marL="58007" marR="58007" marT="58007" marB="58007">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827"/>
                        </a:lnSpc>
                        <a:buNone/>
                      </a:pPr>
                      <a:r>
                        <a:rPr lang="en-US" sz="1305" dirty="0">
                          <a:solidFill>
                            <a:srgbClr val="F7F3EA"/>
                          </a:solidFill>
                          <a:latin typeface="Arial" pitchFamily="34" charset="0"/>
                          <a:ea typeface="Arial" pitchFamily="34" charset="-122"/>
                          <a:cs typeface="Arial" pitchFamily="34" charset="-120"/>
                        </a:rPr>
                        <a:t>₹789 against ₹1,458; ₹929 against ₹2,064</a:t>
                      </a:r>
                      <a:endParaRPr lang="en-US" sz="1305" dirty="0">
                        <a:latin typeface="Arial" charset="0"/>
                        <a:ea typeface="Arial" charset="0"/>
                        <a:cs typeface="Arial" charset="0"/>
                      </a:endParaRPr>
                    </a:p>
                  </a:txBody>
                  <a:tcPr marL="58007" marR="58007" marT="58007" marB="58007">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extLst>
                  <a:ext uri="{0D108BD9-81ED-4DB2-BD59-A6C34878D82A}">
                    <a16:rowId xmlns:a16="http://schemas.microsoft.com/office/drawing/2014/main" val="10004"/>
                  </a:ext>
                </a:extLst>
              </a:tr>
              <a:tr h="591185">
                <a:tc>
                  <a:txBody>
                    <a:bodyPr/>
                    <a:lstStyle/>
                    <a:p>
                      <a:pPr marL="0" indent="0">
                        <a:lnSpc>
                          <a:spcPts val="1827"/>
                        </a:lnSpc>
                        <a:buNone/>
                      </a:pPr>
                      <a:r>
                        <a:rPr lang="en-US" sz="1305" dirty="0">
                          <a:solidFill>
                            <a:srgbClr val="F7F3EA"/>
                          </a:solidFill>
                          <a:latin typeface="Arial" pitchFamily="34" charset="0"/>
                          <a:ea typeface="Arial" pitchFamily="34" charset="-122"/>
                          <a:cs typeface="Arial" pitchFamily="34" charset="-120"/>
                        </a:rPr>
                        <a:t>Week 2</a:t>
                      </a:r>
                      <a:endParaRPr lang="en-US" sz="1305" dirty="0">
                        <a:latin typeface="Arial" charset="0"/>
                        <a:ea typeface="Arial" charset="0"/>
                        <a:cs typeface="Arial" charset="0"/>
                      </a:endParaRPr>
                    </a:p>
                  </a:txBody>
                  <a:tcPr marL="58007" marR="58007" marT="58007" marB="58007">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827"/>
                        </a:lnSpc>
                        <a:buNone/>
                      </a:pPr>
                      <a:r>
                        <a:rPr lang="en-US" sz="1305" dirty="0">
                          <a:solidFill>
                            <a:srgbClr val="F7F3EA"/>
                          </a:solidFill>
                          <a:latin typeface="Arial" pitchFamily="34" charset="0"/>
                          <a:ea typeface="Arial" pitchFamily="34" charset="-122"/>
                          <a:cs typeface="Arial" pitchFamily="34" charset="-120"/>
                        </a:rPr>
                        <a:t>Move Feed budget into Instagram Reels and Stories; fund a Facebook Stories test</a:t>
                      </a:r>
                      <a:endParaRPr lang="en-US" sz="1305" dirty="0">
                        <a:latin typeface="Arial" charset="0"/>
                        <a:ea typeface="Arial" charset="0"/>
                        <a:cs typeface="Arial" charset="0"/>
                      </a:endParaRPr>
                    </a:p>
                  </a:txBody>
                  <a:tcPr marL="58007" marR="58007" marT="58007" marB="58007">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827"/>
                        </a:lnSpc>
                        <a:buNone/>
                      </a:pPr>
                      <a:r>
                        <a:rPr lang="en-US" sz="1305" dirty="0">
                          <a:solidFill>
                            <a:srgbClr val="F7F3EA"/>
                          </a:solidFill>
                          <a:latin typeface="Arial" pitchFamily="34" charset="0"/>
                          <a:ea typeface="Arial" pitchFamily="34" charset="-122"/>
                          <a:cs typeface="Arial" pitchFamily="34" charset="-120"/>
                        </a:rPr>
                        <a:t>Feed at ₹1,395 is the worst major placement; Stories at ₹427 is untested</a:t>
                      </a:r>
                      <a:endParaRPr lang="en-US" sz="1305" dirty="0">
                        <a:latin typeface="Arial" charset="0"/>
                        <a:ea typeface="Arial" charset="0"/>
                        <a:cs typeface="Arial" charset="0"/>
                      </a:endParaRPr>
                    </a:p>
                  </a:txBody>
                  <a:tcPr marL="58007" marR="58007" marT="58007" marB="58007">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extLst>
                  <a:ext uri="{0D108BD9-81ED-4DB2-BD59-A6C34878D82A}">
                    <a16:rowId xmlns:a16="http://schemas.microsoft.com/office/drawing/2014/main" val="10005"/>
                  </a:ext>
                </a:extLst>
              </a:tr>
              <a:tr h="591185">
                <a:tc>
                  <a:txBody>
                    <a:bodyPr/>
                    <a:lstStyle/>
                    <a:p>
                      <a:pPr marL="0" indent="0">
                        <a:lnSpc>
                          <a:spcPts val="1827"/>
                        </a:lnSpc>
                        <a:buNone/>
                      </a:pPr>
                      <a:r>
                        <a:rPr lang="en-US" sz="1305" dirty="0">
                          <a:solidFill>
                            <a:srgbClr val="F7F3EA"/>
                          </a:solidFill>
                          <a:latin typeface="Arial" pitchFamily="34" charset="0"/>
                          <a:ea typeface="Arial" pitchFamily="34" charset="-122"/>
                          <a:cs typeface="Arial" pitchFamily="34" charset="-120"/>
                        </a:rPr>
                        <a:t>Week 3</a:t>
                      </a:r>
                      <a:endParaRPr lang="en-US" sz="1305" dirty="0">
                        <a:latin typeface="Arial" charset="0"/>
                        <a:ea typeface="Arial" charset="0"/>
                        <a:cs typeface="Arial" charset="0"/>
                      </a:endParaRPr>
                    </a:p>
                  </a:txBody>
                  <a:tcPr marL="58007" marR="58007" marT="58007" marB="58007">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827"/>
                        </a:lnSpc>
                        <a:buNone/>
                      </a:pPr>
                      <a:r>
                        <a:rPr lang="en-US" sz="1305" dirty="0">
                          <a:solidFill>
                            <a:srgbClr val="F7F3EA"/>
                          </a:solidFill>
                          <a:latin typeface="Arial" pitchFamily="34" charset="0"/>
                          <a:ea typeface="Arial" pitchFamily="34" charset="-122"/>
                          <a:cs typeface="Arial" pitchFamily="34" charset="-120"/>
                        </a:rPr>
                        <a:t>Rebuild the campaign structure by product: day-out, stay, corporate, events</a:t>
                      </a:r>
                      <a:endParaRPr lang="en-US" sz="1305" dirty="0">
                        <a:latin typeface="Arial" charset="0"/>
                        <a:ea typeface="Arial" charset="0"/>
                        <a:cs typeface="Arial" charset="0"/>
                      </a:endParaRPr>
                    </a:p>
                  </a:txBody>
                  <a:tcPr marL="58007" marR="58007" marT="58007" marB="58007">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827"/>
                        </a:lnSpc>
                        <a:buNone/>
                      </a:pPr>
                      <a:r>
                        <a:rPr lang="en-US" sz="1305" dirty="0">
                          <a:solidFill>
                            <a:srgbClr val="F7F3EA"/>
                          </a:solidFill>
                          <a:latin typeface="Arial" pitchFamily="34" charset="0"/>
                          <a:ea typeface="Arial" pitchFamily="34" charset="-122"/>
                          <a:cs typeface="Arial" pitchFamily="34" charset="-120"/>
                        </a:rPr>
                        <a:t>Two products, one landing page, no separation in the account</a:t>
                      </a:r>
                      <a:endParaRPr lang="en-US" sz="1305" dirty="0">
                        <a:latin typeface="Arial" charset="0"/>
                        <a:ea typeface="Arial" charset="0"/>
                        <a:cs typeface="Arial" charset="0"/>
                      </a:endParaRPr>
                    </a:p>
                  </a:txBody>
                  <a:tcPr marL="58007" marR="58007" marT="58007" marB="58007">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extLst>
                  <a:ext uri="{0D108BD9-81ED-4DB2-BD59-A6C34878D82A}">
                    <a16:rowId xmlns:a16="http://schemas.microsoft.com/office/drawing/2014/main" val="10006"/>
                  </a:ext>
                </a:extLst>
              </a:tr>
              <a:tr h="359251">
                <a:tc>
                  <a:txBody>
                    <a:bodyPr/>
                    <a:lstStyle/>
                    <a:p>
                      <a:pPr marL="0" indent="0">
                        <a:lnSpc>
                          <a:spcPts val="1827"/>
                        </a:lnSpc>
                        <a:buNone/>
                      </a:pPr>
                      <a:r>
                        <a:rPr lang="en-US" sz="1305" dirty="0">
                          <a:solidFill>
                            <a:srgbClr val="F7F3EA"/>
                          </a:solidFill>
                          <a:latin typeface="Arial" pitchFamily="34" charset="0"/>
                          <a:ea typeface="Arial" pitchFamily="34" charset="-122"/>
                          <a:cs typeface="Arial" pitchFamily="34" charset="-120"/>
                        </a:rPr>
                        <a:t>Ongoing</a:t>
                      </a:r>
                      <a:endParaRPr lang="en-US" sz="1305" dirty="0">
                        <a:latin typeface="Arial" charset="0"/>
                        <a:ea typeface="Arial" charset="0"/>
                        <a:cs typeface="Arial" charset="0"/>
                      </a:endParaRPr>
                    </a:p>
                  </a:txBody>
                  <a:tcPr marL="58007" marR="58007" marT="58007" marB="58007">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827"/>
                        </a:lnSpc>
                        <a:buNone/>
                      </a:pPr>
                      <a:r>
                        <a:rPr lang="en-US" sz="1305" dirty="0">
                          <a:solidFill>
                            <a:srgbClr val="F7F3EA"/>
                          </a:solidFill>
                          <a:latin typeface="Arial" pitchFamily="34" charset="0"/>
                          <a:ea typeface="Arial" pitchFamily="34" charset="-122"/>
                          <a:cs typeface="Arial" pitchFamily="34" charset="-120"/>
                        </a:rPr>
                        <a:t>Creative refresh cycle with a fixed testing budget</a:t>
                      </a:r>
                      <a:endParaRPr lang="en-US" sz="1305" dirty="0">
                        <a:latin typeface="Arial" charset="0"/>
                        <a:ea typeface="Arial" charset="0"/>
                        <a:cs typeface="Arial" charset="0"/>
                      </a:endParaRPr>
                    </a:p>
                  </a:txBody>
                  <a:tcPr marL="58007" marR="58007" marT="58007" marB="58007">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827"/>
                        </a:lnSpc>
                        <a:buNone/>
                      </a:pPr>
                      <a:r>
                        <a:rPr lang="en-US" sz="1305" dirty="0">
                          <a:solidFill>
                            <a:srgbClr val="F7F3EA"/>
                          </a:solidFill>
                          <a:latin typeface="Arial" pitchFamily="34" charset="0"/>
                          <a:ea typeface="Arial" pitchFamily="34" charset="-122"/>
                          <a:cs typeface="Arial" pitchFamily="34" charset="-120"/>
                        </a:rPr>
                        <a:t>Creatives from July still running unrotated</a:t>
                      </a:r>
                      <a:endParaRPr lang="en-US" sz="1305" dirty="0">
                        <a:latin typeface="Arial" charset="0"/>
                        <a:ea typeface="Arial" charset="0"/>
                        <a:cs typeface="Arial" charset="0"/>
                      </a:endParaRPr>
                    </a:p>
                  </a:txBody>
                  <a:tcPr marL="58007" marR="58007" marT="58007" marB="58007">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4" name="Text 1"/>
          <p:cNvSpPr/>
          <p:nvPr/>
        </p:nvSpPr>
        <p:spPr>
          <a:xfrm>
            <a:off x="812800" y="5604830"/>
            <a:ext cx="10333990" cy="262573"/>
          </a:xfrm>
          <a:prstGeom prst="rect">
            <a:avLst/>
          </a:prstGeom>
          <a:noFill/>
          <a:ln/>
        </p:spPr>
        <p:txBody>
          <a:bodyPr wrap="square" lIns="0" tIns="0" rIns="0" bIns="0" rtlCol="0" anchor="t">
            <a:normAutofit/>
          </a:bodyPr>
          <a:lstStyle/>
          <a:p>
            <a:pPr marL="0" indent="0" algn="l">
              <a:lnSpc>
                <a:spcPts val="1870"/>
              </a:lnSpc>
              <a:buNone/>
            </a:pPr>
            <a:r>
              <a:rPr lang="en-US" sz="1290" dirty="0">
                <a:solidFill>
                  <a:srgbClr val="A79C89"/>
                </a:solidFill>
                <a:latin typeface="Arial" pitchFamily="34" charset="0"/>
                <a:ea typeface="Arial" pitchFamily="34" charset="-122"/>
                <a:cs typeface="Arial" pitchFamily="34" charset="-120"/>
              </a:rPr>
              <a:t>None of this is worth doing until the measurement is fixed. That is the next two sections.</a:t>
            </a:r>
            <a:endParaRPr lang="en-US" sz="1290" dirty="0"/>
          </a:p>
        </p:txBody>
      </p:sp>
      <p:sp>
        <p:nvSpPr>
          <p:cNvPr id="5" name="Text 2"/>
          <p:cNvSpPr/>
          <p:nvPr/>
        </p:nvSpPr>
        <p:spPr>
          <a:xfrm>
            <a:off x="812800" y="6238242"/>
            <a:ext cx="4240697"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071"/>
                </a:solidFill>
                <a:latin typeface="Arial" pitchFamily="34" charset="0"/>
                <a:ea typeface="Arial" pitchFamily="34" charset="-122"/>
                <a:cs typeface="Arial" pitchFamily="34" charset="-120"/>
              </a:rPr>
              <a:t>Sequencing matters more than any single change on this list.</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7140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kern="0" spc="200" dirty="0">
                <a:solidFill>
                  <a:srgbClr val="C9A63C"/>
                </a:solidFill>
                <a:latin typeface="Arial" pitchFamily="34" charset="0"/>
                <a:ea typeface="Arial" pitchFamily="34" charset="-122"/>
                <a:cs typeface="Arial" pitchFamily="34" charset="-120"/>
              </a:rPr>
              <a:t>SECTION THREE</a:t>
            </a:r>
            <a:endParaRPr lang="en-US" sz="1300" dirty="0"/>
          </a:p>
        </p:txBody>
      </p:sp>
      <p:sp>
        <p:nvSpPr>
          <p:cNvPr id="3" name="Text 1"/>
          <p:cNvSpPr/>
          <p:nvPr/>
        </p:nvSpPr>
        <p:spPr>
          <a:xfrm>
            <a:off x="812800" y="1120142"/>
            <a:ext cx="10883392" cy="665480"/>
          </a:xfrm>
          <a:prstGeom prst="rect">
            <a:avLst/>
          </a:prstGeom>
          <a:noFill/>
          <a:ln/>
        </p:spPr>
        <p:txBody>
          <a:bodyPr wrap="square" lIns="0" tIns="0" rIns="0" bIns="0" rtlCol="0" anchor="t">
            <a:normAutofit/>
          </a:bodyPr>
          <a:lstStyle/>
          <a:p>
            <a:pPr marL="0" indent="0" algn="l">
              <a:lnSpc>
                <a:spcPts val="5040"/>
              </a:lnSpc>
              <a:buNone/>
            </a:pPr>
            <a:r>
              <a:rPr lang="en-US" sz="4800" dirty="0">
                <a:solidFill>
                  <a:srgbClr val="F7F3EA"/>
                </a:solidFill>
                <a:latin typeface="Georgia" pitchFamily="34" charset="0"/>
                <a:ea typeface="Georgia" pitchFamily="34" charset="-122"/>
                <a:cs typeface="Georgia" pitchFamily="34" charset="-120"/>
              </a:rPr>
              <a:t>The Google account</a:t>
            </a:r>
            <a:endParaRPr lang="en-US" sz="4800" dirty="0"/>
          </a:p>
        </p:txBody>
      </p:sp>
      <p:sp>
        <p:nvSpPr>
          <p:cNvPr id="4" name="Shape 2"/>
          <p:cNvSpPr/>
          <p:nvPr/>
        </p:nvSpPr>
        <p:spPr>
          <a:xfrm>
            <a:off x="815975" y="2093602"/>
            <a:ext cx="2501900" cy="1799590"/>
          </a:xfrm>
          <a:prstGeom prst="roundRect">
            <a:avLst>
              <a:gd name="adj" fmla="val 5469"/>
            </a:avLst>
          </a:prstGeom>
          <a:solidFill>
            <a:srgbClr val="221E18"/>
          </a:solidFill>
          <a:ln w="6350">
            <a:solidFill>
              <a:srgbClr val="3A342A"/>
            </a:solidFill>
            <a:prstDash val="solid"/>
          </a:ln>
        </p:spPr>
      </p:sp>
      <p:sp>
        <p:nvSpPr>
          <p:cNvPr id="5" name="Text 3"/>
          <p:cNvSpPr/>
          <p:nvPr/>
        </p:nvSpPr>
        <p:spPr>
          <a:xfrm>
            <a:off x="1071880" y="2349500"/>
            <a:ext cx="204979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79C89"/>
                </a:solidFill>
                <a:latin typeface="Arial" pitchFamily="34" charset="0"/>
                <a:ea typeface="Arial" pitchFamily="34" charset="-122"/>
                <a:cs typeface="Arial" pitchFamily="34" charset="-120"/>
              </a:rPr>
              <a:t>Spent</a:t>
            </a:r>
            <a:endParaRPr lang="en-US" sz="1200" dirty="0"/>
          </a:p>
        </p:txBody>
      </p:sp>
      <p:sp>
        <p:nvSpPr>
          <p:cNvPr id="6" name="Text 4"/>
          <p:cNvSpPr/>
          <p:nvPr/>
        </p:nvSpPr>
        <p:spPr>
          <a:xfrm>
            <a:off x="1071880" y="2626358"/>
            <a:ext cx="2049793" cy="556260"/>
          </a:xfrm>
          <a:prstGeom prst="rect">
            <a:avLst/>
          </a:prstGeom>
          <a:noFill/>
          <a:ln/>
        </p:spPr>
        <p:txBody>
          <a:bodyPr wrap="square" lIns="0" tIns="0" rIns="0" bIns="0" rtlCol="0" anchor="t">
            <a:normAutofit/>
          </a:bodyPr>
          <a:lstStyle/>
          <a:p>
            <a:pPr marL="0" indent="0" algn="l">
              <a:lnSpc>
                <a:spcPts val="4180"/>
              </a:lnSpc>
              <a:buNone/>
            </a:pPr>
            <a:r>
              <a:rPr lang="en-US" sz="3800" dirty="0">
                <a:solidFill>
                  <a:srgbClr val="C9A63C"/>
                </a:solidFill>
                <a:latin typeface="Georgia" pitchFamily="34" charset="0"/>
                <a:ea typeface="Georgia" pitchFamily="34" charset="-122"/>
                <a:cs typeface="Georgia" pitchFamily="34" charset="-120"/>
              </a:rPr>
              <a:t>₹30.72L</a:t>
            </a:r>
            <a:endParaRPr lang="en-US" sz="3800" dirty="0"/>
          </a:p>
        </p:txBody>
      </p:sp>
      <p:sp>
        <p:nvSpPr>
          <p:cNvPr id="7" name="Text 5"/>
          <p:cNvSpPr/>
          <p:nvPr/>
        </p:nvSpPr>
        <p:spPr>
          <a:xfrm>
            <a:off x="1071880" y="3220727"/>
            <a:ext cx="2049793"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79C89"/>
                </a:solidFill>
                <a:latin typeface="Arial" pitchFamily="34" charset="0"/>
                <a:ea typeface="Arial" pitchFamily="34" charset="-122"/>
                <a:cs typeface="Arial" pitchFamily="34" charset="-120"/>
              </a:rPr>
              <a:t>67% of total media</a:t>
            </a:r>
            <a:endParaRPr lang="en-US" sz="1200" dirty="0"/>
          </a:p>
        </p:txBody>
      </p:sp>
      <p:sp>
        <p:nvSpPr>
          <p:cNvPr id="8" name="Shape 6"/>
          <p:cNvSpPr/>
          <p:nvPr/>
        </p:nvSpPr>
        <p:spPr>
          <a:xfrm>
            <a:off x="3502025" y="2093602"/>
            <a:ext cx="2501900" cy="1799590"/>
          </a:xfrm>
          <a:prstGeom prst="roundRect">
            <a:avLst>
              <a:gd name="adj" fmla="val 5469"/>
            </a:avLst>
          </a:prstGeom>
          <a:solidFill>
            <a:srgbClr val="221E18"/>
          </a:solidFill>
          <a:ln w="6350">
            <a:solidFill>
              <a:srgbClr val="3A342A"/>
            </a:solidFill>
            <a:prstDash val="solid"/>
          </a:ln>
        </p:spPr>
      </p:sp>
      <p:sp>
        <p:nvSpPr>
          <p:cNvPr id="9" name="Text 7"/>
          <p:cNvSpPr/>
          <p:nvPr/>
        </p:nvSpPr>
        <p:spPr>
          <a:xfrm>
            <a:off x="3757930" y="2349500"/>
            <a:ext cx="204979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79C89"/>
                </a:solidFill>
                <a:latin typeface="Arial" pitchFamily="34" charset="0"/>
                <a:ea typeface="Arial" pitchFamily="34" charset="-122"/>
                <a:cs typeface="Arial" pitchFamily="34" charset="-120"/>
              </a:rPr>
              <a:t>Clicks</a:t>
            </a:r>
            <a:endParaRPr lang="en-US" sz="1200" dirty="0"/>
          </a:p>
        </p:txBody>
      </p:sp>
      <p:sp>
        <p:nvSpPr>
          <p:cNvPr id="10" name="Text 8"/>
          <p:cNvSpPr/>
          <p:nvPr/>
        </p:nvSpPr>
        <p:spPr>
          <a:xfrm>
            <a:off x="3757930" y="2626358"/>
            <a:ext cx="2049793" cy="556260"/>
          </a:xfrm>
          <a:prstGeom prst="rect">
            <a:avLst/>
          </a:prstGeom>
          <a:noFill/>
          <a:ln/>
        </p:spPr>
        <p:txBody>
          <a:bodyPr wrap="square" lIns="0" tIns="0" rIns="0" bIns="0" rtlCol="0" anchor="t">
            <a:normAutofit/>
          </a:bodyPr>
          <a:lstStyle/>
          <a:p>
            <a:pPr marL="0" indent="0" algn="l">
              <a:lnSpc>
                <a:spcPts val="4180"/>
              </a:lnSpc>
              <a:buNone/>
            </a:pPr>
            <a:r>
              <a:rPr lang="en-US" sz="3800" dirty="0">
                <a:solidFill>
                  <a:srgbClr val="F7F3EA"/>
                </a:solidFill>
                <a:latin typeface="Georgia" pitchFamily="34" charset="0"/>
                <a:ea typeface="Georgia" pitchFamily="34" charset="-122"/>
                <a:cs typeface="Georgia" pitchFamily="34" charset="-120"/>
              </a:rPr>
              <a:t>2,61,629</a:t>
            </a:r>
            <a:endParaRPr lang="en-US" sz="3800" dirty="0"/>
          </a:p>
        </p:txBody>
      </p:sp>
      <p:sp>
        <p:nvSpPr>
          <p:cNvPr id="11" name="Text 9"/>
          <p:cNvSpPr/>
          <p:nvPr/>
        </p:nvSpPr>
        <p:spPr>
          <a:xfrm>
            <a:off x="3757930" y="3220727"/>
            <a:ext cx="204979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79C89"/>
                </a:solidFill>
                <a:latin typeface="Arial" pitchFamily="34" charset="0"/>
                <a:ea typeface="Arial" pitchFamily="34" charset="-122"/>
                <a:cs typeface="Arial" pitchFamily="34" charset="-120"/>
              </a:rPr>
              <a:t>Search and Demand Gen</a:t>
            </a:r>
            <a:endParaRPr lang="en-US" sz="1200" dirty="0"/>
          </a:p>
        </p:txBody>
      </p:sp>
      <p:sp>
        <p:nvSpPr>
          <p:cNvPr id="12" name="Shape 10"/>
          <p:cNvSpPr/>
          <p:nvPr/>
        </p:nvSpPr>
        <p:spPr>
          <a:xfrm>
            <a:off x="6188075" y="2093602"/>
            <a:ext cx="2501900" cy="1799590"/>
          </a:xfrm>
          <a:prstGeom prst="roundRect">
            <a:avLst>
              <a:gd name="adj" fmla="val 5469"/>
            </a:avLst>
          </a:prstGeom>
          <a:solidFill>
            <a:srgbClr val="221E18"/>
          </a:solidFill>
          <a:ln w="6350">
            <a:solidFill>
              <a:srgbClr val="3A342A"/>
            </a:solidFill>
            <a:prstDash val="solid"/>
          </a:ln>
        </p:spPr>
      </p:sp>
      <p:sp>
        <p:nvSpPr>
          <p:cNvPr id="13" name="Text 11"/>
          <p:cNvSpPr/>
          <p:nvPr/>
        </p:nvSpPr>
        <p:spPr>
          <a:xfrm>
            <a:off x="6443980" y="2349500"/>
            <a:ext cx="204979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79C89"/>
                </a:solidFill>
                <a:latin typeface="Arial" pitchFamily="34" charset="0"/>
                <a:ea typeface="Arial" pitchFamily="34" charset="-122"/>
                <a:cs typeface="Arial" pitchFamily="34" charset="-120"/>
              </a:rPr>
              <a:t>Conversions reported</a:t>
            </a:r>
            <a:endParaRPr lang="en-US" sz="1200" dirty="0"/>
          </a:p>
        </p:txBody>
      </p:sp>
      <p:sp>
        <p:nvSpPr>
          <p:cNvPr id="14" name="Text 12"/>
          <p:cNvSpPr/>
          <p:nvPr/>
        </p:nvSpPr>
        <p:spPr>
          <a:xfrm>
            <a:off x="6443980" y="2626358"/>
            <a:ext cx="2049793" cy="556260"/>
          </a:xfrm>
          <a:prstGeom prst="rect">
            <a:avLst/>
          </a:prstGeom>
          <a:noFill/>
          <a:ln/>
        </p:spPr>
        <p:txBody>
          <a:bodyPr wrap="square" lIns="0" tIns="0" rIns="0" bIns="0" rtlCol="0" anchor="t">
            <a:normAutofit/>
          </a:bodyPr>
          <a:lstStyle/>
          <a:p>
            <a:pPr marL="0" indent="0" algn="l">
              <a:lnSpc>
                <a:spcPts val="4180"/>
              </a:lnSpc>
              <a:buNone/>
            </a:pPr>
            <a:r>
              <a:rPr lang="en-US" sz="3800" dirty="0">
                <a:solidFill>
                  <a:srgbClr val="F7F3EA"/>
                </a:solidFill>
                <a:latin typeface="Georgia" pitchFamily="34" charset="0"/>
                <a:ea typeface="Georgia" pitchFamily="34" charset="-122"/>
                <a:cs typeface="Georgia" pitchFamily="34" charset="-120"/>
              </a:rPr>
              <a:t>51,289</a:t>
            </a:r>
            <a:endParaRPr lang="en-US" sz="3800" dirty="0"/>
          </a:p>
        </p:txBody>
      </p:sp>
      <p:sp>
        <p:nvSpPr>
          <p:cNvPr id="15" name="Text 13"/>
          <p:cNvSpPr/>
          <p:nvPr/>
        </p:nvSpPr>
        <p:spPr>
          <a:xfrm>
            <a:off x="6443980" y="3220727"/>
            <a:ext cx="204979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79C89"/>
                </a:solidFill>
                <a:latin typeface="Arial" pitchFamily="34" charset="0"/>
                <a:ea typeface="Arial" pitchFamily="34" charset="-122"/>
                <a:cs typeface="Arial" pitchFamily="34" charset="-120"/>
              </a:rPr>
              <a:t>From a resort with 18 rooms</a:t>
            </a:r>
            <a:endParaRPr lang="en-US" sz="1200" dirty="0"/>
          </a:p>
        </p:txBody>
      </p:sp>
      <p:sp>
        <p:nvSpPr>
          <p:cNvPr id="16" name="Shape 14"/>
          <p:cNvSpPr/>
          <p:nvPr/>
        </p:nvSpPr>
        <p:spPr>
          <a:xfrm>
            <a:off x="8870950" y="2090427"/>
            <a:ext cx="2508250" cy="1805940"/>
          </a:xfrm>
          <a:prstGeom prst="roundRect">
            <a:avLst>
              <a:gd name="adj" fmla="val 5626"/>
            </a:avLst>
          </a:prstGeom>
          <a:solidFill>
            <a:srgbClr val="B54A28"/>
          </a:solidFill>
          <a:ln/>
        </p:spPr>
      </p:sp>
      <p:sp>
        <p:nvSpPr>
          <p:cNvPr id="17" name="Text 15"/>
          <p:cNvSpPr/>
          <p:nvPr/>
        </p:nvSpPr>
        <p:spPr>
          <a:xfrm>
            <a:off x="9124950" y="2344427"/>
            <a:ext cx="2060257"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7D9CC"/>
                </a:solidFill>
                <a:latin typeface="Arial" pitchFamily="34" charset="0"/>
                <a:ea typeface="Arial" pitchFamily="34" charset="-122"/>
                <a:cs typeface="Arial" pitchFamily="34" charset="-120"/>
              </a:rPr>
              <a:t>Cost per conversion</a:t>
            </a:r>
            <a:endParaRPr lang="en-US" sz="1200" dirty="0"/>
          </a:p>
        </p:txBody>
      </p:sp>
      <p:sp>
        <p:nvSpPr>
          <p:cNvPr id="18" name="Text 16"/>
          <p:cNvSpPr/>
          <p:nvPr/>
        </p:nvSpPr>
        <p:spPr>
          <a:xfrm>
            <a:off x="9124950" y="2621285"/>
            <a:ext cx="2060257" cy="556260"/>
          </a:xfrm>
          <a:prstGeom prst="rect">
            <a:avLst/>
          </a:prstGeom>
          <a:noFill/>
          <a:ln/>
        </p:spPr>
        <p:txBody>
          <a:bodyPr wrap="square" lIns="0" tIns="0" rIns="0" bIns="0" rtlCol="0" anchor="t">
            <a:normAutofit/>
          </a:bodyPr>
          <a:lstStyle/>
          <a:p>
            <a:pPr marL="0" indent="0" algn="l">
              <a:lnSpc>
                <a:spcPts val="4180"/>
              </a:lnSpc>
              <a:buNone/>
            </a:pPr>
            <a:r>
              <a:rPr lang="en-US" sz="3800" dirty="0">
                <a:solidFill>
                  <a:srgbClr val="F7F3EA"/>
                </a:solidFill>
                <a:latin typeface="Georgia" pitchFamily="34" charset="0"/>
                <a:ea typeface="Georgia" pitchFamily="34" charset="-122"/>
                <a:cs typeface="Georgia" pitchFamily="34" charset="-120"/>
              </a:rPr>
              <a:t>₹59.89</a:t>
            </a:r>
            <a:endParaRPr lang="en-US" sz="3800" dirty="0"/>
          </a:p>
        </p:txBody>
      </p:sp>
      <p:sp>
        <p:nvSpPr>
          <p:cNvPr id="19" name="Text 17"/>
          <p:cNvSpPr/>
          <p:nvPr/>
        </p:nvSpPr>
        <p:spPr>
          <a:xfrm>
            <a:off x="9124950" y="3215642"/>
            <a:ext cx="2060257"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7D9CC"/>
                </a:solidFill>
                <a:latin typeface="Arial" pitchFamily="34" charset="0"/>
                <a:ea typeface="Arial" pitchFamily="34" charset="-122"/>
                <a:cs typeface="Arial" pitchFamily="34" charset="-120"/>
              </a:rPr>
              <a:t>A day-out ticket sells for ₹1,499</a:t>
            </a:r>
            <a:endParaRPr lang="en-US" sz="1200" dirty="0"/>
          </a:p>
        </p:txBody>
      </p:sp>
      <p:sp>
        <p:nvSpPr>
          <p:cNvPr id="20" name="Text 18"/>
          <p:cNvSpPr/>
          <p:nvPr/>
        </p:nvSpPr>
        <p:spPr>
          <a:xfrm>
            <a:off x="812800" y="4226558"/>
            <a:ext cx="10203180" cy="651510"/>
          </a:xfrm>
          <a:prstGeom prst="rect">
            <a:avLst/>
          </a:prstGeom>
          <a:noFill/>
          <a:ln/>
        </p:spPr>
        <p:txBody>
          <a:bodyPr wrap="square" lIns="0" tIns="0" rIns="0" bIns="0" rtlCol="0" anchor="t">
            <a:normAutofit/>
          </a:bodyPr>
          <a:lstStyle/>
          <a:p>
            <a:pPr marL="0" indent="0" algn="l">
              <a:lnSpc>
                <a:spcPts val="2465"/>
              </a:lnSpc>
              <a:buNone/>
            </a:pPr>
            <a:r>
              <a:rPr lang="en-US" sz="1700" dirty="0">
                <a:solidFill>
                  <a:srgbClr val="A79C89"/>
                </a:solidFill>
                <a:latin typeface="Arial" pitchFamily="34" charset="0"/>
                <a:ea typeface="Arial" pitchFamily="34" charset="-122"/>
                <a:cs typeface="Arial" pitchFamily="34" charset="-120"/>
              </a:rPr>
              <a:t>Google is twice the Meta budget and gets a fraction of the scrutiny. It is also where the numbers stop being believable.</a:t>
            </a:r>
            <a:endParaRPr lang="en-US" sz="1700" dirty="0"/>
          </a:p>
        </p:txBody>
      </p:sp>
      <p:sp>
        <p:nvSpPr>
          <p:cNvPr id="21" name="Text 19"/>
          <p:cNvSpPr/>
          <p:nvPr/>
        </p:nvSpPr>
        <p:spPr>
          <a:xfrm>
            <a:off x="812800" y="6238242"/>
            <a:ext cx="593362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071"/>
                </a:solidFill>
                <a:latin typeface="Arial" pitchFamily="34" charset="0"/>
                <a:ea typeface="Arial" pitchFamily="34" charset="-122"/>
                <a:cs typeface="Arial" pitchFamily="34" charset="-120"/>
              </a:rPr>
              <a:t>Source: Google Ads, 1 Jan 2025 – 29 Sep 2026. First recorded month is March 2025.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B54A2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4953"/>
          </a:xfrm>
          <a:prstGeom prst="rect">
            <a:avLst/>
          </a:prstGeom>
          <a:noFill/>
          <a:ln/>
        </p:spPr>
        <p:txBody>
          <a:bodyPr wrap="square" lIns="0" tIns="0" rIns="0" bIns="0" rtlCol="0" anchor="t">
            <a:normAutofit/>
          </a:bodyPr>
          <a:lstStyle/>
          <a:p>
            <a:pPr marL="0" indent="0" algn="l">
              <a:lnSpc>
                <a:spcPts val="1819"/>
              </a:lnSpc>
              <a:buNone/>
            </a:pPr>
            <a:r>
              <a:rPr lang="en-US" sz="1299" kern="0" spc="200" dirty="0">
                <a:solidFill>
                  <a:srgbClr val="F7F3EA"/>
                </a:solidFill>
                <a:latin typeface="Arial" pitchFamily="34" charset="0"/>
                <a:ea typeface="Arial" pitchFamily="34" charset="-122"/>
                <a:cs typeface="Arial" pitchFamily="34" charset="-120"/>
              </a:rPr>
              <a:t>THE CORE PROBLEM</a:t>
            </a:r>
            <a:endParaRPr lang="en-US" sz="1299" dirty="0"/>
          </a:p>
        </p:txBody>
      </p:sp>
      <p:sp>
        <p:nvSpPr>
          <p:cNvPr id="3" name="Text 1"/>
          <p:cNvSpPr/>
          <p:nvPr/>
        </p:nvSpPr>
        <p:spPr>
          <a:xfrm>
            <a:off x="812800" y="1321755"/>
            <a:ext cx="10595610" cy="2459911"/>
          </a:xfrm>
          <a:prstGeom prst="rect">
            <a:avLst/>
          </a:prstGeom>
          <a:noFill/>
          <a:ln/>
        </p:spPr>
        <p:txBody>
          <a:bodyPr wrap="square" lIns="0" tIns="0" rIns="0" bIns="0" rtlCol="0" anchor="t">
            <a:normAutofit/>
          </a:bodyPr>
          <a:lstStyle/>
          <a:p>
            <a:pPr marL="0" indent="0" algn="l">
              <a:lnSpc>
                <a:spcPts val="6432"/>
              </a:lnSpc>
              <a:buNone/>
            </a:pPr>
            <a:r>
              <a:rPr lang="en-US" sz="6126" dirty="0">
                <a:solidFill>
                  <a:srgbClr val="F7F3EA"/>
                </a:solidFill>
                <a:latin typeface="Georgia" pitchFamily="34" charset="0"/>
                <a:ea typeface="Georgia" pitchFamily="34" charset="-122"/>
                <a:cs typeface="Georgia" pitchFamily="34" charset="-120"/>
              </a:rPr>
              <a:t>The 51,289 conversions in this account are not bookings.</a:t>
            </a:r>
            <a:endParaRPr lang="en-US" sz="6126" dirty="0"/>
          </a:p>
        </p:txBody>
      </p:sp>
      <p:sp>
        <p:nvSpPr>
          <p:cNvPr id="4" name="Text 2"/>
          <p:cNvSpPr/>
          <p:nvPr/>
        </p:nvSpPr>
        <p:spPr>
          <a:xfrm>
            <a:off x="812800" y="4035661"/>
            <a:ext cx="10203180" cy="1009015"/>
          </a:xfrm>
          <a:prstGeom prst="rect">
            <a:avLst/>
          </a:prstGeom>
          <a:noFill/>
          <a:ln/>
        </p:spPr>
        <p:txBody>
          <a:bodyPr wrap="square" lIns="0" tIns="0" rIns="0" bIns="0" rtlCol="0" anchor="t">
            <a:normAutofit/>
          </a:bodyPr>
          <a:lstStyle/>
          <a:p>
            <a:pPr marL="0" indent="0" algn="l">
              <a:lnSpc>
                <a:spcPts val="2590"/>
              </a:lnSpc>
              <a:buNone/>
            </a:pPr>
            <a:r>
              <a:rPr lang="en-US" sz="1850" dirty="0">
                <a:solidFill>
                  <a:srgbClr val="F7F3EA"/>
                </a:solidFill>
                <a:latin typeface="Arial" pitchFamily="34" charset="0"/>
                <a:ea typeface="Arial" pitchFamily="34" charset="-122"/>
                <a:cs typeface="Arial" pitchFamily="34" charset="-120"/>
              </a:rPr>
              <a:t>Whatever they are — page views, phone-number clicks, scroll depth, an engagement event — they are being counted as the outcome, and every bid Google has made for 19 months has been optimised toward them.</a:t>
            </a:r>
            <a:endParaRPr lang="en-US" sz="1850" dirty="0"/>
          </a:p>
        </p:txBody>
      </p:sp>
      <p:sp>
        <p:nvSpPr>
          <p:cNvPr id="5" name="Text 3"/>
          <p:cNvSpPr/>
          <p:nvPr/>
        </p:nvSpPr>
        <p:spPr>
          <a:xfrm>
            <a:off x="812800" y="5298678"/>
            <a:ext cx="9941560" cy="568722"/>
          </a:xfrm>
          <a:prstGeom prst="rect">
            <a:avLst/>
          </a:prstGeom>
          <a:noFill/>
          <a:ln/>
        </p:spPr>
        <p:txBody>
          <a:bodyPr wrap="square" lIns="0" tIns="0" rIns="0" bIns="0" rtlCol="0" anchor="t">
            <a:normAutofit/>
          </a:bodyPr>
          <a:lstStyle/>
          <a:p>
            <a:pPr marL="0" indent="0" algn="l">
              <a:lnSpc>
                <a:spcPts val="2161"/>
              </a:lnSpc>
              <a:buNone/>
            </a:pPr>
            <a:r>
              <a:rPr lang="en-US" sz="1490" dirty="0">
                <a:solidFill>
                  <a:srgbClr val="F7F3EA"/>
                </a:solidFill>
                <a:latin typeface="Arial" pitchFamily="34" charset="0"/>
                <a:ea typeface="Arial" pitchFamily="34" charset="-122"/>
                <a:cs typeface="Arial" pitchFamily="34" charset="-120"/>
              </a:rPr>
              <a:t>The next four slides are the proof. Each one on its own would be a red flag. Together they mean the conversion column cannot be used to make a single decision.</a:t>
            </a:r>
            <a:endParaRPr lang="en-US" sz="1490" dirty="0"/>
          </a:p>
        </p:txBody>
      </p:sp>
      <p:sp>
        <p:nvSpPr>
          <p:cNvPr id="6" name="Text 4"/>
          <p:cNvSpPr/>
          <p:nvPr/>
        </p:nvSpPr>
        <p:spPr>
          <a:xfrm>
            <a:off x="812800" y="6238242"/>
            <a:ext cx="5747137"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7D9CC"/>
                </a:solidFill>
                <a:latin typeface="Arial" pitchFamily="34" charset="0"/>
                <a:ea typeface="Arial" pitchFamily="34" charset="-122"/>
                <a:cs typeface="Arial" pitchFamily="34" charset="-120"/>
              </a:rPr>
              <a:t>We could not inspect the conversion actions directly — that needs account access.</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33">
    <p:bg>
      <p:bgPr>
        <a:solidFill>
          <a:srgbClr val="17140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94665"/>
          </a:xfrm>
          <a:prstGeom prst="rect">
            <a:avLst/>
          </a:prstGeom>
          <a:noFill/>
          <a:ln/>
        </p:spPr>
        <p:txBody>
          <a:bodyPr wrap="square" lIns="0" tIns="0" rIns="0" bIns="0" rtlCol="0" anchor="t">
            <a:normAutofit/>
          </a:bodyPr>
          <a:lstStyle/>
          <a:p>
            <a:pPr marL="0" indent="0" algn="l">
              <a:lnSpc>
                <a:spcPts val="3725"/>
              </a:lnSpc>
              <a:buNone/>
            </a:pPr>
            <a:r>
              <a:rPr lang="en-US" sz="3548" dirty="0">
                <a:solidFill>
                  <a:srgbClr val="C9A63C"/>
                </a:solidFill>
                <a:latin typeface="Georgia" pitchFamily="34" charset="0"/>
                <a:ea typeface="Georgia" pitchFamily="34" charset="-122"/>
                <a:cs typeface="Georgia" pitchFamily="34" charset="-120"/>
              </a:rPr>
              <a:t>Who is already being asked for by name</a:t>
            </a:r>
            <a:endParaRPr lang="en-US" sz="3548" dirty="0"/>
          </a:p>
        </p:txBody>
      </p:sp>
      <p:graphicFrame>
        <p:nvGraphicFramePr>
          <p:cNvPr id="3" name="Table 0"/>
          <p:cNvGraphicFramePr>
            <a:graphicFrameLocks noGrp="1"/>
          </p:cNvGraphicFramePr>
          <p:nvPr>
            <p:extLst>
              <p:ext uri="{D42A27DB-BD31-4B8C-83A1-F6EECF244321}">
                <p14:modId xmlns:p14="http://schemas.microsoft.com/office/powerpoint/2010/main" val="2139956895"/>
              </p:ext>
            </p:extLst>
          </p:nvPr>
        </p:nvGraphicFramePr>
        <p:xfrm>
          <a:off x="822960" y="1620000"/>
          <a:ext cx="10556240" cy="3010000"/>
        </p:xfrm>
        <a:graphic>
          <a:graphicData uri="http://schemas.openxmlformats.org/drawingml/2006/table">
            <a:tbl>
              <a:tblPr/>
              <a:tblGrid>
                <a:gridCol w="2345831">
                  <a:extLst>
                    <a:ext uri="{9D8B030D-6E8A-4147-A177-3AD203B41FA5}">
                      <a16:colId xmlns:a16="http://schemas.microsoft.com/office/drawing/2014/main" val="20000"/>
                    </a:ext>
                  </a:extLst>
                </a:gridCol>
                <a:gridCol w="5160828">
                  <a:extLst>
                    <a:ext uri="{9D8B030D-6E8A-4147-A177-3AD203B41FA5}">
                      <a16:colId xmlns:a16="http://schemas.microsoft.com/office/drawing/2014/main" val="20001"/>
                    </a:ext>
                  </a:extLst>
                </a:gridCol>
                <a:gridCol w="3049581">
                  <a:extLst>
                    <a:ext uri="{9D8B030D-6E8A-4147-A177-3AD203B41FA5}">
                      <a16:colId xmlns:a16="http://schemas.microsoft.com/office/drawing/2014/main" val="20002"/>
                    </a:ext>
                  </a:extLst>
                </a:gridCol>
              </a:tblGrid>
              <a:tr h="430000">
                <a:tc>
                  <a:txBody>
                    <a:bodyPr/>
                    <a:lstStyle/>
                    <a:p>
                      <a:pPr marL="0" indent="0">
                        <a:lnSpc>
                          <a:spcPts val="1500"/>
                        </a:lnSpc>
                        <a:buNone/>
                      </a:pPr>
                      <a:r>
                        <a:rPr lang="en-US" sz="1100" b="1" dirty="0">
                          <a:solidFill>
                            <a:srgbClr val="F7F3EA"/>
                          </a:solidFill>
                          <a:latin typeface="Arial" pitchFamily="34" charset="0"/>
                          <a:ea typeface="Arial" pitchFamily="34" charset="-122"/>
                          <a:cs typeface="Arial" pitchFamily="34" charset="-120"/>
                        </a:rPr>
                        <a:t>Brand</a:t>
                      </a:r>
                      <a:endParaRPr lang="en-US" sz="11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645F57"/>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645F57"/>
                      </a:solidFill>
                      <a:prstDash val="solid"/>
                      <a:round/>
                      <a:headEnd type="none" w="med" len="med"/>
                      <a:tailEnd type="none" w="med" len="med"/>
                    </a:lnB>
                    <a:solidFill>
                      <a:srgbClr val="3A342A"/>
                    </a:solidFill>
                  </a:tcPr>
                </a:tc>
                <a:tc>
                  <a:txBody>
                    <a:bodyPr/>
                    <a:lstStyle/>
                    <a:p>
                      <a:pPr marL="0" indent="0">
                        <a:lnSpc>
                          <a:spcPts val="1500"/>
                        </a:lnSpc>
                        <a:buNone/>
                      </a:pPr>
                      <a:r>
                        <a:rPr lang="en-US" sz="1100" b="1" dirty="0">
                          <a:solidFill>
                            <a:srgbClr val="F7F3EA"/>
                          </a:solidFill>
                          <a:latin typeface="Arial" pitchFamily="34" charset="0"/>
                          <a:ea typeface="Arial" pitchFamily="34" charset="-122"/>
                          <a:cs typeface="Arial" pitchFamily="34" charset="-120"/>
                        </a:rPr>
                        <a:t>Head search term</a:t>
                      </a:r>
                      <a:endParaRPr lang="en-US" sz="1100" dirty="0">
                        <a:latin typeface="Arial" charset="0"/>
                        <a:ea typeface="Arial" charset="0"/>
                        <a:cs typeface="Arial" charset="0"/>
                      </a:endParaRPr>
                    </a:p>
                  </a:txBody>
                  <a:tcPr marL="51965" marR="51965" marT="51965" marB="51965">
                    <a:lnL w="12700" cap="flat" cmpd="sng" algn="ctr">
                      <a:solidFill>
                        <a:srgbClr val="645F57"/>
                      </a:solidFill>
                      <a:prstDash val="solid"/>
                      <a:round/>
                      <a:headEnd type="none" w="med" len="med"/>
                      <a:tailEnd type="none" w="med" len="med"/>
                    </a:lnL>
                    <a:lnR w="12700" cap="flat" cmpd="sng" algn="ctr">
                      <a:solidFill>
                        <a:srgbClr val="645F57"/>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645F57"/>
                      </a:solidFill>
                      <a:prstDash val="solid"/>
                      <a:round/>
                      <a:headEnd type="none" w="med" len="med"/>
                      <a:tailEnd type="none" w="med" len="med"/>
                    </a:lnB>
                    <a:solidFill>
                      <a:srgbClr val="3A342A"/>
                    </a:solidFill>
                  </a:tcPr>
                </a:tc>
                <a:tc>
                  <a:txBody>
                    <a:bodyPr/>
                    <a:lstStyle/>
                    <a:p>
                      <a:pPr marL="0" indent="0">
                        <a:lnSpc>
                          <a:spcPts val="1500"/>
                        </a:lnSpc>
                        <a:buNone/>
                      </a:pPr>
                      <a:r>
                        <a:rPr lang="en-US" sz="1100" b="1" dirty="0">
                          <a:solidFill>
                            <a:srgbClr val="F7F3EA"/>
                          </a:solidFill>
                          <a:latin typeface="Arial" pitchFamily="34" charset="0"/>
                          <a:ea typeface="Arial" pitchFamily="34" charset="-122"/>
                          <a:cs typeface="Arial" pitchFamily="34" charset="-120"/>
                        </a:rPr>
                        <a:t>Avg. monthly searches, India</a:t>
                      </a:r>
                      <a:endParaRPr lang="en-US" sz="1100" dirty="0">
                        <a:latin typeface="Arial" charset="0"/>
                        <a:ea typeface="Arial" charset="0"/>
                        <a:cs typeface="Arial" charset="0"/>
                      </a:endParaRPr>
                    </a:p>
                  </a:txBody>
                  <a:tcPr marL="51965" marR="51965" marT="51965" marB="51965">
                    <a:lnL w="12700" cap="flat" cmpd="sng" algn="ctr">
                      <a:solidFill>
                        <a:srgbClr val="645F57"/>
                      </a:solidFill>
                      <a:prstDash val="solid"/>
                      <a:round/>
                      <a:headEnd type="none" w="med" len="med"/>
                      <a:tailEnd type="none" w="med" len="med"/>
                    </a:lnL>
                    <a:lnR w="12700" cap="flat" cmpd="sng" algn="ctr">
                      <a:solidFill>
                        <a:srgbClr val="645F57"/>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645F57"/>
                      </a:solidFill>
                      <a:prstDash val="solid"/>
                      <a:round/>
                      <a:headEnd type="none" w="med" len="med"/>
                      <a:tailEnd type="none" w="med" len="med"/>
                    </a:lnB>
                    <a:solidFill>
                      <a:srgbClr val="3A342A"/>
                    </a:solidFill>
                  </a:tcPr>
                </a:tc>
                <a:extLst>
                  <a:ext uri="{0D108BD9-81ED-4DB2-BD59-A6C34878D82A}">
                    <a16:rowId xmlns:a16="http://schemas.microsoft.com/office/drawing/2014/main" val="10000"/>
                  </a:ext>
                </a:extLst>
              </a:tr>
              <a:tr h="430000">
                <a:tc>
                  <a:txBody>
                    <a:bodyPr/>
                    <a:lstStyle/>
                    <a:p>
                      <a:pPr marL="0" indent="0">
                        <a:lnSpc>
                          <a:spcPts val="1500"/>
                        </a:lnSpc>
                        <a:buNone/>
                      </a:pPr>
                      <a:r>
                        <a:rPr lang="en-US" sz="1100" b="1" dirty="0">
                          <a:solidFill>
                            <a:srgbClr val="F7F3EA"/>
                          </a:solidFill>
                          <a:latin typeface="Arial" pitchFamily="34" charset="0"/>
                          <a:ea typeface="Arial" pitchFamily="34" charset="-122"/>
                          <a:cs typeface="Arial" pitchFamily="34" charset="-120"/>
                        </a:rPr>
                        <a:t>Guhantara</a:t>
                      </a:r>
                      <a:endParaRPr lang="en-US" sz="11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645F57"/>
                      </a:solidFill>
                      <a:prstDash val="solid"/>
                      <a:round/>
                      <a:headEnd type="none" w="med" len="med"/>
                      <a:tailEnd type="none" w="med" len="med"/>
                    </a:lnT>
                    <a:lnB w="12700" cap="flat" cmpd="sng" algn="ctr">
                      <a:solidFill>
                        <a:srgbClr val="494642"/>
                      </a:solidFill>
                      <a:prstDash val="solid"/>
                      <a:round/>
                      <a:headEnd type="none" w="med" len="med"/>
                      <a:tailEnd type="none" w="med" len="med"/>
                    </a:lnB>
                    <a:solidFill>
                      <a:srgbClr val="3A342A"/>
                    </a:solidFill>
                  </a:tcPr>
                </a:tc>
                <a:tc>
                  <a:txBody>
                    <a:bodyPr/>
                    <a:lstStyle/>
                    <a:p>
                      <a:pPr marL="0" indent="0">
                        <a:lnSpc>
                          <a:spcPts val="1500"/>
                        </a:lnSpc>
                        <a:buNone/>
                      </a:pPr>
                      <a:r>
                        <a:rPr lang="en-US" sz="1100" b="1" dirty="0">
                          <a:solidFill>
                            <a:srgbClr val="F7F3EA"/>
                          </a:solidFill>
                          <a:latin typeface="Arial" pitchFamily="34" charset="0"/>
                          <a:ea typeface="Arial" pitchFamily="34" charset="-122"/>
                          <a:cs typeface="Arial" pitchFamily="34" charset="-120"/>
                        </a:rPr>
                        <a:t>guhantara · guhantara resort · guhantara cave resort</a:t>
                      </a:r>
                      <a:endParaRPr lang="en-US" sz="11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645F57"/>
                      </a:solidFill>
                      <a:prstDash val="solid"/>
                      <a:round/>
                      <a:headEnd type="none" w="med" len="med"/>
                      <a:tailEnd type="none" w="med" len="med"/>
                    </a:lnT>
                    <a:lnB w="12700" cap="flat" cmpd="sng" algn="ctr">
                      <a:solidFill>
                        <a:srgbClr val="494642"/>
                      </a:solidFill>
                      <a:prstDash val="solid"/>
                      <a:round/>
                      <a:headEnd type="none" w="med" len="med"/>
                      <a:tailEnd type="none" w="med" len="med"/>
                    </a:lnB>
                    <a:solidFill>
                      <a:srgbClr val="3A342A"/>
                    </a:solidFill>
                  </a:tcPr>
                </a:tc>
                <a:tc>
                  <a:txBody>
                    <a:bodyPr/>
                    <a:lstStyle/>
                    <a:p>
                      <a:pPr marL="0" indent="0">
                        <a:lnSpc>
                          <a:spcPct val="100000"/>
                        </a:lnSpc>
                        <a:buNone/>
                      </a:pPr>
                      <a:r>
                        <a:rPr lang="en-US" sz="1100" b="1" dirty="0">
                          <a:solidFill>
                            <a:srgbClr val="F7F3EA"/>
                          </a:solidFill>
                          <a:latin typeface="Arial" pitchFamily="34" charset="0"/>
                          <a:ea typeface="Arial" charset="0"/>
                          <a:cs typeface="Arial" pitchFamily="34" charset="-120"/>
                        </a:rPr>
                        <a:t>90,500</a:t>
                      </a:r>
                      <a:endParaRPr lang="en-US" sz="11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645F57"/>
                      </a:solidFill>
                      <a:prstDash val="solid"/>
                      <a:round/>
                      <a:headEnd type="none" w="med" len="med"/>
                      <a:tailEnd type="none" w="med" len="med"/>
                    </a:lnT>
                    <a:lnB w="12700" cap="flat" cmpd="sng" algn="ctr">
                      <a:solidFill>
                        <a:srgbClr val="494642"/>
                      </a:solidFill>
                      <a:prstDash val="solid"/>
                      <a:round/>
                      <a:headEnd type="none" w="med" len="med"/>
                      <a:tailEnd type="none" w="med" len="med"/>
                    </a:lnB>
                    <a:solidFill>
                      <a:srgbClr val="3A342A"/>
                    </a:solidFill>
                  </a:tcPr>
                </a:tc>
                <a:extLst>
                  <a:ext uri="{0D108BD9-81ED-4DB2-BD59-A6C34878D82A}">
                    <a16:rowId xmlns:a16="http://schemas.microsoft.com/office/drawing/2014/main" val="10001"/>
                  </a:ext>
                </a:extLst>
              </a:tr>
              <a:tr h="430000">
                <a:tc>
                  <a:txBody>
                    <a:bodyPr/>
                    <a:lstStyle/>
                    <a:p>
                      <a:pPr marL="0" indent="0">
                        <a:lnSpc>
                          <a:spcPts val="1500"/>
                        </a:lnSpc>
                        <a:buNone/>
                      </a:pPr>
                      <a:r>
                        <a:rPr lang="en-US" sz="1100" dirty="0">
                          <a:solidFill>
                            <a:srgbClr val="F7F3EA"/>
                          </a:solidFill>
                          <a:latin typeface="Arial" pitchFamily="34" charset="0"/>
                          <a:ea typeface="Arial" pitchFamily="34" charset="-122"/>
                          <a:cs typeface="Arial" pitchFamily="34" charset="-120"/>
                        </a:rPr>
                        <a:t>Discovery Village</a:t>
                      </a:r>
                      <a:endParaRPr lang="en-US" sz="11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500"/>
                        </a:lnSpc>
                        <a:buNone/>
                      </a:pPr>
                      <a:r>
                        <a:rPr lang="en-US" sz="1100" dirty="0">
                          <a:solidFill>
                            <a:srgbClr val="F7F3EA"/>
                          </a:solidFill>
                          <a:latin typeface="Arial" pitchFamily="34" charset="0"/>
                          <a:ea typeface="Arial" pitchFamily="34" charset="-122"/>
                          <a:cs typeface="Arial" pitchFamily="34" charset="-120"/>
                        </a:rPr>
                        <a:t>discovery village · discovery village resort</a:t>
                      </a:r>
                      <a:endParaRPr lang="en-US" sz="11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500"/>
                        </a:lnSpc>
                        <a:buNone/>
                      </a:pPr>
                      <a:r>
                        <a:rPr lang="en-US" sz="1100" dirty="0">
                          <a:solidFill>
                            <a:srgbClr val="F7F3EA"/>
                          </a:solidFill>
                          <a:latin typeface="Arial" pitchFamily="34" charset="0"/>
                          <a:ea typeface="Arial" charset="0"/>
                          <a:cs typeface="Arial" pitchFamily="34" charset="-120"/>
                        </a:rPr>
                        <a:t>8,100</a:t>
                      </a:r>
                      <a:endParaRPr lang="en-US" sz="11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extLst>
                  <a:ext uri="{0D108BD9-81ED-4DB2-BD59-A6C34878D82A}">
                    <a16:rowId xmlns:a16="http://schemas.microsoft.com/office/drawing/2014/main" val="10002"/>
                  </a:ext>
                </a:extLst>
              </a:tr>
              <a:tr h="430000">
                <a:tc>
                  <a:txBody>
                    <a:bodyPr/>
                    <a:lstStyle/>
                    <a:p>
                      <a:pPr marL="0" indent="0">
                        <a:lnSpc>
                          <a:spcPts val="1500"/>
                        </a:lnSpc>
                        <a:buNone/>
                      </a:pPr>
                      <a:r>
                        <a:rPr lang="en-US" sz="1100" dirty="0">
                          <a:solidFill>
                            <a:srgbClr val="F7F3EA"/>
                          </a:solidFill>
                          <a:latin typeface="Arial" pitchFamily="34" charset="0"/>
                          <a:ea typeface="Arial" pitchFamily="34" charset="-122"/>
                          <a:cs typeface="Arial" pitchFamily="34" charset="-120"/>
                        </a:rPr>
                        <a:t>Aldovia</a:t>
                      </a:r>
                      <a:endParaRPr lang="en-US" sz="11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500"/>
                        </a:lnSpc>
                        <a:buNone/>
                      </a:pPr>
                      <a:r>
                        <a:rPr lang="en-US" sz="1100" dirty="0">
                          <a:solidFill>
                            <a:srgbClr val="F7F3EA"/>
                          </a:solidFill>
                          <a:latin typeface="Arial" pitchFamily="34" charset="0"/>
                          <a:ea typeface="Arial" pitchFamily="34" charset="-122"/>
                          <a:cs typeface="Arial" pitchFamily="34" charset="-120"/>
                        </a:rPr>
                        <a:t>aldovia · aldovia resort</a:t>
                      </a:r>
                      <a:endParaRPr lang="en-US" sz="11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500"/>
                        </a:lnSpc>
                        <a:buNone/>
                      </a:pPr>
                      <a:r>
                        <a:rPr lang="en-US" sz="1100" dirty="0">
                          <a:solidFill>
                            <a:srgbClr val="F7F3EA"/>
                          </a:solidFill>
                          <a:latin typeface="Arial" pitchFamily="34" charset="0"/>
                          <a:ea typeface="Arial" charset="0"/>
                          <a:cs typeface="Arial" pitchFamily="34" charset="-120"/>
                        </a:rPr>
                        <a:t>720</a:t>
                      </a:r>
                      <a:endParaRPr lang="en-US" sz="11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extLst>
                  <a:ext uri="{0D108BD9-81ED-4DB2-BD59-A6C34878D82A}">
                    <a16:rowId xmlns:a16="http://schemas.microsoft.com/office/drawing/2014/main" val="10003"/>
                  </a:ext>
                </a:extLst>
              </a:tr>
              <a:tr h="430000">
                <a:tc>
                  <a:txBody>
                    <a:bodyPr/>
                    <a:lstStyle/>
                    <a:p>
                      <a:pPr marL="0" indent="0">
                        <a:lnSpc>
                          <a:spcPts val="1500"/>
                        </a:lnSpc>
                        <a:buNone/>
                      </a:pPr>
                      <a:r>
                        <a:rPr lang="en-US" sz="1100" dirty="0">
                          <a:solidFill>
                            <a:srgbClr val="F7F3EA"/>
                          </a:solidFill>
                          <a:latin typeface="Arial" pitchFamily="34" charset="0"/>
                          <a:ea typeface="Arial" pitchFamily="34" charset="-122"/>
                          <a:cs typeface="Arial" pitchFamily="34" charset="-120"/>
                        </a:rPr>
                        <a:t>CGH Earth</a:t>
                      </a:r>
                      <a:endParaRPr lang="en-US" sz="11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500"/>
                        </a:lnSpc>
                        <a:buNone/>
                      </a:pPr>
                      <a:r>
                        <a:rPr lang="en-US" sz="1100" dirty="0">
                          <a:solidFill>
                            <a:srgbClr val="F7F3EA"/>
                          </a:solidFill>
                          <a:latin typeface="Arial" pitchFamily="34" charset="0"/>
                          <a:ea typeface="Arial" pitchFamily="34" charset="-122"/>
                          <a:cs typeface="Arial" pitchFamily="34" charset="-120"/>
                        </a:rPr>
                        <a:t>cgh earth · cgh earth hotels</a:t>
                      </a:r>
                      <a:endParaRPr lang="en-US" sz="11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500"/>
                        </a:lnSpc>
                        <a:buNone/>
                      </a:pPr>
                      <a:r>
                        <a:rPr lang="en-US" sz="1100" dirty="0">
                          <a:solidFill>
                            <a:srgbClr val="F7F3EA"/>
                          </a:solidFill>
                          <a:latin typeface="Arial" pitchFamily="34" charset="0"/>
                          <a:ea typeface="Arial" charset="0"/>
                          <a:cs typeface="Arial" pitchFamily="34" charset="-120"/>
                        </a:rPr>
                        <a:t>8,100</a:t>
                      </a:r>
                      <a:endParaRPr lang="en-US" sz="11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extLst>
                  <a:ext uri="{0D108BD9-81ED-4DB2-BD59-A6C34878D82A}">
                    <a16:rowId xmlns:a16="http://schemas.microsoft.com/office/drawing/2014/main" val="10004"/>
                  </a:ext>
                </a:extLst>
              </a:tr>
              <a:tr h="430000">
                <a:tc>
                  <a:txBody>
                    <a:bodyPr/>
                    <a:lstStyle/>
                    <a:p>
                      <a:pPr marL="0" indent="0">
                        <a:lnSpc>
                          <a:spcPts val="1500"/>
                        </a:lnSpc>
                        <a:buNone/>
                      </a:pPr>
                      <a:r>
                        <a:rPr lang="en-US" sz="1100" dirty="0">
                          <a:solidFill>
                            <a:srgbClr val="F7F3EA"/>
                          </a:solidFill>
                          <a:latin typeface="Arial" pitchFamily="34" charset="0"/>
                          <a:ea typeface="Arial" pitchFamily="34" charset="-122"/>
                          <a:cs typeface="Arial" pitchFamily="34" charset="-120"/>
                        </a:rPr>
                        <a:t>Wild Valley</a:t>
                      </a:r>
                      <a:endParaRPr lang="en-US" sz="11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500"/>
                        </a:lnSpc>
                        <a:buNone/>
                      </a:pPr>
                      <a:r>
                        <a:rPr lang="en-US" sz="1100" dirty="0">
                          <a:solidFill>
                            <a:srgbClr val="F7F3EA"/>
                          </a:solidFill>
                          <a:latin typeface="Arial" pitchFamily="34" charset="0"/>
                          <a:ea typeface="Arial" pitchFamily="34" charset="-122"/>
                          <a:cs typeface="Arial" pitchFamily="34" charset="-120"/>
                        </a:rPr>
                        <a:t>wild valley resort</a:t>
                      </a:r>
                      <a:endParaRPr lang="en-US" sz="11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500"/>
                        </a:lnSpc>
                        <a:buNone/>
                      </a:pPr>
                      <a:r>
                        <a:rPr lang="en-US" sz="1100" dirty="0">
                          <a:solidFill>
                            <a:srgbClr val="F7F3EA"/>
                          </a:solidFill>
                          <a:latin typeface="Arial" pitchFamily="34" charset="0"/>
                          <a:ea typeface="Arial" charset="0"/>
                          <a:cs typeface="Arial" pitchFamily="34" charset="-120"/>
                        </a:rPr>
                        <a:t>14,800</a:t>
                      </a:r>
                      <a:endParaRPr lang="en-US" sz="11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extLst>
                  <a:ext uri="{0D108BD9-81ED-4DB2-BD59-A6C34878D82A}">
                    <a16:rowId xmlns:a16="http://schemas.microsoft.com/office/drawing/2014/main" val="10005"/>
                  </a:ext>
                </a:extLst>
              </a:tr>
              <a:tr h="430000">
                <a:tc>
                  <a:txBody>
                    <a:bodyPr/>
                    <a:lstStyle/>
                    <a:p>
                      <a:pPr marL="0" indent="0">
                        <a:lnSpc>
                          <a:spcPts val="1500"/>
                        </a:lnSpc>
                        <a:buNone/>
                      </a:pPr>
                      <a:r>
                        <a:rPr lang="en-US" sz="1100" dirty="0">
                          <a:solidFill>
                            <a:srgbClr val="F7F3EA"/>
                          </a:solidFill>
                          <a:latin typeface="Arial" pitchFamily="34" charset="0"/>
                          <a:ea typeface="Arial" pitchFamily="34" charset="-122"/>
                          <a:cs typeface="Arial" pitchFamily="34" charset="-120"/>
                        </a:rPr>
                        <a:t>Clarks Exotica</a:t>
                      </a:r>
                      <a:endParaRPr lang="en-US" sz="11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500"/>
                        </a:lnSpc>
                        <a:buNone/>
                      </a:pPr>
                      <a:r>
                        <a:rPr lang="en-US" sz="1100" dirty="0">
                          <a:solidFill>
                            <a:srgbClr val="F7F3EA"/>
                          </a:solidFill>
                          <a:latin typeface="Arial" pitchFamily="34" charset="0"/>
                          <a:ea typeface="Arial" pitchFamily="34" charset="-122"/>
                          <a:cs typeface="Arial" pitchFamily="34" charset="-120"/>
                        </a:rPr>
                        <a:t>clarks exotica · clarks exotica resort</a:t>
                      </a:r>
                      <a:endParaRPr lang="en-US" sz="11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500"/>
                        </a:lnSpc>
                        <a:buNone/>
                      </a:pPr>
                      <a:r>
                        <a:rPr lang="en-US" sz="1100" dirty="0">
                          <a:solidFill>
                            <a:srgbClr val="F7F3EA"/>
                          </a:solidFill>
                          <a:latin typeface="Arial" pitchFamily="34" charset="0"/>
                          <a:ea typeface="Arial" charset="0"/>
                          <a:cs typeface="Arial" pitchFamily="34" charset="-120"/>
                        </a:rPr>
                        <a:t>5,400</a:t>
                      </a:r>
                      <a:endParaRPr lang="en-US" sz="11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4" name="Text 1"/>
          <p:cNvSpPr/>
          <p:nvPr/>
        </p:nvSpPr>
        <p:spPr>
          <a:xfrm>
            <a:off x="812800" y="5370686"/>
            <a:ext cx="10333990" cy="496729"/>
          </a:xfrm>
          <a:prstGeom prst="rect">
            <a:avLst/>
          </a:prstGeom>
          <a:noFill/>
          <a:ln/>
        </p:spPr>
        <p:txBody>
          <a:bodyPr wrap="square" lIns="0" tIns="0" rIns="0" bIns="0" rtlCol="0" anchor="t">
            <a:normAutofit/>
          </a:bodyPr>
          <a:lstStyle/>
          <a:p>
            <a:pPr marL="0" indent="0" algn="l">
              <a:lnSpc>
                <a:spcPts val="1856"/>
              </a:lnSpc>
              <a:buNone/>
            </a:pPr>
            <a:r>
              <a:rPr lang="en-US" sz="1280" dirty="0">
                <a:solidFill>
                  <a:srgbClr val="A79C89"/>
                </a:solidFill>
                <a:latin typeface="Arial" pitchFamily="34" charset="0"/>
                <a:ea typeface="Arial" pitchFamily="34" charset="-122"/>
                <a:cs typeface="Arial" pitchFamily="34" charset="-120"/>
              </a:rPr>
              <a:t>Brand search volume is the cleanest read on who the market already wants. It also decides the Google split: how much belongs on your own name, and how much has to go and find demand that has never heard of you.</a:t>
            </a:r>
            <a:endParaRPr lang="en-US" sz="1280" dirty="0"/>
          </a:p>
        </p:txBody>
      </p:sp>
      <p:sp>
        <p:nvSpPr>
          <p:cNvPr id="5" name="Text 2"/>
          <p:cNvSpPr/>
          <p:nvPr/>
        </p:nvSpPr>
        <p:spPr>
          <a:xfrm>
            <a:off x="812800" y="6238255"/>
            <a:ext cx="1033399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071"/>
                </a:solidFill>
                <a:latin typeface="Arial" pitchFamily="34" charset="0"/>
                <a:ea typeface="Arial" pitchFamily="34" charset="-122"/>
                <a:cs typeface="Arial" pitchFamily="34" charset="-120"/>
              </a:rPr>
              <a:t>Volumes to be pulled from Google Keyword Planner, India, last 12 months. Fill before presenting.</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bg>
      <p:bgPr>
        <a:solidFill>
          <a:srgbClr val="F7F3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1124744"/>
          </a:xfrm>
          <a:prstGeom prst="rect">
            <a:avLst/>
          </a:prstGeom>
          <a:noFill/>
          <a:ln/>
        </p:spPr>
        <p:txBody>
          <a:bodyPr wrap="square" lIns="0" tIns="0" rIns="0" bIns="0" rtlCol="0" anchor="t">
            <a:normAutofit/>
          </a:bodyPr>
          <a:lstStyle/>
          <a:p>
            <a:pPr marL="0" indent="0" algn="l">
              <a:lnSpc>
                <a:spcPts val="4331"/>
              </a:lnSpc>
              <a:buNone/>
            </a:pPr>
            <a:r>
              <a:rPr lang="en-US" sz="4125" dirty="0">
                <a:solidFill>
                  <a:srgbClr val="17140F"/>
                </a:solidFill>
                <a:latin typeface="Georgia" pitchFamily="34" charset="0"/>
                <a:ea typeface="Georgia" pitchFamily="34" charset="-122"/>
                <a:cs typeface="Georgia" pitchFamily="34" charset="-120"/>
              </a:rPr>
              <a:t>Proof one: 0.9% of the spend claims 67% of the conversions</a:t>
            </a:r>
            <a:endParaRPr lang="en-US" sz="4125"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2201704"/>
          <a:ext cx="10556240" cy="1230630"/>
        </p:xfrm>
        <a:graphic>
          <a:graphicData uri="http://schemas.openxmlformats.org/drawingml/2006/table">
            <a:tbl>
              <a:tblPr/>
              <a:tblGrid>
                <a:gridCol w="2322373">
                  <a:extLst>
                    <a:ext uri="{9D8B030D-6E8A-4147-A177-3AD203B41FA5}">
                      <a16:colId xmlns:a16="http://schemas.microsoft.com/office/drawing/2014/main" val="20000"/>
                    </a:ext>
                  </a:extLst>
                </a:gridCol>
                <a:gridCol w="2322373">
                  <a:extLst>
                    <a:ext uri="{9D8B030D-6E8A-4147-A177-3AD203B41FA5}">
                      <a16:colId xmlns:a16="http://schemas.microsoft.com/office/drawing/2014/main" val="20001"/>
                    </a:ext>
                  </a:extLst>
                </a:gridCol>
                <a:gridCol w="2111248">
                  <a:extLst>
                    <a:ext uri="{9D8B030D-6E8A-4147-A177-3AD203B41FA5}">
                      <a16:colId xmlns:a16="http://schemas.microsoft.com/office/drawing/2014/main" val="20002"/>
                    </a:ext>
                  </a:extLst>
                </a:gridCol>
                <a:gridCol w="1900123">
                  <a:extLst>
                    <a:ext uri="{9D8B030D-6E8A-4147-A177-3AD203B41FA5}">
                      <a16:colId xmlns:a16="http://schemas.microsoft.com/office/drawing/2014/main" val="20003"/>
                    </a:ext>
                  </a:extLst>
                </a:gridCol>
                <a:gridCol w="1900123">
                  <a:extLst>
                    <a:ext uri="{9D8B030D-6E8A-4147-A177-3AD203B41FA5}">
                      <a16:colId xmlns:a16="http://schemas.microsoft.com/office/drawing/2014/main" val="20004"/>
                    </a:ext>
                  </a:extLst>
                </a:gridCol>
              </a:tblGrid>
              <a:tr h="410210">
                <a:tc>
                  <a:txBody>
                    <a:bodyPr/>
                    <a:lstStyle/>
                    <a:p>
                      <a:pPr marL="0" indent="0">
                        <a:lnSpc>
                          <a:spcPts val="2100"/>
                        </a:lnSpc>
                        <a:buNone/>
                      </a:pPr>
                      <a:r>
                        <a:rPr lang="en-US" sz="1500" b="1" dirty="0">
                          <a:solidFill>
                            <a:srgbClr val="F7F3EA"/>
                          </a:solidFill>
                          <a:latin typeface="Arial" pitchFamily="34" charset="0"/>
                          <a:ea typeface="Arial" pitchFamily="34" charset="-122"/>
                          <a:cs typeface="Arial" pitchFamily="34" charset="-120"/>
                        </a:rPr>
                        <a:t>Campaign type</a:t>
                      </a:r>
                      <a:endParaRPr lang="en-US" sz="1500" dirty="0">
                        <a:latin typeface="Arial" charset="0"/>
                        <a:ea typeface="Arial" charset="0"/>
                        <a:cs typeface="Arial" charset="0"/>
                      </a:endParaRPr>
                    </a:p>
                  </a:txBody>
                  <a:tcPr marL="66675" marR="66675" marT="66675" marB="66675">
                    <a:lnL w="12700" cap="flat" cmpd="sng" algn="ctr">
                      <a:solidFill>
                        <a:srgbClr val="C5C2BB"/>
                      </a:solidFill>
                      <a:prstDash val="solid"/>
                      <a:round/>
                      <a:headEnd type="none" w="med" len="med"/>
                      <a:tailEnd type="none" w="med" len="med"/>
                    </a:lnL>
                    <a:lnR w="12700" cap="flat" cmpd="sng" algn="ctr">
                      <a:solidFill>
                        <a:srgbClr val="161410"/>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161410"/>
                      </a:solidFill>
                      <a:prstDash val="solid"/>
                      <a:round/>
                      <a:headEnd type="none" w="med" len="med"/>
                      <a:tailEnd type="none" w="med" len="med"/>
                    </a:lnB>
                    <a:solidFill>
                      <a:srgbClr val="17140F"/>
                    </a:solidFill>
                  </a:tcPr>
                </a:tc>
                <a:tc>
                  <a:txBody>
                    <a:bodyPr/>
                    <a:lstStyle/>
                    <a:p>
                      <a:pPr marL="0" indent="0">
                        <a:lnSpc>
                          <a:spcPts val="2100"/>
                        </a:lnSpc>
                        <a:buNone/>
                      </a:pPr>
                      <a:r>
                        <a:rPr lang="en-US" sz="1500" b="1" dirty="0">
                          <a:solidFill>
                            <a:srgbClr val="F7F3EA"/>
                          </a:solidFill>
                          <a:latin typeface="Arial" pitchFamily="34" charset="0"/>
                          <a:ea typeface="Arial" pitchFamily="34" charset="-122"/>
                          <a:cs typeface="Arial" pitchFamily="34" charset="-120"/>
                        </a:rPr>
                        <a:t>Cost</a:t>
                      </a:r>
                      <a:endParaRPr lang="en-US" sz="1500" dirty="0">
                        <a:latin typeface="Arial" charset="0"/>
                        <a:ea typeface="Arial" charset="0"/>
                        <a:cs typeface="Arial" charset="0"/>
                      </a:endParaRPr>
                    </a:p>
                  </a:txBody>
                  <a:tcPr marL="66675" marR="66675" marT="66675" marB="66675">
                    <a:lnL w="12700" cap="flat" cmpd="sng" algn="ctr">
                      <a:solidFill>
                        <a:srgbClr val="161410"/>
                      </a:solidFill>
                      <a:prstDash val="solid"/>
                      <a:round/>
                      <a:headEnd type="none" w="med" len="med"/>
                      <a:tailEnd type="none" w="med" len="med"/>
                    </a:lnL>
                    <a:lnR w="12700" cap="flat" cmpd="sng" algn="ctr">
                      <a:solidFill>
                        <a:srgbClr val="161410"/>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161410"/>
                      </a:solidFill>
                      <a:prstDash val="solid"/>
                      <a:round/>
                      <a:headEnd type="none" w="med" len="med"/>
                      <a:tailEnd type="none" w="med" len="med"/>
                    </a:lnB>
                    <a:solidFill>
                      <a:srgbClr val="17140F"/>
                    </a:solidFill>
                  </a:tcPr>
                </a:tc>
                <a:tc>
                  <a:txBody>
                    <a:bodyPr/>
                    <a:lstStyle/>
                    <a:p>
                      <a:pPr marL="0" indent="0">
                        <a:lnSpc>
                          <a:spcPts val="2100"/>
                        </a:lnSpc>
                        <a:buNone/>
                      </a:pPr>
                      <a:r>
                        <a:rPr lang="en-US" sz="1500" b="1" dirty="0">
                          <a:solidFill>
                            <a:srgbClr val="F7F3EA"/>
                          </a:solidFill>
                          <a:latin typeface="Arial" pitchFamily="34" charset="0"/>
                          <a:ea typeface="Arial" pitchFamily="34" charset="-122"/>
                          <a:cs typeface="Arial" pitchFamily="34" charset="-120"/>
                        </a:rPr>
                        <a:t>Conversions</a:t>
                      </a:r>
                      <a:endParaRPr lang="en-US" sz="1500" dirty="0">
                        <a:latin typeface="Arial" charset="0"/>
                        <a:ea typeface="Arial" charset="0"/>
                        <a:cs typeface="Arial" charset="0"/>
                      </a:endParaRPr>
                    </a:p>
                  </a:txBody>
                  <a:tcPr marL="66675" marR="66675" marT="66675" marB="66675">
                    <a:lnL w="12700" cap="flat" cmpd="sng" algn="ctr">
                      <a:solidFill>
                        <a:srgbClr val="161410"/>
                      </a:solidFill>
                      <a:prstDash val="solid"/>
                      <a:round/>
                      <a:headEnd type="none" w="med" len="med"/>
                      <a:tailEnd type="none" w="med" len="med"/>
                    </a:lnL>
                    <a:lnR w="12700" cap="flat" cmpd="sng" algn="ctr">
                      <a:solidFill>
                        <a:srgbClr val="161410"/>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161410"/>
                      </a:solidFill>
                      <a:prstDash val="solid"/>
                      <a:round/>
                      <a:headEnd type="none" w="med" len="med"/>
                      <a:tailEnd type="none" w="med" len="med"/>
                    </a:lnB>
                    <a:solidFill>
                      <a:srgbClr val="17140F"/>
                    </a:solidFill>
                  </a:tcPr>
                </a:tc>
                <a:tc>
                  <a:txBody>
                    <a:bodyPr/>
                    <a:lstStyle/>
                    <a:p>
                      <a:pPr marL="0" indent="0">
                        <a:lnSpc>
                          <a:spcPts val="2100"/>
                        </a:lnSpc>
                        <a:buNone/>
                      </a:pPr>
                      <a:r>
                        <a:rPr lang="en-US" sz="1500" b="1" dirty="0">
                          <a:solidFill>
                            <a:srgbClr val="F7F3EA"/>
                          </a:solidFill>
                          <a:latin typeface="Arial" pitchFamily="34" charset="0"/>
                          <a:ea typeface="Arial" pitchFamily="34" charset="-122"/>
                          <a:cs typeface="Arial" pitchFamily="34" charset="-120"/>
                        </a:rPr>
                        <a:t>Conv. rate</a:t>
                      </a:r>
                      <a:endParaRPr lang="en-US" sz="1500" dirty="0">
                        <a:latin typeface="Arial" charset="0"/>
                        <a:ea typeface="Arial" charset="0"/>
                        <a:cs typeface="Arial" charset="0"/>
                      </a:endParaRPr>
                    </a:p>
                  </a:txBody>
                  <a:tcPr marL="66675" marR="66675" marT="66675" marB="66675">
                    <a:lnL w="12700" cap="flat" cmpd="sng" algn="ctr">
                      <a:solidFill>
                        <a:srgbClr val="161410"/>
                      </a:solidFill>
                      <a:prstDash val="solid"/>
                      <a:round/>
                      <a:headEnd type="none" w="med" len="med"/>
                      <a:tailEnd type="none" w="med" len="med"/>
                    </a:lnL>
                    <a:lnR w="12700" cap="flat" cmpd="sng" algn="ctr">
                      <a:solidFill>
                        <a:srgbClr val="161410"/>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161410"/>
                      </a:solidFill>
                      <a:prstDash val="solid"/>
                      <a:round/>
                      <a:headEnd type="none" w="med" len="med"/>
                      <a:tailEnd type="none" w="med" len="med"/>
                    </a:lnB>
                    <a:solidFill>
                      <a:srgbClr val="17140F"/>
                    </a:solidFill>
                  </a:tcPr>
                </a:tc>
                <a:tc>
                  <a:txBody>
                    <a:bodyPr/>
                    <a:lstStyle/>
                    <a:p>
                      <a:pPr marL="0" indent="0">
                        <a:lnSpc>
                          <a:spcPts val="2100"/>
                        </a:lnSpc>
                        <a:buNone/>
                      </a:pPr>
                      <a:r>
                        <a:rPr lang="en-US" sz="1500" b="1" dirty="0">
                          <a:solidFill>
                            <a:srgbClr val="F7F3EA"/>
                          </a:solidFill>
                          <a:latin typeface="Arial" pitchFamily="34" charset="0"/>
                          <a:ea typeface="Arial" pitchFamily="34" charset="-122"/>
                          <a:cs typeface="Arial" pitchFamily="34" charset="-120"/>
                        </a:rPr>
                        <a:t>Cost / conv.</a:t>
                      </a:r>
                      <a:endParaRPr lang="en-US" sz="1500" dirty="0">
                        <a:latin typeface="Arial" charset="0"/>
                        <a:ea typeface="Arial" charset="0"/>
                        <a:cs typeface="Arial" charset="0"/>
                      </a:endParaRPr>
                    </a:p>
                  </a:txBody>
                  <a:tcPr marL="66675" marR="66675" marT="66675" marB="66675">
                    <a:lnL w="12700" cap="flat" cmpd="sng" algn="ctr">
                      <a:solidFill>
                        <a:srgbClr val="161410"/>
                      </a:solidFill>
                      <a:prstDash val="solid"/>
                      <a:round/>
                      <a:headEnd type="none" w="med" len="med"/>
                      <a:tailEnd type="none" w="med" len="med"/>
                    </a:lnL>
                    <a:lnR w="12700" cap="flat" cmpd="sng" algn="ctr">
                      <a:solidFill>
                        <a:srgbClr val="161410"/>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161410"/>
                      </a:solidFill>
                      <a:prstDash val="solid"/>
                      <a:round/>
                      <a:headEnd type="none" w="med" len="med"/>
                      <a:tailEnd type="none" w="med" len="med"/>
                    </a:lnB>
                    <a:solidFill>
                      <a:srgbClr val="17140F"/>
                    </a:solidFill>
                  </a:tcPr>
                </a:tc>
                <a:extLst>
                  <a:ext uri="{0D108BD9-81ED-4DB2-BD59-A6C34878D82A}">
                    <a16:rowId xmlns:a16="http://schemas.microsoft.com/office/drawing/2014/main" val="10000"/>
                  </a:ext>
                </a:extLst>
              </a:tr>
              <a:tr h="410210">
                <a:tc>
                  <a:txBody>
                    <a:bodyPr/>
                    <a:lstStyle/>
                    <a:p>
                      <a:pPr marL="0" indent="0">
                        <a:lnSpc>
                          <a:spcPts val="2100"/>
                        </a:lnSpc>
                        <a:buNone/>
                      </a:pPr>
                      <a:r>
                        <a:rPr lang="en-US" sz="1500" dirty="0">
                          <a:solidFill>
                            <a:srgbClr val="17140F"/>
                          </a:solidFill>
                          <a:latin typeface="Arial" pitchFamily="34" charset="0"/>
                          <a:ea typeface="Arial" pitchFamily="34" charset="-122"/>
                          <a:cs typeface="Arial" pitchFamily="34" charset="-120"/>
                        </a:rPr>
                        <a:t>Search</a:t>
                      </a:r>
                      <a:endParaRPr lang="en-US" sz="1500" dirty="0">
                        <a:latin typeface="Arial" charset="0"/>
                        <a:ea typeface="Arial" charset="0"/>
                        <a:cs typeface="Arial" charset="0"/>
                      </a:endParaRPr>
                    </a:p>
                  </a:txBody>
                  <a:tcPr marL="66675" marR="66675" marT="66675" marB="66675">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161410"/>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2100"/>
                        </a:lnSpc>
                        <a:buNone/>
                      </a:pPr>
                      <a:r>
                        <a:rPr lang="en-US" sz="1500" dirty="0">
                          <a:solidFill>
                            <a:srgbClr val="17140F"/>
                          </a:solidFill>
                          <a:latin typeface="Arial" pitchFamily="34" charset="0"/>
                          <a:ea typeface="Arial" pitchFamily="34" charset="-122"/>
                          <a:cs typeface="Arial" pitchFamily="34" charset="-120"/>
                        </a:rPr>
                        <a:t>₹30,43,823</a:t>
                      </a:r>
                      <a:endParaRPr lang="en-US" sz="1500" dirty="0">
                        <a:latin typeface="Arial" charset="0"/>
                        <a:ea typeface="Arial" charset="0"/>
                        <a:cs typeface="Arial" charset="0"/>
                      </a:endParaRPr>
                    </a:p>
                  </a:txBody>
                  <a:tcPr marL="66675" marR="66675" marT="66675" marB="66675">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161410"/>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2100"/>
                        </a:lnSpc>
                        <a:buNone/>
                      </a:pPr>
                      <a:r>
                        <a:rPr lang="en-US" sz="1500" dirty="0">
                          <a:solidFill>
                            <a:srgbClr val="17140F"/>
                          </a:solidFill>
                          <a:latin typeface="Arial" pitchFamily="34" charset="0"/>
                          <a:ea typeface="Arial" pitchFamily="34" charset="-122"/>
                          <a:cs typeface="Arial" pitchFamily="34" charset="-120"/>
                        </a:rPr>
                        <a:t>16,699</a:t>
                      </a:r>
                      <a:endParaRPr lang="en-US" sz="1500" dirty="0">
                        <a:latin typeface="Arial" charset="0"/>
                        <a:ea typeface="Arial" charset="0"/>
                        <a:cs typeface="Arial" charset="0"/>
                      </a:endParaRPr>
                    </a:p>
                  </a:txBody>
                  <a:tcPr marL="66675" marR="66675" marT="66675" marB="66675">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161410"/>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2100"/>
                        </a:lnSpc>
                        <a:buNone/>
                      </a:pPr>
                      <a:r>
                        <a:rPr lang="en-US" sz="1500" dirty="0">
                          <a:solidFill>
                            <a:srgbClr val="17140F"/>
                          </a:solidFill>
                          <a:latin typeface="Arial" pitchFamily="34" charset="0"/>
                          <a:ea typeface="Arial" pitchFamily="34" charset="-122"/>
                          <a:cs typeface="Arial" pitchFamily="34" charset="-120"/>
                        </a:rPr>
                        <a:t>7.66%</a:t>
                      </a:r>
                      <a:endParaRPr lang="en-US" sz="1500" dirty="0">
                        <a:latin typeface="Arial" charset="0"/>
                        <a:ea typeface="Arial" charset="0"/>
                        <a:cs typeface="Arial" charset="0"/>
                      </a:endParaRPr>
                    </a:p>
                  </a:txBody>
                  <a:tcPr marL="66675" marR="66675" marT="66675" marB="66675">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161410"/>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2100"/>
                        </a:lnSpc>
                        <a:buNone/>
                      </a:pPr>
                      <a:r>
                        <a:rPr lang="en-US" sz="1500" dirty="0">
                          <a:solidFill>
                            <a:srgbClr val="17140F"/>
                          </a:solidFill>
                          <a:latin typeface="Arial" pitchFamily="34" charset="0"/>
                          <a:ea typeface="Arial" pitchFamily="34" charset="-122"/>
                          <a:cs typeface="Arial" pitchFamily="34" charset="-120"/>
                        </a:rPr>
                        <a:t>₹182.28</a:t>
                      </a:r>
                      <a:endParaRPr lang="en-US" sz="1500" dirty="0">
                        <a:latin typeface="Arial" charset="0"/>
                        <a:ea typeface="Arial" charset="0"/>
                        <a:cs typeface="Arial" charset="0"/>
                      </a:endParaRPr>
                    </a:p>
                  </a:txBody>
                  <a:tcPr marL="66675" marR="66675" marT="66675" marB="66675">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161410"/>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extLst>
                  <a:ext uri="{0D108BD9-81ED-4DB2-BD59-A6C34878D82A}">
                    <a16:rowId xmlns:a16="http://schemas.microsoft.com/office/drawing/2014/main" val="10001"/>
                  </a:ext>
                </a:extLst>
              </a:tr>
              <a:tr h="410210">
                <a:tc>
                  <a:txBody>
                    <a:bodyPr/>
                    <a:lstStyle/>
                    <a:p>
                      <a:pPr marL="0" indent="0">
                        <a:lnSpc>
                          <a:spcPts val="2100"/>
                        </a:lnSpc>
                        <a:buNone/>
                      </a:pPr>
                      <a:r>
                        <a:rPr lang="en-US" sz="1500" dirty="0">
                          <a:solidFill>
                            <a:srgbClr val="17140F"/>
                          </a:solidFill>
                          <a:latin typeface="Arial" pitchFamily="34" charset="0"/>
                          <a:ea typeface="Arial" pitchFamily="34" charset="-122"/>
                          <a:cs typeface="Arial" pitchFamily="34" charset="-120"/>
                        </a:rPr>
                        <a:t>Demand Gen</a:t>
                      </a:r>
                      <a:endParaRPr lang="en-US" sz="1500" dirty="0">
                        <a:latin typeface="Arial" charset="0"/>
                        <a:ea typeface="Arial" charset="0"/>
                        <a:cs typeface="Arial" charset="0"/>
                      </a:endParaRPr>
                    </a:p>
                  </a:txBody>
                  <a:tcPr marL="66675" marR="66675" marT="66675" marB="66675">
                    <a:lnL w="12700" cap="flat" cmpd="sng" algn="ctr">
                      <a:solidFill>
                        <a:srgbClr val="C5C2BB"/>
                      </a:solidFill>
                      <a:prstDash val="solid"/>
                      <a:round/>
                      <a:headEnd type="none" w="med" len="med"/>
                      <a:tailEnd type="none" w="med" len="med"/>
                    </a:lnL>
                    <a:lnR w="12700" cap="flat" cmpd="sng" algn="ctr">
                      <a:solidFill>
                        <a:srgbClr val="C0AEA6"/>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0AEA6"/>
                      </a:solidFill>
                      <a:prstDash val="solid"/>
                      <a:round/>
                      <a:headEnd type="none" w="med" len="med"/>
                      <a:tailEnd type="none" w="med" len="med"/>
                    </a:lnB>
                    <a:solidFill>
                      <a:srgbClr val="F0D9CF"/>
                    </a:solidFill>
                  </a:tcPr>
                </a:tc>
                <a:tc>
                  <a:txBody>
                    <a:bodyPr/>
                    <a:lstStyle/>
                    <a:p>
                      <a:pPr marL="0" indent="0">
                        <a:lnSpc>
                          <a:spcPts val="2100"/>
                        </a:lnSpc>
                        <a:buNone/>
                      </a:pPr>
                      <a:r>
                        <a:rPr lang="en-US" sz="1500" dirty="0">
                          <a:solidFill>
                            <a:srgbClr val="17140F"/>
                          </a:solidFill>
                          <a:latin typeface="Arial" pitchFamily="34" charset="0"/>
                          <a:ea typeface="Arial" pitchFamily="34" charset="-122"/>
                          <a:cs typeface="Arial" pitchFamily="34" charset="-120"/>
                        </a:rPr>
                        <a:t>₹27,614</a:t>
                      </a:r>
                      <a:endParaRPr lang="en-US" sz="1500" dirty="0">
                        <a:latin typeface="Arial" charset="0"/>
                        <a:ea typeface="Arial" charset="0"/>
                        <a:cs typeface="Arial" charset="0"/>
                      </a:endParaRPr>
                    </a:p>
                  </a:txBody>
                  <a:tcPr marL="66675" marR="66675" marT="66675" marB="66675">
                    <a:lnL w="12700" cap="flat" cmpd="sng" algn="ctr">
                      <a:solidFill>
                        <a:srgbClr val="C0AEA6"/>
                      </a:solidFill>
                      <a:prstDash val="solid"/>
                      <a:round/>
                      <a:headEnd type="none" w="med" len="med"/>
                      <a:tailEnd type="none" w="med" len="med"/>
                    </a:lnL>
                    <a:lnR w="12700" cap="flat" cmpd="sng" algn="ctr">
                      <a:solidFill>
                        <a:srgbClr val="C0AEA6"/>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0AEA6"/>
                      </a:solidFill>
                      <a:prstDash val="solid"/>
                      <a:round/>
                      <a:headEnd type="none" w="med" len="med"/>
                      <a:tailEnd type="none" w="med" len="med"/>
                    </a:lnB>
                    <a:solidFill>
                      <a:srgbClr val="F0D9CF"/>
                    </a:solidFill>
                  </a:tcPr>
                </a:tc>
                <a:tc>
                  <a:txBody>
                    <a:bodyPr/>
                    <a:lstStyle/>
                    <a:p>
                      <a:pPr marL="0" indent="0">
                        <a:lnSpc>
                          <a:spcPts val="2100"/>
                        </a:lnSpc>
                        <a:buNone/>
                      </a:pPr>
                      <a:r>
                        <a:rPr lang="en-US" sz="1500" dirty="0">
                          <a:solidFill>
                            <a:srgbClr val="17140F"/>
                          </a:solidFill>
                          <a:latin typeface="Arial" pitchFamily="34" charset="0"/>
                          <a:ea typeface="Arial" pitchFamily="34" charset="-122"/>
                          <a:cs typeface="Arial" pitchFamily="34" charset="-120"/>
                        </a:rPr>
                        <a:t>34,590</a:t>
                      </a:r>
                      <a:endParaRPr lang="en-US" sz="1500" dirty="0">
                        <a:latin typeface="Arial" charset="0"/>
                        <a:ea typeface="Arial" charset="0"/>
                        <a:cs typeface="Arial" charset="0"/>
                      </a:endParaRPr>
                    </a:p>
                  </a:txBody>
                  <a:tcPr marL="66675" marR="66675" marT="66675" marB="66675">
                    <a:lnL w="12700" cap="flat" cmpd="sng" algn="ctr">
                      <a:solidFill>
                        <a:srgbClr val="C0AEA6"/>
                      </a:solidFill>
                      <a:prstDash val="solid"/>
                      <a:round/>
                      <a:headEnd type="none" w="med" len="med"/>
                      <a:tailEnd type="none" w="med" len="med"/>
                    </a:lnL>
                    <a:lnR w="12700" cap="flat" cmpd="sng" algn="ctr">
                      <a:solidFill>
                        <a:srgbClr val="C0AEA6"/>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0AEA6"/>
                      </a:solidFill>
                      <a:prstDash val="solid"/>
                      <a:round/>
                      <a:headEnd type="none" w="med" len="med"/>
                      <a:tailEnd type="none" w="med" len="med"/>
                    </a:lnB>
                    <a:solidFill>
                      <a:srgbClr val="F0D9CF"/>
                    </a:solidFill>
                  </a:tcPr>
                </a:tc>
                <a:tc>
                  <a:txBody>
                    <a:bodyPr/>
                    <a:lstStyle/>
                    <a:p>
                      <a:pPr marL="0" indent="0">
                        <a:lnSpc>
                          <a:spcPts val="2100"/>
                        </a:lnSpc>
                        <a:buNone/>
                      </a:pPr>
                      <a:r>
                        <a:rPr lang="en-US" sz="1500" dirty="0">
                          <a:solidFill>
                            <a:srgbClr val="B54A28"/>
                          </a:solidFill>
                          <a:latin typeface="Arial" pitchFamily="34" charset="0"/>
                          <a:ea typeface="Arial" pitchFamily="34" charset="-122"/>
                          <a:cs typeface="Arial" pitchFamily="34" charset="-120"/>
                        </a:rPr>
                        <a:t>76.03%</a:t>
                      </a:r>
                      <a:endParaRPr lang="en-US" sz="1500" dirty="0">
                        <a:latin typeface="Arial" charset="0"/>
                        <a:ea typeface="Arial" charset="0"/>
                        <a:cs typeface="Arial" charset="0"/>
                      </a:endParaRPr>
                    </a:p>
                  </a:txBody>
                  <a:tcPr marL="66675" marR="66675" marT="66675" marB="66675">
                    <a:lnL w="12700" cap="flat" cmpd="sng" algn="ctr">
                      <a:solidFill>
                        <a:srgbClr val="C0AEA6"/>
                      </a:solidFill>
                      <a:prstDash val="solid"/>
                      <a:round/>
                      <a:headEnd type="none" w="med" len="med"/>
                      <a:tailEnd type="none" w="med" len="med"/>
                    </a:lnL>
                    <a:lnR w="12700" cap="flat" cmpd="sng" algn="ctr">
                      <a:solidFill>
                        <a:srgbClr val="C0AEA6"/>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0AEA6"/>
                      </a:solidFill>
                      <a:prstDash val="solid"/>
                      <a:round/>
                      <a:headEnd type="none" w="med" len="med"/>
                      <a:tailEnd type="none" w="med" len="med"/>
                    </a:lnB>
                    <a:solidFill>
                      <a:srgbClr val="F0D9CF"/>
                    </a:solidFill>
                  </a:tcPr>
                </a:tc>
                <a:tc>
                  <a:txBody>
                    <a:bodyPr/>
                    <a:lstStyle/>
                    <a:p>
                      <a:pPr marL="0" indent="0">
                        <a:lnSpc>
                          <a:spcPts val="2100"/>
                        </a:lnSpc>
                        <a:buNone/>
                      </a:pPr>
                      <a:r>
                        <a:rPr lang="en-US" sz="1500" dirty="0">
                          <a:solidFill>
                            <a:srgbClr val="B54A28"/>
                          </a:solidFill>
                          <a:latin typeface="Arial" pitchFamily="34" charset="0"/>
                          <a:ea typeface="Arial" pitchFamily="34" charset="-122"/>
                          <a:cs typeface="Arial" pitchFamily="34" charset="-120"/>
                        </a:rPr>
                        <a:t>₹0.80</a:t>
                      </a:r>
                      <a:endParaRPr lang="en-US" sz="1500" dirty="0">
                        <a:latin typeface="Arial" charset="0"/>
                        <a:ea typeface="Arial" charset="0"/>
                        <a:cs typeface="Arial" charset="0"/>
                      </a:endParaRPr>
                    </a:p>
                  </a:txBody>
                  <a:tcPr marL="66675" marR="66675" marT="66675" marB="66675">
                    <a:lnL w="12700" cap="flat" cmpd="sng" algn="ctr">
                      <a:solidFill>
                        <a:srgbClr val="C0AEA6"/>
                      </a:solidFill>
                      <a:prstDash val="solid"/>
                      <a:round/>
                      <a:headEnd type="none" w="med" len="med"/>
                      <a:tailEnd type="none" w="med" len="med"/>
                    </a:lnL>
                    <a:lnR w="12700" cap="flat" cmpd="sng" algn="ctr">
                      <a:solidFill>
                        <a:srgbClr val="C0AEA6"/>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0AEA6"/>
                      </a:solidFill>
                      <a:prstDash val="solid"/>
                      <a:round/>
                      <a:headEnd type="none" w="med" len="med"/>
                      <a:tailEnd type="none" w="med" len="med"/>
                    </a:lnB>
                    <a:solidFill>
                      <a:srgbClr val="F0D9CF"/>
                    </a:solidFill>
                  </a:tcPr>
                </a:tc>
                <a:extLst>
                  <a:ext uri="{0D108BD9-81ED-4DB2-BD59-A6C34878D82A}">
                    <a16:rowId xmlns:a16="http://schemas.microsoft.com/office/drawing/2014/main" val="10002"/>
                  </a:ext>
                </a:extLst>
              </a:tr>
            </a:tbl>
          </a:graphicData>
        </a:graphic>
      </p:graphicFrame>
      <p:sp>
        <p:nvSpPr>
          <p:cNvPr id="4" name="Shape 1"/>
          <p:cNvSpPr/>
          <p:nvPr/>
        </p:nvSpPr>
        <p:spPr>
          <a:xfrm>
            <a:off x="812800" y="3708958"/>
            <a:ext cx="3386614" cy="1301591"/>
          </a:xfrm>
          <a:prstGeom prst="roundRect">
            <a:avLst>
              <a:gd name="adj" fmla="val 7806"/>
            </a:avLst>
          </a:prstGeom>
          <a:solidFill>
            <a:srgbClr val="17140F"/>
          </a:solidFill>
          <a:ln/>
        </p:spPr>
      </p:sp>
      <p:sp>
        <p:nvSpPr>
          <p:cNvPr id="5" name="Text 2"/>
          <p:cNvSpPr/>
          <p:nvPr/>
        </p:nvSpPr>
        <p:spPr>
          <a:xfrm>
            <a:off x="1066800" y="3962958"/>
            <a:ext cx="2964972" cy="231696"/>
          </a:xfrm>
          <a:prstGeom prst="rect">
            <a:avLst/>
          </a:prstGeom>
          <a:noFill/>
          <a:ln/>
        </p:spPr>
        <p:txBody>
          <a:bodyPr wrap="square" lIns="0" tIns="0" rIns="0" bIns="0" rtlCol="0" anchor="t">
            <a:normAutofit/>
          </a:bodyPr>
          <a:lstStyle/>
          <a:p>
            <a:pPr marL="0" indent="0" algn="l">
              <a:lnSpc>
                <a:spcPts val="1621"/>
              </a:lnSpc>
              <a:buNone/>
            </a:pPr>
            <a:r>
              <a:rPr lang="en-US" sz="1158" dirty="0">
                <a:solidFill>
                  <a:srgbClr val="A79C89"/>
                </a:solidFill>
                <a:latin typeface="Arial" pitchFamily="34" charset="0"/>
                <a:ea typeface="Arial" pitchFamily="34" charset="-122"/>
                <a:cs typeface="Arial" pitchFamily="34" charset="-120"/>
              </a:rPr>
              <a:t>Demand Gen share of spend</a:t>
            </a:r>
            <a:endParaRPr lang="en-US" sz="1158" dirty="0"/>
          </a:p>
        </p:txBody>
      </p:sp>
      <p:sp>
        <p:nvSpPr>
          <p:cNvPr id="6" name="Text 3"/>
          <p:cNvSpPr/>
          <p:nvPr/>
        </p:nvSpPr>
        <p:spPr>
          <a:xfrm>
            <a:off x="1066800" y="4232759"/>
            <a:ext cx="2964972" cy="549196"/>
          </a:xfrm>
          <a:prstGeom prst="rect">
            <a:avLst/>
          </a:prstGeom>
          <a:noFill/>
          <a:ln/>
        </p:spPr>
        <p:txBody>
          <a:bodyPr wrap="square" lIns="0" tIns="0" rIns="0" bIns="0" rtlCol="0" anchor="t">
            <a:normAutofit/>
          </a:bodyPr>
          <a:lstStyle/>
          <a:p>
            <a:pPr marL="0" indent="0" algn="l">
              <a:lnSpc>
                <a:spcPts val="4115"/>
              </a:lnSpc>
              <a:buNone/>
            </a:pPr>
            <a:r>
              <a:rPr lang="en-US" sz="3741" dirty="0">
                <a:solidFill>
                  <a:srgbClr val="C9A63C"/>
                </a:solidFill>
                <a:latin typeface="Georgia" pitchFamily="34" charset="0"/>
                <a:ea typeface="Georgia" pitchFamily="34" charset="-122"/>
                <a:cs typeface="Georgia" pitchFamily="34" charset="-120"/>
              </a:rPr>
              <a:t>0.9%</a:t>
            </a:r>
            <a:endParaRPr lang="en-US" sz="3741" dirty="0"/>
          </a:p>
        </p:txBody>
      </p:sp>
      <p:sp>
        <p:nvSpPr>
          <p:cNvPr id="7" name="Shape 4"/>
          <p:cNvSpPr/>
          <p:nvPr/>
        </p:nvSpPr>
        <p:spPr>
          <a:xfrm>
            <a:off x="4402614" y="3708958"/>
            <a:ext cx="3386693" cy="1301591"/>
          </a:xfrm>
          <a:prstGeom prst="roundRect">
            <a:avLst>
              <a:gd name="adj" fmla="val 7806"/>
            </a:avLst>
          </a:prstGeom>
          <a:solidFill>
            <a:srgbClr val="17140F"/>
          </a:solidFill>
          <a:ln/>
        </p:spPr>
      </p:sp>
      <p:sp>
        <p:nvSpPr>
          <p:cNvPr id="8" name="Text 5"/>
          <p:cNvSpPr/>
          <p:nvPr/>
        </p:nvSpPr>
        <p:spPr>
          <a:xfrm>
            <a:off x="4656614" y="3962958"/>
            <a:ext cx="2965054" cy="231696"/>
          </a:xfrm>
          <a:prstGeom prst="rect">
            <a:avLst/>
          </a:prstGeom>
          <a:noFill/>
          <a:ln/>
        </p:spPr>
        <p:txBody>
          <a:bodyPr wrap="square" lIns="0" tIns="0" rIns="0" bIns="0" rtlCol="0" anchor="t">
            <a:normAutofit/>
          </a:bodyPr>
          <a:lstStyle/>
          <a:p>
            <a:pPr marL="0" indent="0" algn="l">
              <a:lnSpc>
                <a:spcPts val="1621"/>
              </a:lnSpc>
              <a:buNone/>
            </a:pPr>
            <a:r>
              <a:rPr lang="en-US" sz="1158" dirty="0">
                <a:solidFill>
                  <a:srgbClr val="A79C89"/>
                </a:solidFill>
                <a:latin typeface="Arial" pitchFamily="34" charset="0"/>
                <a:ea typeface="Arial" pitchFamily="34" charset="-122"/>
                <a:cs typeface="Arial" pitchFamily="34" charset="-120"/>
              </a:rPr>
              <a:t>Its share of reported conversions</a:t>
            </a:r>
            <a:endParaRPr lang="en-US" sz="1158" dirty="0"/>
          </a:p>
        </p:txBody>
      </p:sp>
      <p:sp>
        <p:nvSpPr>
          <p:cNvPr id="9" name="Text 6"/>
          <p:cNvSpPr/>
          <p:nvPr/>
        </p:nvSpPr>
        <p:spPr>
          <a:xfrm>
            <a:off x="4656614" y="4232759"/>
            <a:ext cx="2965054" cy="549196"/>
          </a:xfrm>
          <a:prstGeom prst="rect">
            <a:avLst/>
          </a:prstGeom>
          <a:noFill/>
          <a:ln/>
        </p:spPr>
        <p:txBody>
          <a:bodyPr wrap="square" lIns="0" tIns="0" rIns="0" bIns="0" rtlCol="0" anchor="t">
            <a:normAutofit/>
          </a:bodyPr>
          <a:lstStyle/>
          <a:p>
            <a:pPr marL="0" indent="0" algn="l">
              <a:lnSpc>
                <a:spcPts val="4115"/>
              </a:lnSpc>
              <a:buNone/>
            </a:pPr>
            <a:r>
              <a:rPr lang="en-US" sz="3741" dirty="0">
                <a:solidFill>
                  <a:srgbClr val="C9A63C"/>
                </a:solidFill>
                <a:latin typeface="Georgia" pitchFamily="34" charset="0"/>
                <a:ea typeface="Georgia" pitchFamily="34" charset="-122"/>
                <a:cs typeface="Georgia" pitchFamily="34" charset="-120"/>
              </a:rPr>
              <a:t>67.4%</a:t>
            </a:r>
            <a:endParaRPr lang="en-US" sz="3741" dirty="0"/>
          </a:p>
        </p:txBody>
      </p:sp>
      <p:sp>
        <p:nvSpPr>
          <p:cNvPr id="10" name="Shape 7"/>
          <p:cNvSpPr/>
          <p:nvPr/>
        </p:nvSpPr>
        <p:spPr>
          <a:xfrm>
            <a:off x="7992507" y="3708958"/>
            <a:ext cx="3386693" cy="1301591"/>
          </a:xfrm>
          <a:prstGeom prst="roundRect">
            <a:avLst>
              <a:gd name="adj" fmla="val 7806"/>
            </a:avLst>
          </a:prstGeom>
          <a:solidFill>
            <a:srgbClr val="B54A28"/>
          </a:solidFill>
          <a:ln/>
        </p:spPr>
      </p:sp>
      <p:sp>
        <p:nvSpPr>
          <p:cNvPr id="11" name="Text 8"/>
          <p:cNvSpPr/>
          <p:nvPr/>
        </p:nvSpPr>
        <p:spPr>
          <a:xfrm>
            <a:off x="8246507" y="3962958"/>
            <a:ext cx="2965054" cy="231696"/>
          </a:xfrm>
          <a:prstGeom prst="rect">
            <a:avLst/>
          </a:prstGeom>
          <a:noFill/>
          <a:ln/>
        </p:spPr>
        <p:txBody>
          <a:bodyPr wrap="square" lIns="0" tIns="0" rIns="0" bIns="0" rtlCol="0" anchor="t">
            <a:normAutofit/>
          </a:bodyPr>
          <a:lstStyle/>
          <a:p>
            <a:pPr marL="0" indent="0" algn="l">
              <a:lnSpc>
                <a:spcPts val="1621"/>
              </a:lnSpc>
              <a:buNone/>
            </a:pPr>
            <a:r>
              <a:rPr lang="en-US" sz="1158" dirty="0">
                <a:solidFill>
                  <a:srgbClr val="F7D9CC"/>
                </a:solidFill>
                <a:latin typeface="Arial" pitchFamily="34" charset="0"/>
                <a:ea typeface="Arial" pitchFamily="34" charset="-122"/>
                <a:cs typeface="Arial" pitchFamily="34" charset="-120"/>
              </a:rPr>
              <a:t>Cost-per-conversion gap vs Search</a:t>
            </a:r>
            <a:endParaRPr lang="en-US" sz="1158" dirty="0"/>
          </a:p>
        </p:txBody>
      </p:sp>
      <p:sp>
        <p:nvSpPr>
          <p:cNvPr id="12" name="Text 9"/>
          <p:cNvSpPr/>
          <p:nvPr/>
        </p:nvSpPr>
        <p:spPr>
          <a:xfrm>
            <a:off x="8246507" y="4232759"/>
            <a:ext cx="2965054" cy="549196"/>
          </a:xfrm>
          <a:prstGeom prst="rect">
            <a:avLst/>
          </a:prstGeom>
          <a:noFill/>
          <a:ln/>
        </p:spPr>
        <p:txBody>
          <a:bodyPr wrap="square" lIns="0" tIns="0" rIns="0" bIns="0" rtlCol="0" anchor="t">
            <a:normAutofit/>
          </a:bodyPr>
          <a:lstStyle/>
          <a:p>
            <a:pPr marL="0" indent="0" algn="l">
              <a:lnSpc>
                <a:spcPts val="4115"/>
              </a:lnSpc>
              <a:buNone/>
            </a:pPr>
            <a:r>
              <a:rPr lang="en-US" sz="3741" dirty="0">
                <a:solidFill>
                  <a:srgbClr val="17140F"/>
                </a:solidFill>
                <a:latin typeface="Georgia" pitchFamily="34" charset="0"/>
                <a:ea typeface="Georgia" pitchFamily="34" charset="-122"/>
                <a:cs typeface="Georgia" pitchFamily="34" charset="-120"/>
              </a:rPr>
              <a:t>228×</a:t>
            </a:r>
            <a:endParaRPr lang="en-US" sz="3741" dirty="0"/>
          </a:p>
        </p:txBody>
      </p:sp>
      <p:sp>
        <p:nvSpPr>
          <p:cNvPr id="13" name="Text 10"/>
          <p:cNvSpPr/>
          <p:nvPr/>
        </p:nvSpPr>
        <p:spPr>
          <a:xfrm>
            <a:off x="812800" y="5289947"/>
            <a:ext cx="10333990" cy="577453"/>
          </a:xfrm>
          <a:prstGeom prst="rect">
            <a:avLst/>
          </a:prstGeom>
          <a:noFill/>
          <a:ln/>
        </p:spPr>
        <p:txBody>
          <a:bodyPr wrap="square" lIns="0" tIns="0" rIns="0" bIns="0" rtlCol="0" anchor="t">
            <a:normAutofit/>
          </a:bodyPr>
          <a:lstStyle/>
          <a:p>
            <a:pPr marL="0" indent="0" algn="l">
              <a:lnSpc>
                <a:spcPts val="2182"/>
              </a:lnSpc>
              <a:buNone/>
            </a:pPr>
            <a:r>
              <a:rPr lang="en-US" sz="1505" dirty="0">
                <a:solidFill>
                  <a:srgbClr val="5C5344"/>
                </a:solidFill>
                <a:latin typeface="Arial" pitchFamily="34" charset="0"/>
                <a:ea typeface="Arial" pitchFamily="34" charset="-122"/>
                <a:cs typeface="Arial" pitchFamily="34" charset="-120"/>
              </a:rPr>
              <a:t>A 76% conversion rate on a discovery campaign, at eighty paise a conversion, describes an event that fires on almost every visit. It does not describe somebody booking a room.</a:t>
            </a:r>
            <a:endParaRPr lang="en-US" sz="1505" dirty="0"/>
          </a:p>
        </p:txBody>
      </p:sp>
      <p:sp>
        <p:nvSpPr>
          <p:cNvPr id="14" name="Text 11"/>
          <p:cNvSpPr/>
          <p:nvPr/>
        </p:nvSpPr>
        <p:spPr>
          <a:xfrm>
            <a:off x="812800" y="6238242"/>
            <a:ext cx="493055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071"/>
                </a:solidFill>
                <a:latin typeface="Arial" pitchFamily="34" charset="0"/>
                <a:ea typeface="Arial" pitchFamily="34" charset="-122"/>
                <a:cs typeface="Arial" pitchFamily="34" charset="-120"/>
              </a:rPr>
              <a:t>Source: Google Ads, campaign type report, 1 Jan 2025 – 29 Sep 2026.</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bg>
      <p:bgPr>
        <a:solidFill>
          <a:srgbClr val="F7F3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1142286"/>
          </a:xfrm>
          <a:prstGeom prst="rect">
            <a:avLst/>
          </a:prstGeom>
          <a:noFill/>
          <a:ln/>
        </p:spPr>
        <p:txBody>
          <a:bodyPr wrap="square" lIns="0" tIns="0" rIns="0" bIns="0" rtlCol="0" anchor="t">
            <a:normAutofit/>
          </a:bodyPr>
          <a:lstStyle/>
          <a:p>
            <a:pPr marL="0" indent="0" algn="l">
              <a:lnSpc>
                <a:spcPts val="4403"/>
              </a:lnSpc>
              <a:buNone/>
            </a:pPr>
            <a:r>
              <a:rPr lang="en-US" sz="4194" dirty="0">
                <a:solidFill>
                  <a:srgbClr val="17140F"/>
                </a:solidFill>
                <a:latin typeface="Georgia" pitchFamily="34" charset="0"/>
                <a:ea typeface="Georgia" pitchFamily="34" charset="-122"/>
                <a:cs typeface="Georgia" pitchFamily="34" charset="-120"/>
              </a:rPr>
              <a:t>Proof two: one month holds two thirds of 19 months of conversions</a:t>
            </a:r>
            <a:endParaRPr lang="en-US" sz="4194"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2193853"/>
          <a:ext cx="10556240" cy="2347434"/>
        </p:xfrm>
        <a:graphic>
          <a:graphicData uri="http://schemas.openxmlformats.org/drawingml/2006/table">
            <a:tbl>
              <a:tblPr/>
              <a:tblGrid>
                <a:gridCol w="2322373">
                  <a:extLst>
                    <a:ext uri="{9D8B030D-6E8A-4147-A177-3AD203B41FA5}">
                      <a16:colId xmlns:a16="http://schemas.microsoft.com/office/drawing/2014/main" val="20000"/>
                    </a:ext>
                  </a:extLst>
                </a:gridCol>
                <a:gridCol w="1900123">
                  <a:extLst>
                    <a:ext uri="{9D8B030D-6E8A-4147-A177-3AD203B41FA5}">
                      <a16:colId xmlns:a16="http://schemas.microsoft.com/office/drawing/2014/main" val="20001"/>
                    </a:ext>
                  </a:extLst>
                </a:gridCol>
                <a:gridCol w="2111248">
                  <a:extLst>
                    <a:ext uri="{9D8B030D-6E8A-4147-A177-3AD203B41FA5}">
                      <a16:colId xmlns:a16="http://schemas.microsoft.com/office/drawing/2014/main" val="20002"/>
                    </a:ext>
                  </a:extLst>
                </a:gridCol>
                <a:gridCol w="2111248">
                  <a:extLst>
                    <a:ext uri="{9D8B030D-6E8A-4147-A177-3AD203B41FA5}">
                      <a16:colId xmlns:a16="http://schemas.microsoft.com/office/drawing/2014/main" val="20003"/>
                    </a:ext>
                  </a:extLst>
                </a:gridCol>
                <a:gridCol w="2111248">
                  <a:extLst>
                    <a:ext uri="{9D8B030D-6E8A-4147-A177-3AD203B41FA5}">
                      <a16:colId xmlns:a16="http://schemas.microsoft.com/office/drawing/2014/main" val="20004"/>
                    </a:ext>
                  </a:extLst>
                </a:gridCol>
              </a:tblGrid>
              <a:tr h="391239">
                <a:tc>
                  <a:txBody>
                    <a:bodyPr/>
                    <a:lstStyle/>
                    <a:p>
                      <a:pPr marL="0" indent="0">
                        <a:lnSpc>
                          <a:spcPts val="2002"/>
                        </a:lnSpc>
                        <a:buNone/>
                      </a:pPr>
                      <a:r>
                        <a:rPr lang="en-US" sz="1430" b="1" dirty="0">
                          <a:solidFill>
                            <a:srgbClr val="F7F3EA"/>
                          </a:solidFill>
                          <a:latin typeface="Arial" pitchFamily="34" charset="0"/>
                          <a:ea typeface="Arial" pitchFamily="34" charset="-122"/>
                          <a:cs typeface="Arial" pitchFamily="34" charset="-120"/>
                        </a:rPr>
                        <a:t>Month</a:t>
                      </a:r>
                      <a:endParaRPr lang="en-US" sz="1430" dirty="0">
                        <a:latin typeface="Arial" charset="0"/>
                        <a:ea typeface="Arial" charset="0"/>
                        <a:cs typeface="Arial" charset="0"/>
                      </a:endParaRPr>
                    </a:p>
                  </a:txBody>
                  <a:tcPr marL="63550" marR="63550" marT="63550" marB="63550">
                    <a:lnL w="12700" cap="flat" cmpd="sng" algn="ctr">
                      <a:solidFill>
                        <a:srgbClr val="C5C2BB"/>
                      </a:solidFill>
                      <a:prstDash val="solid"/>
                      <a:round/>
                      <a:headEnd type="none" w="med" len="med"/>
                      <a:tailEnd type="none" w="med" len="med"/>
                    </a:lnL>
                    <a:lnR w="12700" cap="flat" cmpd="sng" algn="ctr">
                      <a:solidFill>
                        <a:srgbClr val="161410"/>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161410"/>
                      </a:solidFill>
                      <a:prstDash val="solid"/>
                      <a:round/>
                      <a:headEnd type="none" w="med" len="med"/>
                      <a:tailEnd type="none" w="med" len="med"/>
                    </a:lnB>
                    <a:solidFill>
                      <a:srgbClr val="17140F"/>
                    </a:solidFill>
                  </a:tcPr>
                </a:tc>
                <a:tc>
                  <a:txBody>
                    <a:bodyPr/>
                    <a:lstStyle/>
                    <a:p>
                      <a:pPr marL="0" indent="0">
                        <a:lnSpc>
                          <a:spcPts val="2002"/>
                        </a:lnSpc>
                        <a:buNone/>
                      </a:pPr>
                      <a:r>
                        <a:rPr lang="en-US" sz="1430" b="1" dirty="0">
                          <a:solidFill>
                            <a:srgbClr val="F7F3EA"/>
                          </a:solidFill>
                          <a:latin typeface="Arial" pitchFamily="34" charset="0"/>
                          <a:ea typeface="Arial" pitchFamily="34" charset="-122"/>
                          <a:cs typeface="Arial" pitchFamily="34" charset="-120"/>
                        </a:rPr>
                        <a:t>Clicks</a:t>
                      </a:r>
                      <a:endParaRPr lang="en-US" sz="1430" dirty="0">
                        <a:latin typeface="Arial" charset="0"/>
                        <a:ea typeface="Arial" charset="0"/>
                        <a:cs typeface="Arial" charset="0"/>
                      </a:endParaRPr>
                    </a:p>
                  </a:txBody>
                  <a:tcPr marL="63550" marR="63550" marT="63550" marB="63550">
                    <a:lnL w="12700" cap="flat" cmpd="sng" algn="ctr">
                      <a:solidFill>
                        <a:srgbClr val="161410"/>
                      </a:solidFill>
                      <a:prstDash val="solid"/>
                      <a:round/>
                      <a:headEnd type="none" w="med" len="med"/>
                      <a:tailEnd type="none" w="med" len="med"/>
                    </a:lnL>
                    <a:lnR w="12700" cap="flat" cmpd="sng" algn="ctr">
                      <a:solidFill>
                        <a:srgbClr val="161410"/>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161410"/>
                      </a:solidFill>
                      <a:prstDash val="solid"/>
                      <a:round/>
                      <a:headEnd type="none" w="med" len="med"/>
                      <a:tailEnd type="none" w="med" len="med"/>
                    </a:lnB>
                    <a:solidFill>
                      <a:srgbClr val="17140F"/>
                    </a:solidFill>
                  </a:tcPr>
                </a:tc>
                <a:tc>
                  <a:txBody>
                    <a:bodyPr/>
                    <a:lstStyle/>
                    <a:p>
                      <a:pPr marL="0" indent="0">
                        <a:lnSpc>
                          <a:spcPts val="2002"/>
                        </a:lnSpc>
                        <a:buNone/>
                      </a:pPr>
                      <a:r>
                        <a:rPr lang="en-US" sz="1430" b="1" dirty="0">
                          <a:solidFill>
                            <a:srgbClr val="F7F3EA"/>
                          </a:solidFill>
                          <a:latin typeface="Arial" pitchFamily="34" charset="0"/>
                          <a:ea typeface="Arial" pitchFamily="34" charset="-122"/>
                          <a:cs typeface="Arial" pitchFamily="34" charset="-120"/>
                        </a:rPr>
                        <a:t>Cost</a:t>
                      </a:r>
                      <a:endParaRPr lang="en-US" sz="1430" dirty="0">
                        <a:latin typeface="Arial" charset="0"/>
                        <a:ea typeface="Arial" charset="0"/>
                        <a:cs typeface="Arial" charset="0"/>
                      </a:endParaRPr>
                    </a:p>
                  </a:txBody>
                  <a:tcPr marL="63550" marR="63550" marT="63550" marB="63550">
                    <a:lnL w="12700" cap="flat" cmpd="sng" algn="ctr">
                      <a:solidFill>
                        <a:srgbClr val="161410"/>
                      </a:solidFill>
                      <a:prstDash val="solid"/>
                      <a:round/>
                      <a:headEnd type="none" w="med" len="med"/>
                      <a:tailEnd type="none" w="med" len="med"/>
                    </a:lnL>
                    <a:lnR w="12700" cap="flat" cmpd="sng" algn="ctr">
                      <a:solidFill>
                        <a:srgbClr val="161410"/>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161410"/>
                      </a:solidFill>
                      <a:prstDash val="solid"/>
                      <a:round/>
                      <a:headEnd type="none" w="med" len="med"/>
                      <a:tailEnd type="none" w="med" len="med"/>
                    </a:lnB>
                    <a:solidFill>
                      <a:srgbClr val="17140F"/>
                    </a:solidFill>
                  </a:tcPr>
                </a:tc>
                <a:tc>
                  <a:txBody>
                    <a:bodyPr/>
                    <a:lstStyle/>
                    <a:p>
                      <a:pPr marL="0" indent="0">
                        <a:lnSpc>
                          <a:spcPts val="2002"/>
                        </a:lnSpc>
                        <a:buNone/>
                      </a:pPr>
                      <a:r>
                        <a:rPr lang="en-US" sz="1430" b="1" dirty="0">
                          <a:solidFill>
                            <a:srgbClr val="F7F3EA"/>
                          </a:solidFill>
                          <a:latin typeface="Arial" pitchFamily="34" charset="0"/>
                          <a:ea typeface="Arial" pitchFamily="34" charset="-122"/>
                          <a:cs typeface="Arial" pitchFamily="34" charset="-120"/>
                        </a:rPr>
                        <a:t>Conversions</a:t>
                      </a:r>
                      <a:endParaRPr lang="en-US" sz="1430" dirty="0">
                        <a:latin typeface="Arial" charset="0"/>
                        <a:ea typeface="Arial" charset="0"/>
                        <a:cs typeface="Arial" charset="0"/>
                      </a:endParaRPr>
                    </a:p>
                  </a:txBody>
                  <a:tcPr marL="63550" marR="63550" marT="63550" marB="63550">
                    <a:lnL w="12700" cap="flat" cmpd="sng" algn="ctr">
                      <a:solidFill>
                        <a:srgbClr val="161410"/>
                      </a:solidFill>
                      <a:prstDash val="solid"/>
                      <a:round/>
                      <a:headEnd type="none" w="med" len="med"/>
                      <a:tailEnd type="none" w="med" len="med"/>
                    </a:lnL>
                    <a:lnR w="12700" cap="flat" cmpd="sng" algn="ctr">
                      <a:solidFill>
                        <a:srgbClr val="161410"/>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161410"/>
                      </a:solidFill>
                      <a:prstDash val="solid"/>
                      <a:round/>
                      <a:headEnd type="none" w="med" len="med"/>
                      <a:tailEnd type="none" w="med" len="med"/>
                    </a:lnB>
                    <a:solidFill>
                      <a:srgbClr val="17140F"/>
                    </a:solidFill>
                  </a:tcPr>
                </a:tc>
                <a:tc>
                  <a:txBody>
                    <a:bodyPr/>
                    <a:lstStyle/>
                    <a:p>
                      <a:pPr marL="0" indent="0">
                        <a:lnSpc>
                          <a:spcPts val="2002"/>
                        </a:lnSpc>
                        <a:buNone/>
                      </a:pPr>
                      <a:r>
                        <a:rPr lang="en-US" sz="1430" b="1" dirty="0">
                          <a:solidFill>
                            <a:srgbClr val="F7F3EA"/>
                          </a:solidFill>
                          <a:latin typeface="Arial" pitchFamily="34" charset="0"/>
                          <a:ea typeface="Arial" pitchFamily="34" charset="-122"/>
                          <a:cs typeface="Arial" pitchFamily="34" charset="-120"/>
                        </a:rPr>
                        <a:t>Conv. rate</a:t>
                      </a:r>
                      <a:endParaRPr lang="en-US" sz="1430" dirty="0">
                        <a:latin typeface="Arial" charset="0"/>
                        <a:ea typeface="Arial" charset="0"/>
                        <a:cs typeface="Arial" charset="0"/>
                      </a:endParaRPr>
                    </a:p>
                  </a:txBody>
                  <a:tcPr marL="63550" marR="63550" marT="63550" marB="63550">
                    <a:lnL w="12700" cap="flat" cmpd="sng" algn="ctr">
                      <a:solidFill>
                        <a:srgbClr val="161410"/>
                      </a:solidFill>
                      <a:prstDash val="solid"/>
                      <a:round/>
                      <a:headEnd type="none" w="med" len="med"/>
                      <a:tailEnd type="none" w="med" len="med"/>
                    </a:lnL>
                    <a:lnR w="12700" cap="flat" cmpd="sng" algn="ctr">
                      <a:solidFill>
                        <a:srgbClr val="161410"/>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161410"/>
                      </a:solidFill>
                      <a:prstDash val="solid"/>
                      <a:round/>
                      <a:headEnd type="none" w="med" len="med"/>
                      <a:tailEnd type="none" w="med" len="med"/>
                    </a:lnB>
                    <a:solidFill>
                      <a:srgbClr val="17140F"/>
                    </a:solidFill>
                  </a:tcPr>
                </a:tc>
                <a:extLst>
                  <a:ext uri="{0D108BD9-81ED-4DB2-BD59-A6C34878D82A}">
                    <a16:rowId xmlns:a16="http://schemas.microsoft.com/office/drawing/2014/main" val="10000"/>
                  </a:ext>
                </a:extLst>
              </a:tr>
              <a:tr h="391239">
                <a:tc>
                  <a:txBody>
                    <a:bodyPr/>
                    <a:lstStyle/>
                    <a:p>
                      <a:pPr marL="0" indent="0">
                        <a:lnSpc>
                          <a:spcPts val="2002"/>
                        </a:lnSpc>
                        <a:buNone/>
                      </a:pPr>
                      <a:r>
                        <a:rPr lang="en-US" sz="1430" dirty="0">
                          <a:solidFill>
                            <a:srgbClr val="17140F"/>
                          </a:solidFill>
                          <a:latin typeface="Arial" pitchFamily="34" charset="0"/>
                          <a:ea typeface="Arial" pitchFamily="34" charset="-122"/>
                          <a:cs typeface="Arial" pitchFamily="34" charset="-120"/>
                        </a:rPr>
                        <a:t>January 2026</a:t>
                      </a:r>
                      <a:endParaRPr lang="en-US" sz="1430" dirty="0">
                        <a:latin typeface="Arial" charset="0"/>
                        <a:ea typeface="Arial" charset="0"/>
                        <a:cs typeface="Arial" charset="0"/>
                      </a:endParaRPr>
                    </a:p>
                  </a:txBody>
                  <a:tcPr marL="63550" marR="63550" marT="63550" marB="63550">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161410"/>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2002"/>
                        </a:lnSpc>
                        <a:buNone/>
                      </a:pPr>
                      <a:r>
                        <a:rPr lang="en-US" sz="1430" dirty="0">
                          <a:solidFill>
                            <a:srgbClr val="17140F"/>
                          </a:solidFill>
                          <a:latin typeface="Arial" pitchFamily="34" charset="0"/>
                          <a:ea typeface="Arial" pitchFamily="34" charset="-122"/>
                          <a:cs typeface="Arial" pitchFamily="34" charset="-120"/>
                        </a:rPr>
                        <a:t>17,086</a:t>
                      </a:r>
                      <a:endParaRPr lang="en-US" sz="1430" dirty="0">
                        <a:latin typeface="Arial" charset="0"/>
                        <a:ea typeface="Arial" charset="0"/>
                        <a:cs typeface="Arial" charset="0"/>
                      </a:endParaRPr>
                    </a:p>
                  </a:txBody>
                  <a:tcPr marL="63550" marR="63550" marT="63550" marB="63550">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161410"/>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2002"/>
                        </a:lnSpc>
                        <a:buNone/>
                      </a:pPr>
                      <a:r>
                        <a:rPr lang="en-US" sz="1430" dirty="0">
                          <a:solidFill>
                            <a:srgbClr val="17140F"/>
                          </a:solidFill>
                          <a:latin typeface="Arial" pitchFamily="34" charset="0"/>
                          <a:ea typeface="Arial" pitchFamily="34" charset="-122"/>
                          <a:cs typeface="Arial" pitchFamily="34" charset="-120"/>
                        </a:rPr>
                        <a:t>₹2,15,713</a:t>
                      </a:r>
                      <a:endParaRPr lang="en-US" sz="1430" dirty="0">
                        <a:latin typeface="Arial" charset="0"/>
                        <a:ea typeface="Arial" charset="0"/>
                        <a:cs typeface="Arial" charset="0"/>
                      </a:endParaRPr>
                    </a:p>
                  </a:txBody>
                  <a:tcPr marL="63550" marR="63550" marT="63550" marB="63550">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161410"/>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2002"/>
                        </a:lnSpc>
                        <a:buNone/>
                      </a:pPr>
                      <a:r>
                        <a:rPr lang="en-US" sz="1430" dirty="0">
                          <a:solidFill>
                            <a:srgbClr val="17140F"/>
                          </a:solidFill>
                          <a:latin typeface="Arial" pitchFamily="34" charset="0"/>
                          <a:ea typeface="Arial" pitchFamily="34" charset="-122"/>
                          <a:cs typeface="Arial" pitchFamily="34" charset="-120"/>
                        </a:rPr>
                        <a:t>1,336</a:t>
                      </a:r>
                      <a:endParaRPr lang="en-US" sz="1430" dirty="0">
                        <a:latin typeface="Arial" charset="0"/>
                        <a:ea typeface="Arial" charset="0"/>
                        <a:cs typeface="Arial" charset="0"/>
                      </a:endParaRPr>
                    </a:p>
                  </a:txBody>
                  <a:tcPr marL="63550" marR="63550" marT="63550" marB="63550">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161410"/>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2002"/>
                        </a:lnSpc>
                        <a:buNone/>
                      </a:pPr>
                      <a:r>
                        <a:rPr lang="en-US" sz="1430" dirty="0">
                          <a:solidFill>
                            <a:srgbClr val="17140F"/>
                          </a:solidFill>
                          <a:latin typeface="Arial" pitchFamily="34" charset="0"/>
                          <a:ea typeface="Arial" pitchFamily="34" charset="-122"/>
                          <a:cs typeface="Arial" pitchFamily="34" charset="-120"/>
                        </a:rPr>
                        <a:t>7.82%</a:t>
                      </a:r>
                      <a:endParaRPr lang="en-US" sz="1430" dirty="0">
                        <a:latin typeface="Arial" charset="0"/>
                        <a:ea typeface="Arial" charset="0"/>
                        <a:cs typeface="Arial" charset="0"/>
                      </a:endParaRPr>
                    </a:p>
                  </a:txBody>
                  <a:tcPr marL="63550" marR="63550" marT="63550" marB="63550">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161410"/>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extLst>
                  <a:ext uri="{0D108BD9-81ED-4DB2-BD59-A6C34878D82A}">
                    <a16:rowId xmlns:a16="http://schemas.microsoft.com/office/drawing/2014/main" val="10001"/>
                  </a:ext>
                </a:extLst>
              </a:tr>
              <a:tr h="391239">
                <a:tc>
                  <a:txBody>
                    <a:bodyPr/>
                    <a:lstStyle/>
                    <a:p>
                      <a:pPr marL="0" indent="0">
                        <a:lnSpc>
                          <a:spcPts val="2002"/>
                        </a:lnSpc>
                        <a:buNone/>
                      </a:pPr>
                      <a:r>
                        <a:rPr lang="en-US" sz="1430" dirty="0">
                          <a:solidFill>
                            <a:srgbClr val="17140F"/>
                          </a:solidFill>
                          <a:latin typeface="Arial" pitchFamily="34" charset="0"/>
                          <a:ea typeface="Arial" pitchFamily="34" charset="-122"/>
                          <a:cs typeface="Arial" pitchFamily="34" charset="-120"/>
                        </a:rPr>
                        <a:t>February 2026</a:t>
                      </a:r>
                      <a:endParaRPr lang="en-US" sz="1430" dirty="0">
                        <a:latin typeface="Arial" charset="0"/>
                        <a:ea typeface="Arial" charset="0"/>
                        <a:cs typeface="Arial" charset="0"/>
                      </a:endParaRPr>
                    </a:p>
                  </a:txBody>
                  <a:tcPr marL="63550" marR="63550" marT="63550" marB="63550">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2002"/>
                        </a:lnSpc>
                        <a:buNone/>
                      </a:pPr>
                      <a:r>
                        <a:rPr lang="en-US" sz="1430" dirty="0">
                          <a:solidFill>
                            <a:srgbClr val="17140F"/>
                          </a:solidFill>
                          <a:latin typeface="Arial" pitchFamily="34" charset="0"/>
                          <a:ea typeface="Arial" pitchFamily="34" charset="-122"/>
                          <a:cs typeface="Arial" pitchFamily="34" charset="-120"/>
                        </a:rPr>
                        <a:t>9,758</a:t>
                      </a:r>
                      <a:endParaRPr lang="en-US" sz="1430" dirty="0">
                        <a:latin typeface="Arial" charset="0"/>
                        <a:ea typeface="Arial" charset="0"/>
                        <a:cs typeface="Arial" charset="0"/>
                      </a:endParaRPr>
                    </a:p>
                  </a:txBody>
                  <a:tcPr marL="63550" marR="63550" marT="63550" marB="63550">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2002"/>
                        </a:lnSpc>
                        <a:buNone/>
                      </a:pPr>
                      <a:r>
                        <a:rPr lang="en-US" sz="1430" dirty="0">
                          <a:solidFill>
                            <a:srgbClr val="17140F"/>
                          </a:solidFill>
                          <a:latin typeface="Arial" pitchFamily="34" charset="0"/>
                          <a:ea typeface="Arial" pitchFamily="34" charset="-122"/>
                          <a:cs typeface="Arial" pitchFamily="34" charset="-120"/>
                        </a:rPr>
                        <a:t>₹1,65,550</a:t>
                      </a:r>
                      <a:endParaRPr lang="en-US" sz="1430" dirty="0">
                        <a:latin typeface="Arial" charset="0"/>
                        <a:ea typeface="Arial" charset="0"/>
                        <a:cs typeface="Arial" charset="0"/>
                      </a:endParaRPr>
                    </a:p>
                  </a:txBody>
                  <a:tcPr marL="63550" marR="63550" marT="63550" marB="63550">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2002"/>
                        </a:lnSpc>
                        <a:buNone/>
                      </a:pPr>
                      <a:r>
                        <a:rPr lang="en-US" sz="1430" dirty="0">
                          <a:solidFill>
                            <a:srgbClr val="17140F"/>
                          </a:solidFill>
                          <a:latin typeface="Arial" pitchFamily="34" charset="0"/>
                          <a:ea typeface="Arial" pitchFamily="34" charset="-122"/>
                          <a:cs typeface="Arial" pitchFamily="34" charset="-120"/>
                        </a:rPr>
                        <a:t>1,849</a:t>
                      </a:r>
                      <a:endParaRPr lang="en-US" sz="1430" dirty="0">
                        <a:latin typeface="Arial" charset="0"/>
                        <a:ea typeface="Arial" charset="0"/>
                        <a:cs typeface="Arial" charset="0"/>
                      </a:endParaRPr>
                    </a:p>
                  </a:txBody>
                  <a:tcPr marL="63550" marR="63550" marT="63550" marB="63550">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2002"/>
                        </a:lnSpc>
                        <a:buNone/>
                      </a:pPr>
                      <a:r>
                        <a:rPr lang="en-US" sz="1430" dirty="0">
                          <a:solidFill>
                            <a:srgbClr val="17140F"/>
                          </a:solidFill>
                          <a:latin typeface="Arial" pitchFamily="34" charset="0"/>
                          <a:ea typeface="Arial" pitchFamily="34" charset="-122"/>
                          <a:cs typeface="Arial" pitchFamily="34" charset="-120"/>
                        </a:rPr>
                        <a:t>18.95%</a:t>
                      </a:r>
                      <a:endParaRPr lang="en-US" sz="1430" dirty="0">
                        <a:latin typeface="Arial" charset="0"/>
                        <a:ea typeface="Arial" charset="0"/>
                        <a:cs typeface="Arial" charset="0"/>
                      </a:endParaRPr>
                    </a:p>
                  </a:txBody>
                  <a:tcPr marL="63550" marR="63550" marT="63550" marB="63550">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extLst>
                  <a:ext uri="{0D108BD9-81ED-4DB2-BD59-A6C34878D82A}">
                    <a16:rowId xmlns:a16="http://schemas.microsoft.com/office/drawing/2014/main" val="10002"/>
                  </a:ext>
                </a:extLst>
              </a:tr>
              <a:tr h="391239">
                <a:tc>
                  <a:txBody>
                    <a:bodyPr/>
                    <a:lstStyle/>
                    <a:p>
                      <a:pPr marL="0" indent="0">
                        <a:lnSpc>
                          <a:spcPts val="2002"/>
                        </a:lnSpc>
                        <a:buNone/>
                      </a:pPr>
                      <a:r>
                        <a:rPr lang="en-US" sz="1430" dirty="0">
                          <a:solidFill>
                            <a:srgbClr val="17140F"/>
                          </a:solidFill>
                          <a:latin typeface="Arial" pitchFamily="34" charset="0"/>
                          <a:ea typeface="Arial" pitchFamily="34" charset="-122"/>
                          <a:cs typeface="Arial" pitchFamily="34" charset="-120"/>
                        </a:rPr>
                        <a:t>March 2026</a:t>
                      </a:r>
                      <a:endParaRPr lang="en-US" sz="1430" dirty="0">
                        <a:latin typeface="Arial" charset="0"/>
                        <a:ea typeface="Arial" charset="0"/>
                        <a:cs typeface="Arial" charset="0"/>
                      </a:endParaRPr>
                    </a:p>
                  </a:txBody>
                  <a:tcPr marL="63550" marR="63550" marT="63550" marB="63550">
                    <a:lnL w="12700" cap="flat" cmpd="sng" algn="ctr">
                      <a:solidFill>
                        <a:srgbClr val="C5C2BB"/>
                      </a:solidFill>
                      <a:prstDash val="solid"/>
                      <a:round/>
                      <a:headEnd type="none" w="med" len="med"/>
                      <a:tailEnd type="none" w="med" len="med"/>
                    </a:lnL>
                    <a:lnR w="12700" cap="flat" cmpd="sng" algn="ctr">
                      <a:solidFill>
                        <a:srgbClr val="C0AEA6"/>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0AEA6"/>
                      </a:solidFill>
                      <a:prstDash val="solid"/>
                      <a:round/>
                      <a:headEnd type="none" w="med" len="med"/>
                      <a:tailEnd type="none" w="med" len="med"/>
                    </a:lnB>
                    <a:solidFill>
                      <a:srgbClr val="F0D9CF"/>
                    </a:solidFill>
                  </a:tcPr>
                </a:tc>
                <a:tc>
                  <a:txBody>
                    <a:bodyPr/>
                    <a:lstStyle/>
                    <a:p>
                      <a:pPr marL="0" indent="0">
                        <a:lnSpc>
                          <a:spcPts val="2002"/>
                        </a:lnSpc>
                        <a:buNone/>
                      </a:pPr>
                      <a:r>
                        <a:rPr lang="en-US" sz="1430" dirty="0">
                          <a:solidFill>
                            <a:srgbClr val="17140F"/>
                          </a:solidFill>
                          <a:latin typeface="Arial" pitchFamily="34" charset="0"/>
                          <a:ea typeface="Arial" pitchFamily="34" charset="-122"/>
                          <a:cs typeface="Arial" pitchFamily="34" charset="-120"/>
                        </a:rPr>
                        <a:t>51,657</a:t>
                      </a:r>
                      <a:endParaRPr lang="en-US" sz="1430" dirty="0">
                        <a:latin typeface="Arial" charset="0"/>
                        <a:ea typeface="Arial" charset="0"/>
                        <a:cs typeface="Arial" charset="0"/>
                      </a:endParaRPr>
                    </a:p>
                  </a:txBody>
                  <a:tcPr marL="63550" marR="63550" marT="63550" marB="63550">
                    <a:lnL w="12700" cap="flat" cmpd="sng" algn="ctr">
                      <a:solidFill>
                        <a:srgbClr val="C0AEA6"/>
                      </a:solidFill>
                      <a:prstDash val="solid"/>
                      <a:round/>
                      <a:headEnd type="none" w="med" len="med"/>
                      <a:tailEnd type="none" w="med" len="med"/>
                    </a:lnL>
                    <a:lnR w="12700" cap="flat" cmpd="sng" algn="ctr">
                      <a:solidFill>
                        <a:srgbClr val="C0AEA6"/>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0AEA6"/>
                      </a:solidFill>
                      <a:prstDash val="solid"/>
                      <a:round/>
                      <a:headEnd type="none" w="med" len="med"/>
                      <a:tailEnd type="none" w="med" len="med"/>
                    </a:lnB>
                    <a:solidFill>
                      <a:srgbClr val="F0D9CF"/>
                    </a:solidFill>
                  </a:tcPr>
                </a:tc>
                <a:tc>
                  <a:txBody>
                    <a:bodyPr/>
                    <a:lstStyle/>
                    <a:p>
                      <a:pPr marL="0" indent="0">
                        <a:lnSpc>
                          <a:spcPts val="2002"/>
                        </a:lnSpc>
                        <a:buNone/>
                      </a:pPr>
                      <a:r>
                        <a:rPr lang="en-US" sz="1430" dirty="0">
                          <a:solidFill>
                            <a:srgbClr val="17140F"/>
                          </a:solidFill>
                          <a:latin typeface="Arial" pitchFamily="34" charset="0"/>
                          <a:ea typeface="Arial" pitchFamily="34" charset="-122"/>
                          <a:cs typeface="Arial" pitchFamily="34" charset="-120"/>
                        </a:rPr>
                        <a:t>₹1,65,437</a:t>
                      </a:r>
                      <a:endParaRPr lang="en-US" sz="1430" dirty="0">
                        <a:latin typeface="Arial" charset="0"/>
                        <a:ea typeface="Arial" charset="0"/>
                        <a:cs typeface="Arial" charset="0"/>
                      </a:endParaRPr>
                    </a:p>
                  </a:txBody>
                  <a:tcPr marL="63550" marR="63550" marT="63550" marB="63550">
                    <a:lnL w="12700" cap="flat" cmpd="sng" algn="ctr">
                      <a:solidFill>
                        <a:srgbClr val="C0AEA6"/>
                      </a:solidFill>
                      <a:prstDash val="solid"/>
                      <a:round/>
                      <a:headEnd type="none" w="med" len="med"/>
                      <a:tailEnd type="none" w="med" len="med"/>
                    </a:lnL>
                    <a:lnR w="12700" cap="flat" cmpd="sng" algn="ctr">
                      <a:solidFill>
                        <a:srgbClr val="C0AEA6"/>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0AEA6"/>
                      </a:solidFill>
                      <a:prstDash val="solid"/>
                      <a:round/>
                      <a:headEnd type="none" w="med" len="med"/>
                      <a:tailEnd type="none" w="med" len="med"/>
                    </a:lnB>
                    <a:solidFill>
                      <a:srgbClr val="F0D9CF"/>
                    </a:solidFill>
                  </a:tcPr>
                </a:tc>
                <a:tc>
                  <a:txBody>
                    <a:bodyPr/>
                    <a:lstStyle/>
                    <a:p>
                      <a:pPr marL="0" indent="0">
                        <a:lnSpc>
                          <a:spcPts val="2002"/>
                        </a:lnSpc>
                        <a:buNone/>
                      </a:pPr>
                      <a:r>
                        <a:rPr lang="en-US" sz="1430" dirty="0">
                          <a:solidFill>
                            <a:srgbClr val="B54A28"/>
                          </a:solidFill>
                          <a:latin typeface="Arial" pitchFamily="34" charset="0"/>
                          <a:ea typeface="Arial" pitchFamily="34" charset="-122"/>
                          <a:cs typeface="Arial" pitchFamily="34" charset="-120"/>
                        </a:rPr>
                        <a:t>34,488</a:t>
                      </a:r>
                      <a:endParaRPr lang="en-US" sz="1430" dirty="0">
                        <a:latin typeface="Arial" charset="0"/>
                        <a:ea typeface="Arial" charset="0"/>
                        <a:cs typeface="Arial" charset="0"/>
                      </a:endParaRPr>
                    </a:p>
                  </a:txBody>
                  <a:tcPr marL="63550" marR="63550" marT="63550" marB="63550">
                    <a:lnL w="12700" cap="flat" cmpd="sng" algn="ctr">
                      <a:solidFill>
                        <a:srgbClr val="C0AEA6"/>
                      </a:solidFill>
                      <a:prstDash val="solid"/>
                      <a:round/>
                      <a:headEnd type="none" w="med" len="med"/>
                      <a:tailEnd type="none" w="med" len="med"/>
                    </a:lnL>
                    <a:lnR w="12700" cap="flat" cmpd="sng" algn="ctr">
                      <a:solidFill>
                        <a:srgbClr val="C0AEA6"/>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0AEA6"/>
                      </a:solidFill>
                      <a:prstDash val="solid"/>
                      <a:round/>
                      <a:headEnd type="none" w="med" len="med"/>
                      <a:tailEnd type="none" w="med" len="med"/>
                    </a:lnB>
                    <a:solidFill>
                      <a:srgbClr val="F0D9CF"/>
                    </a:solidFill>
                  </a:tcPr>
                </a:tc>
                <a:tc>
                  <a:txBody>
                    <a:bodyPr/>
                    <a:lstStyle/>
                    <a:p>
                      <a:pPr marL="0" indent="0">
                        <a:lnSpc>
                          <a:spcPts val="2002"/>
                        </a:lnSpc>
                        <a:buNone/>
                      </a:pPr>
                      <a:r>
                        <a:rPr lang="en-US" sz="1430" dirty="0">
                          <a:solidFill>
                            <a:srgbClr val="B54A28"/>
                          </a:solidFill>
                          <a:latin typeface="Arial" pitchFamily="34" charset="0"/>
                          <a:ea typeface="Arial" pitchFamily="34" charset="-122"/>
                          <a:cs typeface="Arial" pitchFamily="34" charset="-120"/>
                        </a:rPr>
                        <a:t>64.53%</a:t>
                      </a:r>
                      <a:endParaRPr lang="en-US" sz="1430" dirty="0">
                        <a:latin typeface="Arial" charset="0"/>
                        <a:ea typeface="Arial" charset="0"/>
                        <a:cs typeface="Arial" charset="0"/>
                      </a:endParaRPr>
                    </a:p>
                  </a:txBody>
                  <a:tcPr marL="63550" marR="63550" marT="63550" marB="63550">
                    <a:lnL w="12700" cap="flat" cmpd="sng" algn="ctr">
                      <a:solidFill>
                        <a:srgbClr val="C0AEA6"/>
                      </a:solidFill>
                      <a:prstDash val="solid"/>
                      <a:round/>
                      <a:headEnd type="none" w="med" len="med"/>
                      <a:tailEnd type="none" w="med" len="med"/>
                    </a:lnL>
                    <a:lnR w="12700" cap="flat" cmpd="sng" algn="ctr">
                      <a:solidFill>
                        <a:srgbClr val="C0AEA6"/>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0AEA6"/>
                      </a:solidFill>
                      <a:prstDash val="solid"/>
                      <a:round/>
                      <a:headEnd type="none" w="med" len="med"/>
                      <a:tailEnd type="none" w="med" len="med"/>
                    </a:lnB>
                    <a:solidFill>
                      <a:srgbClr val="F0D9CF"/>
                    </a:solidFill>
                  </a:tcPr>
                </a:tc>
                <a:extLst>
                  <a:ext uri="{0D108BD9-81ED-4DB2-BD59-A6C34878D82A}">
                    <a16:rowId xmlns:a16="http://schemas.microsoft.com/office/drawing/2014/main" val="10003"/>
                  </a:ext>
                </a:extLst>
              </a:tr>
              <a:tr h="391239">
                <a:tc>
                  <a:txBody>
                    <a:bodyPr/>
                    <a:lstStyle/>
                    <a:p>
                      <a:pPr marL="0" indent="0">
                        <a:lnSpc>
                          <a:spcPts val="2002"/>
                        </a:lnSpc>
                        <a:buNone/>
                      </a:pPr>
                      <a:r>
                        <a:rPr lang="en-US" sz="1430" dirty="0">
                          <a:solidFill>
                            <a:srgbClr val="17140F"/>
                          </a:solidFill>
                          <a:latin typeface="Arial" pitchFamily="34" charset="0"/>
                          <a:ea typeface="Arial" pitchFamily="34" charset="-122"/>
                          <a:cs typeface="Arial" pitchFamily="34" charset="-120"/>
                        </a:rPr>
                        <a:t>April 2026</a:t>
                      </a:r>
                      <a:endParaRPr lang="en-US" sz="1430" dirty="0">
                        <a:latin typeface="Arial" charset="0"/>
                        <a:ea typeface="Arial" charset="0"/>
                        <a:cs typeface="Arial" charset="0"/>
                      </a:endParaRPr>
                    </a:p>
                  </a:txBody>
                  <a:tcPr marL="63550" marR="63550" marT="63550" marB="63550">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0AEA6"/>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2002"/>
                        </a:lnSpc>
                        <a:buNone/>
                      </a:pPr>
                      <a:r>
                        <a:rPr lang="en-US" sz="1430" dirty="0">
                          <a:solidFill>
                            <a:srgbClr val="17140F"/>
                          </a:solidFill>
                          <a:latin typeface="Arial" pitchFamily="34" charset="0"/>
                          <a:ea typeface="Arial" pitchFamily="34" charset="-122"/>
                          <a:cs typeface="Arial" pitchFamily="34" charset="-120"/>
                        </a:rPr>
                        <a:t>118</a:t>
                      </a:r>
                      <a:endParaRPr lang="en-US" sz="1430" dirty="0">
                        <a:latin typeface="Arial" charset="0"/>
                        <a:ea typeface="Arial" charset="0"/>
                        <a:cs typeface="Arial" charset="0"/>
                      </a:endParaRPr>
                    </a:p>
                  </a:txBody>
                  <a:tcPr marL="63550" marR="63550" marT="63550" marB="63550">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0AEA6"/>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2002"/>
                        </a:lnSpc>
                        <a:buNone/>
                      </a:pPr>
                      <a:r>
                        <a:rPr lang="en-US" sz="1430" dirty="0">
                          <a:solidFill>
                            <a:srgbClr val="17140F"/>
                          </a:solidFill>
                          <a:latin typeface="Arial" pitchFamily="34" charset="0"/>
                          <a:ea typeface="Arial" pitchFamily="34" charset="-122"/>
                          <a:cs typeface="Arial" pitchFamily="34" charset="-120"/>
                        </a:rPr>
                        <a:t>₹831</a:t>
                      </a:r>
                      <a:endParaRPr lang="en-US" sz="1430" dirty="0">
                        <a:latin typeface="Arial" charset="0"/>
                        <a:ea typeface="Arial" charset="0"/>
                        <a:cs typeface="Arial" charset="0"/>
                      </a:endParaRPr>
                    </a:p>
                  </a:txBody>
                  <a:tcPr marL="63550" marR="63550" marT="63550" marB="63550">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0AEA6"/>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2002"/>
                        </a:lnSpc>
                        <a:buNone/>
                      </a:pPr>
                      <a:r>
                        <a:rPr lang="en-US" sz="1430" dirty="0">
                          <a:solidFill>
                            <a:srgbClr val="17140F"/>
                          </a:solidFill>
                          <a:latin typeface="Arial" pitchFamily="34" charset="0"/>
                          <a:ea typeface="Arial" pitchFamily="34" charset="-122"/>
                          <a:cs typeface="Arial" pitchFamily="34" charset="-120"/>
                        </a:rPr>
                        <a:t>142</a:t>
                      </a:r>
                      <a:endParaRPr lang="en-US" sz="1430" dirty="0">
                        <a:latin typeface="Arial" charset="0"/>
                        <a:ea typeface="Arial" charset="0"/>
                        <a:cs typeface="Arial" charset="0"/>
                      </a:endParaRPr>
                    </a:p>
                  </a:txBody>
                  <a:tcPr marL="63550" marR="63550" marT="63550" marB="63550">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0AEA6"/>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2002"/>
                        </a:lnSpc>
                        <a:buNone/>
                      </a:pPr>
                      <a:r>
                        <a:rPr lang="en-US" sz="1430" dirty="0">
                          <a:solidFill>
                            <a:srgbClr val="B54A28"/>
                          </a:solidFill>
                          <a:latin typeface="Arial" pitchFamily="34" charset="0"/>
                          <a:ea typeface="Arial" pitchFamily="34" charset="-122"/>
                          <a:cs typeface="Arial" pitchFamily="34" charset="-120"/>
                        </a:rPr>
                        <a:t>102.90%</a:t>
                      </a:r>
                      <a:endParaRPr lang="en-US" sz="1430" dirty="0">
                        <a:latin typeface="Arial" charset="0"/>
                        <a:ea typeface="Arial" charset="0"/>
                        <a:cs typeface="Arial" charset="0"/>
                      </a:endParaRPr>
                    </a:p>
                  </a:txBody>
                  <a:tcPr marL="63550" marR="63550" marT="63550" marB="63550">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0AEA6"/>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extLst>
                  <a:ext uri="{0D108BD9-81ED-4DB2-BD59-A6C34878D82A}">
                    <a16:rowId xmlns:a16="http://schemas.microsoft.com/office/drawing/2014/main" val="10004"/>
                  </a:ext>
                </a:extLst>
              </a:tr>
              <a:tr h="391239">
                <a:tc>
                  <a:txBody>
                    <a:bodyPr/>
                    <a:lstStyle/>
                    <a:p>
                      <a:pPr marL="0" indent="0">
                        <a:lnSpc>
                          <a:spcPts val="2002"/>
                        </a:lnSpc>
                        <a:buNone/>
                      </a:pPr>
                      <a:r>
                        <a:rPr lang="en-US" sz="1430" dirty="0">
                          <a:solidFill>
                            <a:srgbClr val="17140F"/>
                          </a:solidFill>
                          <a:latin typeface="Arial" pitchFamily="34" charset="0"/>
                          <a:ea typeface="Arial" pitchFamily="34" charset="-122"/>
                          <a:cs typeface="Arial" pitchFamily="34" charset="-120"/>
                        </a:rPr>
                        <a:t>May 2026</a:t>
                      </a:r>
                      <a:endParaRPr lang="en-US" sz="1430" dirty="0">
                        <a:latin typeface="Arial" charset="0"/>
                        <a:ea typeface="Arial" charset="0"/>
                        <a:cs typeface="Arial" charset="0"/>
                      </a:endParaRPr>
                    </a:p>
                  </a:txBody>
                  <a:tcPr marL="63550" marR="63550" marT="63550" marB="63550">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2002"/>
                        </a:lnSpc>
                        <a:buNone/>
                      </a:pPr>
                      <a:r>
                        <a:rPr lang="en-US" sz="1430" dirty="0">
                          <a:solidFill>
                            <a:srgbClr val="17140F"/>
                          </a:solidFill>
                          <a:latin typeface="Arial" pitchFamily="34" charset="0"/>
                          <a:ea typeface="Arial" pitchFamily="34" charset="-122"/>
                          <a:cs typeface="Arial" pitchFamily="34" charset="-120"/>
                        </a:rPr>
                        <a:t>7,003</a:t>
                      </a:r>
                      <a:endParaRPr lang="en-US" sz="1430" dirty="0">
                        <a:latin typeface="Arial" charset="0"/>
                        <a:ea typeface="Arial" charset="0"/>
                        <a:cs typeface="Arial" charset="0"/>
                      </a:endParaRPr>
                    </a:p>
                  </a:txBody>
                  <a:tcPr marL="63550" marR="63550" marT="63550" marB="63550">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2002"/>
                        </a:lnSpc>
                        <a:buNone/>
                      </a:pPr>
                      <a:r>
                        <a:rPr lang="en-US" sz="1430" dirty="0">
                          <a:solidFill>
                            <a:srgbClr val="17140F"/>
                          </a:solidFill>
                          <a:latin typeface="Arial" pitchFamily="34" charset="0"/>
                          <a:ea typeface="Arial" pitchFamily="34" charset="-122"/>
                          <a:cs typeface="Arial" pitchFamily="34" charset="-120"/>
                        </a:rPr>
                        <a:t>₹30,282</a:t>
                      </a:r>
                      <a:endParaRPr lang="en-US" sz="1430" dirty="0">
                        <a:latin typeface="Arial" charset="0"/>
                        <a:ea typeface="Arial" charset="0"/>
                        <a:cs typeface="Arial" charset="0"/>
                      </a:endParaRPr>
                    </a:p>
                  </a:txBody>
                  <a:tcPr marL="63550" marR="63550" marT="63550" marB="63550">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2002"/>
                        </a:lnSpc>
                        <a:buNone/>
                      </a:pPr>
                      <a:r>
                        <a:rPr lang="en-US" sz="1430" dirty="0">
                          <a:solidFill>
                            <a:srgbClr val="17140F"/>
                          </a:solidFill>
                          <a:latin typeface="Arial" pitchFamily="34" charset="0"/>
                          <a:ea typeface="Arial" pitchFamily="34" charset="-122"/>
                          <a:cs typeface="Arial" pitchFamily="34" charset="-120"/>
                        </a:rPr>
                        <a:t>237</a:t>
                      </a:r>
                      <a:endParaRPr lang="en-US" sz="1430" dirty="0">
                        <a:latin typeface="Arial" charset="0"/>
                        <a:ea typeface="Arial" charset="0"/>
                        <a:cs typeface="Arial" charset="0"/>
                      </a:endParaRPr>
                    </a:p>
                  </a:txBody>
                  <a:tcPr marL="63550" marR="63550" marT="63550" marB="63550">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2002"/>
                        </a:lnSpc>
                        <a:buNone/>
                      </a:pPr>
                      <a:r>
                        <a:rPr lang="en-US" sz="1430" dirty="0">
                          <a:solidFill>
                            <a:srgbClr val="17140F"/>
                          </a:solidFill>
                          <a:latin typeface="Arial" pitchFamily="34" charset="0"/>
                          <a:ea typeface="Arial" pitchFamily="34" charset="-122"/>
                          <a:cs typeface="Arial" pitchFamily="34" charset="-120"/>
                        </a:rPr>
                        <a:t>3.38%</a:t>
                      </a:r>
                      <a:endParaRPr lang="en-US" sz="1430" dirty="0">
                        <a:latin typeface="Arial" charset="0"/>
                        <a:ea typeface="Arial" charset="0"/>
                        <a:cs typeface="Arial" charset="0"/>
                      </a:endParaRPr>
                    </a:p>
                  </a:txBody>
                  <a:tcPr marL="63550" marR="63550" marT="63550" marB="63550">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4" name="Text 1"/>
          <p:cNvSpPr/>
          <p:nvPr/>
        </p:nvSpPr>
        <p:spPr>
          <a:xfrm>
            <a:off x="812800" y="4790368"/>
            <a:ext cx="3488212" cy="1077039"/>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5C5344"/>
                </a:solidFill>
                <a:latin typeface="Arial" pitchFamily="34" charset="0"/>
                <a:ea typeface="Arial" pitchFamily="34" charset="-122"/>
                <a:cs typeface="Arial" pitchFamily="34" charset="-120"/>
              </a:rPr>
              <a:t>March 2026 reports </a:t>
            </a:r>
            <a:r>
              <a:rPr lang="en-US" sz="1500" b="1" dirty="0">
                <a:solidFill>
                  <a:srgbClr val="5C5344"/>
                </a:solidFill>
                <a:latin typeface="Arial" pitchFamily="34" charset="0"/>
                <a:ea typeface="Arial" pitchFamily="34" charset="-122"/>
                <a:cs typeface="Arial" pitchFamily="34" charset="-120"/>
              </a:rPr>
              <a:t>34,488 conversions</a:t>
            </a:r>
            <a:r>
              <a:rPr lang="en-US" sz="1500" dirty="0">
                <a:solidFill>
                  <a:srgbClr val="5C5344"/>
                </a:solidFill>
                <a:latin typeface="Arial" pitchFamily="34" charset="0"/>
                <a:ea typeface="Arial" pitchFamily="34" charset="-122"/>
                <a:cs typeface="Arial" pitchFamily="34" charset="-120"/>
              </a:rPr>
              <a:t> — 67.2% of everything the account has ever recorded — at </a:t>
            </a:r>
            <a:r>
              <a:rPr lang="en-US" sz="1500" b="1" dirty="0">
                <a:solidFill>
                  <a:srgbClr val="5C5344"/>
                </a:solidFill>
                <a:latin typeface="Arial" pitchFamily="34" charset="0"/>
                <a:ea typeface="Arial" pitchFamily="34" charset="-122"/>
                <a:cs typeface="Arial" pitchFamily="34" charset="-120"/>
              </a:rPr>
              <a:t>₹4.80</a:t>
            </a:r>
            <a:r>
              <a:rPr lang="en-US" sz="1500" dirty="0">
                <a:solidFill>
                  <a:srgbClr val="5C5344"/>
                </a:solidFill>
                <a:latin typeface="Arial" pitchFamily="34" charset="0"/>
                <a:ea typeface="Arial" pitchFamily="34" charset="-122"/>
                <a:cs typeface="Arial" pitchFamily="34" charset="-120"/>
              </a:rPr>
              <a:t> each.</a:t>
            </a:r>
            <a:endParaRPr lang="en-US" sz="1500" dirty="0"/>
          </a:p>
        </p:txBody>
      </p:sp>
      <p:sp>
        <p:nvSpPr>
          <p:cNvPr id="5" name="Text 2"/>
          <p:cNvSpPr/>
          <p:nvPr/>
        </p:nvSpPr>
        <p:spPr>
          <a:xfrm>
            <a:off x="4402614" y="4790368"/>
            <a:ext cx="3488294" cy="1077039"/>
          </a:xfrm>
          <a:prstGeom prst="rect">
            <a:avLst/>
          </a:prstGeom>
          <a:noFill/>
          <a:ln/>
        </p:spPr>
        <p:txBody>
          <a:bodyPr wrap="square" lIns="0" tIns="0" rIns="0" bIns="0" rtlCol="0" anchor="t">
            <a:normAutofit fontScale="85000" lnSpcReduction="10000"/>
          </a:bodyPr>
          <a:lstStyle/>
          <a:p>
            <a:pPr marL="0" indent="0" algn="l">
              <a:lnSpc>
                <a:spcPts val="2175"/>
              </a:lnSpc>
              <a:buNone/>
            </a:pPr>
            <a:r>
              <a:rPr lang="en-US" sz="1500" dirty="0">
                <a:solidFill>
                  <a:srgbClr val="5C5344"/>
                </a:solidFill>
                <a:latin typeface="Arial" pitchFamily="34" charset="0"/>
                <a:ea typeface="Arial" pitchFamily="34" charset="-122"/>
                <a:cs typeface="Arial" pitchFamily="34" charset="-120"/>
              </a:rPr>
              <a:t>Clicks jumped five-fold in the same month while cost fell. That is Demand Gen scaling, not demand for a cave resort tripling overnight.</a:t>
            </a:r>
            <a:endParaRPr lang="en-US" sz="1500" dirty="0"/>
          </a:p>
        </p:txBody>
      </p:sp>
      <p:sp>
        <p:nvSpPr>
          <p:cNvPr id="6" name="Text 3"/>
          <p:cNvSpPr/>
          <p:nvPr/>
        </p:nvSpPr>
        <p:spPr>
          <a:xfrm>
            <a:off x="7992507" y="4790368"/>
            <a:ext cx="3488294" cy="1077039"/>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5C5344"/>
                </a:solidFill>
                <a:latin typeface="Arial" pitchFamily="34" charset="0"/>
                <a:ea typeface="Arial" pitchFamily="34" charset="-122"/>
                <a:cs typeface="Arial" pitchFamily="34" charset="-120"/>
              </a:rPr>
              <a:t>Remove March and the account's whole conversion history changes shape. Any year-on-year report built on this is wrong.</a:t>
            </a:r>
            <a:endParaRPr lang="en-US" sz="1500" dirty="0"/>
          </a:p>
        </p:txBody>
      </p:sp>
      <p:sp>
        <p:nvSpPr>
          <p:cNvPr id="7" name="Text 4"/>
          <p:cNvSpPr/>
          <p:nvPr/>
        </p:nvSpPr>
        <p:spPr>
          <a:xfrm>
            <a:off x="812800" y="6238242"/>
            <a:ext cx="253035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071"/>
                </a:solidFill>
                <a:latin typeface="Arial" pitchFamily="34" charset="0"/>
                <a:ea typeface="Arial" pitchFamily="34" charset="-122"/>
                <a:cs typeface="Arial" pitchFamily="34" charset="-120"/>
              </a:rPr>
              <a:t>Source: Google Ads, monthly report.</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9">
    <p:bg>
      <p:bgPr>
        <a:solidFill>
          <a:srgbClr val="17140F"/>
        </a:solidFill>
        <a:effectLst/>
      </p:bgPr>
    </p:bg>
    <p:spTree>
      <p:nvGrpSpPr>
        <p:cNvPr id="1" name=""/>
        <p:cNvGrpSpPr/>
        <p:nvPr/>
      </p:nvGrpSpPr>
      <p:grpSpPr>
        <a:xfrm>
          <a:off x="0" y="0"/>
          <a:ext cx="0" cy="0"/>
          <a:chOff x="0" y="0"/>
          <a:chExt cx="0" cy="0"/>
        </a:xfrm>
      </p:grpSpPr>
      <p:sp>
        <p:nvSpPr>
          <p:cNvPr id="2" name="Text 0"/>
          <p:cNvSpPr/>
          <p:nvPr/>
        </p:nvSpPr>
        <p:spPr>
          <a:xfrm>
            <a:off x="812800" y="853765"/>
            <a:ext cx="10883392" cy="274320"/>
          </a:xfrm>
          <a:prstGeom prst="rect">
            <a:avLst/>
          </a:prstGeom>
          <a:noFill/>
          <a:ln/>
        </p:spPr>
        <p:txBody>
          <a:bodyPr wrap="square" lIns="0" tIns="0" rIns="0" bIns="0" rtlCol="0" anchor="t">
            <a:normAutofit/>
          </a:bodyPr>
          <a:lstStyle/>
          <a:p>
            <a:pPr marL="0" indent="0" algn="l">
              <a:lnSpc>
                <a:spcPts val="1960"/>
              </a:lnSpc>
              <a:buNone/>
            </a:pPr>
            <a:r>
              <a:rPr lang="en-US" sz="1400" kern="0" spc="200" dirty="0">
                <a:solidFill>
                  <a:srgbClr val="C9A63C"/>
                </a:solidFill>
                <a:latin typeface="Arial" pitchFamily="34" charset="0"/>
                <a:ea typeface="Arial" pitchFamily="34" charset="-122"/>
                <a:cs typeface="Arial" pitchFamily="34" charset="-120"/>
              </a:rPr>
              <a:t>PROOF THREE · APRIL 2026</a:t>
            </a:r>
            <a:endParaRPr lang="en-US" sz="1400" dirty="0"/>
          </a:p>
        </p:txBody>
      </p:sp>
      <p:sp>
        <p:nvSpPr>
          <p:cNvPr id="3" name="Text 1"/>
          <p:cNvSpPr/>
          <p:nvPr/>
        </p:nvSpPr>
        <p:spPr>
          <a:xfrm>
            <a:off x="812800" y="1382080"/>
            <a:ext cx="10883392" cy="1168400"/>
          </a:xfrm>
          <a:prstGeom prst="rect">
            <a:avLst/>
          </a:prstGeom>
          <a:noFill/>
          <a:ln/>
        </p:spPr>
        <p:txBody>
          <a:bodyPr wrap="square" lIns="0" tIns="0" rIns="0" bIns="0" rtlCol="0" anchor="t">
            <a:normAutofit/>
          </a:bodyPr>
          <a:lstStyle/>
          <a:p>
            <a:pPr marL="0" indent="0" algn="l">
              <a:lnSpc>
                <a:spcPts val="9000"/>
              </a:lnSpc>
              <a:buNone/>
            </a:pPr>
            <a:r>
              <a:rPr lang="en-US" sz="9000" dirty="0">
                <a:solidFill>
                  <a:srgbClr val="B54A28"/>
                </a:solidFill>
                <a:latin typeface="Georgia" pitchFamily="34" charset="0"/>
                <a:ea typeface="Georgia" pitchFamily="34" charset="-122"/>
                <a:cs typeface="Georgia" pitchFamily="34" charset="-120"/>
              </a:rPr>
              <a:t>102.90%</a:t>
            </a:r>
            <a:endParaRPr lang="en-US" sz="9000" dirty="0"/>
          </a:p>
        </p:txBody>
      </p:sp>
      <p:sp>
        <p:nvSpPr>
          <p:cNvPr id="4" name="Text 2"/>
          <p:cNvSpPr/>
          <p:nvPr/>
        </p:nvSpPr>
        <p:spPr>
          <a:xfrm>
            <a:off x="812800" y="2804480"/>
            <a:ext cx="10203180" cy="402590"/>
          </a:xfrm>
          <a:prstGeom prst="rect">
            <a:avLst/>
          </a:prstGeom>
          <a:noFill/>
          <a:ln/>
        </p:spPr>
        <p:txBody>
          <a:bodyPr wrap="square" lIns="0" tIns="0" rIns="0" bIns="0" rtlCol="0" anchor="t">
            <a:normAutofit/>
          </a:bodyPr>
          <a:lstStyle/>
          <a:p>
            <a:pPr marL="0" indent="0" algn="l">
              <a:lnSpc>
                <a:spcPts val="2970"/>
              </a:lnSpc>
              <a:buNone/>
            </a:pPr>
            <a:r>
              <a:rPr lang="en-US" sz="2200" dirty="0">
                <a:solidFill>
                  <a:srgbClr val="F7F3EA"/>
                </a:solidFill>
                <a:latin typeface="Arial" pitchFamily="34" charset="0"/>
                <a:ea typeface="Arial" pitchFamily="34" charset="-122"/>
                <a:cs typeface="Arial" pitchFamily="34" charset="-120"/>
              </a:rPr>
              <a:t>conversion rate. </a:t>
            </a:r>
            <a:r>
              <a:rPr lang="en-US" sz="2200" b="1" dirty="0">
                <a:solidFill>
                  <a:srgbClr val="F7F3EA"/>
                </a:solidFill>
                <a:latin typeface="Arial" pitchFamily="34" charset="0"/>
                <a:ea typeface="Arial" pitchFamily="34" charset="-122"/>
                <a:cs typeface="Arial" pitchFamily="34" charset="-120"/>
              </a:rPr>
              <a:t>142 conversions from 118 clicks.</a:t>
            </a:r>
            <a:endParaRPr lang="en-US" sz="2200" dirty="0"/>
          </a:p>
        </p:txBody>
      </p:sp>
      <p:sp>
        <p:nvSpPr>
          <p:cNvPr id="5" name="Text 3"/>
          <p:cNvSpPr/>
          <p:nvPr/>
        </p:nvSpPr>
        <p:spPr>
          <a:xfrm>
            <a:off x="812800" y="3461072"/>
            <a:ext cx="9941560" cy="964565"/>
          </a:xfrm>
          <a:prstGeom prst="rect">
            <a:avLst/>
          </a:prstGeom>
          <a:noFill/>
          <a:ln/>
        </p:spPr>
        <p:txBody>
          <a:bodyPr wrap="square" lIns="0" tIns="0" rIns="0" bIns="0" rtlCol="0" anchor="t">
            <a:normAutofit/>
          </a:bodyPr>
          <a:lstStyle/>
          <a:p>
            <a:pPr marL="0" indent="0" algn="l">
              <a:lnSpc>
                <a:spcPts val="2465"/>
              </a:lnSpc>
              <a:buNone/>
            </a:pPr>
            <a:r>
              <a:rPr lang="en-US" sz="1700" dirty="0">
                <a:solidFill>
                  <a:srgbClr val="A79C89"/>
                </a:solidFill>
                <a:latin typeface="Arial" pitchFamily="34" charset="0"/>
                <a:ea typeface="Arial" pitchFamily="34" charset="-122"/>
                <a:cs typeface="Arial" pitchFamily="34" charset="-120"/>
              </a:rPr>
              <a:t>More people converted than clicked. Like October's 133% on Meta, this is not a performance result — it is a measurement system reporting an event that does not require the click it is being credited to.</a:t>
            </a:r>
            <a:endParaRPr lang="en-US" sz="1700" dirty="0"/>
          </a:p>
        </p:txBody>
      </p:sp>
      <p:sp>
        <p:nvSpPr>
          <p:cNvPr id="6" name="Shape 4"/>
          <p:cNvSpPr/>
          <p:nvPr/>
        </p:nvSpPr>
        <p:spPr>
          <a:xfrm>
            <a:off x="815975" y="4682815"/>
            <a:ext cx="10560050" cy="1115060"/>
          </a:xfrm>
          <a:prstGeom prst="roundRect">
            <a:avLst>
              <a:gd name="adj" fmla="val 8827"/>
            </a:avLst>
          </a:prstGeom>
          <a:solidFill>
            <a:srgbClr val="221E18"/>
          </a:solidFill>
          <a:ln w="6350">
            <a:solidFill>
              <a:srgbClr val="3A342A"/>
            </a:solidFill>
            <a:prstDash val="solid"/>
          </a:ln>
        </p:spPr>
      </p:sp>
      <p:sp>
        <p:nvSpPr>
          <p:cNvPr id="7" name="Text 5"/>
          <p:cNvSpPr/>
          <p:nvPr/>
        </p:nvSpPr>
        <p:spPr>
          <a:xfrm>
            <a:off x="1097280" y="4964113"/>
            <a:ext cx="9941560" cy="577850"/>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F7F3EA"/>
                </a:solidFill>
                <a:latin typeface="Arial" pitchFamily="34" charset="0"/>
                <a:ea typeface="Arial" pitchFamily="34" charset="-122"/>
                <a:cs typeface="Arial" pitchFamily="34" charset="-120"/>
              </a:rPr>
              <a:t>Both platforms are independently producing impossible numbers in the same period. That is not a coincidence — it points at the website and the pixel setup they share, which is the next section.</a:t>
            </a:r>
            <a:endParaRPr lang="en-US" sz="1500" dirty="0"/>
          </a:p>
        </p:txBody>
      </p:sp>
      <p:sp>
        <p:nvSpPr>
          <p:cNvPr id="8" name="Text 6"/>
          <p:cNvSpPr/>
          <p:nvPr/>
        </p:nvSpPr>
        <p:spPr>
          <a:xfrm>
            <a:off x="812800" y="6238242"/>
            <a:ext cx="657908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071"/>
                </a:solidFill>
                <a:latin typeface="Arial" pitchFamily="34" charset="0"/>
                <a:ea typeface="Arial" pitchFamily="34" charset="-122"/>
                <a:cs typeface="Arial" pitchFamily="34" charset="-120"/>
              </a:rPr>
              <a:t>Source: Google Ads, monthly report. April 2026 also shows near-zero spend on both platforms.</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0">
    <p:bg>
      <p:bgPr>
        <a:solidFill>
          <a:srgbClr val="F7F3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1024731"/>
          </a:xfrm>
          <a:prstGeom prst="rect">
            <a:avLst/>
          </a:prstGeom>
          <a:noFill/>
          <a:ln/>
        </p:spPr>
        <p:txBody>
          <a:bodyPr wrap="square" lIns="0" tIns="0" rIns="0" bIns="0" rtlCol="0" anchor="t">
            <a:normAutofit/>
          </a:bodyPr>
          <a:lstStyle/>
          <a:p>
            <a:pPr marL="0" indent="0" algn="l">
              <a:lnSpc>
                <a:spcPts val="4302"/>
              </a:lnSpc>
              <a:buNone/>
            </a:pPr>
            <a:r>
              <a:rPr lang="en-US" sz="4098" dirty="0">
                <a:solidFill>
                  <a:srgbClr val="17140F"/>
                </a:solidFill>
                <a:latin typeface="Georgia" pitchFamily="34" charset="0"/>
                <a:ea typeface="Georgia" pitchFamily="34" charset="-122"/>
                <a:cs typeface="Georgia" pitchFamily="34" charset="-120"/>
              </a:rPr>
              <a:t>Proof four: the revenue column is not revenue</a:t>
            </a:r>
            <a:endParaRPr lang="en-US" sz="4098"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2076291"/>
          <a:ext cx="10556241" cy="2445303"/>
        </p:xfrm>
        <a:graphic>
          <a:graphicData uri="http://schemas.openxmlformats.org/drawingml/2006/table">
            <a:tbl>
              <a:tblPr/>
              <a:tblGrid>
                <a:gridCol w="2533498">
                  <a:extLst>
                    <a:ext uri="{9D8B030D-6E8A-4147-A177-3AD203B41FA5}">
                      <a16:colId xmlns:a16="http://schemas.microsoft.com/office/drawing/2014/main" val="20000"/>
                    </a:ext>
                  </a:extLst>
                </a:gridCol>
                <a:gridCol w="2533498">
                  <a:extLst>
                    <a:ext uri="{9D8B030D-6E8A-4147-A177-3AD203B41FA5}">
                      <a16:colId xmlns:a16="http://schemas.microsoft.com/office/drawing/2014/main" val="20001"/>
                    </a:ext>
                  </a:extLst>
                </a:gridCol>
                <a:gridCol w="2955747">
                  <a:extLst>
                    <a:ext uri="{9D8B030D-6E8A-4147-A177-3AD203B41FA5}">
                      <a16:colId xmlns:a16="http://schemas.microsoft.com/office/drawing/2014/main" val="20002"/>
                    </a:ext>
                  </a:extLst>
                </a:gridCol>
                <a:gridCol w="2533498">
                  <a:extLst>
                    <a:ext uri="{9D8B030D-6E8A-4147-A177-3AD203B41FA5}">
                      <a16:colId xmlns:a16="http://schemas.microsoft.com/office/drawing/2014/main" val="20003"/>
                    </a:ext>
                  </a:extLst>
                </a:gridCol>
              </a:tblGrid>
              <a:tr h="349329">
                <a:tc>
                  <a:txBody>
                    <a:bodyPr/>
                    <a:lstStyle/>
                    <a:p>
                      <a:pPr marL="0" indent="0">
                        <a:lnSpc>
                          <a:spcPts val="1778"/>
                        </a:lnSpc>
                        <a:buNone/>
                      </a:pPr>
                      <a:r>
                        <a:rPr lang="en-US" sz="1270" b="1" dirty="0">
                          <a:solidFill>
                            <a:srgbClr val="F7F3EA"/>
                          </a:solidFill>
                          <a:latin typeface="Arial" pitchFamily="34" charset="0"/>
                          <a:ea typeface="Arial" pitchFamily="34" charset="-122"/>
                          <a:cs typeface="Arial" pitchFamily="34" charset="-120"/>
                        </a:rPr>
                        <a:t>Month</a:t>
                      </a:r>
                      <a:endParaRPr lang="en-US" sz="1270" dirty="0">
                        <a:latin typeface="Arial" charset="0"/>
                        <a:ea typeface="Arial" charset="0"/>
                        <a:cs typeface="Arial" charset="0"/>
                      </a:endParaRPr>
                    </a:p>
                  </a:txBody>
                  <a:tcPr marL="56465" marR="56465" marT="56465" marB="56465">
                    <a:lnL w="12700" cap="flat" cmpd="sng" algn="ctr">
                      <a:solidFill>
                        <a:srgbClr val="C5C2BB"/>
                      </a:solidFill>
                      <a:prstDash val="solid"/>
                      <a:round/>
                      <a:headEnd type="none" w="med" len="med"/>
                      <a:tailEnd type="none" w="med" len="med"/>
                    </a:lnL>
                    <a:lnR w="12700" cap="flat" cmpd="sng" algn="ctr">
                      <a:solidFill>
                        <a:srgbClr val="161410"/>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161410"/>
                      </a:solidFill>
                      <a:prstDash val="solid"/>
                      <a:round/>
                      <a:headEnd type="none" w="med" len="med"/>
                      <a:tailEnd type="none" w="med" len="med"/>
                    </a:lnB>
                    <a:solidFill>
                      <a:srgbClr val="17140F"/>
                    </a:solidFill>
                  </a:tcPr>
                </a:tc>
                <a:tc>
                  <a:txBody>
                    <a:bodyPr/>
                    <a:lstStyle/>
                    <a:p>
                      <a:pPr marL="0" indent="0">
                        <a:lnSpc>
                          <a:spcPts val="1778"/>
                        </a:lnSpc>
                        <a:buNone/>
                      </a:pPr>
                      <a:r>
                        <a:rPr lang="en-US" sz="1270" b="1" dirty="0">
                          <a:solidFill>
                            <a:srgbClr val="F7F3EA"/>
                          </a:solidFill>
                          <a:latin typeface="Arial" pitchFamily="34" charset="0"/>
                          <a:ea typeface="Arial" pitchFamily="34" charset="-122"/>
                          <a:cs typeface="Arial" pitchFamily="34" charset="-120"/>
                        </a:rPr>
                        <a:t>Conversions</a:t>
                      </a:r>
                      <a:endParaRPr lang="en-US" sz="1270" dirty="0">
                        <a:latin typeface="Arial" charset="0"/>
                        <a:ea typeface="Arial" charset="0"/>
                        <a:cs typeface="Arial" charset="0"/>
                      </a:endParaRPr>
                    </a:p>
                  </a:txBody>
                  <a:tcPr marL="56465" marR="56465" marT="56465" marB="56465">
                    <a:lnL w="12700" cap="flat" cmpd="sng" algn="ctr">
                      <a:solidFill>
                        <a:srgbClr val="161410"/>
                      </a:solidFill>
                      <a:prstDash val="solid"/>
                      <a:round/>
                      <a:headEnd type="none" w="med" len="med"/>
                      <a:tailEnd type="none" w="med" len="med"/>
                    </a:lnL>
                    <a:lnR w="12700" cap="flat" cmpd="sng" algn="ctr">
                      <a:solidFill>
                        <a:srgbClr val="161410"/>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161410"/>
                      </a:solidFill>
                      <a:prstDash val="solid"/>
                      <a:round/>
                      <a:headEnd type="none" w="med" len="med"/>
                      <a:tailEnd type="none" w="med" len="med"/>
                    </a:lnB>
                    <a:solidFill>
                      <a:srgbClr val="17140F"/>
                    </a:solidFill>
                  </a:tcPr>
                </a:tc>
                <a:tc>
                  <a:txBody>
                    <a:bodyPr/>
                    <a:lstStyle/>
                    <a:p>
                      <a:pPr marL="0" indent="0">
                        <a:lnSpc>
                          <a:spcPts val="1778"/>
                        </a:lnSpc>
                        <a:buNone/>
                      </a:pPr>
                      <a:r>
                        <a:rPr lang="en-US" sz="1270" b="1" dirty="0">
                          <a:solidFill>
                            <a:srgbClr val="F7F3EA"/>
                          </a:solidFill>
                          <a:latin typeface="Arial" pitchFamily="34" charset="0"/>
                          <a:ea typeface="Arial" pitchFamily="34" charset="-122"/>
                          <a:cs typeface="Arial" pitchFamily="34" charset="-120"/>
                        </a:rPr>
                        <a:t>Conversion value</a:t>
                      </a:r>
                      <a:endParaRPr lang="en-US" sz="1270" dirty="0">
                        <a:latin typeface="Arial" charset="0"/>
                        <a:ea typeface="Arial" charset="0"/>
                        <a:cs typeface="Arial" charset="0"/>
                      </a:endParaRPr>
                    </a:p>
                  </a:txBody>
                  <a:tcPr marL="56465" marR="56465" marT="56465" marB="56465">
                    <a:lnL w="12700" cap="flat" cmpd="sng" algn="ctr">
                      <a:solidFill>
                        <a:srgbClr val="161410"/>
                      </a:solidFill>
                      <a:prstDash val="solid"/>
                      <a:round/>
                      <a:headEnd type="none" w="med" len="med"/>
                      <a:tailEnd type="none" w="med" len="med"/>
                    </a:lnL>
                    <a:lnR w="12700" cap="flat" cmpd="sng" algn="ctr">
                      <a:solidFill>
                        <a:srgbClr val="161410"/>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161410"/>
                      </a:solidFill>
                      <a:prstDash val="solid"/>
                      <a:round/>
                      <a:headEnd type="none" w="med" len="med"/>
                      <a:tailEnd type="none" w="med" len="med"/>
                    </a:lnB>
                    <a:solidFill>
                      <a:srgbClr val="17140F"/>
                    </a:solidFill>
                  </a:tcPr>
                </a:tc>
                <a:tc>
                  <a:txBody>
                    <a:bodyPr/>
                    <a:lstStyle/>
                    <a:p>
                      <a:pPr marL="0" indent="0">
                        <a:lnSpc>
                          <a:spcPts val="1778"/>
                        </a:lnSpc>
                        <a:buNone/>
                      </a:pPr>
                      <a:r>
                        <a:rPr lang="en-US" sz="1270" b="1" dirty="0">
                          <a:solidFill>
                            <a:srgbClr val="F7F3EA"/>
                          </a:solidFill>
                          <a:latin typeface="Arial" pitchFamily="34" charset="0"/>
                          <a:ea typeface="Arial" pitchFamily="34" charset="-122"/>
                          <a:cs typeface="Arial" pitchFamily="34" charset="-120"/>
                        </a:rPr>
                        <a:t>What it implies</a:t>
                      </a:r>
                      <a:endParaRPr lang="en-US" sz="1270" dirty="0">
                        <a:latin typeface="Arial" charset="0"/>
                        <a:ea typeface="Arial" charset="0"/>
                        <a:cs typeface="Arial" charset="0"/>
                      </a:endParaRPr>
                    </a:p>
                  </a:txBody>
                  <a:tcPr marL="56465" marR="56465" marT="56465" marB="56465">
                    <a:lnL w="12700" cap="flat" cmpd="sng" algn="ctr">
                      <a:solidFill>
                        <a:srgbClr val="161410"/>
                      </a:solidFill>
                      <a:prstDash val="solid"/>
                      <a:round/>
                      <a:headEnd type="none" w="med" len="med"/>
                      <a:tailEnd type="none" w="med" len="med"/>
                    </a:lnL>
                    <a:lnR w="12700" cap="flat" cmpd="sng" algn="ctr">
                      <a:solidFill>
                        <a:srgbClr val="161410"/>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161410"/>
                      </a:solidFill>
                      <a:prstDash val="solid"/>
                      <a:round/>
                      <a:headEnd type="none" w="med" len="med"/>
                      <a:tailEnd type="none" w="med" len="med"/>
                    </a:lnB>
                    <a:solidFill>
                      <a:srgbClr val="17140F"/>
                    </a:solidFill>
                  </a:tcPr>
                </a:tc>
                <a:extLst>
                  <a:ext uri="{0D108BD9-81ED-4DB2-BD59-A6C34878D82A}">
                    <a16:rowId xmlns:a16="http://schemas.microsoft.com/office/drawing/2014/main" val="10000"/>
                  </a:ext>
                </a:extLst>
              </a:tr>
              <a:tr h="349329">
                <a:tc>
                  <a:txBody>
                    <a:bodyPr/>
                    <a:lstStyle/>
                    <a:p>
                      <a:pPr marL="0" indent="0">
                        <a:lnSpc>
                          <a:spcPts val="1778"/>
                        </a:lnSpc>
                        <a:buNone/>
                      </a:pPr>
                      <a:r>
                        <a:rPr lang="en-US" sz="1270" dirty="0">
                          <a:solidFill>
                            <a:srgbClr val="17140F"/>
                          </a:solidFill>
                          <a:latin typeface="Arial" pitchFamily="34" charset="0"/>
                          <a:ea typeface="Arial" pitchFamily="34" charset="-122"/>
                          <a:cs typeface="Arial" pitchFamily="34" charset="-120"/>
                        </a:rPr>
                        <a:t>July 2025</a:t>
                      </a:r>
                      <a:endParaRPr lang="en-US" sz="1270" dirty="0">
                        <a:latin typeface="Arial" charset="0"/>
                        <a:ea typeface="Arial" charset="0"/>
                        <a:cs typeface="Arial" charset="0"/>
                      </a:endParaRPr>
                    </a:p>
                  </a:txBody>
                  <a:tcPr marL="56465" marR="56465" marT="56465" marB="56465">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161410"/>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778"/>
                        </a:lnSpc>
                        <a:buNone/>
                      </a:pPr>
                      <a:r>
                        <a:rPr lang="en-US" sz="1270" dirty="0">
                          <a:solidFill>
                            <a:srgbClr val="17140F"/>
                          </a:solidFill>
                          <a:latin typeface="Arial" pitchFamily="34" charset="0"/>
                          <a:ea typeface="Arial" pitchFamily="34" charset="-122"/>
                          <a:cs typeface="Arial" pitchFamily="34" charset="-120"/>
                        </a:rPr>
                        <a:t>4,075.19</a:t>
                      </a:r>
                      <a:endParaRPr lang="en-US" sz="1270" dirty="0">
                        <a:latin typeface="Arial" charset="0"/>
                        <a:ea typeface="Arial" charset="0"/>
                        <a:cs typeface="Arial" charset="0"/>
                      </a:endParaRPr>
                    </a:p>
                  </a:txBody>
                  <a:tcPr marL="56465" marR="56465" marT="56465" marB="56465">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161410"/>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778"/>
                        </a:lnSpc>
                        <a:buNone/>
                      </a:pPr>
                      <a:r>
                        <a:rPr lang="en-US" sz="1270" dirty="0">
                          <a:solidFill>
                            <a:srgbClr val="17140F"/>
                          </a:solidFill>
                          <a:latin typeface="Arial" pitchFamily="34" charset="0"/>
                          <a:ea typeface="Arial" pitchFamily="34" charset="-122"/>
                          <a:cs typeface="Arial" pitchFamily="34" charset="-120"/>
                        </a:rPr>
                        <a:t>₹4,075.20</a:t>
                      </a:r>
                      <a:endParaRPr lang="en-US" sz="1270" dirty="0">
                        <a:latin typeface="Arial" charset="0"/>
                        <a:ea typeface="Arial" charset="0"/>
                        <a:cs typeface="Arial" charset="0"/>
                      </a:endParaRPr>
                    </a:p>
                  </a:txBody>
                  <a:tcPr marL="56465" marR="56465" marT="56465" marB="56465">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161410"/>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778"/>
                        </a:lnSpc>
                        <a:buNone/>
                      </a:pPr>
                      <a:r>
                        <a:rPr lang="en-US" sz="1270" dirty="0">
                          <a:solidFill>
                            <a:srgbClr val="5C5344"/>
                          </a:solidFill>
                          <a:latin typeface="Arial" pitchFamily="34" charset="0"/>
                          <a:ea typeface="Arial" pitchFamily="34" charset="-122"/>
                          <a:cs typeface="Arial" pitchFamily="34" charset="-120"/>
                        </a:rPr>
                        <a:t>₹1 per conversion</a:t>
                      </a:r>
                      <a:endParaRPr lang="en-US" sz="1270" dirty="0">
                        <a:latin typeface="Arial" charset="0"/>
                        <a:ea typeface="Arial" charset="0"/>
                        <a:cs typeface="Arial" charset="0"/>
                      </a:endParaRPr>
                    </a:p>
                  </a:txBody>
                  <a:tcPr marL="56465" marR="56465" marT="56465" marB="56465">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161410"/>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extLst>
                  <a:ext uri="{0D108BD9-81ED-4DB2-BD59-A6C34878D82A}">
                    <a16:rowId xmlns:a16="http://schemas.microsoft.com/office/drawing/2014/main" val="10001"/>
                  </a:ext>
                </a:extLst>
              </a:tr>
              <a:tr h="349329">
                <a:tc>
                  <a:txBody>
                    <a:bodyPr/>
                    <a:lstStyle/>
                    <a:p>
                      <a:pPr marL="0" indent="0">
                        <a:lnSpc>
                          <a:spcPts val="1778"/>
                        </a:lnSpc>
                        <a:buNone/>
                      </a:pPr>
                      <a:r>
                        <a:rPr lang="en-US" sz="1270" dirty="0">
                          <a:solidFill>
                            <a:srgbClr val="17140F"/>
                          </a:solidFill>
                          <a:latin typeface="Arial" pitchFamily="34" charset="0"/>
                          <a:ea typeface="Arial" pitchFamily="34" charset="-122"/>
                          <a:cs typeface="Arial" pitchFamily="34" charset="-120"/>
                        </a:rPr>
                        <a:t>December 2025</a:t>
                      </a:r>
                      <a:endParaRPr lang="en-US" sz="1270" dirty="0">
                        <a:latin typeface="Arial" charset="0"/>
                        <a:ea typeface="Arial" charset="0"/>
                        <a:cs typeface="Arial" charset="0"/>
                      </a:endParaRPr>
                    </a:p>
                  </a:txBody>
                  <a:tcPr marL="56465" marR="56465" marT="56465" marB="56465">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778"/>
                        </a:lnSpc>
                        <a:buNone/>
                      </a:pPr>
                      <a:r>
                        <a:rPr lang="en-US" sz="1270" dirty="0">
                          <a:solidFill>
                            <a:srgbClr val="17140F"/>
                          </a:solidFill>
                          <a:latin typeface="Arial" pitchFamily="34" charset="0"/>
                          <a:ea typeface="Arial" pitchFamily="34" charset="-122"/>
                          <a:cs typeface="Arial" pitchFamily="34" charset="-120"/>
                        </a:rPr>
                        <a:t>1,421.18</a:t>
                      </a:r>
                      <a:endParaRPr lang="en-US" sz="1270" dirty="0">
                        <a:latin typeface="Arial" charset="0"/>
                        <a:ea typeface="Arial" charset="0"/>
                        <a:cs typeface="Arial" charset="0"/>
                      </a:endParaRPr>
                    </a:p>
                  </a:txBody>
                  <a:tcPr marL="56465" marR="56465" marT="56465" marB="56465">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778"/>
                        </a:lnSpc>
                        <a:buNone/>
                      </a:pPr>
                      <a:r>
                        <a:rPr lang="en-US" sz="1270" dirty="0">
                          <a:solidFill>
                            <a:srgbClr val="17140F"/>
                          </a:solidFill>
                          <a:latin typeface="Arial" pitchFamily="34" charset="0"/>
                          <a:ea typeface="Arial" pitchFamily="34" charset="-122"/>
                          <a:cs typeface="Arial" pitchFamily="34" charset="-120"/>
                        </a:rPr>
                        <a:t>₹1,421.18</a:t>
                      </a:r>
                      <a:endParaRPr lang="en-US" sz="1270" dirty="0">
                        <a:latin typeface="Arial" charset="0"/>
                        <a:ea typeface="Arial" charset="0"/>
                        <a:cs typeface="Arial" charset="0"/>
                      </a:endParaRPr>
                    </a:p>
                  </a:txBody>
                  <a:tcPr marL="56465" marR="56465" marT="56465" marB="56465">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778"/>
                        </a:lnSpc>
                        <a:buNone/>
                      </a:pPr>
                      <a:r>
                        <a:rPr lang="en-US" sz="1270" dirty="0">
                          <a:solidFill>
                            <a:srgbClr val="5C5344"/>
                          </a:solidFill>
                          <a:latin typeface="Arial" pitchFamily="34" charset="0"/>
                          <a:ea typeface="Arial" pitchFamily="34" charset="-122"/>
                          <a:cs typeface="Arial" pitchFamily="34" charset="-120"/>
                        </a:rPr>
                        <a:t>₹1 per conversion</a:t>
                      </a:r>
                      <a:endParaRPr lang="en-US" sz="1270" dirty="0">
                        <a:latin typeface="Arial" charset="0"/>
                        <a:ea typeface="Arial" charset="0"/>
                        <a:cs typeface="Arial" charset="0"/>
                      </a:endParaRPr>
                    </a:p>
                  </a:txBody>
                  <a:tcPr marL="56465" marR="56465" marT="56465" marB="56465">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extLst>
                  <a:ext uri="{0D108BD9-81ED-4DB2-BD59-A6C34878D82A}">
                    <a16:rowId xmlns:a16="http://schemas.microsoft.com/office/drawing/2014/main" val="10002"/>
                  </a:ext>
                </a:extLst>
              </a:tr>
              <a:tr h="349329">
                <a:tc>
                  <a:txBody>
                    <a:bodyPr/>
                    <a:lstStyle/>
                    <a:p>
                      <a:pPr marL="0" indent="0">
                        <a:lnSpc>
                          <a:spcPts val="1778"/>
                        </a:lnSpc>
                        <a:buNone/>
                      </a:pPr>
                      <a:r>
                        <a:rPr lang="en-US" sz="1270" dirty="0">
                          <a:solidFill>
                            <a:srgbClr val="17140F"/>
                          </a:solidFill>
                          <a:latin typeface="Arial" pitchFamily="34" charset="0"/>
                          <a:ea typeface="Arial" pitchFamily="34" charset="-122"/>
                          <a:cs typeface="Arial" pitchFamily="34" charset="-120"/>
                        </a:rPr>
                        <a:t>March 2026</a:t>
                      </a:r>
                      <a:endParaRPr lang="en-US" sz="1270" dirty="0">
                        <a:latin typeface="Arial" charset="0"/>
                        <a:ea typeface="Arial" charset="0"/>
                        <a:cs typeface="Arial" charset="0"/>
                      </a:endParaRPr>
                    </a:p>
                  </a:txBody>
                  <a:tcPr marL="56465" marR="56465" marT="56465" marB="56465">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778"/>
                        </a:lnSpc>
                        <a:buNone/>
                      </a:pPr>
                      <a:r>
                        <a:rPr lang="en-US" sz="1270" dirty="0">
                          <a:solidFill>
                            <a:srgbClr val="17140F"/>
                          </a:solidFill>
                          <a:latin typeface="Arial" pitchFamily="34" charset="0"/>
                          <a:ea typeface="Arial" pitchFamily="34" charset="-122"/>
                          <a:cs typeface="Arial" pitchFamily="34" charset="-120"/>
                        </a:rPr>
                        <a:t>34,488.44</a:t>
                      </a:r>
                      <a:endParaRPr lang="en-US" sz="1270" dirty="0">
                        <a:latin typeface="Arial" charset="0"/>
                        <a:ea typeface="Arial" charset="0"/>
                        <a:cs typeface="Arial" charset="0"/>
                      </a:endParaRPr>
                    </a:p>
                  </a:txBody>
                  <a:tcPr marL="56465" marR="56465" marT="56465" marB="56465">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778"/>
                        </a:lnSpc>
                        <a:buNone/>
                      </a:pPr>
                      <a:r>
                        <a:rPr lang="en-US" sz="1270" dirty="0">
                          <a:solidFill>
                            <a:srgbClr val="17140F"/>
                          </a:solidFill>
                          <a:latin typeface="Arial" pitchFamily="34" charset="0"/>
                          <a:ea typeface="Arial" pitchFamily="34" charset="-122"/>
                          <a:cs typeface="Arial" pitchFamily="34" charset="-120"/>
                        </a:rPr>
                        <a:t>₹34,488.44</a:t>
                      </a:r>
                      <a:endParaRPr lang="en-US" sz="1270" dirty="0">
                        <a:latin typeface="Arial" charset="0"/>
                        <a:ea typeface="Arial" charset="0"/>
                        <a:cs typeface="Arial" charset="0"/>
                      </a:endParaRPr>
                    </a:p>
                  </a:txBody>
                  <a:tcPr marL="56465" marR="56465" marT="56465" marB="56465">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778"/>
                        </a:lnSpc>
                        <a:buNone/>
                      </a:pPr>
                      <a:r>
                        <a:rPr lang="en-US" sz="1270" dirty="0">
                          <a:solidFill>
                            <a:srgbClr val="5C5344"/>
                          </a:solidFill>
                          <a:latin typeface="Arial" pitchFamily="34" charset="0"/>
                          <a:ea typeface="Arial" pitchFamily="34" charset="-122"/>
                          <a:cs typeface="Arial" pitchFamily="34" charset="-120"/>
                        </a:rPr>
                        <a:t>₹1 per conversion</a:t>
                      </a:r>
                      <a:endParaRPr lang="en-US" sz="1270" dirty="0">
                        <a:latin typeface="Arial" charset="0"/>
                        <a:ea typeface="Arial" charset="0"/>
                        <a:cs typeface="Arial" charset="0"/>
                      </a:endParaRPr>
                    </a:p>
                  </a:txBody>
                  <a:tcPr marL="56465" marR="56465" marT="56465" marB="56465">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extLst>
                  <a:ext uri="{0D108BD9-81ED-4DB2-BD59-A6C34878D82A}">
                    <a16:rowId xmlns:a16="http://schemas.microsoft.com/office/drawing/2014/main" val="10003"/>
                  </a:ext>
                </a:extLst>
              </a:tr>
              <a:tr h="349329">
                <a:tc>
                  <a:txBody>
                    <a:bodyPr/>
                    <a:lstStyle/>
                    <a:p>
                      <a:pPr marL="0" indent="0">
                        <a:lnSpc>
                          <a:spcPts val="1778"/>
                        </a:lnSpc>
                        <a:buNone/>
                      </a:pPr>
                      <a:r>
                        <a:rPr lang="en-US" sz="1270" dirty="0">
                          <a:solidFill>
                            <a:srgbClr val="17140F"/>
                          </a:solidFill>
                          <a:latin typeface="Arial" pitchFamily="34" charset="0"/>
                          <a:ea typeface="Arial" pitchFamily="34" charset="-122"/>
                          <a:cs typeface="Arial" pitchFamily="34" charset="-120"/>
                        </a:rPr>
                        <a:t>May 2026</a:t>
                      </a:r>
                      <a:endParaRPr lang="en-US" sz="1270" dirty="0">
                        <a:latin typeface="Arial" charset="0"/>
                        <a:ea typeface="Arial" charset="0"/>
                        <a:cs typeface="Arial" charset="0"/>
                      </a:endParaRPr>
                    </a:p>
                  </a:txBody>
                  <a:tcPr marL="56465" marR="56465" marT="56465" marB="56465">
                    <a:lnL w="12700" cap="flat" cmpd="sng" algn="ctr">
                      <a:solidFill>
                        <a:srgbClr val="C5C2BB"/>
                      </a:solidFill>
                      <a:prstDash val="solid"/>
                      <a:round/>
                      <a:headEnd type="none" w="med" len="med"/>
                      <a:tailEnd type="none" w="med" len="med"/>
                    </a:lnL>
                    <a:lnR w="12700" cap="flat" cmpd="sng" algn="ctr">
                      <a:solidFill>
                        <a:srgbClr val="C0AEA6"/>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0AEA6"/>
                      </a:solidFill>
                      <a:prstDash val="solid"/>
                      <a:round/>
                      <a:headEnd type="none" w="med" len="med"/>
                      <a:tailEnd type="none" w="med" len="med"/>
                    </a:lnB>
                    <a:solidFill>
                      <a:srgbClr val="F0D9CF"/>
                    </a:solidFill>
                  </a:tcPr>
                </a:tc>
                <a:tc>
                  <a:txBody>
                    <a:bodyPr/>
                    <a:lstStyle/>
                    <a:p>
                      <a:pPr marL="0" indent="0">
                        <a:lnSpc>
                          <a:spcPts val="1778"/>
                        </a:lnSpc>
                        <a:buNone/>
                      </a:pPr>
                      <a:r>
                        <a:rPr lang="en-US" sz="1270" dirty="0">
                          <a:solidFill>
                            <a:srgbClr val="17140F"/>
                          </a:solidFill>
                          <a:latin typeface="Arial" pitchFamily="34" charset="0"/>
                          <a:ea typeface="Arial" pitchFamily="34" charset="-122"/>
                          <a:cs typeface="Arial" pitchFamily="34" charset="-120"/>
                        </a:rPr>
                        <a:t>236.67</a:t>
                      </a:r>
                      <a:endParaRPr lang="en-US" sz="1270" dirty="0">
                        <a:latin typeface="Arial" charset="0"/>
                        <a:ea typeface="Arial" charset="0"/>
                        <a:cs typeface="Arial" charset="0"/>
                      </a:endParaRPr>
                    </a:p>
                  </a:txBody>
                  <a:tcPr marL="56465" marR="56465" marT="56465" marB="56465">
                    <a:lnL w="12700" cap="flat" cmpd="sng" algn="ctr">
                      <a:solidFill>
                        <a:srgbClr val="C0AEA6"/>
                      </a:solidFill>
                      <a:prstDash val="solid"/>
                      <a:round/>
                      <a:headEnd type="none" w="med" len="med"/>
                      <a:tailEnd type="none" w="med" len="med"/>
                    </a:lnL>
                    <a:lnR w="12700" cap="flat" cmpd="sng" algn="ctr">
                      <a:solidFill>
                        <a:srgbClr val="C0AEA6"/>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0AEA6"/>
                      </a:solidFill>
                      <a:prstDash val="solid"/>
                      <a:round/>
                      <a:headEnd type="none" w="med" len="med"/>
                      <a:tailEnd type="none" w="med" len="med"/>
                    </a:lnB>
                    <a:solidFill>
                      <a:srgbClr val="F0D9CF"/>
                    </a:solidFill>
                  </a:tcPr>
                </a:tc>
                <a:tc>
                  <a:txBody>
                    <a:bodyPr/>
                    <a:lstStyle/>
                    <a:p>
                      <a:pPr marL="0" indent="0">
                        <a:lnSpc>
                          <a:spcPts val="1778"/>
                        </a:lnSpc>
                        <a:buNone/>
                      </a:pPr>
                      <a:r>
                        <a:rPr lang="en-US" sz="1270" dirty="0">
                          <a:solidFill>
                            <a:srgbClr val="B54A28"/>
                          </a:solidFill>
                          <a:latin typeface="Arial" pitchFamily="34" charset="0"/>
                          <a:ea typeface="Arial" pitchFamily="34" charset="-122"/>
                          <a:cs typeface="Arial" pitchFamily="34" charset="-120"/>
                        </a:rPr>
                        <a:t>₹5,57,763.84</a:t>
                      </a:r>
                      <a:endParaRPr lang="en-US" sz="1270" dirty="0">
                        <a:latin typeface="Arial" charset="0"/>
                        <a:ea typeface="Arial" charset="0"/>
                        <a:cs typeface="Arial" charset="0"/>
                      </a:endParaRPr>
                    </a:p>
                  </a:txBody>
                  <a:tcPr marL="56465" marR="56465" marT="56465" marB="56465">
                    <a:lnL w="12700" cap="flat" cmpd="sng" algn="ctr">
                      <a:solidFill>
                        <a:srgbClr val="C0AEA6"/>
                      </a:solidFill>
                      <a:prstDash val="solid"/>
                      <a:round/>
                      <a:headEnd type="none" w="med" len="med"/>
                      <a:tailEnd type="none" w="med" len="med"/>
                    </a:lnL>
                    <a:lnR w="12700" cap="flat" cmpd="sng" algn="ctr">
                      <a:solidFill>
                        <a:srgbClr val="C0AEA6"/>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0AEA6"/>
                      </a:solidFill>
                      <a:prstDash val="solid"/>
                      <a:round/>
                      <a:headEnd type="none" w="med" len="med"/>
                      <a:tailEnd type="none" w="med" len="med"/>
                    </a:lnB>
                    <a:solidFill>
                      <a:srgbClr val="F0D9CF"/>
                    </a:solidFill>
                  </a:tcPr>
                </a:tc>
                <a:tc>
                  <a:txBody>
                    <a:bodyPr/>
                    <a:lstStyle/>
                    <a:p>
                      <a:pPr marL="0" indent="0">
                        <a:lnSpc>
                          <a:spcPts val="1778"/>
                        </a:lnSpc>
                        <a:buNone/>
                      </a:pPr>
                      <a:r>
                        <a:rPr lang="en-US" sz="1270" dirty="0">
                          <a:solidFill>
                            <a:srgbClr val="B54A28"/>
                          </a:solidFill>
                          <a:latin typeface="Arial" pitchFamily="34" charset="0"/>
                          <a:ea typeface="Arial" pitchFamily="34" charset="-122"/>
                          <a:cs typeface="Arial" pitchFamily="34" charset="-120"/>
                        </a:rPr>
                        <a:t>₹2,357 each</a:t>
                      </a:r>
                      <a:endParaRPr lang="en-US" sz="1270" dirty="0">
                        <a:latin typeface="Arial" charset="0"/>
                        <a:ea typeface="Arial" charset="0"/>
                        <a:cs typeface="Arial" charset="0"/>
                      </a:endParaRPr>
                    </a:p>
                  </a:txBody>
                  <a:tcPr marL="56465" marR="56465" marT="56465" marB="56465">
                    <a:lnL w="12700" cap="flat" cmpd="sng" algn="ctr">
                      <a:solidFill>
                        <a:srgbClr val="C0AEA6"/>
                      </a:solidFill>
                      <a:prstDash val="solid"/>
                      <a:round/>
                      <a:headEnd type="none" w="med" len="med"/>
                      <a:tailEnd type="none" w="med" len="med"/>
                    </a:lnL>
                    <a:lnR w="12700" cap="flat" cmpd="sng" algn="ctr">
                      <a:solidFill>
                        <a:srgbClr val="C0AEA6"/>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0AEA6"/>
                      </a:solidFill>
                      <a:prstDash val="solid"/>
                      <a:round/>
                      <a:headEnd type="none" w="med" len="med"/>
                      <a:tailEnd type="none" w="med" len="med"/>
                    </a:lnB>
                    <a:solidFill>
                      <a:srgbClr val="F0D9CF"/>
                    </a:solidFill>
                  </a:tcPr>
                </a:tc>
                <a:extLst>
                  <a:ext uri="{0D108BD9-81ED-4DB2-BD59-A6C34878D82A}">
                    <a16:rowId xmlns:a16="http://schemas.microsoft.com/office/drawing/2014/main" val="10004"/>
                  </a:ext>
                </a:extLst>
              </a:tr>
              <a:tr h="349329">
                <a:tc>
                  <a:txBody>
                    <a:bodyPr/>
                    <a:lstStyle/>
                    <a:p>
                      <a:pPr marL="0" indent="0">
                        <a:lnSpc>
                          <a:spcPts val="1778"/>
                        </a:lnSpc>
                        <a:buNone/>
                      </a:pPr>
                      <a:r>
                        <a:rPr lang="en-US" sz="1270" dirty="0">
                          <a:solidFill>
                            <a:srgbClr val="17140F"/>
                          </a:solidFill>
                          <a:latin typeface="Arial" pitchFamily="34" charset="0"/>
                          <a:ea typeface="Arial" pitchFamily="34" charset="-122"/>
                          <a:cs typeface="Arial" pitchFamily="34" charset="-120"/>
                        </a:rPr>
                        <a:t>June 2026</a:t>
                      </a:r>
                      <a:endParaRPr lang="en-US" sz="1270" dirty="0">
                        <a:latin typeface="Arial" charset="0"/>
                        <a:ea typeface="Arial" charset="0"/>
                        <a:cs typeface="Arial" charset="0"/>
                      </a:endParaRPr>
                    </a:p>
                  </a:txBody>
                  <a:tcPr marL="56465" marR="56465" marT="56465" marB="56465">
                    <a:lnL w="12700" cap="flat" cmpd="sng" algn="ctr">
                      <a:solidFill>
                        <a:srgbClr val="C5C2BB"/>
                      </a:solidFill>
                      <a:prstDash val="solid"/>
                      <a:round/>
                      <a:headEnd type="none" w="med" len="med"/>
                      <a:tailEnd type="none" w="med" len="med"/>
                    </a:lnL>
                    <a:lnR w="12700" cap="flat" cmpd="sng" algn="ctr">
                      <a:solidFill>
                        <a:srgbClr val="C0AEA6"/>
                      </a:solidFill>
                      <a:prstDash val="solid"/>
                      <a:round/>
                      <a:headEnd type="none" w="med" len="med"/>
                      <a:tailEnd type="none" w="med" len="med"/>
                    </a:lnR>
                    <a:lnT w="12700" cap="flat" cmpd="sng" algn="ctr">
                      <a:solidFill>
                        <a:srgbClr val="C0AEA6"/>
                      </a:solidFill>
                      <a:prstDash val="solid"/>
                      <a:round/>
                      <a:headEnd type="none" w="med" len="med"/>
                      <a:tailEnd type="none" w="med" len="med"/>
                    </a:lnT>
                    <a:lnB w="12700" cap="flat" cmpd="sng" algn="ctr">
                      <a:solidFill>
                        <a:srgbClr val="C0AEA6"/>
                      </a:solidFill>
                      <a:prstDash val="solid"/>
                      <a:round/>
                      <a:headEnd type="none" w="med" len="med"/>
                      <a:tailEnd type="none" w="med" len="med"/>
                    </a:lnB>
                    <a:solidFill>
                      <a:srgbClr val="F0D9CF"/>
                    </a:solidFill>
                  </a:tcPr>
                </a:tc>
                <a:tc>
                  <a:txBody>
                    <a:bodyPr/>
                    <a:lstStyle/>
                    <a:p>
                      <a:pPr marL="0" indent="0">
                        <a:lnSpc>
                          <a:spcPts val="1778"/>
                        </a:lnSpc>
                        <a:buNone/>
                      </a:pPr>
                      <a:r>
                        <a:rPr lang="en-US" sz="1270" dirty="0">
                          <a:solidFill>
                            <a:srgbClr val="17140F"/>
                          </a:solidFill>
                          <a:latin typeface="Arial" pitchFamily="34" charset="0"/>
                          <a:ea typeface="Arial" pitchFamily="34" charset="-122"/>
                          <a:cs typeface="Arial" pitchFamily="34" charset="-120"/>
                        </a:rPr>
                        <a:t>144.75</a:t>
                      </a:r>
                      <a:endParaRPr lang="en-US" sz="1270" dirty="0">
                        <a:latin typeface="Arial" charset="0"/>
                        <a:ea typeface="Arial" charset="0"/>
                        <a:cs typeface="Arial" charset="0"/>
                      </a:endParaRPr>
                    </a:p>
                  </a:txBody>
                  <a:tcPr marL="56465" marR="56465" marT="56465" marB="56465">
                    <a:lnL w="12700" cap="flat" cmpd="sng" algn="ctr">
                      <a:solidFill>
                        <a:srgbClr val="C0AEA6"/>
                      </a:solidFill>
                      <a:prstDash val="solid"/>
                      <a:round/>
                      <a:headEnd type="none" w="med" len="med"/>
                      <a:tailEnd type="none" w="med" len="med"/>
                    </a:lnL>
                    <a:lnR w="12700" cap="flat" cmpd="sng" algn="ctr">
                      <a:solidFill>
                        <a:srgbClr val="C0AEA6"/>
                      </a:solidFill>
                      <a:prstDash val="solid"/>
                      <a:round/>
                      <a:headEnd type="none" w="med" len="med"/>
                      <a:tailEnd type="none" w="med" len="med"/>
                    </a:lnR>
                    <a:lnT w="12700" cap="flat" cmpd="sng" algn="ctr">
                      <a:solidFill>
                        <a:srgbClr val="C0AEA6"/>
                      </a:solidFill>
                      <a:prstDash val="solid"/>
                      <a:round/>
                      <a:headEnd type="none" w="med" len="med"/>
                      <a:tailEnd type="none" w="med" len="med"/>
                    </a:lnT>
                    <a:lnB w="12700" cap="flat" cmpd="sng" algn="ctr">
                      <a:solidFill>
                        <a:srgbClr val="C0AEA6"/>
                      </a:solidFill>
                      <a:prstDash val="solid"/>
                      <a:round/>
                      <a:headEnd type="none" w="med" len="med"/>
                      <a:tailEnd type="none" w="med" len="med"/>
                    </a:lnB>
                    <a:solidFill>
                      <a:srgbClr val="F0D9CF"/>
                    </a:solidFill>
                  </a:tcPr>
                </a:tc>
                <a:tc>
                  <a:txBody>
                    <a:bodyPr/>
                    <a:lstStyle/>
                    <a:p>
                      <a:pPr marL="0" indent="0">
                        <a:lnSpc>
                          <a:spcPts val="1778"/>
                        </a:lnSpc>
                        <a:buNone/>
                      </a:pPr>
                      <a:r>
                        <a:rPr lang="en-US" sz="1270" dirty="0">
                          <a:solidFill>
                            <a:srgbClr val="B54A28"/>
                          </a:solidFill>
                          <a:latin typeface="Arial" pitchFamily="34" charset="0"/>
                          <a:ea typeface="Arial" pitchFamily="34" charset="-122"/>
                          <a:cs typeface="Arial" pitchFamily="34" charset="-120"/>
                        </a:rPr>
                        <a:t>₹1,77,117.65</a:t>
                      </a:r>
                      <a:endParaRPr lang="en-US" sz="1270" dirty="0">
                        <a:latin typeface="Arial" charset="0"/>
                        <a:ea typeface="Arial" charset="0"/>
                        <a:cs typeface="Arial" charset="0"/>
                      </a:endParaRPr>
                    </a:p>
                  </a:txBody>
                  <a:tcPr marL="56465" marR="56465" marT="56465" marB="56465">
                    <a:lnL w="12700" cap="flat" cmpd="sng" algn="ctr">
                      <a:solidFill>
                        <a:srgbClr val="C0AEA6"/>
                      </a:solidFill>
                      <a:prstDash val="solid"/>
                      <a:round/>
                      <a:headEnd type="none" w="med" len="med"/>
                      <a:tailEnd type="none" w="med" len="med"/>
                    </a:lnL>
                    <a:lnR w="12700" cap="flat" cmpd="sng" algn="ctr">
                      <a:solidFill>
                        <a:srgbClr val="C0AEA6"/>
                      </a:solidFill>
                      <a:prstDash val="solid"/>
                      <a:round/>
                      <a:headEnd type="none" w="med" len="med"/>
                      <a:tailEnd type="none" w="med" len="med"/>
                    </a:lnR>
                    <a:lnT w="12700" cap="flat" cmpd="sng" algn="ctr">
                      <a:solidFill>
                        <a:srgbClr val="C0AEA6"/>
                      </a:solidFill>
                      <a:prstDash val="solid"/>
                      <a:round/>
                      <a:headEnd type="none" w="med" len="med"/>
                      <a:tailEnd type="none" w="med" len="med"/>
                    </a:lnT>
                    <a:lnB w="12700" cap="flat" cmpd="sng" algn="ctr">
                      <a:solidFill>
                        <a:srgbClr val="C0AEA6"/>
                      </a:solidFill>
                      <a:prstDash val="solid"/>
                      <a:round/>
                      <a:headEnd type="none" w="med" len="med"/>
                      <a:tailEnd type="none" w="med" len="med"/>
                    </a:lnB>
                    <a:solidFill>
                      <a:srgbClr val="F0D9CF"/>
                    </a:solidFill>
                  </a:tcPr>
                </a:tc>
                <a:tc>
                  <a:txBody>
                    <a:bodyPr/>
                    <a:lstStyle/>
                    <a:p>
                      <a:pPr marL="0" indent="0">
                        <a:lnSpc>
                          <a:spcPts val="1778"/>
                        </a:lnSpc>
                        <a:buNone/>
                      </a:pPr>
                      <a:r>
                        <a:rPr lang="en-US" sz="1270" dirty="0">
                          <a:solidFill>
                            <a:srgbClr val="B54A28"/>
                          </a:solidFill>
                          <a:latin typeface="Arial" pitchFamily="34" charset="0"/>
                          <a:ea typeface="Arial" pitchFamily="34" charset="-122"/>
                          <a:cs typeface="Arial" pitchFamily="34" charset="-120"/>
                        </a:rPr>
                        <a:t>₹1,223 each</a:t>
                      </a:r>
                      <a:endParaRPr lang="en-US" sz="1270" dirty="0">
                        <a:latin typeface="Arial" charset="0"/>
                        <a:ea typeface="Arial" charset="0"/>
                        <a:cs typeface="Arial" charset="0"/>
                      </a:endParaRPr>
                    </a:p>
                  </a:txBody>
                  <a:tcPr marL="56465" marR="56465" marT="56465" marB="56465">
                    <a:lnL w="12700" cap="flat" cmpd="sng" algn="ctr">
                      <a:solidFill>
                        <a:srgbClr val="C0AEA6"/>
                      </a:solidFill>
                      <a:prstDash val="solid"/>
                      <a:round/>
                      <a:headEnd type="none" w="med" len="med"/>
                      <a:tailEnd type="none" w="med" len="med"/>
                    </a:lnL>
                    <a:lnR w="12700" cap="flat" cmpd="sng" algn="ctr">
                      <a:solidFill>
                        <a:srgbClr val="C0AEA6"/>
                      </a:solidFill>
                      <a:prstDash val="solid"/>
                      <a:round/>
                      <a:headEnd type="none" w="med" len="med"/>
                      <a:tailEnd type="none" w="med" len="med"/>
                    </a:lnR>
                    <a:lnT w="12700" cap="flat" cmpd="sng" algn="ctr">
                      <a:solidFill>
                        <a:srgbClr val="C0AEA6"/>
                      </a:solidFill>
                      <a:prstDash val="solid"/>
                      <a:round/>
                      <a:headEnd type="none" w="med" len="med"/>
                      <a:tailEnd type="none" w="med" len="med"/>
                    </a:lnT>
                    <a:lnB w="12700" cap="flat" cmpd="sng" algn="ctr">
                      <a:solidFill>
                        <a:srgbClr val="C0AEA6"/>
                      </a:solidFill>
                      <a:prstDash val="solid"/>
                      <a:round/>
                      <a:headEnd type="none" w="med" len="med"/>
                      <a:tailEnd type="none" w="med" len="med"/>
                    </a:lnB>
                    <a:solidFill>
                      <a:srgbClr val="F0D9CF"/>
                    </a:solidFill>
                  </a:tcPr>
                </a:tc>
                <a:extLst>
                  <a:ext uri="{0D108BD9-81ED-4DB2-BD59-A6C34878D82A}">
                    <a16:rowId xmlns:a16="http://schemas.microsoft.com/office/drawing/2014/main" val="10005"/>
                  </a:ext>
                </a:extLst>
              </a:tr>
              <a:tr h="349329">
                <a:tc>
                  <a:txBody>
                    <a:bodyPr/>
                    <a:lstStyle/>
                    <a:p>
                      <a:pPr marL="0" indent="0">
                        <a:lnSpc>
                          <a:spcPts val="1778"/>
                        </a:lnSpc>
                        <a:buNone/>
                      </a:pPr>
                      <a:r>
                        <a:rPr lang="en-US" sz="1270" dirty="0">
                          <a:solidFill>
                            <a:srgbClr val="17140F"/>
                          </a:solidFill>
                          <a:latin typeface="Arial" pitchFamily="34" charset="0"/>
                          <a:ea typeface="Arial" pitchFamily="34" charset="-122"/>
                          <a:cs typeface="Arial" pitchFamily="34" charset="-120"/>
                        </a:rPr>
                        <a:t>August 2026</a:t>
                      </a:r>
                      <a:endParaRPr lang="en-US" sz="1270" dirty="0">
                        <a:latin typeface="Arial" charset="0"/>
                        <a:ea typeface="Arial" charset="0"/>
                        <a:cs typeface="Arial" charset="0"/>
                      </a:endParaRPr>
                    </a:p>
                  </a:txBody>
                  <a:tcPr marL="56465" marR="56465" marT="56465" marB="56465">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0AEA6"/>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778"/>
                        </a:lnSpc>
                        <a:buNone/>
                      </a:pPr>
                      <a:r>
                        <a:rPr lang="en-US" sz="1270" dirty="0">
                          <a:solidFill>
                            <a:srgbClr val="17140F"/>
                          </a:solidFill>
                          <a:latin typeface="Arial" pitchFamily="34" charset="0"/>
                          <a:ea typeface="Arial" pitchFamily="34" charset="-122"/>
                          <a:cs typeface="Arial" pitchFamily="34" charset="-120"/>
                        </a:rPr>
                        <a:t>289.75</a:t>
                      </a:r>
                      <a:endParaRPr lang="en-US" sz="1270" dirty="0">
                        <a:latin typeface="Arial" charset="0"/>
                        <a:ea typeface="Arial" charset="0"/>
                        <a:cs typeface="Arial" charset="0"/>
                      </a:endParaRPr>
                    </a:p>
                  </a:txBody>
                  <a:tcPr marL="56465" marR="56465" marT="56465" marB="56465">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0AEA6"/>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778"/>
                        </a:lnSpc>
                        <a:buNone/>
                      </a:pPr>
                      <a:r>
                        <a:rPr lang="en-US" sz="1270" dirty="0">
                          <a:solidFill>
                            <a:srgbClr val="17140F"/>
                          </a:solidFill>
                          <a:latin typeface="Arial" pitchFamily="34" charset="0"/>
                          <a:ea typeface="Arial" pitchFamily="34" charset="-122"/>
                          <a:cs typeface="Arial" pitchFamily="34" charset="-120"/>
                        </a:rPr>
                        <a:t>₹289.75</a:t>
                      </a:r>
                      <a:endParaRPr lang="en-US" sz="1270" dirty="0">
                        <a:latin typeface="Arial" charset="0"/>
                        <a:ea typeface="Arial" charset="0"/>
                        <a:cs typeface="Arial" charset="0"/>
                      </a:endParaRPr>
                    </a:p>
                  </a:txBody>
                  <a:tcPr marL="56465" marR="56465" marT="56465" marB="56465">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0AEA6"/>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778"/>
                        </a:lnSpc>
                        <a:buNone/>
                      </a:pPr>
                      <a:r>
                        <a:rPr lang="en-US" sz="1270" dirty="0">
                          <a:solidFill>
                            <a:srgbClr val="5C5344"/>
                          </a:solidFill>
                          <a:latin typeface="Arial" pitchFamily="34" charset="0"/>
                          <a:ea typeface="Arial" pitchFamily="34" charset="-122"/>
                          <a:cs typeface="Arial" pitchFamily="34" charset="-120"/>
                        </a:rPr>
                        <a:t>Back to ₹1 each</a:t>
                      </a:r>
                      <a:endParaRPr lang="en-US" sz="1270" dirty="0">
                        <a:latin typeface="Arial" charset="0"/>
                        <a:ea typeface="Arial" charset="0"/>
                        <a:cs typeface="Arial" charset="0"/>
                      </a:endParaRPr>
                    </a:p>
                  </a:txBody>
                  <a:tcPr marL="56465" marR="56465" marT="56465" marB="56465">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0AEA6"/>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4" name="Text 1"/>
          <p:cNvSpPr/>
          <p:nvPr/>
        </p:nvSpPr>
        <p:spPr>
          <a:xfrm>
            <a:off x="812800" y="4775597"/>
            <a:ext cx="10333990" cy="1091803"/>
          </a:xfrm>
          <a:prstGeom prst="rect">
            <a:avLst/>
          </a:prstGeom>
          <a:noFill/>
          <a:ln/>
        </p:spPr>
        <p:txBody>
          <a:bodyPr wrap="square" lIns="0" tIns="0" rIns="0" bIns="0" rtlCol="0" anchor="t">
            <a:normAutofit/>
          </a:bodyPr>
          <a:lstStyle/>
          <a:p>
            <a:pPr marL="0" indent="0" algn="l">
              <a:lnSpc>
                <a:spcPts val="2272"/>
              </a:lnSpc>
              <a:buNone/>
            </a:pPr>
            <a:r>
              <a:rPr lang="en-US" sz="1567" dirty="0">
                <a:solidFill>
                  <a:srgbClr val="5C5344"/>
                </a:solidFill>
                <a:latin typeface="Arial" pitchFamily="34" charset="0"/>
                <a:ea typeface="Arial" pitchFamily="34" charset="-122"/>
                <a:cs typeface="Arial" pitchFamily="34" charset="-120"/>
              </a:rPr>
              <a:t>For most of the account's life the conversion value is simply a copy of the conversion count — no rupee value assigned at all. For three months in 2026 someone assigned real values that look like room rates, then it reverted. The ₹8.37L of reported conversion value across the period is not comparable with itself, let alone with spend.</a:t>
            </a:r>
            <a:endParaRPr lang="en-US" sz="1567" dirty="0"/>
          </a:p>
        </p:txBody>
      </p:sp>
      <p:sp>
        <p:nvSpPr>
          <p:cNvPr id="5" name="Text 2"/>
          <p:cNvSpPr/>
          <p:nvPr/>
        </p:nvSpPr>
        <p:spPr>
          <a:xfrm>
            <a:off x="812800" y="6238242"/>
            <a:ext cx="434518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071"/>
                </a:solidFill>
                <a:latin typeface="Arial" pitchFamily="34" charset="0"/>
                <a:ea typeface="Arial" pitchFamily="34" charset="-122"/>
                <a:cs typeface="Arial" pitchFamily="34" charset="-120"/>
              </a:rPr>
              <a:t>Source: Google Ads, monthly report, conversion value column.</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1">
    <p:bg>
      <p:bgPr>
        <a:solidFill>
          <a:srgbClr val="F7F3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1142286"/>
          </a:xfrm>
          <a:prstGeom prst="rect">
            <a:avLst/>
          </a:prstGeom>
          <a:noFill/>
          <a:ln/>
        </p:spPr>
        <p:txBody>
          <a:bodyPr wrap="square" lIns="0" tIns="0" rIns="0" bIns="0" rtlCol="0" anchor="t">
            <a:normAutofit/>
          </a:bodyPr>
          <a:lstStyle/>
          <a:p>
            <a:pPr marL="0" indent="0" algn="l">
              <a:lnSpc>
                <a:spcPts val="4403"/>
              </a:lnSpc>
              <a:buNone/>
            </a:pPr>
            <a:r>
              <a:rPr lang="en-US" sz="4194" dirty="0">
                <a:solidFill>
                  <a:srgbClr val="17140F"/>
                </a:solidFill>
                <a:latin typeface="Georgia" pitchFamily="34" charset="0"/>
                <a:ea typeface="Georgia" pitchFamily="34" charset="-122"/>
                <a:cs typeface="Georgia" pitchFamily="34" charset="-120"/>
              </a:rPr>
              <a:t>Under the noise, Google is getting more expensive every month</a:t>
            </a:r>
            <a:endParaRPr lang="en-US" sz="4194"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2193853"/>
          <a:ext cx="10556239" cy="2347434"/>
        </p:xfrm>
        <a:graphic>
          <a:graphicData uri="http://schemas.openxmlformats.org/drawingml/2006/table">
            <a:tbl>
              <a:tblPr/>
              <a:tblGrid>
                <a:gridCol w="2111248">
                  <a:extLst>
                    <a:ext uri="{9D8B030D-6E8A-4147-A177-3AD203B41FA5}">
                      <a16:colId xmlns:a16="http://schemas.microsoft.com/office/drawing/2014/main" val="20000"/>
                    </a:ext>
                  </a:extLst>
                </a:gridCol>
                <a:gridCol w="1688998">
                  <a:extLst>
                    <a:ext uri="{9D8B030D-6E8A-4147-A177-3AD203B41FA5}">
                      <a16:colId xmlns:a16="http://schemas.microsoft.com/office/drawing/2014/main" val="20001"/>
                    </a:ext>
                  </a:extLst>
                </a:gridCol>
                <a:gridCol w="1900123">
                  <a:extLst>
                    <a:ext uri="{9D8B030D-6E8A-4147-A177-3AD203B41FA5}">
                      <a16:colId xmlns:a16="http://schemas.microsoft.com/office/drawing/2014/main" val="20002"/>
                    </a:ext>
                  </a:extLst>
                </a:gridCol>
                <a:gridCol w="2111248">
                  <a:extLst>
                    <a:ext uri="{9D8B030D-6E8A-4147-A177-3AD203B41FA5}">
                      <a16:colId xmlns:a16="http://schemas.microsoft.com/office/drawing/2014/main" val="20003"/>
                    </a:ext>
                  </a:extLst>
                </a:gridCol>
                <a:gridCol w="2744622">
                  <a:extLst>
                    <a:ext uri="{9D8B030D-6E8A-4147-A177-3AD203B41FA5}">
                      <a16:colId xmlns:a16="http://schemas.microsoft.com/office/drawing/2014/main" val="20004"/>
                    </a:ext>
                  </a:extLst>
                </a:gridCol>
              </a:tblGrid>
              <a:tr h="391239">
                <a:tc>
                  <a:txBody>
                    <a:bodyPr/>
                    <a:lstStyle/>
                    <a:p>
                      <a:pPr marL="0" indent="0">
                        <a:lnSpc>
                          <a:spcPts val="2002"/>
                        </a:lnSpc>
                        <a:buNone/>
                      </a:pPr>
                      <a:r>
                        <a:rPr lang="en-US" sz="1430" b="1" dirty="0">
                          <a:solidFill>
                            <a:srgbClr val="F7F3EA"/>
                          </a:solidFill>
                          <a:latin typeface="Arial" pitchFamily="34" charset="0"/>
                          <a:ea typeface="Arial" pitchFamily="34" charset="-122"/>
                          <a:cs typeface="Arial" pitchFamily="34" charset="-120"/>
                        </a:rPr>
                        <a:t>Month</a:t>
                      </a:r>
                      <a:endParaRPr lang="en-US" sz="1430" dirty="0">
                        <a:latin typeface="Arial" charset="0"/>
                        <a:ea typeface="Arial" charset="0"/>
                        <a:cs typeface="Arial" charset="0"/>
                      </a:endParaRPr>
                    </a:p>
                  </a:txBody>
                  <a:tcPr marL="63550" marR="63550" marT="63550" marB="63550">
                    <a:lnL w="12700" cap="flat" cmpd="sng" algn="ctr">
                      <a:solidFill>
                        <a:srgbClr val="C5C2BB"/>
                      </a:solidFill>
                      <a:prstDash val="solid"/>
                      <a:round/>
                      <a:headEnd type="none" w="med" len="med"/>
                      <a:tailEnd type="none" w="med" len="med"/>
                    </a:lnL>
                    <a:lnR w="12700" cap="flat" cmpd="sng" algn="ctr">
                      <a:solidFill>
                        <a:srgbClr val="161410"/>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161410"/>
                      </a:solidFill>
                      <a:prstDash val="solid"/>
                      <a:round/>
                      <a:headEnd type="none" w="med" len="med"/>
                      <a:tailEnd type="none" w="med" len="med"/>
                    </a:lnB>
                    <a:solidFill>
                      <a:srgbClr val="17140F"/>
                    </a:solidFill>
                  </a:tcPr>
                </a:tc>
                <a:tc>
                  <a:txBody>
                    <a:bodyPr/>
                    <a:lstStyle/>
                    <a:p>
                      <a:pPr marL="0" indent="0">
                        <a:lnSpc>
                          <a:spcPts val="2002"/>
                        </a:lnSpc>
                        <a:buNone/>
                      </a:pPr>
                      <a:r>
                        <a:rPr lang="en-US" sz="1430" b="1" dirty="0">
                          <a:solidFill>
                            <a:srgbClr val="F7F3EA"/>
                          </a:solidFill>
                          <a:latin typeface="Arial" pitchFamily="34" charset="0"/>
                          <a:ea typeface="Arial" pitchFamily="34" charset="-122"/>
                          <a:cs typeface="Arial" pitchFamily="34" charset="-120"/>
                        </a:rPr>
                        <a:t>Clicks</a:t>
                      </a:r>
                      <a:endParaRPr lang="en-US" sz="1430" dirty="0">
                        <a:latin typeface="Arial" charset="0"/>
                        <a:ea typeface="Arial" charset="0"/>
                        <a:cs typeface="Arial" charset="0"/>
                      </a:endParaRPr>
                    </a:p>
                  </a:txBody>
                  <a:tcPr marL="63550" marR="63550" marT="63550" marB="63550">
                    <a:lnL w="12700" cap="flat" cmpd="sng" algn="ctr">
                      <a:solidFill>
                        <a:srgbClr val="161410"/>
                      </a:solidFill>
                      <a:prstDash val="solid"/>
                      <a:round/>
                      <a:headEnd type="none" w="med" len="med"/>
                      <a:tailEnd type="none" w="med" len="med"/>
                    </a:lnL>
                    <a:lnR w="12700" cap="flat" cmpd="sng" algn="ctr">
                      <a:solidFill>
                        <a:srgbClr val="161410"/>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161410"/>
                      </a:solidFill>
                      <a:prstDash val="solid"/>
                      <a:round/>
                      <a:headEnd type="none" w="med" len="med"/>
                      <a:tailEnd type="none" w="med" len="med"/>
                    </a:lnB>
                    <a:solidFill>
                      <a:srgbClr val="17140F"/>
                    </a:solidFill>
                  </a:tcPr>
                </a:tc>
                <a:tc>
                  <a:txBody>
                    <a:bodyPr/>
                    <a:lstStyle/>
                    <a:p>
                      <a:pPr marL="0" indent="0">
                        <a:lnSpc>
                          <a:spcPts val="2002"/>
                        </a:lnSpc>
                        <a:buNone/>
                      </a:pPr>
                      <a:r>
                        <a:rPr lang="en-US" sz="1430" b="1" dirty="0">
                          <a:solidFill>
                            <a:srgbClr val="F7F3EA"/>
                          </a:solidFill>
                          <a:latin typeface="Arial" pitchFamily="34" charset="0"/>
                          <a:ea typeface="Arial" pitchFamily="34" charset="-122"/>
                          <a:cs typeface="Arial" pitchFamily="34" charset="-120"/>
                        </a:rPr>
                        <a:t>Avg. CPC</a:t>
                      </a:r>
                      <a:endParaRPr lang="en-US" sz="1430" dirty="0">
                        <a:latin typeface="Arial" charset="0"/>
                        <a:ea typeface="Arial" charset="0"/>
                        <a:cs typeface="Arial" charset="0"/>
                      </a:endParaRPr>
                    </a:p>
                  </a:txBody>
                  <a:tcPr marL="63550" marR="63550" marT="63550" marB="63550">
                    <a:lnL w="12700" cap="flat" cmpd="sng" algn="ctr">
                      <a:solidFill>
                        <a:srgbClr val="161410"/>
                      </a:solidFill>
                      <a:prstDash val="solid"/>
                      <a:round/>
                      <a:headEnd type="none" w="med" len="med"/>
                      <a:tailEnd type="none" w="med" len="med"/>
                    </a:lnL>
                    <a:lnR w="12700" cap="flat" cmpd="sng" algn="ctr">
                      <a:solidFill>
                        <a:srgbClr val="161410"/>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161410"/>
                      </a:solidFill>
                      <a:prstDash val="solid"/>
                      <a:round/>
                      <a:headEnd type="none" w="med" len="med"/>
                      <a:tailEnd type="none" w="med" len="med"/>
                    </a:lnB>
                    <a:solidFill>
                      <a:srgbClr val="17140F"/>
                    </a:solidFill>
                  </a:tcPr>
                </a:tc>
                <a:tc>
                  <a:txBody>
                    <a:bodyPr/>
                    <a:lstStyle/>
                    <a:p>
                      <a:pPr marL="0" indent="0">
                        <a:lnSpc>
                          <a:spcPts val="2002"/>
                        </a:lnSpc>
                        <a:buNone/>
                      </a:pPr>
                      <a:r>
                        <a:rPr lang="en-US" sz="1430" b="1" dirty="0">
                          <a:solidFill>
                            <a:srgbClr val="F7F3EA"/>
                          </a:solidFill>
                          <a:latin typeface="Arial" pitchFamily="34" charset="0"/>
                          <a:ea typeface="Arial" pitchFamily="34" charset="-122"/>
                          <a:cs typeface="Arial" pitchFamily="34" charset="-120"/>
                        </a:rPr>
                        <a:t>Cost / conv.</a:t>
                      </a:r>
                      <a:endParaRPr lang="en-US" sz="1430" dirty="0">
                        <a:latin typeface="Arial" charset="0"/>
                        <a:ea typeface="Arial" charset="0"/>
                        <a:cs typeface="Arial" charset="0"/>
                      </a:endParaRPr>
                    </a:p>
                  </a:txBody>
                  <a:tcPr marL="63550" marR="63550" marT="63550" marB="63550">
                    <a:lnL w="12700" cap="flat" cmpd="sng" algn="ctr">
                      <a:solidFill>
                        <a:srgbClr val="161410"/>
                      </a:solidFill>
                      <a:prstDash val="solid"/>
                      <a:round/>
                      <a:headEnd type="none" w="med" len="med"/>
                      <a:tailEnd type="none" w="med" len="med"/>
                    </a:lnL>
                    <a:lnR w="12700" cap="flat" cmpd="sng" algn="ctr">
                      <a:solidFill>
                        <a:srgbClr val="161410"/>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161410"/>
                      </a:solidFill>
                      <a:prstDash val="solid"/>
                      <a:round/>
                      <a:headEnd type="none" w="med" len="med"/>
                      <a:tailEnd type="none" w="med" len="med"/>
                    </a:lnB>
                    <a:solidFill>
                      <a:srgbClr val="17140F"/>
                    </a:solidFill>
                  </a:tcPr>
                </a:tc>
                <a:tc>
                  <a:txBody>
                    <a:bodyPr/>
                    <a:lstStyle/>
                    <a:p>
                      <a:pPr marL="0" indent="0">
                        <a:lnSpc>
                          <a:spcPts val="2002"/>
                        </a:lnSpc>
                        <a:buNone/>
                      </a:pPr>
                      <a:r>
                        <a:rPr lang="en-US" sz="1430" b="1" dirty="0">
                          <a:solidFill>
                            <a:srgbClr val="F7F3EA"/>
                          </a:solidFill>
                          <a:latin typeface="Arial" pitchFamily="34" charset="0"/>
                          <a:ea typeface="Arial" pitchFamily="34" charset="-122"/>
                          <a:cs typeface="Arial" pitchFamily="34" charset="-120"/>
                        </a:rPr>
                        <a:t>Top-of-page share</a:t>
                      </a:r>
                      <a:endParaRPr lang="en-US" sz="1430" dirty="0">
                        <a:latin typeface="Arial" charset="0"/>
                        <a:ea typeface="Arial" charset="0"/>
                        <a:cs typeface="Arial" charset="0"/>
                      </a:endParaRPr>
                    </a:p>
                  </a:txBody>
                  <a:tcPr marL="63550" marR="63550" marT="63550" marB="63550">
                    <a:lnL w="12700" cap="flat" cmpd="sng" algn="ctr">
                      <a:solidFill>
                        <a:srgbClr val="161410"/>
                      </a:solidFill>
                      <a:prstDash val="solid"/>
                      <a:round/>
                      <a:headEnd type="none" w="med" len="med"/>
                      <a:tailEnd type="none" w="med" len="med"/>
                    </a:lnL>
                    <a:lnR w="12700" cap="flat" cmpd="sng" algn="ctr">
                      <a:solidFill>
                        <a:srgbClr val="161410"/>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161410"/>
                      </a:solidFill>
                      <a:prstDash val="solid"/>
                      <a:round/>
                      <a:headEnd type="none" w="med" len="med"/>
                      <a:tailEnd type="none" w="med" len="med"/>
                    </a:lnB>
                    <a:solidFill>
                      <a:srgbClr val="17140F"/>
                    </a:solidFill>
                  </a:tcPr>
                </a:tc>
                <a:extLst>
                  <a:ext uri="{0D108BD9-81ED-4DB2-BD59-A6C34878D82A}">
                    <a16:rowId xmlns:a16="http://schemas.microsoft.com/office/drawing/2014/main" val="10000"/>
                  </a:ext>
                </a:extLst>
              </a:tr>
              <a:tr h="391239">
                <a:tc>
                  <a:txBody>
                    <a:bodyPr/>
                    <a:lstStyle/>
                    <a:p>
                      <a:pPr marL="0" indent="0">
                        <a:lnSpc>
                          <a:spcPts val="2002"/>
                        </a:lnSpc>
                        <a:buNone/>
                      </a:pPr>
                      <a:r>
                        <a:rPr lang="en-US" sz="1430" dirty="0">
                          <a:solidFill>
                            <a:srgbClr val="17140F"/>
                          </a:solidFill>
                          <a:latin typeface="Arial" pitchFamily="34" charset="0"/>
                          <a:ea typeface="Arial" pitchFamily="34" charset="-122"/>
                          <a:cs typeface="Arial" pitchFamily="34" charset="-120"/>
                        </a:rPr>
                        <a:t>February 2026</a:t>
                      </a:r>
                      <a:endParaRPr lang="en-US" sz="1430" dirty="0">
                        <a:latin typeface="Arial" charset="0"/>
                        <a:ea typeface="Arial" charset="0"/>
                        <a:cs typeface="Arial" charset="0"/>
                      </a:endParaRPr>
                    </a:p>
                  </a:txBody>
                  <a:tcPr marL="63550" marR="63550" marT="63550" marB="63550">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161410"/>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2002"/>
                        </a:lnSpc>
                        <a:buNone/>
                      </a:pPr>
                      <a:r>
                        <a:rPr lang="en-US" sz="1430" dirty="0">
                          <a:solidFill>
                            <a:srgbClr val="17140F"/>
                          </a:solidFill>
                          <a:latin typeface="Arial" pitchFamily="34" charset="0"/>
                          <a:ea typeface="Arial" pitchFamily="34" charset="-122"/>
                          <a:cs typeface="Arial" pitchFamily="34" charset="-120"/>
                        </a:rPr>
                        <a:t>9,758</a:t>
                      </a:r>
                      <a:endParaRPr lang="en-US" sz="1430" dirty="0">
                        <a:latin typeface="Arial" charset="0"/>
                        <a:ea typeface="Arial" charset="0"/>
                        <a:cs typeface="Arial" charset="0"/>
                      </a:endParaRPr>
                    </a:p>
                  </a:txBody>
                  <a:tcPr marL="63550" marR="63550" marT="63550" marB="63550">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161410"/>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2002"/>
                        </a:lnSpc>
                        <a:buNone/>
                      </a:pPr>
                      <a:r>
                        <a:rPr lang="en-US" sz="1430" dirty="0">
                          <a:solidFill>
                            <a:srgbClr val="17140F"/>
                          </a:solidFill>
                          <a:latin typeface="Arial" pitchFamily="34" charset="0"/>
                          <a:ea typeface="Arial" pitchFamily="34" charset="-122"/>
                          <a:cs typeface="Arial" pitchFamily="34" charset="-120"/>
                        </a:rPr>
                        <a:t>₹16.97</a:t>
                      </a:r>
                      <a:endParaRPr lang="en-US" sz="1430" dirty="0">
                        <a:latin typeface="Arial" charset="0"/>
                        <a:ea typeface="Arial" charset="0"/>
                        <a:cs typeface="Arial" charset="0"/>
                      </a:endParaRPr>
                    </a:p>
                  </a:txBody>
                  <a:tcPr marL="63550" marR="63550" marT="63550" marB="63550">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161410"/>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2002"/>
                        </a:lnSpc>
                        <a:buNone/>
                      </a:pPr>
                      <a:r>
                        <a:rPr lang="en-US" sz="1430" dirty="0">
                          <a:solidFill>
                            <a:srgbClr val="17140F"/>
                          </a:solidFill>
                          <a:latin typeface="Arial" pitchFamily="34" charset="0"/>
                          <a:ea typeface="Arial" pitchFamily="34" charset="-122"/>
                          <a:cs typeface="Arial" pitchFamily="34" charset="-120"/>
                        </a:rPr>
                        <a:t>₹89.54</a:t>
                      </a:r>
                      <a:endParaRPr lang="en-US" sz="1430" dirty="0">
                        <a:latin typeface="Arial" charset="0"/>
                        <a:ea typeface="Arial" charset="0"/>
                        <a:cs typeface="Arial" charset="0"/>
                      </a:endParaRPr>
                    </a:p>
                  </a:txBody>
                  <a:tcPr marL="63550" marR="63550" marT="63550" marB="63550">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161410"/>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2002"/>
                        </a:lnSpc>
                        <a:buNone/>
                      </a:pPr>
                      <a:r>
                        <a:rPr lang="en-US" sz="1430" dirty="0">
                          <a:solidFill>
                            <a:srgbClr val="17140F"/>
                          </a:solidFill>
                          <a:latin typeface="Arial" pitchFamily="34" charset="0"/>
                          <a:ea typeface="Arial" pitchFamily="34" charset="-122"/>
                          <a:cs typeface="Arial" pitchFamily="34" charset="-120"/>
                        </a:rPr>
                        <a:t>34.36% absolute top</a:t>
                      </a:r>
                      <a:endParaRPr lang="en-US" sz="1430" dirty="0">
                        <a:latin typeface="Arial" charset="0"/>
                        <a:ea typeface="Arial" charset="0"/>
                        <a:cs typeface="Arial" charset="0"/>
                      </a:endParaRPr>
                    </a:p>
                  </a:txBody>
                  <a:tcPr marL="63550" marR="63550" marT="63550" marB="63550">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161410"/>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extLst>
                  <a:ext uri="{0D108BD9-81ED-4DB2-BD59-A6C34878D82A}">
                    <a16:rowId xmlns:a16="http://schemas.microsoft.com/office/drawing/2014/main" val="10001"/>
                  </a:ext>
                </a:extLst>
              </a:tr>
              <a:tr h="391239">
                <a:tc>
                  <a:txBody>
                    <a:bodyPr/>
                    <a:lstStyle/>
                    <a:p>
                      <a:pPr marL="0" indent="0">
                        <a:lnSpc>
                          <a:spcPts val="2002"/>
                        </a:lnSpc>
                        <a:buNone/>
                      </a:pPr>
                      <a:r>
                        <a:rPr lang="en-US" sz="1430" dirty="0">
                          <a:solidFill>
                            <a:srgbClr val="17140F"/>
                          </a:solidFill>
                          <a:latin typeface="Arial" pitchFamily="34" charset="0"/>
                          <a:ea typeface="Arial" pitchFamily="34" charset="-122"/>
                          <a:cs typeface="Arial" pitchFamily="34" charset="-120"/>
                        </a:rPr>
                        <a:t>June 2026</a:t>
                      </a:r>
                      <a:endParaRPr lang="en-US" sz="1430" dirty="0">
                        <a:latin typeface="Arial" charset="0"/>
                        <a:ea typeface="Arial" charset="0"/>
                        <a:cs typeface="Arial" charset="0"/>
                      </a:endParaRPr>
                    </a:p>
                  </a:txBody>
                  <a:tcPr marL="63550" marR="63550" marT="63550" marB="63550">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2002"/>
                        </a:lnSpc>
                        <a:buNone/>
                      </a:pPr>
                      <a:r>
                        <a:rPr lang="en-US" sz="1430" dirty="0">
                          <a:solidFill>
                            <a:srgbClr val="17140F"/>
                          </a:solidFill>
                          <a:latin typeface="Arial" pitchFamily="34" charset="0"/>
                          <a:ea typeface="Arial" pitchFamily="34" charset="-122"/>
                          <a:cs typeface="Arial" pitchFamily="34" charset="-120"/>
                        </a:rPr>
                        <a:t>5,232</a:t>
                      </a:r>
                      <a:endParaRPr lang="en-US" sz="1430" dirty="0">
                        <a:latin typeface="Arial" charset="0"/>
                        <a:ea typeface="Arial" charset="0"/>
                        <a:cs typeface="Arial" charset="0"/>
                      </a:endParaRPr>
                    </a:p>
                  </a:txBody>
                  <a:tcPr marL="63550" marR="63550" marT="63550" marB="63550">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2002"/>
                        </a:lnSpc>
                        <a:buNone/>
                      </a:pPr>
                      <a:r>
                        <a:rPr lang="en-US" sz="1430" dirty="0">
                          <a:solidFill>
                            <a:srgbClr val="17140F"/>
                          </a:solidFill>
                          <a:latin typeface="Arial" pitchFamily="34" charset="0"/>
                          <a:ea typeface="Arial" pitchFamily="34" charset="-122"/>
                          <a:cs typeface="Arial" pitchFamily="34" charset="-120"/>
                        </a:rPr>
                        <a:t>₹5.81</a:t>
                      </a:r>
                      <a:endParaRPr lang="en-US" sz="1430" dirty="0">
                        <a:latin typeface="Arial" charset="0"/>
                        <a:ea typeface="Arial" charset="0"/>
                        <a:cs typeface="Arial" charset="0"/>
                      </a:endParaRPr>
                    </a:p>
                  </a:txBody>
                  <a:tcPr marL="63550" marR="63550" marT="63550" marB="63550">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2002"/>
                        </a:lnSpc>
                        <a:buNone/>
                      </a:pPr>
                      <a:r>
                        <a:rPr lang="en-US" sz="1430" dirty="0">
                          <a:solidFill>
                            <a:srgbClr val="17140F"/>
                          </a:solidFill>
                          <a:latin typeface="Arial" pitchFamily="34" charset="0"/>
                          <a:ea typeface="Arial" pitchFamily="34" charset="-122"/>
                          <a:cs typeface="Arial" pitchFamily="34" charset="-120"/>
                        </a:rPr>
                        <a:t>₹210.02</a:t>
                      </a:r>
                      <a:endParaRPr lang="en-US" sz="1430" dirty="0">
                        <a:latin typeface="Arial" charset="0"/>
                        <a:ea typeface="Arial" charset="0"/>
                        <a:cs typeface="Arial" charset="0"/>
                      </a:endParaRPr>
                    </a:p>
                  </a:txBody>
                  <a:tcPr marL="63550" marR="63550" marT="63550" marB="63550">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2002"/>
                        </a:lnSpc>
                        <a:buNone/>
                      </a:pPr>
                      <a:r>
                        <a:rPr lang="en-US" sz="1430" dirty="0">
                          <a:solidFill>
                            <a:srgbClr val="17140F"/>
                          </a:solidFill>
                          <a:latin typeface="Arial" pitchFamily="34" charset="0"/>
                          <a:ea typeface="Arial" pitchFamily="34" charset="-122"/>
                          <a:cs typeface="Arial" pitchFamily="34" charset="-120"/>
                        </a:rPr>
                        <a:t>31.32%</a:t>
                      </a:r>
                      <a:endParaRPr lang="en-US" sz="1430" dirty="0">
                        <a:latin typeface="Arial" charset="0"/>
                        <a:ea typeface="Arial" charset="0"/>
                        <a:cs typeface="Arial" charset="0"/>
                      </a:endParaRPr>
                    </a:p>
                  </a:txBody>
                  <a:tcPr marL="63550" marR="63550" marT="63550" marB="63550">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extLst>
                  <a:ext uri="{0D108BD9-81ED-4DB2-BD59-A6C34878D82A}">
                    <a16:rowId xmlns:a16="http://schemas.microsoft.com/office/drawing/2014/main" val="10002"/>
                  </a:ext>
                </a:extLst>
              </a:tr>
              <a:tr h="391239">
                <a:tc>
                  <a:txBody>
                    <a:bodyPr/>
                    <a:lstStyle/>
                    <a:p>
                      <a:pPr marL="0" indent="0">
                        <a:lnSpc>
                          <a:spcPts val="2002"/>
                        </a:lnSpc>
                        <a:buNone/>
                      </a:pPr>
                      <a:r>
                        <a:rPr lang="en-US" sz="1430" dirty="0">
                          <a:solidFill>
                            <a:srgbClr val="17140F"/>
                          </a:solidFill>
                          <a:latin typeface="Arial" pitchFamily="34" charset="0"/>
                          <a:ea typeface="Arial" pitchFamily="34" charset="-122"/>
                          <a:cs typeface="Arial" pitchFamily="34" charset="-120"/>
                        </a:rPr>
                        <a:t>July 2026</a:t>
                      </a:r>
                      <a:endParaRPr lang="en-US" sz="1430" dirty="0">
                        <a:latin typeface="Arial" charset="0"/>
                        <a:ea typeface="Arial" charset="0"/>
                        <a:cs typeface="Arial" charset="0"/>
                      </a:endParaRPr>
                    </a:p>
                  </a:txBody>
                  <a:tcPr marL="63550" marR="63550" marT="63550" marB="63550">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2002"/>
                        </a:lnSpc>
                        <a:buNone/>
                      </a:pPr>
                      <a:r>
                        <a:rPr lang="en-US" sz="1430" dirty="0">
                          <a:solidFill>
                            <a:srgbClr val="17140F"/>
                          </a:solidFill>
                          <a:latin typeface="Arial" pitchFamily="34" charset="0"/>
                          <a:ea typeface="Arial" pitchFamily="34" charset="-122"/>
                          <a:cs typeface="Arial" pitchFamily="34" charset="-120"/>
                        </a:rPr>
                        <a:t>7,872</a:t>
                      </a:r>
                      <a:endParaRPr lang="en-US" sz="1430" dirty="0">
                        <a:latin typeface="Arial" charset="0"/>
                        <a:ea typeface="Arial" charset="0"/>
                        <a:cs typeface="Arial" charset="0"/>
                      </a:endParaRPr>
                    </a:p>
                  </a:txBody>
                  <a:tcPr marL="63550" marR="63550" marT="63550" marB="63550">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2002"/>
                        </a:lnSpc>
                        <a:buNone/>
                      </a:pPr>
                      <a:r>
                        <a:rPr lang="en-US" sz="1430" dirty="0">
                          <a:solidFill>
                            <a:srgbClr val="17140F"/>
                          </a:solidFill>
                          <a:latin typeface="Arial" pitchFamily="34" charset="0"/>
                          <a:ea typeface="Arial" pitchFamily="34" charset="-122"/>
                          <a:cs typeface="Arial" pitchFamily="34" charset="-120"/>
                        </a:rPr>
                        <a:t>₹21.35</a:t>
                      </a:r>
                      <a:endParaRPr lang="en-US" sz="1430" dirty="0">
                        <a:latin typeface="Arial" charset="0"/>
                        <a:ea typeface="Arial" charset="0"/>
                        <a:cs typeface="Arial" charset="0"/>
                      </a:endParaRPr>
                    </a:p>
                  </a:txBody>
                  <a:tcPr marL="63550" marR="63550" marT="63550" marB="63550">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2002"/>
                        </a:lnSpc>
                        <a:buNone/>
                      </a:pPr>
                      <a:r>
                        <a:rPr lang="en-US" sz="1430" dirty="0">
                          <a:solidFill>
                            <a:srgbClr val="17140F"/>
                          </a:solidFill>
                          <a:latin typeface="Arial" pitchFamily="34" charset="0"/>
                          <a:ea typeface="Arial" pitchFamily="34" charset="-122"/>
                          <a:cs typeface="Arial" pitchFamily="34" charset="-120"/>
                        </a:rPr>
                        <a:t>₹410.35</a:t>
                      </a:r>
                      <a:endParaRPr lang="en-US" sz="1430" dirty="0">
                        <a:latin typeface="Arial" charset="0"/>
                        <a:ea typeface="Arial" charset="0"/>
                        <a:cs typeface="Arial" charset="0"/>
                      </a:endParaRPr>
                    </a:p>
                  </a:txBody>
                  <a:tcPr marL="63550" marR="63550" marT="63550" marB="63550">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2002"/>
                        </a:lnSpc>
                        <a:buNone/>
                      </a:pPr>
                      <a:r>
                        <a:rPr lang="en-US" sz="1430" dirty="0">
                          <a:solidFill>
                            <a:srgbClr val="17140F"/>
                          </a:solidFill>
                          <a:latin typeface="Arial" pitchFamily="34" charset="0"/>
                          <a:ea typeface="Arial" pitchFamily="34" charset="-122"/>
                          <a:cs typeface="Arial" pitchFamily="34" charset="-120"/>
                        </a:rPr>
                        <a:t>50.22%</a:t>
                      </a:r>
                      <a:endParaRPr lang="en-US" sz="1430" dirty="0">
                        <a:latin typeface="Arial" charset="0"/>
                        <a:ea typeface="Arial" charset="0"/>
                        <a:cs typeface="Arial" charset="0"/>
                      </a:endParaRPr>
                    </a:p>
                  </a:txBody>
                  <a:tcPr marL="63550" marR="63550" marT="63550" marB="63550">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extLst>
                  <a:ext uri="{0D108BD9-81ED-4DB2-BD59-A6C34878D82A}">
                    <a16:rowId xmlns:a16="http://schemas.microsoft.com/office/drawing/2014/main" val="10003"/>
                  </a:ext>
                </a:extLst>
              </a:tr>
              <a:tr h="391239">
                <a:tc>
                  <a:txBody>
                    <a:bodyPr/>
                    <a:lstStyle/>
                    <a:p>
                      <a:pPr marL="0" indent="0">
                        <a:lnSpc>
                          <a:spcPts val="2002"/>
                        </a:lnSpc>
                        <a:buNone/>
                      </a:pPr>
                      <a:r>
                        <a:rPr lang="en-US" sz="1430" dirty="0">
                          <a:solidFill>
                            <a:srgbClr val="17140F"/>
                          </a:solidFill>
                          <a:latin typeface="Arial" pitchFamily="34" charset="0"/>
                          <a:ea typeface="Arial" pitchFamily="34" charset="-122"/>
                          <a:cs typeface="Arial" pitchFamily="34" charset="-120"/>
                        </a:rPr>
                        <a:t>August 2026</a:t>
                      </a:r>
                      <a:endParaRPr lang="en-US" sz="1430" dirty="0">
                        <a:latin typeface="Arial" charset="0"/>
                        <a:ea typeface="Arial" charset="0"/>
                        <a:cs typeface="Arial" charset="0"/>
                      </a:endParaRPr>
                    </a:p>
                  </a:txBody>
                  <a:tcPr marL="63550" marR="63550" marT="63550" marB="63550">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2002"/>
                        </a:lnSpc>
                        <a:buNone/>
                      </a:pPr>
                      <a:r>
                        <a:rPr lang="en-US" sz="1430" dirty="0">
                          <a:solidFill>
                            <a:srgbClr val="17140F"/>
                          </a:solidFill>
                          <a:latin typeface="Arial" pitchFamily="34" charset="0"/>
                          <a:ea typeface="Arial" pitchFamily="34" charset="-122"/>
                          <a:cs typeface="Arial" pitchFamily="34" charset="-120"/>
                        </a:rPr>
                        <a:t>4,597</a:t>
                      </a:r>
                      <a:endParaRPr lang="en-US" sz="1430" dirty="0">
                        <a:latin typeface="Arial" charset="0"/>
                        <a:ea typeface="Arial" charset="0"/>
                        <a:cs typeface="Arial" charset="0"/>
                      </a:endParaRPr>
                    </a:p>
                  </a:txBody>
                  <a:tcPr marL="63550" marR="63550" marT="63550" marB="63550">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2002"/>
                        </a:lnSpc>
                        <a:buNone/>
                      </a:pPr>
                      <a:r>
                        <a:rPr lang="en-US" sz="1430" dirty="0">
                          <a:solidFill>
                            <a:srgbClr val="17140F"/>
                          </a:solidFill>
                          <a:latin typeface="Arial" pitchFamily="34" charset="0"/>
                          <a:ea typeface="Arial" pitchFamily="34" charset="-122"/>
                          <a:cs typeface="Arial" pitchFamily="34" charset="-120"/>
                        </a:rPr>
                        <a:t>₹28.44</a:t>
                      </a:r>
                      <a:endParaRPr lang="en-US" sz="1430" dirty="0">
                        <a:latin typeface="Arial" charset="0"/>
                        <a:ea typeface="Arial" charset="0"/>
                        <a:cs typeface="Arial" charset="0"/>
                      </a:endParaRPr>
                    </a:p>
                  </a:txBody>
                  <a:tcPr marL="63550" marR="63550" marT="63550" marB="63550">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2002"/>
                        </a:lnSpc>
                        <a:buNone/>
                      </a:pPr>
                      <a:r>
                        <a:rPr lang="en-US" sz="1430" dirty="0">
                          <a:solidFill>
                            <a:srgbClr val="17140F"/>
                          </a:solidFill>
                          <a:latin typeface="Arial" pitchFamily="34" charset="0"/>
                          <a:ea typeface="Arial" pitchFamily="34" charset="-122"/>
                          <a:cs typeface="Arial" pitchFamily="34" charset="-120"/>
                        </a:rPr>
                        <a:t>₹451.26</a:t>
                      </a:r>
                      <a:endParaRPr lang="en-US" sz="1430" dirty="0">
                        <a:latin typeface="Arial" charset="0"/>
                        <a:ea typeface="Arial" charset="0"/>
                        <a:cs typeface="Arial" charset="0"/>
                      </a:endParaRPr>
                    </a:p>
                  </a:txBody>
                  <a:tcPr marL="63550" marR="63550" marT="63550" marB="63550">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2002"/>
                        </a:lnSpc>
                        <a:buNone/>
                      </a:pPr>
                      <a:r>
                        <a:rPr lang="en-US" sz="1430" dirty="0">
                          <a:solidFill>
                            <a:srgbClr val="17140F"/>
                          </a:solidFill>
                          <a:latin typeface="Arial" pitchFamily="34" charset="0"/>
                          <a:ea typeface="Arial" pitchFamily="34" charset="-122"/>
                          <a:cs typeface="Arial" pitchFamily="34" charset="-120"/>
                        </a:rPr>
                        <a:t>66.56%</a:t>
                      </a:r>
                      <a:endParaRPr lang="en-US" sz="1430" dirty="0">
                        <a:latin typeface="Arial" charset="0"/>
                        <a:ea typeface="Arial" charset="0"/>
                        <a:cs typeface="Arial" charset="0"/>
                      </a:endParaRPr>
                    </a:p>
                  </a:txBody>
                  <a:tcPr marL="63550" marR="63550" marT="63550" marB="63550">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extLst>
                  <a:ext uri="{0D108BD9-81ED-4DB2-BD59-A6C34878D82A}">
                    <a16:rowId xmlns:a16="http://schemas.microsoft.com/office/drawing/2014/main" val="10004"/>
                  </a:ext>
                </a:extLst>
              </a:tr>
              <a:tr h="391239">
                <a:tc>
                  <a:txBody>
                    <a:bodyPr/>
                    <a:lstStyle/>
                    <a:p>
                      <a:pPr marL="0" indent="0">
                        <a:lnSpc>
                          <a:spcPts val="2002"/>
                        </a:lnSpc>
                        <a:buNone/>
                      </a:pPr>
                      <a:r>
                        <a:rPr lang="en-US" sz="1430" dirty="0">
                          <a:solidFill>
                            <a:srgbClr val="17140F"/>
                          </a:solidFill>
                          <a:latin typeface="Arial" pitchFamily="34" charset="0"/>
                          <a:ea typeface="Arial" pitchFamily="34" charset="-122"/>
                          <a:cs typeface="Arial" pitchFamily="34" charset="-120"/>
                        </a:rPr>
                        <a:t>September 2026</a:t>
                      </a:r>
                      <a:endParaRPr lang="en-US" sz="1430" dirty="0">
                        <a:latin typeface="Arial" charset="0"/>
                        <a:ea typeface="Arial" charset="0"/>
                        <a:cs typeface="Arial" charset="0"/>
                      </a:endParaRPr>
                    </a:p>
                  </a:txBody>
                  <a:tcPr marL="63550" marR="63550" marT="63550" marB="63550">
                    <a:lnL w="12700" cap="flat" cmpd="sng" algn="ctr">
                      <a:solidFill>
                        <a:srgbClr val="C5C2BB"/>
                      </a:solidFill>
                      <a:prstDash val="solid"/>
                      <a:round/>
                      <a:headEnd type="none" w="med" len="med"/>
                      <a:tailEnd type="none" w="med" len="med"/>
                    </a:lnL>
                    <a:lnR w="12700" cap="flat" cmpd="sng" algn="ctr">
                      <a:solidFill>
                        <a:srgbClr val="C0AEA6"/>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0AEA6"/>
                      </a:solidFill>
                      <a:prstDash val="solid"/>
                      <a:round/>
                      <a:headEnd type="none" w="med" len="med"/>
                      <a:tailEnd type="none" w="med" len="med"/>
                    </a:lnB>
                    <a:solidFill>
                      <a:srgbClr val="F0D9CF"/>
                    </a:solidFill>
                  </a:tcPr>
                </a:tc>
                <a:tc>
                  <a:txBody>
                    <a:bodyPr/>
                    <a:lstStyle/>
                    <a:p>
                      <a:pPr marL="0" indent="0">
                        <a:lnSpc>
                          <a:spcPts val="2002"/>
                        </a:lnSpc>
                        <a:buNone/>
                      </a:pPr>
                      <a:r>
                        <a:rPr lang="en-US" sz="1430" dirty="0">
                          <a:solidFill>
                            <a:srgbClr val="17140F"/>
                          </a:solidFill>
                          <a:latin typeface="Arial" pitchFamily="34" charset="0"/>
                          <a:ea typeface="Arial" pitchFamily="34" charset="-122"/>
                          <a:cs typeface="Arial" pitchFamily="34" charset="-120"/>
                        </a:rPr>
                        <a:t>3,777</a:t>
                      </a:r>
                      <a:endParaRPr lang="en-US" sz="1430" dirty="0">
                        <a:latin typeface="Arial" charset="0"/>
                        <a:ea typeface="Arial" charset="0"/>
                        <a:cs typeface="Arial" charset="0"/>
                      </a:endParaRPr>
                    </a:p>
                  </a:txBody>
                  <a:tcPr marL="63550" marR="63550" marT="63550" marB="63550">
                    <a:lnL w="12700" cap="flat" cmpd="sng" algn="ctr">
                      <a:solidFill>
                        <a:srgbClr val="C0AEA6"/>
                      </a:solidFill>
                      <a:prstDash val="solid"/>
                      <a:round/>
                      <a:headEnd type="none" w="med" len="med"/>
                      <a:tailEnd type="none" w="med" len="med"/>
                    </a:lnL>
                    <a:lnR w="12700" cap="flat" cmpd="sng" algn="ctr">
                      <a:solidFill>
                        <a:srgbClr val="C0AEA6"/>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0AEA6"/>
                      </a:solidFill>
                      <a:prstDash val="solid"/>
                      <a:round/>
                      <a:headEnd type="none" w="med" len="med"/>
                      <a:tailEnd type="none" w="med" len="med"/>
                    </a:lnB>
                    <a:solidFill>
                      <a:srgbClr val="F0D9CF"/>
                    </a:solidFill>
                  </a:tcPr>
                </a:tc>
                <a:tc>
                  <a:txBody>
                    <a:bodyPr/>
                    <a:lstStyle/>
                    <a:p>
                      <a:pPr marL="0" indent="0">
                        <a:lnSpc>
                          <a:spcPts val="2002"/>
                        </a:lnSpc>
                        <a:buNone/>
                      </a:pPr>
                      <a:r>
                        <a:rPr lang="en-US" sz="1430" dirty="0">
                          <a:solidFill>
                            <a:srgbClr val="B54A28"/>
                          </a:solidFill>
                          <a:latin typeface="Arial" pitchFamily="34" charset="0"/>
                          <a:ea typeface="Arial" pitchFamily="34" charset="-122"/>
                          <a:cs typeface="Arial" pitchFamily="34" charset="-120"/>
                        </a:rPr>
                        <a:t>₹22.21</a:t>
                      </a:r>
                      <a:endParaRPr lang="en-US" sz="1430" dirty="0">
                        <a:latin typeface="Arial" charset="0"/>
                        <a:ea typeface="Arial" charset="0"/>
                        <a:cs typeface="Arial" charset="0"/>
                      </a:endParaRPr>
                    </a:p>
                  </a:txBody>
                  <a:tcPr marL="63550" marR="63550" marT="63550" marB="63550">
                    <a:lnL w="12700" cap="flat" cmpd="sng" algn="ctr">
                      <a:solidFill>
                        <a:srgbClr val="C0AEA6"/>
                      </a:solidFill>
                      <a:prstDash val="solid"/>
                      <a:round/>
                      <a:headEnd type="none" w="med" len="med"/>
                      <a:tailEnd type="none" w="med" len="med"/>
                    </a:lnL>
                    <a:lnR w="12700" cap="flat" cmpd="sng" algn="ctr">
                      <a:solidFill>
                        <a:srgbClr val="C0AEA6"/>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0AEA6"/>
                      </a:solidFill>
                      <a:prstDash val="solid"/>
                      <a:round/>
                      <a:headEnd type="none" w="med" len="med"/>
                      <a:tailEnd type="none" w="med" len="med"/>
                    </a:lnB>
                    <a:solidFill>
                      <a:srgbClr val="F0D9CF"/>
                    </a:solidFill>
                  </a:tcPr>
                </a:tc>
                <a:tc>
                  <a:txBody>
                    <a:bodyPr/>
                    <a:lstStyle/>
                    <a:p>
                      <a:pPr marL="0" indent="0">
                        <a:lnSpc>
                          <a:spcPts val="2002"/>
                        </a:lnSpc>
                        <a:buNone/>
                      </a:pPr>
                      <a:r>
                        <a:rPr lang="en-US" sz="1430" dirty="0">
                          <a:solidFill>
                            <a:srgbClr val="B54A28"/>
                          </a:solidFill>
                          <a:latin typeface="Arial" pitchFamily="34" charset="0"/>
                          <a:ea typeface="Arial" pitchFamily="34" charset="-122"/>
                          <a:cs typeface="Arial" pitchFamily="34" charset="-120"/>
                        </a:rPr>
                        <a:t>₹512.35</a:t>
                      </a:r>
                      <a:endParaRPr lang="en-US" sz="1430" dirty="0">
                        <a:latin typeface="Arial" charset="0"/>
                        <a:ea typeface="Arial" charset="0"/>
                        <a:cs typeface="Arial" charset="0"/>
                      </a:endParaRPr>
                    </a:p>
                  </a:txBody>
                  <a:tcPr marL="63550" marR="63550" marT="63550" marB="63550">
                    <a:lnL w="12700" cap="flat" cmpd="sng" algn="ctr">
                      <a:solidFill>
                        <a:srgbClr val="C0AEA6"/>
                      </a:solidFill>
                      <a:prstDash val="solid"/>
                      <a:round/>
                      <a:headEnd type="none" w="med" len="med"/>
                      <a:tailEnd type="none" w="med" len="med"/>
                    </a:lnL>
                    <a:lnR w="12700" cap="flat" cmpd="sng" algn="ctr">
                      <a:solidFill>
                        <a:srgbClr val="C0AEA6"/>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0AEA6"/>
                      </a:solidFill>
                      <a:prstDash val="solid"/>
                      <a:round/>
                      <a:headEnd type="none" w="med" len="med"/>
                      <a:tailEnd type="none" w="med" len="med"/>
                    </a:lnB>
                    <a:solidFill>
                      <a:srgbClr val="F0D9CF"/>
                    </a:solidFill>
                  </a:tcPr>
                </a:tc>
                <a:tc>
                  <a:txBody>
                    <a:bodyPr/>
                    <a:lstStyle/>
                    <a:p>
                      <a:pPr marL="0" indent="0">
                        <a:lnSpc>
                          <a:spcPts val="2002"/>
                        </a:lnSpc>
                        <a:buNone/>
                      </a:pPr>
                      <a:r>
                        <a:rPr lang="en-US" sz="1430" dirty="0">
                          <a:solidFill>
                            <a:srgbClr val="B54A28"/>
                          </a:solidFill>
                          <a:latin typeface="Arial" pitchFamily="34" charset="0"/>
                          <a:ea typeface="Arial" pitchFamily="34" charset="-122"/>
                          <a:cs typeface="Arial" pitchFamily="34" charset="-120"/>
                        </a:rPr>
                        <a:t>64.04%</a:t>
                      </a:r>
                      <a:endParaRPr lang="en-US" sz="1430" dirty="0">
                        <a:latin typeface="Arial" charset="0"/>
                        <a:ea typeface="Arial" charset="0"/>
                        <a:cs typeface="Arial" charset="0"/>
                      </a:endParaRPr>
                    </a:p>
                  </a:txBody>
                  <a:tcPr marL="63550" marR="63550" marT="63550" marB="63550">
                    <a:lnL w="12700" cap="flat" cmpd="sng" algn="ctr">
                      <a:solidFill>
                        <a:srgbClr val="C0AEA6"/>
                      </a:solidFill>
                      <a:prstDash val="solid"/>
                      <a:round/>
                      <a:headEnd type="none" w="med" len="med"/>
                      <a:tailEnd type="none" w="med" len="med"/>
                    </a:lnL>
                    <a:lnR w="12700" cap="flat" cmpd="sng" algn="ctr">
                      <a:solidFill>
                        <a:srgbClr val="C0AEA6"/>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0AEA6"/>
                      </a:solidFill>
                      <a:prstDash val="solid"/>
                      <a:round/>
                      <a:headEnd type="none" w="med" len="med"/>
                      <a:tailEnd type="none" w="med" len="med"/>
                    </a:lnB>
                    <a:solidFill>
                      <a:srgbClr val="F0D9CF"/>
                    </a:solidFill>
                  </a:tcPr>
                </a:tc>
                <a:extLst>
                  <a:ext uri="{0D108BD9-81ED-4DB2-BD59-A6C34878D82A}">
                    <a16:rowId xmlns:a16="http://schemas.microsoft.com/office/drawing/2014/main" val="10005"/>
                  </a:ext>
                </a:extLst>
              </a:tr>
            </a:tbl>
          </a:graphicData>
        </a:graphic>
      </p:graphicFrame>
      <p:sp>
        <p:nvSpPr>
          <p:cNvPr id="4" name="Text 1"/>
          <p:cNvSpPr/>
          <p:nvPr/>
        </p:nvSpPr>
        <p:spPr>
          <a:xfrm>
            <a:off x="812800" y="4790356"/>
            <a:ext cx="3488212" cy="1077039"/>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5C5344"/>
                </a:solidFill>
                <a:latin typeface="Arial" pitchFamily="34" charset="0"/>
                <a:ea typeface="Arial" pitchFamily="34" charset="-122"/>
                <a:cs typeface="Arial" pitchFamily="34" charset="-120"/>
              </a:rPr>
              <a:t>Cost per conversion has risen </a:t>
            </a:r>
            <a:r>
              <a:rPr lang="en-US" sz="1500" b="1" dirty="0">
                <a:solidFill>
                  <a:srgbClr val="5C5344"/>
                </a:solidFill>
                <a:latin typeface="Arial" pitchFamily="34" charset="0"/>
                <a:ea typeface="Arial" pitchFamily="34" charset="-122"/>
                <a:cs typeface="Arial" pitchFamily="34" charset="-120"/>
              </a:rPr>
              <a:t>5.7×</a:t>
            </a:r>
            <a:r>
              <a:rPr lang="en-US" sz="1500" dirty="0">
                <a:solidFill>
                  <a:srgbClr val="5C5344"/>
                </a:solidFill>
                <a:latin typeface="Arial" pitchFamily="34" charset="0"/>
                <a:ea typeface="Arial" pitchFamily="34" charset="-122"/>
                <a:cs typeface="Arial" pitchFamily="34" charset="-120"/>
              </a:rPr>
              <a:t> since February, on a conversion definition that is already too generous.</a:t>
            </a:r>
            <a:endParaRPr lang="en-US" sz="1500" dirty="0"/>
          </a:p>
        </p:txBody>
      </p:sp>
      <p:sp>
        <p:nvSpPr>
          <p:cNvPr id="5" name="Text 2"/>
          <p:cNvSpPr/>
          <p:nvPr/>
        </p:nvSpPr>
        <p:spPr>
          <a:xfrm>
            <a:off x="4402614" y="4790356"/>
            <a:ext cx="3488294" cy="1077039"/>
          </a:xfrm>
          <a:prstGeom prst="rect">
            <a:avLst/>
          </a:prstGeom>
          <a:noFill/>
          <a:ln/>
        </p:spPr>
        <p:txBody>
          <a:bodyPr wrap="square" lIns="0" tIns="0" rIns="0" bIns="0" rtlCol="0" anchor="t">
            <a:normAutofit fontScale="85000" lnSpcReduction="10000"/>
          </a:bodyPr>
          <a:lstStyle/>
          <a:p>
            <a:pPr marL="0" indent="0" algn="l">
              <a:lnSpc>
                <a:spcPts val="2175"/>
              </a:lnSpc>
              <a:buNone/>
            </a:pPr>
            <a:r>
              <a:rPr lang="en-US" sz="1500" dirty="0">
                <a:solidFill>
                  <a:srgbClr val="5C5344"/>
                </a:solidFill>
                <a:latin typeface="Arial" pitchFamily="34" charset="0"/>
                <a:ea typeface="Arial" pitchFamily="34" charset="-122"/>
                <a:cs typeface="Arial" pitchFamily="34" charset="-120"/>
              </a:rPr>
              <a:t>Clicks are falling while the absolute-top share climbs to 64–66%. The account is paying more to win a shrinking pool of searches.</a:t>
            </a:r>
            <a:endParaRPr lang="en-US" sz="1500" dirty="0"/>
          </a:p>
        </p:txBody>
      </p:sp>
      <p:sp>
        <p:nvSpPr>
          <p:cNvPr id="6" name="Text 3"/>
          <p:cNvSpPr/>
          <p:nvPr/>
        </p:nvSpPr>
        <p:spPr>
          <a:xfrm>
            <a:off x="7992507" y="4790356"/>
            <a:ext cx="3488294" cy="1077039"/>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5C5344"/>
                </a:solidFill>
                <a:latin typeface="Arial" pitchFamily="34" charset="0"/>
                <a:ea typeface="Arial" pitchFamily="34" charset="-122"/>
                <a:cs typeface="Arial" pitchFamily="34" charset="-120"/>
              </a:rPr>
              <a:t>Click-through rate in those months is </a:t>
            </a:r>
            <a:r>
              <a:rPr lang="en-US" sz="1500" b="1" dirty="0">
                <a:solidFill>
                  <a:srgbClr val="5C5344"/>
                </a:solidFill>
                <a:latin typeface="Arial" pitchFamily="34" charset="0"/>
                <a:ea typeface="Arial" pitchFamily="34" charset="-122"/>
                <a:cs typeface="Arial" pitchFamily="34" charset="-120"/>
              </a:rPr>
              <a:t>19–22%</a:t>
            </a:r>
            <a:r>
              <a:rPr lang="en-US" sz="1500" dirty="0">
                <a:solidFill>
                  <a:srgbClr val="5C5344"/>
                </a:solidFill>
                <a:latin typeface="Arial" pitchFamily="34" charset="0"/>
                <a:ea typeface="Arial" pitchFamily="34" charset="-122"/>
                <a:cs typeface="Arial" pitchFamily="34" charset="-120"/>
              </a:rPr>
              <a:t>, far above a normal non-brand search campaign.</a:t>
            </a:r>
            <a:endParaRPr lang="en-US" sz="1500" dirty="0"/>
          </a:p>
        </p:txBody>
      </p:sp>
      <p:sp>
        <p:nvSpPr>
          <p:cNvPr id="7" name="Text 4"/>
          <p:cNvSpPr/>
          <p:nvPr/>
        </p:nvSpPr>
        <p:spPr>
          <a:xfrm>
            <a:off x="812800" y="6238255"/>
            <a:ext cx="253035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071"/>
                </a:solidFill>
                <a:latin typeface="Arial" pitchFamily="34" charset="0"/>
                <a:ea typeface="Arial" pitchFamily="34" charset="-122"/>
                <a:cs typeface="Arial" pitchFamily="34" charset="-120"/>
              </a:rPr>
              <a:t>Source: Google Ads, monthly report.</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2">
    <p:bg>
      <p:bgPr>
        <a:solidFill>
          <a:srgbClr val="17140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18202"/>
          </a:xfrm>
          <a:prstGeom prst="rect">
            <a:avLst/>
          </a:prstGeom>
          <a:noFill/>
          <a:ln/>
        </p:spPr>
        <p:txBody>
          <a:bodyPr wrap="square" lIns="0" tIns="0" rIns="0" bIns="0" rtlCol="0" anchor="t">
            <a:normAutofit/>
          </a:bodyPr>
          <a:lstStyle/>
          <a:p>
            <a:pPr marL="0" indent="0" algn="l">
              <a:lnSpc>
                <a:spcPts val="1519"/>
              </a:lnSpc>
              <a:buNone/>
            </a:pPr>
            <a:r>
              <a:rPr lang="en-US" sz="1085" kern="0" spc="200" dirty="0">
                <a:solidFill>
                  <a:srgbClr val="C9A63C"/>
                </a:solidFill>
                <a:latin typeface="Arial" pitchFamily="34" charset="0"/>
                <a:ea typeface="Arial" pitchFamily="34" charset="-122"/>
                <a:cs typeface="Arial" pitchFamily="34" charset="-120"/>
              </a:rPr>
              <a:t>A HYPOTHESIS, NOT A FINDING</a:t>
            </a:r>
            <a:endParaRPr lang="en-US" sz="1085" dirty="0"/>
          </a:p>
        </p:txBody>
      </p:sp>
      <p:sp>
        <p:nvSpPr>
          <p:cNvPr id="3" name="Text 1"/>
          <p:cNvSpPr/>
          <p:nvPr/>
        </p:nvSpPr>
        <p:spPr>
          <a:xfrm>
            <a:off x="812800" y="1285007"/>
            <a:ext cx="10883392" cy="934323"/>
          </a:xfrm>
          <a:prstGeom prst="rect">
            <a:avLst/>
          </a:prstGeom>
          <a:noFill/>
          <a:ln/>
        </p:spPr>
        <p:txBody>
          <a:bodyPr wrap="square" lIns="0" tIns="0" rIns="0" bIns="0" rtlCol="0" anchor="t">
            <a:normAutofit/>
          </a:bodyPr>
          <a:lstStyle/>
          <a:p>
            <a:pPr marL="0" indent="0" algn="l">
              <a:lnSpc>
                <a:spcPts val="3999"/>
              </a:lnSpc>
              <a:buNone/>
            </a:pPr>
            <a:r>
              <a:rPr lang="en-US" sz="3809" dirty="0">
                <a:solidFill>
                  <a:srgbClr val="F7F3EA"/>
                </a:solidFill>
                <a:latin typeface="Georgia" pitchFamily="34" charset="0"/>
                <a:ea typeface="Georgia" pitchFamily="34" charset="-122"/>
                <a:cs typeface="Georgia" pitchFamily="34" charset="-120"/>
              </a:rPr>
              <a:t>Is Google buying traffic Guhantara already owns?</a:t>
            </a:r>
            <a:endParaRPr lang="en-US" sz="3809" dirty="0"/>
          </a:p>
        </p:txBody>
      </p:sp>
      <p:sp>
        <p:nvSpPr>
          <p:cNvPr id="4" name="Shape 2"/>
          <p:cNvSpPr/>
          <p:nvPr/>
        </p:nvSpPr>
        <p:spPr>
          <a:xfrm>
            <a:off x="815975" y="2476500"/>
            <a:ext cx="3380264" cy="1890236"/>
          </a:xfrm>
          <a:prstGeom prst="roundRect">
            <a:avLst>
              <a:gd name="adj" fmla="val 5207"/>
            </a:avLst>
          </a:prstGeom>
          <a:solidFill>
            <a:srgbClr val="221E18"/>
          </a:solidFill>
          <a:ln w="6350">
            <a:solidFill>
              <a:srgbClr val="3A342A"/>
            </a:solidFill>
            <a:prstDash val="solid"/>
          </a:ln>
        </p:spPr>
      </p:sp>
      <p:sp>
        <p:nvSpPr>
          <p:cNvPr id="5" name="Text 3"/>
          <p:cNvSpPr/>
          <p:nvPr/>
        </p:nvSpPr>
        <p:spPr>
          <a:xfrm>
            <a:off x="1097280" y="2757810"/>
            <a:ext cx="2902183" cy="222409"/>
          </a:xfrm>
          <a:prstGeom prst="rect">
            <a:avLst/>
          </a:prstGeom>
          <a:noFill/>
          <a:ln/>
        </p:spPr>
        <p:txBody>
          <a:bodyPr wrap="square" lIns="0" tIns="0" rIns="0" bIns="0" rtlCol="0" anchor="t">
            <a:normAutofit/>
          </a:bodyPr>
          <a:lstStyle/>
          <a:p>
            <a:pPr marL="0" indent="0" algn="l">
              <a:lnSpc>
                <a:spcPts val="1572"/>
              </a:lnSpc>
              <a:buNone/>
            </a:pPr>
            <a:r>
              <a:rPr lang="en-US" sz="1310" b="1" dirty="0">
                <a:solidFill>
                  <a:srgbClr val="C9A63C"/>
                </a:solidFill>
                <a:latin typeface="Arial" pitchFamily="34" charset="0"/>
                <a:ea typeface="Arial" pitchFamily="34" charset="-122"/>
                <a:cs typeface="Arial" pitchFamily="34" charset="-120"/>
              </a:rPr>
              <a:t>The signals</a:t>
            </a:r>
            <a:endParaRPr lang="en-US" sz="1310" dirty="0"/>
          </a:p>
        </p:txBody>
      </p:sp>
      <p:sp>
        <p:nvSpPr>
          <p:cNvPr id="6" name="Text 4"/>
          <p:cNvSpPr/>
          <p:nvPr/>
        </p:nvSpPr>
        <p:spPr>
          <a:xfrm>
            <a:off x="1097280" y="3043709"/>
            <a:ext cx="2902183" cy="1067118"/>
          </a:xfrm>
          <a:prstGeom prst="rect">
            <a:avLst/>
          </a:prstGeom>
          <a:noFill/>
          <a:ln/>
        </p:spPr>
        <p:txBody>
          <a:bodyPr wrap="square" lIns="0" tIns="0" rIns="0" bIns="0" rtlCol="0" anchor="t">
            <a:normAutofit/>
          </a:bodyPr>
          <a:lstStyle/>
          <a:p>
            <a:pPr marL="0" indent="0" algn="l">
              <a:lnSpc>
                <a:spcPts val="1846"/>
              </a:lnSpc>
              <a:buNone/>
            </a:pPr>
            <a:r>
              <a:rPr lang="en-US" sz="1273" dirty="0">
                <a:solidFill>
                  <a:srgbClr val="A79C89"/>
                </a:solidFill>
                <a:latin typeface="Arial" pitchFamily="34" charset="0"/>
                <a:ea typeface="Arial" pitchFamily="34" charset="-122"/>
                <a:cs typeface="Arial" pitchFamily="34" charset="-120"/>
              </a:rPr>
              <a:t>Click-through rate of 19–22%, absolute top-of-page share above 64%, and volume in the low thousands. Generic resort searches do not behave like this.</a:t>
            </a:r>
            <a:endParaRPr lang="en-US" sz="1273" dirty="0"/>
          </a:p>
        </p:txBody>
      </p:sp>
      <p:sp>
        <p:nvSpPr>
          <p:cNvPr id="7" name="Shape 5"/>
          <p:cNvSpPr/>
          <p:nvPr/>
        </p:nvSpPr>
        <p:spPr>
          <a:xfrm>
            <a:off x="4405789" y="2476500"/>
            <a:ext cx="3380343" cy="1890236"/>
          </a:xfrm>
          <a:prstGeom prst="roundRect">
            <a:avLst>
              <a:gd name="adj" fmla="val 5207"/>
            </a:avLst>
          </a:prstGeom>
          <a:solidFill>
            <a:srgbClr val="221E18"/>
          </a:solidFill>
          <a:ln w="6350">
            <a:solidFill>
              <a:srgbClr val="3A342A"/>
            </a:solidFill>
            <a:prstDash val="solid"/>
          </a:ln>
        </p:spPr>
      </p:sp>
      <p:sp>
        <p:nvSpPr>
          <p:cNvPr id="8" name="Text 6"/>
          <p:cNvSpPr/>
          <p:nvPr/>
        </p:nvSpPr>
        <p:spPr>
          <a:xfrm>
            <a:off x="4687094" y="2757810"/>
            <a:ext cx="2902265" cy="262255"/>
          </a:xfrm>
          <a:prstGeom prst="rect">
            <a:avLst/>
          </a:prstGeom>
          <a:noFill/>
          <a:ln/>
        </p:spPr>
        <p:txBody>
          <a:bodyPr wrap="square" lIns="0" tIns="0" rIns="0" bIns="0" rtlCol="0" anchor="t">
            <a:normAutofit/>
          </a:bodyPr>
          <a:lstStyle/>
          <a:p>
            <a:pPr marL="0" indent="0" algn="l">
              <a:lnSpc>
                <a:spcPts val="1872"/>
              </a:lnSpc>
              <a:buNone/>
            </a:pPr>
            <a:r>
              <a:rPr lang="en-US" sz="1560" b="1" dirty="0">
                <a:solidFill>
                  <a:srgbClr val="C9A63C"/>
                </a:solidFill>
                <a:latin typeface="Arial" pitchFamily="34" charset="0"/>
                <a:ea typeface="Arial" pitchFamily="34" charset="-122"/>
                <a:cs typeface="Arial" pitchFamily="34" charset="-120"/>
              </a:rPr>
              <a:t>What it means</a:t>
            </a:r>
            <a:endParaRPr lang="en-US" sz="1560" dirty="0"/>
          </a:p>
        </p:txBody>
      </p:sp>
      <p:sp>
        <p:nvSpPr>
          <p:cNvPr id="9" name="Text 7"/>
          <p:cNvSpPr/>
          <p:nvPr/>
        </p:nvSpPr>
        <p:spPr>
          <a:xfrm>
            <a:off x="4687094" y="3083570"/>
            <a:ext cx="2902265" cy="1027271"/>
          </a:xfrm>
          <a:prstGeom prst="rect">
            <a:avLst/>
          </a:prstGeom>
          <a:noFill/>
          <a:ln/>
        </p:spPr>
        <p:txBody>
          <a:bodyPr wrap="square" lIns="0" tIns="0" rIns="0" bIns="0" rtlCol="0" anchor="t">
            <a:normAutofit/>
          </a:bodyPr>
          <a:lstStyle/>
          <a:p>
            <a:pPr marL="0" indent="0" algn="l">
              <a:lnSpc>
                <a:spcPts val="1979"/>
              </a:lnSpc>
              <a:buNone/>
            </a:pPr>
            <a:r>
              <a:rPr lang="en-US" sz="1365" dirty="0">
                <a:solidFill>
                  <a:srgbClr val="A79C89"/>
                </a:solidFill>
                <a:latin typeface="Arial" pitchFamily="34" charset="0"/>
                <a:ea typeface="Arial" pitchFamily="34" charset="-122"/>
                <a:cs typeface="Arial" pitchFamily="34" charset="-120"/>
              </a:rPr>
              <a:t>Spend concentrated on the brand's own name. People searching "Guhantara" were coming anyway; the click is bought, not created.</a:t>
            </a:r>
            <a:endParaRPr lang="en-US" sz="1365" dirty="0"/>
          </a:p>
        </p:txBody>
      </p:sp>
      <p:sp>
        <p:nvSpPr>
          <p:cNvPr id="10" name="Shape 8"/>
          <p:cNvSpPr/>
          <p:nvPr/>
        </p:nvSpPr>
        <p:spPr>
          <a:xfrm>
            <a:off x="7995682" y="2476500"/>
            <a:ext cx="3380343" cy="1890236"/>
          </a:xfrm>
          <a:prstGeom prst="roundRect">
            <a:avLst>
              <a:gd name="adj" fmla="val 5207"/>
            </a:avLst>
          </a:prstGeom>
          <a:solidFill>
            <a:srgbClr val="221E18"/>
          </a:solidFill>
          <a:ln w="6350">
            <a:solidFill>
              <a:srgbClr val="3A342A"/>
            </a:solidFill>
            <a:prstDash val="solid"/>
          </a:ln>
        </p:spPr>
      </p:sp>
      <p:sp>
        <p:nvSpPr>
          <p:cNvPr id="11" name="Text 9"/>
          <p:cNvSpPr/>
          <p:nvPr/>
        </p:nvSpPr>
        <p:spPr>
          <a:xfrm>
            <a:off x="8276987" y="2757810"/>
            <a:ext cx="2902265" cy="194072"/>
          </a:xfrm>
          <a:prstGeom prst="rect">
            <a:avLst/>
          </a:prstGeom>
          <a:noFill/>
          <a:ln/>
        </p:spPr>
        <p:txBody>
          <a:bodyPr wrap="square" lIns="0" tIns="0" rIns="0" bIns="0" rtlCol="0" anchor="t">
            <a:normAutofit/>
          </a:bodyPr>
          <a:lstStyle/>
          <a:p>
            <a:pPr marL="0" indent="0" algn="l">
              <a:lnSpc>
                <a:spcPts val="1374"/>
              </a:lnSpc>
              <a:buNone/>
            </a:pPr>
            <a:r>
              <a:rPr lang="en-US" sz="1145" b="1" dirty="0">
                <a:solidFill>
                  <a:srgbClr val="C9A63C"/>
                </a:solidFill>
                <a:latin typeface="Arial" pitchFamily="34" charset="0"/>
                <a:ea typeface="Arial" pitchFamily="34" charset="-122"/>
                <a:cs typeface="Arial" pitchFamily="34" charset="-120"/>
              </a:rPr>
              <a:t>Why it matters here</a:t>
            </a:r>
            <a:endParaRPr lang="en-US" sz="1145" dirty="0"/>
          </a:p>
        </p:txBody>
      </p:sp>
      <p:sp>
        <p:nvSpPr>
          <p:cNvPr id="12" name="Text 10"/>
          <p:cNvSpPr/>
          <p:nvPr/>
        </p:nvSpPr>
        <p:spPr>
          <a:xfrm>
            <a:off x="8276987" y="3015382"/>
            <a:ext cx="2902265" cy="1095454"/>
          </a:xfrm>
          <a:prstGeom prst="rect">
            <a:avLst/>
          </a:prstGeom>
          <a:noFill/>
          <a:ln/>
        </p:spPr>
        <p:txBody>
          <a:bodyPr wrap="square" lIns="0" tIns="0" rIns="0" bIns="0" rtlCol="0" anchor="t">
            <a:normAutofit/>
          </a:bodyPr>
          <a:lstStyle/>
          <a:p>
            <a:pPr marL="0" indent="0" algn="l">
              <a:lnSpc>
                <a:spcPts val="1694"/>
              </a:lnSpc>
              <a:buNone/>
            </a:pPr>
            <a:r>
              <a:rPr lang="en-US" sz="1168" dirty="0">
                <a:solidFill>
                  <a:srgbClr val="A79C89"/>
                </a:solidFill>
                <a:latin typeface="Arial" pitchFamily="34" charset="0"/>
                <a:ea typeface="Arial" pitchFamily="34" charset="-122"/>
                <a:cs typeface="Arial" pitchFamily="34" charset="-120"/>
              </a:rPr>
              <a:t>With 21,392 Google reviews, Guhantara has enormous organic brand demand. Paying to intercept it inflates the conversion count and hides how little new demand is being created.</a:t>
            </a:r>
            <a:endParaRPr lang="en-US" sz="1168" dirty="0"/>
          </a:p>
        </p:txBody>
      </p:sp>
      <p:sp>
        <p:nvSpPr>
          <p:cNvPr id="13" name="Shape 11"/>
          <p:cNvSpPr/>
          <p:nvPr/>
        </p:nvSpPr>
        <p:spPr>
          <a:xfrm>
            <a:off x="812800" y="4649316"/>
            <a:ext cx="10566400" cy="1192689"/>
          </a:xfrm>
          <a:prstGeom prst="roundRect">
            <a:avLst>
              <a:gd name="adj" fmla="val 8519"/>
            </a:avLst>
          </a:prstGeom>
          <a:solidFill>
            <a:srgbClr val="C9A63C"/>
          </a:solidFill>
          <a:ln/>
        </p:spPr>
      </p:sp>
      <p:sp>
        <p:nvSpPr>
          <p:cNvPr id="14" name="Text 12"/>
          <p:cNvSpPr/>
          <p:nvPr/>
        </p:nvSpPr>
        <p:spPr>
          <a:xfrm>
            <a:off x="1066800" y="4903316"/>
            <a:ext cx="10203180" cy="710089"/>
          </a:xfrm>
          <a:prstGeom prst="rect">
            <a:avLst/>
          </a:prstGeom>
          <a:noFill/>
          <a:ln/>
        </p:spPr>
        <p:txBody>
          <a:bodyPr wrap="square" lIns="0" tIns="0" rIns="0" bIns="0" rtlCol="0" anchor="t">
            <a:normAutofit fontScale="92500"/>
          </a:bodyPr>
          <a:lstStyle/>
          <a:p>
            <a:pPr marL="0" indent="0" algn="l">
              <a:lnSpc>
                <a:spcPts val="2320"/>
              </a:lnSpc>
              <a:buNone/>
            </a:pPr>
            <a:r>
              <a:rPr lang="en-US" sz="1600" b="1" dirty="0">
                <a:solidFill>
                  <a:srgbClr val="17140F"/>
                </a:solidFill>
                <a:latin typeface="Arial" pitchFamily="34" charset="0"/>
                <a:ea typeface="Arial" pitchFamily="34" charset="-122"/>
                <a:cs typeface="Arial" pitchFamily="34" charset="-120"/>
              </a:rPr>
              <a:t>To confirm:</a:t>
            </a:r>
            <a:r>
              <a:rPr lang="en-US" sz="1600" dirty="0">
                <a:solidFill>
                  <a:srgbClr val="17140F"/>
                </a:solidFill>
                <a:latin typeface="Arial" pitchFamily="34" charset="0"/>
                <a:ea typeface="Arial" pitchFamily="34" charset="-122"/>
                <a:cs typeface="Arial" pitchFamily="34" charset="-120"/>
              </a:rPr>
              <a:t> The Majority spends across jan01-2025 to sep29 2026 till date have been made across only two campaigns in Google that are two search campaigns and both have used brand keywords as the primary search keywords</a:t>
            </a:r>
            <a:endParaRPr lang="en-US" sz="1600" dirty="0"/>
          </a:p>
        </p:txBody>
      </p:sp>
      <p:sp>
        <p:nvSpPr>
          <p:cNvPr id="15" name="Text 13"/>
          <p:cNvSpPr/>
          <p:nvPr/>
        </p:nvSpPr>
        <p:spPr>
          <a:xfrm>
            <a:off x="812800" y="6238255"/>
            <a:ext cx="6256397"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071"/>
                </a:solidFill>
                <a:latin typeface="Arial" pitchFamily="34" charset="0"/>
                <a:ea typeface="Arial" pitchFamily="34" charset="-122"/>
                <a:cs typeface="Arial" pitchFamily="34" charset="-120"/>
              </a:rPr>
              <a:t>Stated as a hypothesis because the campaign-level export does not contain search terms.</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3">
    <p:bg>
      <p:bgPr>
        <a:solidFill>
          <a:srgbClr val="17140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94665"/>
          </a:xfrm>
          <a:prstGeom prst="rect">
            <a:avLst/>
          </a:prstGeom>
          <a:noFill/>
          <a:ln/>
        </p:spPr>
        <p:txBody>
          <a:bodyPr wrap="square" lIns="0" tIns="0" rIns="0" bIns="0" rtlCol="0" anchor="t">
            <a:normAutofit/>
          </a:bodyPr>
          <a:lstStyle/>
          <a:p>
            <a:pPr marL="0" indent="0" algn="l">
              <a:lnSpc>
                <a:spcPts val="3725"/>
              </a:lnSpc>
              <a:buNone/>
            </a:pPr>
            <a:r>
              <a:rPr lang="en-US" sz="3548" dirty="0">
                <a:solidFill>
                  <a:srgbClr val="C9A63C"/>
                </a:solidFill>
                <a:latin typeface="Georgia" pitchFamily="34" charset="0"/>
                <a:ea typeface="Georgia" pitchFamily="34" charset="-122"/>
                <a:cs typeface="Georgia" pitchFamily="34" charset="-120"/>
              </a:rPr>
              <a:t>Google: what we would change</a:t>
            </a:r>
            <a:endParaRPr lang="en-US" sz="3548"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1476240"/>
          <a:ext cx="10556240" cy="2843973"/>
        </p:xfrm>
        <a:graphic>
          <a:graphicData uri="http://schemas.openxmlformats.org/drawingml/2006/table">
            <a:tbl>
              <a:tblPr/>
              <a:tblGrid>
                <a:gridCol w="1055624">
                  <a:extLst>
                    <a:ext uri="{9D8B030D-6E8A-4147-A177-3AD203B41FA5}">
                      <a16:colId xmlns:a16="http://schemas.microsoft.com/office/drawing/2014/main" val="20000"/>
                    </a:ext>
                  </a:extLst>
                </a:gridCol>
                <a:gridCol w="4644746">
                  <a:extLst>
                    <a:ext uri="{9D8B030D-6E8A-4147-A177-3AD203B41FA5}">
                      <a16:colId xmlns:a16="http://schemas.microsoft.com/office/drawing/2014/main" val="20001"/>
                    </a:ext>
                  </a:extLst>
                </a:gridCol>
                <a:gridCol w="4855870">
                  <a:extLst>
                    <a:ext uri="{9D8B030D-6E8A-4147-A177-3AD203B41FA5}">
                      <a16:colId xmlns:a16="http://schemas.microsoft.com/office/drawing/2014/main" val="20002"/>
                    </a:ext>
                  </a:extLst>
                </a:gridCol>
              </a:tblGrid>
              <a:tr h="300000">
                <a:tc>
                  <a:txBody>
                    <a:bodyPr/>
                    <a:lstStyle/>
                    <a:p>
                      <a:pPr marL="0" indent="0">
                        <a:lnSpc>
                          <a:spcPts val="1360"/>
                        </a:lnSpc>
                        <a:buNone/>
                      </a:pPr>
                      <a:r>
                        <a:rPr lang="en-US" sz="1000" b="1" dirty="0">
                          <a:solidFill>
                            <a:srgbClr val="F7F3EA"/>
                          </a:solidFill>
                          <a:latin typeface="Arial" pitchFamily="34" charset="0"/>
                          <a:ea typeface="Arial" pitchFamily="34" charset="-122"/>
                          <a:cs typeface="Arial" pitchFamily="34" charset="-120"/>
                        </a:rPr>
                        <a:t>When</a:t>
                      </a:r>
                      <a:endParaRPr lang="en-US" sz="10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645F57"/>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645F57"/>
                      </a:solidFill>
                      <a:prstDash val="solid"/>
                      <a:round/>
                      <a:headEnd type="none" w="med" len="med"/>
                      <a:tailEnd type="none" w="med" len="med"/>
                    </a:lnB>
                    <a:solidFill>
                      <a:srgbClr val="3A342A"/>
                    </a:solidFill>
                  </a:tcPr>
                </a:tc>
                <a:tc>
                  <a:txBody>
                    <a:bodyPr/>
                    <a:lstStyle/>
                    <a:p>
                      <a:pPr marL="0" indent="0">
                        <a:lnSpc>
                          <a:spcPts val="1360"/>
                        </a:lnSpc>
                        <a:buNone/>
                      </a:pPr>
                      <a:r>
                        <a:rPr lang="en-US" sz="1000" b="1" dirty="0">
                          <a:solidFill>
                            <a:srgbClr val="F7F3EA"/>
                          </a:solidFill>
                          <a:latin typeface="Arial" pitchFamily="34" charset="0"/>
                          <a:ea typeface="Arial" pitchFamily="34" charset="-122"/>
                          <a:cs typeface="Arial" pitchFamily="34" charset="-120"/>
                        </a:rPr>
                        <a:t>Change</a:t>
                      </a:r>
                      <a:endParaRPr lang="en-US" sz="1000" dirty="0">
                        <a:latin typeface="Arial" charset="0"/>
                        <a:ea typeface="Arial" charset="0"/>
                        <a:cs typeface="Arial" charset="0"/>
                      </a:endParaRPr>
                    </a:p>
                  </a:txBody>
                  <a:tcPr marL="51965" marR="51965" marT="51965" marB="51965">
                    <a:lnL w="12700" cap="flat" cmpd="sng" algn="ctr">
                      <a:solidFill>
                        <a:srgbClr val="645F57"/>
                      </a:solidFill>
                      <a:prstDash val="solid"/>
                      <a:round/>
                      <a:headEnd type="none" w="med" len="med"/>
                      <a:tailEnd type="none" w="med" len="med"/>
                    </a:lnL>
                    <a:lnR w="12700" cap="flat" cmpd="sng" algn="ctr">
                      <a:solidFill>
                        <a:srgbClr val="645F57"/>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645F57"/>
                      </a:solidFill>
                      <a:prstDash val="solid"/>
                      <a:round/>
                      <a:headEnd type="none" w="med" len="med"/>
                      <a:tailEnd type="none" w="med" len="med"/>
                    </a:lnB>
                    <a:solidFill>
                      <a:srgbClr val="3A342A"/>
                    </a:solidFill>
                  </a:tcPr>
                </a:tc>
                <a:tc>
                  <a:txBody>
                    <a:bodyPr/>
                    <a:lstStyle/>
                    <a:p>
                      <a:pPr marL="0" indent="0">
                        <a:lnSpc>
                          <a:spcPts val="1360"/>
                        </a:lnSpc>
                        <a:buNone/>
                      </a:pPr>
                      <a:r>
                        <a:rPr lang="en-US" sz="1000" b="1" dirty="0">
                          <a:solidFill>
                            <a:srgbClr val="F7F3EA"/>
                          </a:solidFill>
                          <a:latin typeface="Arial" pitchFamily="34" charset="0"/>
                          <a:ea typeface="Arial" pitchFamily="34" charset="-122"/>
                          <a:cs typeface="Arial" pitchFamily="34" charset="-120"/>
                        </a:rPr>
                        <a:t>Why, from this audit</a:t>
                      </a:r>
                      <a:endParaRPr lang="en-US" sz="1000" dirty="0">
                        <a:latin typeface="Arial" charset="0"/>
                        <a:ea typeface="Arial" charset="0"/>
                        <a:cs typeface="Arial" charset="0"/>
                      </a:endParaRPr>
                    </a:p>
                  </a:txBody>
                  <a:tcPr marL="51965" marR="51965" marT="51965" marB="51965">
                    <a:lnL w="12700" cap="flat" cmpd="sng" algn="ctr">
                      <a:solidFill>
                        <a:srgbClr val="645F57"/>
                      </a:solidFill>
                      <a:prstDash val="solid"/>
                      <a:round/>
                      <a:headEnd type="none" w="med" len="med"/>
                      <a:tailEnd type="none" w="med" len="med"/>
                    </a:lnL>
                    <a:lnR w="12700" cap="flat" cmpd="sng" algn="ctr">
                      <a:solidFill>
                        <a:srgbClr val="645F57"/>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645F57"/>
                      </a:solidFill>
                      <a:prstDash val="solid"/>
                      <a:round/>
                      <a:headEnd type="none" w="med" len="med"/>
                      <a:tailEnd type="none" w="med" len="med"/>
                    </a:lnB>
                    <a:solidFill>
                      <a:srgbClr val="3A342A"/>
                    </a:solidFill>
                  </a:tcPr>
                </a:tc>
                <a:extLst>
                  <a:ext uri="{0D108BD9-81ED-4DB2-BD59-A6C34878D82A}">
                    <a16:rowId xmlns:a16="http://schemas.microsoft.com/office/drawing/2014/main" val="10000"/>
                  </a:ext>
                </a:extLst>
              </a:tr>
              <a:tr h="300000">
                <a:tc>
                  <a:txBody>
                    <a:bodyPr/>
                    <a:lstStyle/>
                    <a:p>
                      <a:pPr marL="0" indent="0">
                        <a:lnSpc>
                          <a:spcPts val="1360"/>
                        </a:lnSpc>
                        <a:buNone/>
                      </a:pPr>
                      <a:r>
                        <a:rPr lang="en-US" sz="1000" dirty="0">
                          <a:solidFill>
                            <a:srgbClr val="F7F3EA"/>
                          </a:solidFill>
                          <a:latin typeface="Arial" pitchFamily="34" charset="0"/>
                          <a:ea typeface="Arial" pitchFamily="34" charset="-122"/>
                          <a:cs typeface="Arial" pitchFamily="34" charset="-120"/>
                        </a:rPr>
                        <a:t>Week 1</a:t>
                      </a:r>
                      <a:endParaRPr lang="en-US" sz="10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645F57"/>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360"/>
                        </a:lnSpc>
                        <a:buNone/>
                      </a:pPr>
                      <a:r>
                        <a:rPr lang="en-US" sz="1000" dirty="0">
                          <a:solidFill>
                            <a:srgbClr val="F7F3EA"/>
                          </a:solidFill>
                          <a:latin typeface="Arial" pitchFamily="34" charset="0"/>
                          <a:ea typeface="Arial" pitchFamily="34" charset="-122"/>
                          <a:cs typeface="Arial" pitchFamily="34" charset="-120"/>
                        </a:rPr>
                        <a:t>Audit every conversion action; retire the ones that are not a booking or an enquiry</a:t>
                      </a:r>
                      <a:endParaRPr lang="en-US" sz="10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645F57"/>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360"/>
                        </a:lnSpc>
                        <a:buNone/>
                      </a:pPr>
                      <a:r>
                        <a:rPr lang="en-US" sz="1000" dirty="0">
                          <a:solidFill>
                            <a:srgbClr val="F7F3EA"/>
                          </a:solidFill>
                          <a:latin typeface="Arial" pitchFamily="34" charset="0"/>
                          <a:ea typeface="Arial" pitchFamily="34" charset="-122"/>
                          <a:cs typeface="Arial" pitchFamily="34" charset="-120"/>
                        </a:rPr>
                        <a:t>51,289 conversions, ₹59.89 each, one month holding 67% of them</a:t>
                      </a:r>
                      <a:endParaRPr lang="en-US" sz="10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645F57"/>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extLst>
                  <a:ext uri="{0D108BD9-81ED-4DB2-BD59-A6C34878D82A}">
                    <a16:rowId xmlns:a16="http://schemas.microsoft.com/office/drawing/2014/main" val="10001"/>
                  </a:ext>
                </a:extLst>
              </a:tr>
              <a:tr h="300000">
                <a:tc>
                  <a:txBody>
                    <a:bodyPr/>
                    <a:lstStyle/>
                    <a:p>
                      <a:pPr marL="0" indent="0">
                        <a:lnSpc>
                          <a:spcPts val="1360"/>
                        </a:lnSpc>
                        <a:buNone/>
                      </a:pPr>
                      <a:r>
                        <a:rPr lang="en-US" sz="1000" dirty="0">
                          <a:solidFill>
                            <a:srgbClr val="F7F3EA"/>
                          </a:solidFill>
                          <a:latin typeface="Arial" pitchFamily="34" charset="0"/>
                          <a:ea typeface="Arial" pitchFamily="34" charset="-122"/>
                          <a:cs typeface="Arial" pitchFamily="34" charset="-120"/>
                        </a:rPr>
                        <a:t>Week 1</a:t>
                      </a:r>
                      <a:endParaRPr lang="en-US" sz="10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360"/>
                        </a:lnSpc>
                        <a:buNone/>
                      </a:pPr>
                      <a:r>
                        <a:rPr lang="en-US" sz="1000" dirty="0">
                          <a:solidFill>
                            <a:srgbClr val="F7F3EA"/>
                          </a:solidFill>
                          <a:latin typeface="Arial" pitchFamily="34" charset="0"/>
                          <a:ea typeface="Arial" pitchFamily="34" charset="-122"/>
                          <a:cs typeface="Arial" pitchFamily="34" charset="-120"/>
                        </a:rPr>
                        <a:t>Separate Demand Gen from Search in all reporting</a:t>
                      </a:r>
                      <a:endParaRPr lang="en-US" sz="10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360"/>
                        </a:lnSpc>
                        <a:buNone/>
                      </a:pPr>
                      <a:r>
                        <a:rPr lang="en-US" sz="1000" dirty="0">
                          <a:solidFill>
                            <a:srgbClr val="F7F3EA"/>
                          </a:solidFill>
                          <a:latin typeface="Arial" pitchFamily="34" charset="0"/>
                          <a:ea typeface="Arial" pitchFamily="34" charset="-122"/>
                          <a:cs typeface="Arial" pitchFamily="34" charset="-120"/>
                        </a:rPr>
                        <a:t>0.9% of spend claiming 67.4% of conversions at ₹0.80</a:t>
                      </a:r>
                      <a:endParaRPr lang="en-US" sz="10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extLst>
                  <a:ext uri="{0D108BD9-81ED-4DB2-BD59-A6C34878D82A}">
                    <a16:rowId xmlns:a16="http://schemas.microsoft.com/office/drawing/2014/main" val="10002"/>
                  </a:ext>
                </a:extLst>
              </a:tr>
              <a:tr h="300000">
                <a:tc>
                  <a:txBody>
                    <a:bodyPr/>
                    <a:lstStyle/>
                    <a:p>
                      <a:pPr marL="0" indent="0">
                        <a:lnSpc>
                          <a:spcPts val="1360"/>
                        </a:lnSpc>
                        <a:buNone/>
                      </a:pPr>
                      <a:r>
                        <a:rPr lang="en-US" sz="1000" dirty="0">
                          <a:solidFill>
                            <a:srgbClr val="F7F3EA"/>
                          </a:solidFill>
                          <a:latin typeface="Arial" pitchFamily="34" charset="0"/>
                          <a:ea typeface="Arial" pitchFamily="34" charset="-122"/>
                          <a:cs typeface="Arial" pitchFamily="34" charset="-120"/>
                        </a:rPr>
                        <a:t>Week 1</a:t>
                      </a:r>
                      <a:endParaRPr lang="en-US" sz="10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360"/>
                        </a:lnSpc>
                        <a:buNone/>
                      </a:pPr>
                      <a:r>
                        <a:rPr lang="en-US" sz="1000" dirty="0">
                          <a:solidFill>
                            <a:srgbClr val="F7F3EA"/>
                          </a:solidFill>
                          <a:latin typeface="Arial" pitchFamily="34" charset="0"/>
                          <a:ea typeface="Arial" pitchFamily="34" charset="-122"/>
                          <a:cs typeface="Arial" pitchFamily="34" charset="-120"/>
                        </a:rPr>
                        <a:t>Pull the search terms report, split brand from non-brand</a:t>
                      </a:r>
                      <a:endParaRPr lang="en-US" sz="10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360"/>
                        </a:lnSpc>
                        <a:buNone/>
                      </a:pPr>
                      <a:r>
                        <a:rPr lang="en-US" sz="1000" dirty="0">
                          <a:solidFill>
                            <a:srgbClr val="F7F3EA"/>
                          </a:solidFill>
                          <a:latin typeface="Arial" pitchFamily="34" charset="0"/>
                          <a:ea typeface="Arial" pitchFamily="34" charset="-122"/>
                          <a:cs typeface="Arial" pitchFamily="34" charset="-120"/>
                        </a:rPr>
                        <a:t>19–22% CTR and 64% absolute top share suggest brand-heavy spend</a:t>
                      </a:r>
                      <a:endParaRPr lang="en-US" sz="10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extLst>
                  <a:ext uri="{0D108BD9-81ED-4DB2-BD59-A6C34878D82A}">
                    <a16:rowId xmlns:a16="http://schemas.microsoft.com/office/drawing/2014/main" val="10003"/>
                  </a:ext>
                </a:extLst>
              </a:tr>
              <a:tr h="300000">
                <a:tc>
                  <a:txBody>
                    <a:bodyPr/>
                    <a:lstStyle/>
                    <a:p>
                      <a:pPr marL="0" indent="0">
                        <a:lnSpc>
                          <a:spcPts val="1360"/>
                        </a:lnSpc>
                        <a:buNone/>
                      </a:pPr>
                      <a:r>
                        <a:rPr lang="en-US" sz="1000" dirty="0">
                          <a:solidFill>
                            <a:srgbClr val="F7F3EA"/>
                          </a:solidFill>
                          <a:latin typeface="Arial" pitchFamily="34" charset="0"/>
                          <a:ea typeface="Arial" pitchFamily="34" charset="-122"/>
                          <a:cs typeface="Arial" pitchFamily="34" charset="-120"/>
                        </a:rPr>
                        <a:t>Week 1</a:t>
                      </a:r>
                      <a:endParaRPr lang="en-US" sz="10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360"/>
                        </a:lnSpc>
                        <a:buNone/>
                      </a:pPr>
                      <a:r>
                        <a:rPr lang="en-US" sz="1000" dirty="0">
                          <a:solidFill>
                            <a:srgbClr val="F7F3EA"/>
                          </a:solidFill>
                          <a:latin typeface="Arial" pitchFamily="34" charset="0"/>
                          <a:ea typeface="Arial" pitchFamily="34" charset="-122"/>
                          <a:cs typeface="Arial" pitchFamily="34" charset="-120"/>
                        </a:rPr>
                        <a:t>Build and launch a landing page made for paid traffic</a:t>
                      </a:r>
                      <a:endParaRPr lang="en-US" sz="10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360"/>
                        </a:lnSpc>
                        <a:buNone/>
                      </a:pPr>
                      <a:r>
                        <a:rPr lang="en-US" sz="1000" dirty="0">
                          <a:solidFill>
                            <a:srgbClr val="F7F3EA"/>
                          </a:solidFill>
                          <a:latin typeface="Arial" pitchFamily="34" charset="0"/>
                          <a:ea typeface="Arial" pitchFamily="34" charset="-122"/>
                          <a:cs typeface="Arial" pitchFamily="34" charset="-120"/>
                        </a:rPr>
                        <a:t>One URL serves day-out and rooms alike, so no page matches the search intent</a:t>
                      </a:r>
                      <a:endParaRPr lang="en-US" sz="10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extLst>
                  <a:ext uri="{0D108BD9-81ED-4DB2-BD59-A6C34878D82A}">
                    <a16:rowId xmlns:a16="http://schemas.microsoft.com/office/drawing/2014/main" val="1642861996"/>
                  </a:ext>
                </a:extLst>
              </a:tr>
              <a:tr h="300000">
                <a:tc>
                  <a:txBody>
                    <a:bodyPr/>
                    <a:lstStyle/>
                    <a:p>
                      <a:pPr marL="0" indent="0">
                        <a:lnSpc>
                          <a:spcPts val="1360"/>
                        </a:lnSpc>
                        <a:buNone/>
                      </a:pPr>
                      <a:r>
                        <a:rPr lang="en-US" sz="1000" dirty="0">
                          <a:solidFill>
                            <a:srgbClr val="F7F3EA"/>
                          </a:solidFill>
                          <a:latin typeface="Arial" pitchFamily="34" charset="0"/>
                          <a:ea typeface="Arial" pitchFamily="34" charset="-122"/>
                          <a:cs typeface="Arial" pitchFamily="34" charset="-120"/>
                        </a:rPr>
                        <a:t>Week 2</a:t>
                      </a:r>
                      <a:endParaRPr lang="en-US" sz="10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360"/>
                        </a:lnSpc>
                        <a:buNone/>
                      </a:pPr>
                      <a:r>
                        <a:rPr lang="en-US" sz="1000" dirty="0">
                          <a:solidFill>
                            <a:srgbClr val="F7F3EA"/>
                          </a:solidFill>
                          <a:latin typeface="Arial" pitchFamily="34" charset="0"/>
                          <a:ea typeface="Arial" pitchFamily="34" charset="-122"/>
                          <a:cs typeface="Arial" pitchFamily="34" charset="-120"/>
                        </a:rPr>
                        <a:t>Assign real rupee values to each conversion type</a:t>
                      </a:r>
                      <a:endParaRPr lang="en-US" sz="10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360"/>
                        </a:lnSpc>
                        <a:buNone/>
                      </a:pPr>
                      <a:r>
                        <a:rPr lang="en-US" sz="1000" dirty="0">
                          <a:solidFill>
                            <a:srgbClr val="F7F3EA"/>
                          </a:solidFill>
                          <a:latin typeface="Arial" pitchFamily="34" charset="0"/>
                          <a:ea typeface="Arial" pitchFamily="34" charset="-122"/>
                          <a:cs typeface="Arial" pitchFamily="34" charset="-120"/>
                        </a:rPr>
                        <a:t>Conversion value is a copy of the count in most months</a:t>
                      </a:r>
                      <a:endParaRPr lang="en-US" sz="10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extLst>
                  <a:ext uri="{0D108BD9-81ED-4DB2-BD59-A6C34878D82A}">
                    <a16:rowId xmlns:a16="http://schemas.microsoft.com/office/drawing/2014/main" val="10004"/>
                  </a:ext>
                </a:extLst>
              </a:tr>
              <a:tr h="300000">
                <a:tc>
                  <a:txBody>
                    <a:bodyPr/>
                    <a:lstStyle/>
                    <a:p>
                      <a:pPr marL="0" indent="0">
                        <a:lnSpc>
                          <a:spcPts val="1360"/>
                        </a:lnSpc>
                        <a:buNone/>
                      </a:pPr>
                      <a:r>
                        <a:rPr lang="en-US" sz="1000" dirty="0">
                          <a:solidFill>
                            <a:srgbClr val="F7F3EA"/>
                          </a:solidFill>
                          <a:latin typeface="Arial" pitchFamily="34" charset="0"/>
                          <a:ea typeface="Arial" pitchFamily="34" charset="-122"/>
                          <a:cs typeface="Arial" pitchFamily="34" charset="-120"/>
                        </a:rPr>
                        <a:t>Week 2</a:t>
                      </a:r>
                      <a:endParaRPr lang="en-US" sz="10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360"/>
                        </a:lnSpc>
                        <a:buNone/>
                      </a:pPr>
                      <a:r>
                        <a:rPr lang="en-US" sz="1000" dirty="0">
                          <a:solidFill>
                            <a:srgbClr val="F7F3EA"/>
                          </a:solidFill>
                          <a:latin typeface="Arial" pitchFamily="34" charset="0"/>
                          <a:ea typeface="Arial" pitchFamily="34" charset="-122"/>
                          <a:cs typeface="Arial" pitchFamily="34" charset="-120"/>
                        </a:rPr>
                        <a:t>Define primary against secondary conversions so bidding optimises to bookings</a:t>
                      </a:r>
                      <a:endParaRPr lang="en-US" sz="10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360"/>
                        </a:lnSpc>
                        <a:buNone/>
                      </a:pPr>
                      <a:r>
                        <a:rPr lang="en-US" sz="1000" dirty="0">
                          <a:solidFill>
                            <a:srgbClr val="F7F3EA"/>
                          </a:solidFill>
                          <a:latin typeface="Arial" pitchFamily="34" charset="0"/>
                          <a:ea typeface="Arial" pitchFamily="34" charset="-122"/>
                          <a:cs typeface="Arial" pitchFamily="34" charset="-120"/>
                        </a:rPr>
                        <a:t>Everything currently counts equally, so Google optimises to the cheapest event</a:t>
                      </a:r>
                      <a:endParaRPr lang="en-US" sz="10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extLst>
                  <a:ext uri="{0D108BD9-81ED-4DB2-BD59-A6C34878D82A}">
                    <a16:rowId xmlns:a16="http://schemas.microsoft.com/office/drawing/2014/main" val="10005"/>
                  </a:ext>
                </a:extLst>
              </a:tr>
              <a:tr h="300000">
                <a:tc>
                  <a:txBody>
                    <a:bodyPr/>
                    <a:lstStyle/>
                    <a:p>
                      <a:pPr marL="0" indent="0">
                        <a:lnSpc>
                          <a:spcPts val="1360"/>
                        </a:lnSpc>
                        <a:buNone/>
                      </a:pPr>
                      <a:r>
                        <a:rPr lang="en-US" sz="1000" dirty="0">
                          <a:solidFill>
                            <a:srgbClr val="F7F3EA"/>
                          </a:solidFill>
                          <a:latin typeface="Arial" pitchFamily="34" charset="0"/>
                          <a:ea typeface="Arial" pitchFamily="34" charset="-122"/>
                          <a:cs typeface="Arial" pitchFamily="34" charset="-120"/>
                        </a:rPr>
                        <a:t>Week 3</a:t>
                      </a:r>
                      <a:endParaRPr lang="en-US" sz="10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360"/>
                        </a:lnSpc>
                        <a:buNone/>
                      </a:pPr>
                      <a:r>
                        <a:rPr lang="en-US" sz="1000" dirty="0">
                          <a:solidFill>
                            <a:srgbClr val="F7F3EA"/>
                          </a:solidFill>
                          <a:latin typeface="Arial" pitchFamily="34" charset="0"/>
                          <a:ea typeface="Arial" pitchFamily="34" charset="-122"/>
                          <a:cs typeface="Arial" pitchFamily="34" charset="-120"/>
                        </a:rPr>
                        <a:t>Rebuild campaigns by product and by intent, with matched landing pages</a:t>
                      </a:r>
                      <a:endParaRPr lang="en-US" sz="10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360"/>
                        </a:lnSpc>
                        <a:buNone/>
                      </a:pPr>
                      <a:r>
                        <a:rPr lang="en-US" sz="1000" dirty="0">
                          <a:solidFill>
                            <a:srgbClr val="F7F3EA"/>
                          </a:solidFill>
                          <a:latin typeface="Arial" pitchFamily="34" charset="0"/>
                          <a:ea typeface="Arial" pitchFamily="34" charset="-122"/>
                          <a:cs typeface="Arial" pitchFamily="34" charset="-120"/>
                        </a:rPr>
                        <a:t>One URL serves day-out and rooms alike</a:t>
                      </a:r>
                      <a:endParaRPr lang="en-US" sz="10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extLst>
                  <a:ext uri="{0D108BD9-81ED-4DB2-BD59-A6C34878D82A}">
                    <a16:rowId xmlns:a16="http://schemas.microsoft.com/office/drawing/2014/main" val="10006"/>
                  </a:ext>
                </a:extLst>
              </a:tr>
              <a:tr h="300000">
                <a:tc>
                  <a:txBody>
                    <a:bodyPr/>
                    <a:lstStyle/>
                    <a:p>
                      <a:pPr marL="0" indent="0">
                        <a:lnSpc>
                          <a:spcPts val="1360"/>
                        </a:lnSpc>
                        <a:buNone/>
                      </a:pPr>
                      <a:r>
                        <a:rPr lang="en-US" sz="1000" dirty="0">
                          <a:solidFill>
                            <a:srgbClr val="F7F3EA"/>
                          </a:solidFill>
                          <a:latin typeface="Arial" pitchFamily="34" charset="0"/>
                          <a:ea typeface="Arial" pitchFamily="34" charset="-122"/>
                          <a:cs typeface="Arial" pitchFamily="34" charset="-120"/>
                        </a:rPr>
                        <a:t>Week 4</a:t>
                      </a:r>
                      <a:endParaRPr lang="en-US" sz="10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360"/>
                        </a:lnSpc>
                        <a:buNone/>
                      </a:pPr>
                      <a:r>
                        <a:rPr lang="en-US" sz="1000" dirty="0">
                          <a:solidFill>
                            <a:srgbClr val="F7F3EA"/>
                          </a:solidFill>
                          <a:latin typeface="Arial" pitchFamily="34" charset="0"/>
                          <a:ea typeface="Arial" pitchFamily="34" charset="-122"/>
                          <a:cs typeface="Arial" pitchFamily="34" charset="-120"/>
                        </a:rPr>
                        <a:t>Re-baseline. Report cost per qualified enquiry, not cost per conversion</a:t>
                      </a:r>
                      <a:endParaRPr lang="en-US" sz="10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360"/>
                        </a:lnSpc>
                        <a:buNone/>
                      </a:pPr>
                      <a:r>
                        <a:rPr lang="en-US" sz="1000" dirty="0">
                          <a:solidFill>
                            <a:srgbClr val="F7F3EA"/>
                          </a:solidFill>
                          <a:latin typeface="Arial" pitchFamily="34" charset="0"/>
                          <a:ea typeface="Arial" pitchFamily="34" charset="-122"/>
                          <a:cs typeface="Arial" pitchFamily="34" charset="-120"/>
                        </a:rPr>
                        <a:t>Nothing before the fix is comparable with anything after it</a:t>
                      </a:r>
                      <a:endParaRPr lang="en-US" sz="10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4" name="Text 1"/>
          <p:cNvSpPr/>
          <p:nvPr/>
        </p:nvSpPr>
        <p:spPr>
          <a:xfrm>
            <a:off x="812800" y="5370686"/>
            <a:ext cx="10333990" cy="496729"/>
          </a:xfrm>
          <a:prstGeom prst="rect">
            <a:avLst/>
          </a:prstGeom>
          <a:noFill/>
          <a:ln/>
        </p:spPr>
        <p:txBody>
          <a:bodyPr wrap="square" lIns="0" tIns="0" rIns="0" bIns="0" rtlCol="0" anchor="t">
            <a:normAutofit/>
          </a:bodyPr>
          <a:lstStyle/>
          <a:p>
            <a:pPr marL="0" indent="0" algn="l">
              <a:lnSpc>
                <a:spcPts val="1856"/>
              </a:lnSpc>
              <a:buNone/>
            </a:pPr>
            <a:r>
              <a:rPr lang="en-US" sz="1280" dirty="0">
                <a:solidFill>
                  <a:srgbClr val="A79C89"/>
                </a:solidFill>
                <a:latin typeface="Arial" pitchFamily="34" charset="0"/>
                <a:ea typeface="Arial" pitchFamily="34" charset="-122"/>
                <a:cs typeface="Arial" pitchFamily="34" charset="-120"/>
              </a:rPr>
              <a:t>Expect the reported conversion count to </a:t>
            </a:r>
            <a:r>
              <a:rPr lang="en-US" sz="1280" b="1" dirty="0">
                <a:solidFill>
                  <a:srgbClr val="A79C89"/>
                </a:solidFill>
                <a:latin typeface="Arial" pitchFamily="34" charset="0"/>
                <a:ea typeface="Arial" pitchFamily="34" charset="-122"/>
                <a:cs typeface="Arial" pitchFamily="34" charset="-120"/>
              </a:rPr>
              <a:t>fall sharply</a:t>
            </a:r>
            <a:r>
              <a:rPr lang="en-US" sz="1280" dirty="0">
                <a:solidFill>
                  <a:srgbClr val="A79C89"/>
                </a:solidFill>
                <a:latin typeface="Arial" pitchFamily="34" charset="0"/>
                <a:ea typeface="Arial" pitchFamily="34" charset="-122"/>
                <a:cs typeface="Arial" pitchFamily="34" charset="-120"/>
              </a:rPr>
              <a:t> once this is done. That is the fix working, not performance dropping, and the client should be told before it happens.</a:t>
            </a:r>
            <a:endParaRPr lang="en-US" sz="1280" dirty="0"/>
          </a:p>
        </p:txBody>
      </p:sp>
      <p:sp>
        <p:nvSpPr>
          <p:cNvPr id="5" name="Text 2"/>
          <p:cNvSpPr/>
          <p:nvPr/>
        </p:nvSpPr>
        <p:spPr>
          <a:xfrm>
            <a:off x="812800" y="6238255"/>
            <a:ext cx="35514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071"/>
                </a:solidFill>
                <a:latin typeface="Arial" pitchFamily="34" charset="0"/>
                <a:ea typeface="Arial" pitchFamily="34" charset="-122"/>
                <a:cs typeface="Arial" pitchFamily="34" charset="-120"/>
              </a:rPr>
              <a:t>Sequencing assumes account access in week one.</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4">
    <p:bg>
      <p:bgPr>
        <a:solidFill>
          <a:srgbClr val="C9A63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43126"/>
          </a:xfrm>
          <a:prstGeom prst="rect">
            <a:avLst/>
          </a:prstGeom>
          <a:noFill/>
          <a:ln/>
        </p:spPr>
        <p:txBody>
          <a:bodyPr wrap="square" lIns="0" tIns="0" rIns="0" bIns="0" rtlCol="0" anchor="t">
            <a:normAutofit/>
          </a:bodyPr>
          <a:lstStyle/>
          <a:p>
            <a:pPr marL="0" indent="0" algn="l">
              <a:lnSpc>
                <a:spcPts val="1723"/>
              </a:lnSpc>
              <a:buNone/>
            </a:pPr>
            <a:r>
              <a:rPr lang="en-US" sz="1231" kern="0" spc="200" dirty="0">
                <a:solidFill>
                  <a:srgbClr val="17140F"/>
                </a:solidFill>
                <a:latin typeface="Arial" pitchFamily="34" charset="0"/>
                <a:ea typeface="Arial" pitchFamily="34" charset="-122"/>
                <a:cs typeface="Arial" pitchFamily="34" charset="-120"/>
              </a:rPr>
              <a:t>SECTION FOUR</a:t>
            </a:r>
            <a:endParaRPr lang="en-US" sz="1231" dirty="0"/>
          </a:p>
        </p:txBody>
      </p:sp>
      <p:sp>
        <p:nvSpPr>
          <p:cNvPr id="3" name="Text 1"/>
          <p:cNvSpPr/>
          <p:nvPr/>
        </p:nvSpPr>
        <p:spPr>
          <a:xfrm>
            <a:off x="812800" y="1284536"/>
            <a:ext cx="10464800" cy="2351008"/>
          </a:xfrm>
          <a:prstGeom prst="rect">
            <a:avLst/>
          </a:prstGeom>
          <a:noFill/>
          <a:ln/>
        </p:spPr>
        <p:txBody>
          <a:bodyPr wrap="square" lIns="0" tIns="0" rIns="0" bIns="0" rtlCol="0" anchor="t">
            <a:normAutofit/>
          </a:bodyPr>
          <a:lstStyle/>
          <a:p>
            <a:pPr marL="0" indent="0" algn="l">
              <a:lnSpc>
                <a:spcPts val="6095"/>
              </a:lnSpc>
              <a:buNone/>
            </a:pPr>
            <a:r>
              <a:rPr lang="en-US" sz="5644" dirty="0">
                <a:solidFill>
                  <a:srgbClr val="17140F"/>
                </a:solidFill>
                <a:latin typeface="Georgia" pitchFamily="34" charset="0"/>
                <a:ea typeface="Georgia" pitchFamily="34" charset="-122"/>
                <a:cs typeface="Georgia" pitchFamily="34" charset="-120"/>
              </a:rPr>
              <a:t>Both accounts are broken in the same place, and it is not in the accounts.</a:t>
            </a:r>
            <a:endParaRPr lang="en-US" sz="5644" dirty="0"/>
          </a:p>
        </p:txBody>
      </p:sp>
      <p:sp>
        <p:nvSpPr>
          <p:cNvPr id="4" name="Shape 2"/>
          <p:cNvSpPr/>
          <p:nvPr/>
        </p:nvSpPr>
        <p:spPr>
          <a:xfrm>
            <a:off x="812800" y="3864149"/>
            <a:ext cx="2508250" cy="1134110"/>
          </a:xfrm>
          <a:prstGeom prst="roundRect">
            <a:avLst>
              <a:gd name="adj" fmla="val 8959"/>
            </a:avLst>
          </a:prstGeom>
          <a:solidFill>
            <a:srgbClr val="17140F"/>
          </a:solidFill>
          <a:ln/>
        </p:spPr>
      </p:sp>
      <p:sp>
        <p:nvSpPr>
          <p:cNvPr id="5" name="Text 3"/>
          <p:cNvSpPr/>
          <p:nvPr/>
        </p:nvSpPr>
        <p:spPr>
          <a:xfrm>
            <a:off x="1041399" y="4092748"/>
            <a:ext cx="2194859" cy="60475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7F3EA"/>
                </a:solidFill>
                <a:latin typeface="Arial" pitchFamily="34" charset="0"/>
                <a:ea typeface="Arial" pitchFamily="34" charset="-122"/>
                <a:cs typeface="Arial" pitchFamily="34" charset="-120"/>
              </a:rPr>
              <a:t>Data attribution not being proper </a:t>
            </a:r>
            <a:endParaRPr lang="en-US" sz="1400" dirty="0"/>
          </a:p>
        </p:txBody>
      </p:sp>
      <p:sp>
        <p:nvSpPr>
          <p:cNvPr id="6" name="Shape 4"/>
          <p:cNvSpPr/>
          <p:nvPr/>
        </p:nvSpPr>
        <p:spPr>
          <a:xfrm>
            <a:off x="3498850" y="3864149"/>
            <a:ext cx="2508250" cy="1134110"/>
          </a:xfrm>
          <a:prstGeom prst="roundRect">
            <a:avLst>
              <a:gd name="adj" fmla="val 8959"/>
            </a:avLst>
          </a:prstGeom>
          <a:solidFill>
            <a:srgbClr val="17140F"/>
          </a:solidFill>
          <a:ln/>
        </p:spPr>
      </p:sp>
      <p:sp>
        <p:nvSpPr>
          <p:cNvPr id="7" name="Text 5"/>
          <p:cNvSpPr/>
          <p:nvPr/>
        </p:nvSpPr>
        <p:spPr>
          <a:xfrm>
            <a:off x="3727450" y="4092749"/>
            <a:ext cx="2112582" cy="52324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7F3EA"/>
                </a:solidFill>
                <a:latin typeface="Arial" pitchFamily="34" charset="0"/>
                <a:ea typeface="Arial" pitchFamily="34" charset="-122"/>
                <a:cs typeface="Arial" pitchFamily="34" charset="-120"/>
              </a:rPr>
              <a:t>One URL</a:t>
            </a:r>
            <a:r>
              <a:rPr lang="en-US" sz="1400" dirty="0">
                <a:solidFill>
                  <a:srgbClr val="F7F3EA"/>
                </a:solidFill>
                <a:latin typeface="Arial" pitchFamily="34" charset="0"/>
                <a:ea typeface="Arial" pitchFamily="34" charset="-122"/>
                <a:cs typeface="Arial" pitchFamily="34" charset="-120"/>
              </a:rPr>
              <a:t> serving two different products</a:t>
            </a:r>
            <a:endParaRPr lang="en-US" sz="1400" dirty="0"/>
          </a:p>
        </p:txBody>
      </p:sp>
      <p:sp>
        <p:nvSpPr>
          <p:cNvPr id="8" name="Shape 6"/>
          <p:cNvSpPr/>
          <p:nvPr/>
        </p:nvSpPr>
        <p:spPr>
          <a:xfrm>
            <a:off x="6184900" y="3864149"/>
            <a:ext cx="2508250" cy="1134110"/>
          </a:xfrm>
          <a:prstGeom prst="roundRect">
            <a:avLst>
              <a:gd name="adj" fmla="val 8959"/>
            </a:avLst>
          </a:prstGeom>
          <a:solidFill>
            <a:srgbClr val="17140F"/>
          </a:solidFill>
          <a:ln/>
        </p:spPr>
      </p:sp>
      <p:sp>
        <p:nvSpPr>
          <p:cNvPr id="9" name="Text 7"/>
          <p:cNvSpPr/>
          <p:nvPr/>
        </p:nvSpPr>
        <p:spPr>
          <a:xfrm>
            <a:off x="6413500" y="4092749"/>
            <a:ext cx="2112582" cy="702310"/>
          </a:xfrm>
          <a:prstGeom prst="rect">
            <a:avLst/>
          </a:prstGeom>
          <a:noFill/>
          <a:ln/>
        </p:spPr>
        <p:txBody>
          <a:bodyPr wrap="square" lIns="0" tIns="0" rIns="0" bIns="0" rtlCol="0" anchor="t">
            <a:normAutofit/>
          </a:bodyPr>
          <a:lstStyle/>
          <a:p>
            <a:pPr marL="0" indent="0" algn="l">
              <a:lnSpc>
                <a:spcPts val="1789"/>
              </a:lnSpc>
              <a:buNone/>
            </a:pPr>
            <a:r>
              <a:rPr lang="en-US" sz="1278" b="1" dirty="0">
                <a:solidFill>
                  <a:srgbClr val="F7F3EA"/>
                </a:solidFill>
                <a:latin typeface="Arial" pitchFamily="34" charset="0"/>
                <a:ea typeface="Arial" pitchFamily="34" charset="-122"/>
                <a:cs typeface="Arial" pitchFamily="34" charset="-120"/>
              </a:rPr>
              <a:t>A redirect</a:t>
            </a:r>
            <a:r>
              <a:rPr lang="en-US" sz="1278" dirty="0">
                <a:solidFill>
                  <a:srgbClr val="F7F3EA"/>
                </a:solidFill>
                <a:latin typeface="Arial" pitchFamily="34" charset="0"/>
                <a:ea typeface="Arial" pitchFamily="34" charset="-122"/>
                <a:cs typeface="Arial" pitchFamily="34" charset="-120"/>
              </a:rPr>
              <a:t> to a booking domain the pixel cannot follow</a:t>
            </a:r>
            <a:endParaRPr lang="en-US" sz="1278" dirty="0"/>
          </a:p>
        </p:txBody>
      </p:sp>
      <p:sp>
        <p:nvSpPr>
          <p:cNvPr id="10" name="Shape 8"/>
          <p:cNvSpPr/>
          <p:nvPr/>
        </p:nvSpPr>
        <p:spPr>
          <a:xfrm>
            <a:off x="8870950" y="3864149"/>
            <a:ext cx="2508250" cy="1134110"/>
          </a:xfrm>
          <a:prstGeom prst="roundRect">
            <a:avLst>
              <a:gd name="adj" fmla="val 8959"/>
            </a:avLst>
          </a:prstGeom>
          <a:solidFill>
            <a:srgbClr val="17140F"/>
          </a:solidFill>
          <a:ln/>
        </p:spPr>
      </p:sp>
      <p:sp>
        <p:nvSpPr>
          <p:cNvPr id="11" name="Text 9"/>
          <p:cNvSpPr/>
          <p:nvPr/>
        </p:nvSpPr>
        <p:spPr>
          <a:xfrm>
            <a:off x="9099550" y="4092749"/>
            <a:ext cx="2112582" cy="52324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7F3EA"/>
                </a:solidFill>
                <a:latin typeface="Arial" pitchFamily="34" charset="0"/>
                <a:ea typeface="Arial" pitchFamily="34" charset="-122"/>
                <a:cs typeface="Arial" pitchFamily="34" charset="-120"/>
              </a:rPr>
              <a:t>No CRM</a:t>
            </a:r>
            <a:r>
              <a:rPr lang="en-US" sz="1400" dirty="0">
                <a:solidFill>
                  <a:srgbClr val="F7F3EA"/>
                </a:solidFill>
                <a:latin typeface="Arial" pitchFamily="34" charset="0"/>
                <a:ea typeface="Arial" pitchFamily="34" charset="-122"/>
                <a:cs typeface="Arial" pitchFamily="34" charset="-120"/>
              </a:rPr>
              <a:t> to catch anything that survives</a:t>
            </a:r>
            <a:endParaRPr lang="en-US" sz="1400" dirty="0"/>
          </a:p>
        </p:txBody>
      </p:sp>
      <p:sp>
        <p:nvSpPr>
          <p:cNvPr id="12" name="Text 10"/>
          <p:cNvSpPr/>
          <p:nvPr/>
        </p:nvSpPr>
        <p:spPr>
          <a:xfrm>
            <a:off x="812800" y="5252244"/>
            <a:ext cx="10203180" cy="615156"/>
          </a:xfrm>
          <a:prstGeom prst="rect">
            <a:avLst/>
          </a:prstGeom>
          <a:noFill/>
          <a:ln/>
        </p:spPr>
        <p:txBody>
          <a:bodyPr wrap="square" lIns="0" tIns="0" rIns="0" bIns="0" rtlCol="0" anchor="t">
            <a:normAutofit/>
          </a:bodyPr>
          <a:lstStyle/>
          <a:p>
            <a:pPr marL="0" indent="0" algn="l">
              <a:lnSpc>
                <a:spcPts val="2334"/>
              </a:lnSpc>
              <a:buNone/>
            </a:pPr>
            <a:r>
              <a:rPr lang="en-US" sz="1610" dirty="0">
                <a:solidFill>
                  <a:srgbClr val="17140F"/>
                </a:solidFill>
                <a:latin typeface="Arial" pitchFamily="34" charset="0"/>
                <a:ea typeface="Arial" pitchFamily="34" charset="-122"/>
                <a:cs typeface="Arial" pitchFamily="34" charset="-120"/>
              </a:rPr>
              <a:t>Four faults, one consequence: the moment a person leaves the advert, Guhantara loses sight of them. Everything in the last two sections is a symptom of this slide.</a:t>
            </a:r>
            <a:endParaRPr lang="en-US" sz="161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5">
    <p:bg>
      <p:bgPr>
        <a:solidFill>
          <a:srgbClr val="F7F3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612140"/>
          </a:xfrm>
          <a:prstGeom prst="rect">
            <a:avLst/>
          </a:prstGeom>
          <a:noFill/>
          <a:ln/>
        </p:spPr>
        <p:txBody>
          <a:bodyPr wrap="square" lIns="0" tIns="0" rIns="0" bIns="0" rtlCol="0" anchor="t">
            <a:normAutofit/>
          </a:bodyPr>
          <a:lstStyle/>
          <a:p>
            <a:pPr marL="0" indent="0" algn="l">
              <a:lnSpc>
                <a:spcPts val="4620"/>
              </a:lnSpc>
              <a:buNone/>
            </a:pPr>
            <a:r>
              <a:rPr lang="en-US" sz="4400" dirty="0">
                <a:solidFill>
                  <a:srgbClr val="17140F"/>
                </a:solidFill>
                <a:latin typeface="Georgia" pitchFamily="34" charset="0"/>
                <a:ea typeface="Georgia" pitchFamily="34" charset="-122"/>
                <a:cs typeface="Georgia" pitchFamily="34" charset="-120"/>
              </a:rPr>
              <a:t>Two Meta pixels are live on one website</a:t>
            </a:r>
            <a:endParaRPr lang="en-US" sz="4400" dirty="0"/>
          </a:p>
        </p:txBody>
      </p:sp>
      <p:sp>
        <p:nvSpPr>
          <p:cNvPr id="3" name="Shape 1"/>
          <p:cNvSpPr/>
          <p:nvPr/>
        </p:nvSpPr>
        <p:spPr>
          <a:xfrm>
            <a:off x="812800" y="1678955"/>
            <a:ext cx="4826000" cy="3886200"/>
          </a:xfrm>
          <a:prstGeom prst="roundRect">
            <a:avLst>
              <a:gd name="adj" fmla="val 2614"/>
            </a:avLst>
          </a:prstGeom>
          <a:solidFill>
            <a:srgbClr val="17140F"/>
          </a:solidFill>
          <a:ln/>
        </p:spPr>
      </p:sp>
      <p:sp>
        <p:nvSpPr>
          <p:cNvPr id="4" name="Text 2"/>
          <p:cNvSpPr/>
          <p:nvPr/>
        </p:nvSpPr>
        <p:spPr>
          <a:xfrm>
            <a:off x="1117600" y="1983755"/>
            <a:ext cx="43428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A79C89"/>
                </a:solidFill>
                <a:latin typeface="Arial" pitchFamily="34" charset="0"/>
                <a:ea typeface="Arial" pitchFamily="34" charset="-122"/>
                <a:cs typeface="Arial" pitchFamily="34" charset="-120"/>
              </a:rPr>
              <a:t>Active Meta pixels on guhantara.com</a:t>
            </a:r>
            <a:endParaRPr lang="en-US" sz="1500" dirty="0"/>
          </a:p>
        </p:txBody>
      </p:sp>
      <p:sp>
        <p:nvSpPr>
          <p:cNvPr id="5" name="Text 3"/>
          <p:cNvSpPr/>
          <p:nvPr/>
        </p:nvSpPr>
        <p:spPr>
          <a:xfrm>
            <a:off x="1117600" y="2377455"/>
            <a:ext cx="4342892" cy="1168400"/>
          </a:xfrm>
          <a:prstGeom prst="rect">
            <a:avLst/>
          </a:prstGeom>
          <a:noFill/>
          <a:ln/>
        </p:spPr>
        <p:txBody>
          <a:bodyPr wrap="square" lIns="0" tIns="0" rIns="0" bIns="0" rtlCol="0" anchor="t">
            <a:normAutofit/>
          </a:bodyPr>
          <a:lstStyle/>
          <a:p>
            <a:pPr marL="0" indent="0" algn="l">
              <a:lnSpc>
                <a:spcPts val="9000"/>
              </a:lnSpc>
              <a:buNone/>
            </a:pPr>
            <a:r>
              <a:rPr lang="en-US" sz="9000" dirty="0">
                <a:solidFill>
                  <a:srgbClr val="C9A63C"/>
                </a:solidFill>
                <a:latin typeface="Georgia" pitchFamily="34" charset="0"/>
                <a:ea typeface="Georgia" pitchFamily="34" charset="-122"/>
                <a:cs typeface="Georgia" pitchFamily="34" charset="-120"/>
              </a:rPr>
              <a:t>2</a:t>
            </a:r>
            <a:endParaRPr lang="en-US" sz="9000" dirty="0"/>
          </a:p>
        </p:txBody>
      </p:sp>
      <p:sp>
        <p:nvSpPr>
          <p:cNvPr id="6" name="Text 4"/>
          <p:cNvSpPr/>
          <p:nvPr/>
        </p:nvSpPr>
        <p:spPr>
          <a:xfrm>
            <a:off x="1117600" y="3647455"/>
            <a:ext cx="4342892"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7F3EA"/>
                </a:solidFill>
                <a:latin typeface="Arial" pitchFamily="34" charset="0"/>
                <a:ea typeface="Arial" pitchFamily="34" charset="-122"/>
                <a:cs typeface="Arial" pitchFamily="34" charset="-120"/>
              </a:rPr>
              <a:t>Nobody on the client side can currently say why, which of them the ad account optimises against, or what each is set to record.</a:t>
            </a:r>
            <a:endParaRPr lang="en-US" sz="1500" dirty="0"/>
          </a:p>
        </p:txBody>
      </p:sp>
      <p:sp>
        <p:nvSpPr>
          <p:cNvPr id="7" name="Shape 5"/>
          <p:cNvSpPr/>
          <p:nvPr/>
        </p:nvSpPr>
        <p:spPr>
          <a:xfrm>
            <a:off x="5895975" y="1682130"/>
            <a:ext cx="5480050" cy="1187450"/>
          </a:xfrm>
          <a:prstGeom prst="roundRect">
            <a:avLst>
              <a:gd name="adj" fmla="val 8289"/>
            </a:avLst>
          </a:prstGeom>
          <a:solidFill>
            <a:srgbClr val="FFFFFF"/>
          </a:solidFill>
          <a:ln w="6350">
            <a:solidFill>
              <a:srgbClr val="DDD5C5"/>
            </a:solidFill>
            <a:prstDash val="solid"/>
          </a:ln>
        </p:spPr>
      </p:sp>
      <p:sp>
        <p:nvSpPr>
          <p:cNvPr id="8" name="Text 6"/>
          <p:cNvSpPr/>
          <p:nvPr/>
        </p:nvSpPr>
        <p:spPr>
          <a:xfrm>
            <a:off x="6126480" y="1912615"/>
            <a:ext cx="516961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B54A28"/>
                </a:solidFill>
                <a:latin typeface="Arial" pitchFamily="34" charset="0"/>
                <a:ea typeface="Arial" pitchFamily="34" charset="-122"/>
                <a:cs typeface="Arial" pitchFamily="34" charset="-120"/>
              </a:rPr>
              <a:t>Events double-count</a:t>
            </a:r>
            <a:endParaRPr lang="en-US" sz="1500" dirty="0"/>
          </a:p>
        </p:txBody>
      </p:sp>
      <p:sp>
        <p:nvSpPr>
          <p:cNvPr id="9" name="Text 7"/>
          <p:cNvSpPr/>
          <p:nvPr/>
        </p:nvSpPr>
        <p:spPr>
          <a:xfrm>
            <a:off x="6126480" y="2141215"/>
            <a:ext cx="5169611"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C5344"/>
                </a:solidFill>
                <a:latin typeface="Arial" pitchFamily="34" charset="0"/>
                <a:ea typeface="Arial" pitchFamily="34" charset="-122"/>
                <a:cs typeface="Arial" pitchFamily="34" charset="-120"/>
              </a:rPr>
              <a:t>One page view can register twice, inflating landing page views and conversions.</a:t>
            </a:r>
            <a:endParaRPr lang="en-US" sz="1400" dirty="0"/>
          </a:p>
        </p:txBody>
      </p:sp>
      <p:sp>
        <p:nvSpPr>
          <p:cNvPr id="10" name="Shape 8"/>
          <p:cNvSpPr/>
          <p:nvPr/>
        </p:nvSpPr>
        <p:spPr>
          <a:xfrm>
            <a:off x="5895975" y="3028330"/>
            <a:ext cx="5480050" cy="1187450"/>
          </a:xfrm>
          <a:prstGeom prst="roundRect">
            <a:avLst>
              <a:gd name="adj" fmla="val 8289"/>
            </a:avLst>
          </a:prstGeom>
          <a:solidFill>
            <a:srgbClr val="FFFFFF"/>
          </a:solidFill>
          <a:ln w="6350">
            <a:solidFill>
              <a:srgbClr val="DDD5C5"/>
            </a:solidFill>
            <a:prstDash val="solid"/>
          </a:ln>
        </p:spPr>
      </p:sp>
      <p:sp>
        <p:nvSpPr>
          <p:cNvPr id="11" name="Text 9"/>
          <p:cNvSpPr/>
          <p:nvPr/>
        </p:nvSpPr>
        <p:spPr>
          <a:xfrm>
            <a:off x="6126480" y="3258815"/>
            <a:ext cx="516961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B54A28"/>
                </a:solidFill>
                <a:latin typeface="Arial" pitchFamily="34" charset="0"/>
                <a:ea typeface="Arial" pitchFamily="34" charset="-122"/>
                <a:cs typeface="Arial" pitchFamily="34" charset="-120"/>
              </a:rPr>
              <a:t>Optimisation splits</a:t>
            </a:r>
            <a:endParaRPr lang="en-US" sz="1500" dirty="0"/>
          </a:p>
        </p:txBody>
      </p:sp>
      <p:sp>
        <p:nvSpPr>
          <p:cNvPr id="12" name="Text 10"/>
          <p:cNvSpPr/>
          <p:nvPr/>
        </p:nvSpPr>
        <p:spPr>
          <a:xfrm>
            <a:off x="6126480" y="3487415"/>
            <a:ext cx="5169611"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C5344"/>
                </a:solidFill>
                <a:latin typeface="Arial" pitchFamily="34" charset="0"/>
                <a:ea typeface="Arial" pitchFamily="34" charset="-122"/>
                <a:cs typeface="Arial" pitchFamily="34" charset="-120"/>
              </a:rPr>
              <a:t>Signal is divided across two datasets, so neither learns quickly and neither is complete.</a:t>
            </a:r>
            <a:endParaRPr lang="en-US" sz="1400" dirty="0"/>
          </a:p>
        </p:txBody>
      </p:sp>
      <p:sp>
        <p:nvSpPr>
          <p:cNvPr id="13" name="Shape 11"/>
          <p:cNvSpPr/>
          <p:nvPr/>
        </p:nvSpPr>
        <p:spPr>
          <a:xfrm>
            <a:off x="5895975" y="4374530"/>
            <a:ext cx="5480050" cy="1187450"/>
          </a:xfrm>
          <a:prstGeom prst="roundRect">
            <a:avLst>
              <a:gd name="adj" fmla="val 8289"/>
            </a:avLst>
          </a:prstGeom>
          <a:solidFill>
            <a:srgbClr val="FFFFFF"/>
          </a:solidFill>
          <a:ln w="6350">
            <a:solidFill>
              <a:srgbClr val="DDD5C5"/>
            </a:solidFill>
            <a:prstDash val="solid"/>
          </a:ln>
        </p:spPr>
      </p:sp>
      <p:sp>
        <p:nvSpPr>
          <p:cNvPr id="14" name="Text 12"/>
          <p:cNvSpPr/>
          <p:nvPr/>
        </p:nvSpPr>
        <p:spPr>
          <a:xfrm>
            <a:off x="6126480" y="4605015"/>
            <a:ext cx="516961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B54A28"/>
                </a:solidFill>
                <a:latin typeface="Arial" pitchFamily="34" charset="0"/>
                <a:ea typeface="Arial" pitchFamily="34" charset="-122"/>
                <a:cs typeface="Arial" pitchFamily="34" charset="-120"/>
              </a:rPr>
              <a:t>Reporting cannot be trusted</a:t>
            </a:r>
            <a:endParaRPr lang="en-US" sz="1500" dirty="0"/>
          </a:p>
        </p:txBody>
      </p:sp>
      <p:sp>
        <p:nvSpPr>
          <p:cNvPr id="15" name="Text 13"/>
          <p:cNvSpPr/>
          <p:nvPr/>
        </p:nvSpPr>
        <p:spPr>
          <a:xfrm>
            <a:off x="6126480" y="4833615"/>
            <a:ext cx="5169611"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C5344"/>
                </a:solidFill>
                <a:latin typeface="Arial" pitchFamily="34" charset="0"/>
                <a:ea typeface="Arial" pitchFamily="34" charset="-122"/>
                <a:cs typeface="Arial" pitchFamily="34" charset="-120"/>
              </a:rPr>
              <a:t>This is a credible cause of the impossible 133% and 102.9% figures in both accounts.</a:t>
            </a:r>
            <a:endParaRPr lang="en-US" sz="1400" dirty="0"/>
          </a:p>
        </p:txBody>
      </p:sp>
      <p:sp>
        <p:nvSpPr>
          <p:cNvPr id="16" name="Text 14"/>
          <p:cNvSpPr/>
          <p:nvPr/>
        </p:nvSpPr>
        <p:spPr>
          <a:xfrm>
            <a:off x="812800" y="6238255"/>
            <a:ext cx="593354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071"/>
                </a:solidFill>
                <a:latin typeface="Arial" pitchFamily="34" charset="0"/>
                <a:ea typeface="Arial" pitchFamily="34" charset="-122"/>
                <a:cs typeface="Arial" pitchFamily="34" charset="-120"/>
              </a:rPr>
              <a:t>Identified on the live site. Which pixel is canonical needs to be decided with the client.</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6">
    <p:bg>
      <p:bgPr>
        <a:solidFill>
          <a:srgbClr val="17140F"/>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1092200"/>
          </a:xfrm>
          <a:prstGeom prst="rect">
            <a:avLst/>
          </a:prstGeom>
          <a:noFill/>
          <a:ln/>
        </p:spPr>
        <p:txBody>
          <a:bodyPr wrap="square" lIns="0" tIns="0" rIns="0" bIns="0" rtlCol="0" anchor="t">
            <a:normAutofit/>
          </a:bodyPr>
          <a:lstStyle/>
          <a:p>
            <a:pPr marL="0" indent="0" algn="l">
              <a:lnSpc>
                <a:spcPts val="4200"/>
              </a:lnSpc>
              <a:buNone/>
            </a:pPr>
            <a:r>
              <a:rPr lang="en-US" sz="4000" dirty="0">
                <a:solidFill>
                  <a:srgbClr val="F7F3EA"/>
                </a:solidFill>
                <a:latin typeface="Georgia" pitchFamily="34" charset="0"/>
                <a:ea typeface="Georgia" pitchFamily="34" charset="-122"/>
                <a:cs typeface="Georgia" pitchFamily="34" charset="-120"/>
              </a:rPr>
              <a:t>The chain breaks at the exact moment money changes hands</a:t>
            </a:r>
            <a:endParaRPr lang="en-US" sz="4000" dirty="0"/>
          </a:p>
        </p:txBody>
      </p:sp>
      <p:sp>
        <p:nvSpPr>
          <p:cNvPr id="3" name="Shape 1"/>
          <p:cNvSpPr/>
          <p:nvPr/>
        </p:nvSpPr>
        <p:spPr>
          <a:xfrm>
            <a:off x="815975" y="2035175"/>
            <a:ext cx="2007314" cy="1748790"/>
          </a:xfrm>
          <a:prstGeom prst="roundRect">
            <a:avLst>
              <a:gd name="adj" fmla="val 5628"/>
            </a:avLst>
          </a:prstGeom>
          <a:solidFill>
            <a:srgbClr val="221E18"/>
          </a:solidFill>
          <a:ln w="6350">
            <a:solidFill>
              <a:srgbClr val="3A342A"/>
            </a:solidFill>
            <a:prstDash val="solid"/>
          </a:ln>
        </p:spPr>
      </p:sp>
      <p:sp>
        <p:nvSpPr>
          <p:cNvPr id="4" name="Text 2"/>
          <p:cNvSpPr/>
          <p:nvPr/>
        </p:nvSpPr>
        <p:spPr>
          <a:xfrm>
            <a:off x="1046480" y="2265685"/>
            <a:ext cx="159710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A63C"/>
                </a:solidFill>
                <a:latin typeface="Arial" pitchFamily="34" charset="0"/>
                <a:ea typeface="Arial" pitchFamily="34" charset="-122"/>
                <a:cs typeface="Arial" pitchFamily="34" charset="-120"/>
              </a:rPr>
              <a:t>01</a:t>
            </a:r>
            <a:endParaRPr lang="en-US" sz="1200" dirty="0"/>
          </a:p>
        </p:txBody>
      </p:sp>
      <p:sp>
        <p:nvSpPr>
          <p:cNvPr id="5" name="Text 3"/>
          <p:cNvSpPr/>
          <p:nvPr/>
        </p:nvSpPr>
        <p:spPr>
          <a:xfrm>
            <a:off x="1046480" y="2555255"/>
            <a:ext cx="1597104" cy="254000"/>
          </a:xfrm>
          <a:prstGeom prst="rect">
            <a:avLst/>
          </a:prstGeom>
          <a:noFill/>
          <a:ln/>
        </p:spPr>
        <p:txBody>
          <a:bodyPr wrap="square" lIns="0" tIns="0" rIns="0" bIns="0" rtlCol="0" anchor="t">
            <a:normAutofit/>
          </a:bodyPr>
          <a:lstStyle/>
          <a:p>
            <a:pPr marL="0" indent="0" algn="l">
              <a:lnSpc>
                <a:spcPts val="1800"/>
              </a:lnSpc>
              <a:buNone/>
            </a:pPr>
            <a:r>
              <a:rPr lang="en-US" sz="1500" dirty="0">
                <a:solidFill>
                  <a:srgbClr val="F7F3EA"/>
                </a:solidFill>
                <a:latin typeface="Arial" pitchFamily="34" charset="0"/>
                <a:ea typeface="Arial" pitchFamily="34" charset="-122"/>
                <a:cs typeface="Arial" pitchFamily="34" charset="-120"/>
              </a:rPr>
              <a:t>The ad</a:t>
            </a:r>
            <a:endParaRPr lang="en-US" sz="1500" dirty="0"/>
          </a:p>
        </p:txBody>
      </p:sp>
      <p:sp>
        <p:nvSpPr>
          <p:cNvPr id="6" name="Text 4"/>
          <p:cNvSpPr/>
          <p:nvPr/>
        </p:nvSpPr>
        <p:spPr>
          <a:xfrm>
            <a:off x="1046480" y="2860055"/>
            <a:ext cx="1597104"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A79C89"/>
                </a:solidFill>
                <a:latin typeface="Arial" pitchFamily="34" charset="0"/>
                <a:ea typeface="Arial" pitchFamily="34" charset="-122"/>
                <a:cs typeface="Arial" pitchFamily="34" charset="-120"/>
              </a:rPr>
              <a:t>Meta or Google, tagged</a:t>
            </a:r>
            <a:endParaRPr lang="en-US" sz="1300" dirty="0"/>
          </a:p>
        </p:txBody>
      </p:sp>
      <p:sp>
        <p:nvSpPr>
          <p:cNvPr id="7" name="Shape 5"/>
          <p:cNvSpPr/>
          <p:nvPr/>
        </p:nvSpPr>
        <p:spPr>
          <a:xfrm>
            <a:off x="2956639" y="2035175"/>
            <a:ext cx="2007394" cy="1748790"/>
          </a:xfrm>
          <a:prstGeom prst="roundRect">
            <a:avLst>
              <a:gd name="adj" fmla="val 5628"/>
            </a:avLst>
          </a:prstGeom>
          <a:solidFill>
            <a:srgbClr val="221E18"/>
          </a:solidFill>
          <a:ln w="6350">
            <a:solidFill>
              <a:srgbClr val="3A342A"/>
            </a:solidFill>
            <a:prstDash val="solid"/>
          </a:ln>
        </p:spPr>
      </p:sp>
      <p:sp>
        <p:nvSpPr>
          <p:cNvPr id="8" name="Text 6"/>
          <p:cNvSpPr/>
          <p:nvPr/>
        </p:nvSpPr>
        <p:spPr>
          <a:xfrm>
            <a:off x="3187144" y="2265685"/>
            <a:ext cx="159718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A63C"/>
                </a:solidFill>
                <a:latin typeface="Arial" pitchFamily="34" charset="0"/>
                <a:ea typeface="Arial" pitchFamily="34" charset="-122"/>
                <a:cs typeface="Arial" pitchFamily="34" charset="-120"/>
              </a:rPr>
              <a:t>02</a:t>
            </a:r>
            <a:endParaRPr lang="en-US" sz="1200" dirty="0"/>
          </a:p>
        </p:txBody>
      </p:sp>
      <p:sp>
        <p:nvSpPr>
          <p:cNvPr id="9" name="Text 7"/>
          <p:cNvSpPr/>
          <p:nvPr/>
        </p:nvSpPr>
        <p:spPr>
          <a:xfrm>
            <a:off x="3187144" y="2555255"/>
            <a:ext cx="1597184" cy="254000"/>
          </a:xfrm>
          <a:prstGeom prst="rect">
            <a:avLst/>
          </a:prstGeom>
          <a:noFill/>
          <a:ln/>
        </p:spPr>
        <p:txBody>
          <a:bodyPr wrap="square" lIns="0" tIns="0" rIns="0" bIns="0" rtlCol="0" anchor="t">
            <a:normAutofit/>
          </a:bodyPr>
          <a:lstStyle/>
          <a:p>
            <a:pPr marL="0" indent="0" algn="l">
              <a:lnSpc>
                <a:spcPts val="1800"/>
              </a:lnSpc>
              <a:buNone/>
            </a:pPr>
            <a:r>
              <a:rPr lang="en-US" sz="1500" dirty="0">
                <a:solidFill>
                  <a:srgbClr val="F7F3EA"/>
                </a:solidFill>
                <a:latin typeface="Arial" pitchFamily="34" charset="0"/>
                <a:ea typeface="Arial" pitchFamily="34" charset="-122"/>
                <a:cs typeface="Arial" pitchFamily="34" charset="-120"/>
              </a:rPr>
              <a:t>guhantara.com</a:t>
            </a:r>
            <a:endParaRPr lang="en-US" sz="1500" dirty="0"/>
          </a:p>
        </p:txBody>
      </p:sp>
      <p:sp>
        <p:nvSpPr>
          <p:cNvPr id="10" name="Text 8"/>
          <p:cNvSpPr/>
          <p:nvPr/>
        </p:nvSpPr>
        <p:spPr>
          <a:xfrm>
            <a:off x="3187144" y="2860055"/>
            <a:ext cx="1597184"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A79C89"/>
                </a:solidFill>
                <a:latin typeface="Arial" pitchFamily="34" charset="0"/>
                <a:ea typeface="Arial" pitchFamily="34" charset="-122"/>
                <a:cs typeface="Arial" pitchFamily="34" charset="-120"/>
              </a:rPr>
              <a:t>Pixels fire — both of them</a:t>
            </a:r>
            <a:endParaRPr lang="en-US" sz="1300" dirty="0"/>
          </a:p>
        </p:txBody>
      </p:sp>
      <p:sp>
        <p:nvSpPr>
          <p:cNvPr id="11" name="Shape 9"/>
          <p:cNvSpPr/>
          <p:nvPr/>
        </p:nvSpPr>
        <p:spPr>
          <a:xfrm>
            <a:off x="5097383" y="2035175"/>
            <a:ext cx="2007314" cy="1748790"/>
          </a:xfrm>
          <a:prstGeom prst="roundRect">
            <a:avLst>
              <a:gd name="adj" fmla="val 5628"/>
            </a:avLst>
          </a:prstGeom>
          <a:solidFill>
            <a:srgbClr val="221E18"/>
          </a:solidFill>
          <a:ln w="6350">
            <a:solidFill>
              <a:srgbClr val="3A342A"/>
            </a:solidFill>
            <a:prstDash val="solid"/>
          </a:ln>
        </p:spPr>
      </p:sp>
      <p:sp>
        <p:nvSpPr>
          <p:cNvPr id="12" name="Text 10"/>
          <p:cNvSpPr/>
          <p:nvPr/>
        </p:nvSpPr>
        <p:spPr>
          <a:xfrm>
            <a:off x="5327888" y="2265685"/>
            <a:ext cx="159710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A63C"/>
                </a:solidFill>
                <a:latin typeface="Arial" pitchFamily="34" charset="0"/>
                <a:ea typeface="Arial" pitchFamily="34" charset="-122"/>
                <a:cs typeface="Arial" pitchFamily="34" charset="-120"/>
              </a:rPr>
              <a:t>03</a:t>
            </a:r>
            <a:endParaRPr lang="en-US" sz="1200" dirty="0"/>
          </a:p>
        </p:txBody>
      </p:sp>
      <p:sp>
        <p:nvSpPr>
          <p:cNvPr id="13" name="Text 11"/>
          <p:cNvSpPr/>
          <p:nvPr/>
        </p:nvSpPr>
        <p:spPr>
          <a:xfrm>
            <a:off x="5327888" y="2555255"/>
            <a:ext cx="1597104" cy="254000"/>
          </a:xfrm>
          <a:prstGeom prst="rect">
            <a:avLst/>
          </a:prstGeom>
          <a:noFill/>
          <a:ln/>
        </p:spPr>
        <p:txBody>
          <a:bodyPr wrap="square" lIns="0" tIns="0" rIns="0" bIns="0" rtlCol="0" anchor="t">
            <a:normAutofit/>
          </a:bodyPr>
          <a:lstStyle/>
          <a:p>
            <a:pPr marL="0" indent="0" algn="l">
              <a:lnSpc>
                <a:spcPts val="1800"/>
              </a:lnSpc>
              <a:buNone/>
            </a:pPr>
            <a:r>
              <a:rPr lang="en-US" sz="1500" dirty="0">
                <a:solidFill>
                  <a:srgbClr val="F7F3EA"/>
                </a:solidFill>
                <a:latin typeface="Arial" pitchFamily="34" charset="0"/>
                <a:ea typeface="Arial" pitchFamily="34" charset="-122"/>
                <a:cs typeface="Arial" pitchFamily="34" charset="-120"/>
              </a:rPr>
              <a:t>Book Now</a:t>
            </a:r>
            <a:endParaRPr lang="en-US" sz="1500" dirty="0"/>
          </a:p>
        </p:txBody>
      </p:sp>
      <p:sp>
        <p:nvSpPr>
          <p:cNvPr id="14" name="Text 12"/>
          <p:cNvSpPr/>
          <p:nvPr/>
        </p:nvSpPr>
        <p:spPr>
          <a:xfrm>
            <a:off x="5327888" y="2860055"/>
            <a:ext cx="1597104"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A79C89"/>
                </a:solidFill>
                <a:latin typeface="Arial" pitchFamily="34" charset="0"/>
                <a:ea typeface="Arial" pitchFamily="34" charset="-122"/>
                <a:cs typeface="Arial" pitchFamily="34" charset="-120"/>
              </a:rPr>
              <a:t>The visitor clicks through</a:t>
            </a:r>
            <a:endParaRPr lang="en-US" sz="1300" dirty="0"/>
          </a:p>
        </p:txBody>
      </p:sp>
      <p:sp>
        <p:nvSpPr>
          <p:cNvPr id="15" name="Shape 13"/>
          <p:cNvSpPr/>
          <p:nvPr/>
        </p:nvSpPr>
        <p:spPr>
          <a:xfrm>
            <a:off x="7234872" y="2032000"/>
            <a:ext cx="2003584" cy="1755140"/>
          </a:xfrm>
          <a:prstGeom prst="roundRect">
            <a:avLst>
              <a:gd name="adj" fmla="val 5789"/>
            </a:avLst>
          </a:prstGeom>
          <a:solidFill>
            <a:srgbClr val="B54A28"/>
          </a:solidFill>
          <a:ln/>
        </p:spPr>
      </p:sp>
      <p:sp>
        <p:nvSpPr>
          <p:cNvPr id="16" name="Text 14"/>
          <p:cNvSpPr/>
          <p:nvPr/>
        </p:nvSpPr>
        <p:spPr>
          <a:xfrm>
            <a:off x="7463472" y="2260600"/>
            <a:ext cx="159718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140F"/>
                </a:solidFill>
                <a:latin typeface="Arial" pitchFamily="34" charset="0"/>
                <a:ea typeface="Arial" pitchFamily="34" charset="-122"/>
                <a:cs typeface="Arial" pitchFamily="34" charset="-120"/>
              </a:rPr>
              <a:t>04</a:t>
            </a:r>
            <a:endParaRPr lang="en-US" sz="1200" dirty="0"/>
          </a:p>
        </p:txBody>
      </p:sp>
      <p:sp>
        <p:nvSpPr>
          <p:cNvPr id="17" name="Text 15"/>
          <p:cNvSpPr/>
          <p:nvPr/>
        </p:nvSpPr>
        <p:spPr>
          <a:xfrm>
            <a:off x="7463472" y="2550170"/>
            <a:ext cx="1597184" cy="254000"/>
          </a:xfrm>
          <a:prstGeom prst="rect">
            <a:avLst/>
          </a:prstGeom>
          <a:noFill/>
          <a:ln/>
        </p:spPr>
        <p:txBody>
          <a:bodyPr wrap="square" lIns="0" tIns="0" rIns="0" bIns="0" rtlCol="0" anchor="t">
            <a:normAutofit/>
          </a:bodyPr>
          <a:lstStyle/>
          <a:p>
            <a:pPr marL="0" indent="0" algn="l">
              <a:lnSpc>
                <a:spcPts val="1800"/>
              </a:lnSpc>
              <a:buNone/>
            </a:pPr>
            <a:r>
              <a:rPr lang="en-US" sz="1500" dirty="0">
                <a:solidFill>
                  <a:srgbClr val="F7F3EA"/>
                </a:solidFill>
                <a:latin typeface="Arial" pitchFamily="34" charset="0"/>
                <a:ea typeface="Arial" pitchFamily="34" charset="-122"/>
                <a:cs typeface="Arial" pitchFamily="34" charset="-120"/>
              </a:rPr>
              <a:t>Redirect</a:t>
            </a:r>
            <a:endParaRPr lang="en-US" sz="1500" dirty="0"/>
          </a:p>
        </p:txBody>
      </p:sp>
      <p:sp>
        <p:nvSpPr>
          <p:cNvPr id="18" name="Text 16"/>
          <p:cNvSpPr/>
          <p:nvPr/>
        </p:nvSpPr>
        <p:spPr>
          <a:xfrm>
            <a:off x="7463472" y="2854970"/>
            <a:ext cx="1597184" cy="71882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7F3EA"/>
                </a:solidFill>
                <a:latin typeface="Arial" pitchFamily="34" charset="0"/>
                <a:ea typeface="Arial" pitchFamily="34" charset="-122"/>
                <a:cs typeface="Arial" pitchFamily="34" charset="-120"/>
              </a:rPr>
              <a:t>secure-booking-engine.com — a different domain</a:t>
            </a:r>
            <a:endParaRPr lang="en-US" sz="1300" dirty="0"/>
          </a:p>
        </p:txBody>
      </p:sp>
      <p:sp>
        <p:nvSpPr>
          <p:cNvPr id="19" name="Shape 17"/>
          <p:cNvSpPr/>
          <p:nvPr/>
        </p:nvSpPr>
        <p:spPr>
          <a:xfrm>
            <a:off x="9368631" y="2035175"/>
            <a:ext cx="2007394" cy="1748790"/>
          </a:xfrm>
          <a:prstGeom prst="roundRect">
            <a:avLst>
              <a:gd name="adj" fmla="val 5628"/>
            </a:avLst>
          </a:prstGeom>
          <a:solidFill>
            <a:srgbClr val="3A342A"/>
          </a:solidFill>
          <a:ln w="6350">
            <a:solidFill>
              <a:srgbClr val="8A8071"/>
            </a:solidFill>
            <a:prstDash val="dash"/>
          </a:ln>
        </p:spPr>
      </p:sp>
      <p:sp>
        <p:nvSpPr>
          <p:cNvPr id="20" name="Text 18"/>
          <p:cNvSpPr/>
          <p:nvPr/>
        </p:nvSpPr>
        <p:spPr>
          <a:xfrm>
            <a:off x="9599137" y="2265685"/>
            <a:ext cx="159718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071"/>
                </a:solidFill>
                <a:latin typeface="Arial" pitchFamily="34" charset="0"/>
                <a:ea typeface="Arial" pitchFamily="34" charset="-122"/>
                <a:cs typeface="Arial" pitchFamily="34" charset="-120"/>
              </a:rPr>
              <a:t>05</a:t>
            </a:r>
            <a:endParaRPr lang="en-US" sz="1200" dirty="0"/>
          </a:p>
        </p:txBody>
      </p:sp>
      <p:sp>
        <p:nvSpPr>
          <p:cNvPr id="21" name="Text 19"/>
          <p:cNvSpPr/>
          <p:nvPr/>
        </p:nvSpPr>
        <p:spPr>
          <a:xfrm>
            <a:off x="9599137" y="2555255"/>
            <a:ext cx="1597184" cy="254000"/>
          </a:xfrm>
          <a:prstGeom prst="rect">
            <a:avLst/>
          </a:prstGeom>
          <a:noFill/>
          <a:ln/>
        </p:spPr>
        <p:txBody>
          <a:bodyPr wrap="square" lIns="0" tIns="0" rIns="0" bIns="0" rtlCol="0" anchor="t">
            <a:normAutofit/>
          </a:bodyPr>
          <a:lstStyle/>
          <a:p>
            <a:pPr marL="0" indent="0" algn="l">
              <a:lnSpc>
                <a:spcPts val="1800"/>
              </a:lnSpc>
              <a:buNone/>
            </a:pPr>
            <a:r>
              <a:rPr lang="en-US" sz="1500" dirty="0">
                <a:solidFill>
                  <a:srgbClr val="8A8071"/>
                </a:solidFill>
                <a:latin typeface="Arial" pitchFamily="34" charset="0"/>
                <a:ea typeface="Arial" pitchFamily="34" charset="-122"/>
                <a:cs typeface="Arial" pitchFamily="34" charset="-120"/>
              </a:rPr>
              <a:t>The booking</a:t>
            </a:r>
            <a:endParaRPr lang="en-US" sz="1500" dirty="0"/>
          </a:p>
        </p:txBody>
      </p:sp>
      <p:sp>
        <p:nvSpPr>
          <p:cNvPr id="22" name="Text 20"/>
          <p:cNvSpPr/>
          <p:nvPr/>
        </p:nvSpPr>
        <p:spPr>
          <a:xfrm>
            <a:off x="9599137" y="2860055"/>
            <a:ext cx="1597184" cy="71882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8A8071"/>
                </a:solidFill>
                <a:latin typeface="Arial" pitchFamily="34" charset="0"/>
                <a:ea typeface="Arial" pitchFamily="34" charset="-122"/>
                <a:cs typeface="Arial" pitchFamily="34" charset="-120"/>
              </a:rPr>
              <a:t>Invisible. No pixel, no event, no attribution.</a:t>
            </a:r>
            <a:endParaRPr lang="en-US" sz="1300" dirty="0"/>
          </a:p>
        </p:txBody>
      </p:sp>
      <p:sp>
        <p:nvSpPr>
          <p:cNvPr id="23" name="Text 21"/>
          <p:cNvSpPr/>
          <p:nvPr/>
        </p:nvSpPr>
        <p:spPr>
          <a:xfrm>
            <a:off x="812800" y="4041155"/>
            <a:ext cx="3488212" cy="1130300"/>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A79C89"/>
                </a:solidFill>
                <a:latin typeface="Arial" pitchFamily="34" charset="0"/>
                <a:ea typeface="Arial" pitchFamily="34" charset="-122"/>
                <a:cs typeface="Arial" pitchFamily="34" charset="-120"/>
              </a:rPr>
              <a:t>The pixel does not follow the visitor across the domain boundary, so </a:t>
            </a:r>
            <a:r>
              <a:rPr lang="en-US" sz="1500" b="1" dirty="0">
                <a:solidFill>
                  <a:srgbClr val="A79C89"/>
                </a:solidFill>
                <a:latin typeface="Arial" pitchFamily="34" charset="0"/>
                <a:ea typeface="Arial" pitchFamily="34" charset="-122"/>
                <a:cs typeface="Arial" pitchFamily="34" charset="-120"/>
              </a:rPr>
              <a:t>every completed booking is unattributed</a:t>
            </a:r>
            <a:r>
              <a:rPr lang="en-US" sz="1500" dirty="0">
                <a:solidFill>
                  <a:srgbClr val="A79C89"/>
                </a:solidFill>
                <a:latin typeface="Arial" pitchFamily="34" charset="0"/>
                <a:ea typeface="Arial" pitchFamily="34" charset="-122"/>
                <a:cs typeface="Arial" pitchFamily="34" charset="-120"/>
              </a:rPr>
              <a:t>.</a:t>
            </a:r>
            <a:endParaRPr lang="en-US" sz="1500" dirty="0"/>
          </a:p>
        </p:txBody>
      </p:sp>
      <p:sp>
        <p:nvSpPr>
          <p:cNvPr id="24" name="Text 22"/>
          <p:cNvSpPr/>
          <p:nvPr/>
        </p:nvSpPr>
        <p:spPr>
          <a:xfrm>
            <a:off x="4402614" y="4041155"/>
            <a:ext cx="3488294" cy="1130300"/>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A79C89"/>
                </a:solidFill>
                <a:latin typeface="Arial" pitchFamily="34" charset="0"/>
                <a:ea typeface="Arial" pitchFamily="34" charset="-122"/>
                <a:cs typeface="Arial" pitchFamily="34" charset="-120"/>
              </a:rPr>
              <a:t>Meta and Google are therefore optimising toward step 2 or 3 — a page view or a click — because that is the last thing they can see.</a:t>
            </a:r>
            <a:endParaRPr lang="en-US" sz="1500" dirty="0"/>
          </a:p>
        </p:txBody>
      </p:sp>
      <p:sp>
        <p:nvSpPr>
          <p:cNvPr id="25" name="Text 23"/>
          <p:cNvSpPr/>
          <p:nvPr/>
        </p:nvSpPr>
        <p:spPr>
          <a:xfrm>
            <a:off x="7992507" y="4041155"/>
            <a:ext cx="3488294" cy="1130300"/>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A79C89"/>
                </a:solidFill>
                <a:latin typeface="Arial" pitchFamily="34" charset="0"/>
                <a:ea typeface="Arial" pitchFamily="34" charset="-122"/>
                <a:cs typeface="Arial" pitchFamily="34" charset="-120"/>
              </a:rPr>
              <a:t>This single gap explains the ₹0.80 conversions, the impossible rates, and why nobody can name a cost per booking.</a:t>
            </a:r>
            <a:endParaRPr lang="en-US" sz="1500" dirty="0"/>
          </a:p>
        </p:txBody>
      </p:sp>
      <p:sp>
        <p:nvSpPr>
          <p:cNvPr id="26" name="Text 24"/>
          <p:cNvSpPr/>
          <p:nvPr/>
        </p:nvSpPr>
        <p:spPr>
          <a:xfrm>
            <a:off x="812800" y="6238255"/>
            <a:ext cx="43805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071"/>
                </a:solidFill>
                <a:latin typeface="Arial" pitchFamily="34" charset="0"/>
                <a:ea typeface="Arial" pitchFamily="34" charset="-122"/>
                <a:cs typeface="Arial" pitchFamily="34" charset="-120"/>
              </a:rPr>
              <a:t>Booking engine: Djubo, served on secure-booking-engine.com.</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7">
    <p:bg>
      <p:bgPr>
        <a:solidFill>
          <a:srgbClr val="F7F3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943451"/>
          </a:xfrm>
          <a:prstGeom prst="rect">
            <a:avLst/>
          </a:prstGeom>
          <a:noFill/>
          <a:ln/>
        </p:spPr>
        <p:txBody>
          <a:bodyPr wrap="square" lIns="0" tIns="0" rIns="0" bIns="0" rtlCol="0" anchor="t">
            <a:normAutofit/>
          </a:bodyPr>
          <a:lstStyle/>
          <a:p>
            <a:pPr marL="0" indent="0" algn="l">
              <a:lnSpc>
                <a:spcPts val="4533"/>
              </a:lnSpc>
              <a:buNone/>
            </a:pPr>
            <a:r>
              <a:rPr lang="en-US" sz="4318" dirty="0">
                <a:solidFill>
                  <a:srgbClr val="17140F"/>
                </a:solidFill>
                <a:latin typeface="Georgia" pitchFamily="34" charset="0"/>
                <a:ea typeface="Georgia" pitchFamily="34" charset="-122"/>
                <a:cs typeface="Georgia" pitchFamily="34" charset="-120"/>
              </a:rPr>
              <a:t>The fix: keep the booking inside the website</a:t>
            </a:r>
            <a:endParaRPr lang="en-US" sz="4318" dirty="0"/>
          </a:p>
        </p:txBody>
      </p:sp>
      <p:sp>
        <p:nvSpPr>
          <p:cNvPr id="3" name="Shape 1"/>
          <p:cNvSpPr/>
          <p:nvPr/>
        </p:nvSpPr>
        <p:spPr>
          <a:xfrm>
            <a:off x="819150" y="2016596"/>
            <a:ext cx="5153660" cy="2109629"/>
          </a:xfrm>
          <a:prstGeom prst="roundRect">
            <a:avLst>
              <a:gd name="adj" fmla="val 4515"/>
            </a:avLst>
          </a:prstGeom>
          <a:solidFill>
            <a:srgbClr val="FFFFFF"/>
          </a:solidFill>
          <a:ln w="12700">
            <a:solidFill>
              <a:srgbClr val="B54A28"/>
            </a:solidFill>
            <a:prstDash val="solid"/>
          </a:ln>
        </p:spPr>
      </p:sp>
      <p:sp>
        <p:nvSpPr>
          <p:cNvPr id="4" name="Text 2"/>
          <p:cNvSpPr/>
          <p:nvPr/>
        </p:nvSpPr>
        <p:spPr>
          <a:xfrm>
            <a:off x="1127760" y="2325216"/>
            <a:ext cx="4672533" cy="182959"/>
          </a:xfrm>
          <a:prstGeom prst="rect">
            <a:avLst/>
          </a:prstGeom>
          <a:noFill/>
          <a:ln/>
        </p:spPr>
        <p:txBody>
          <a:bodyPr wrap="square" lIns="0" tIns="0" rIns="0" bIns="0" rtlCol="0" anchor="t">
            <a:normAutofit/>
          </a:bodyPr>
          <a:lstStyle/>
          <a:p>
            <a:pPr marL="0" indent="0" algn="l">
              <a:lnSpc>
                <a:spcPts val="1274"/>
              </a:lnSpc>
              <a:buNone/>
            </a:pPr>
            <a:r>
              <a:rPr lang="en-US" sz="910" kern="0" spc="150" dirty="0">
                <a:solidFill>
                  <a:srgbClr val="B54A28"/>
                </a:solidFill>
                <a:latin typeface="Arial" pitchFamily="34" charset="0"/>
                <a:ea typeface="Arial" pitchFamily="34" charset="-122"/>
                <a:cs typeface="Arial" pitchFamily="34" charset="-120"/>
              </a:rPr>
              <a:t>TODAY — REDIRECT</a:t>
            </a:r>
            <a:endParaRPr lang="en-US" sz="910" dirty="0"/>
          </a:p>
        </p:txBody>
      </p:sp>
      <p:sp>
        <p:nvSpPr>
          <p:cNvPr id="5" name="Text 3"/>
          <p:cNvSpPr/>
          <p:nvPr/>
        </p:nvSpPr>
        <p:spPr>
          <a:xfrm>
            <a:off x="1127760" y="2597076"/>
            <a:ext cx="4672533" cy="222726"/>
          </a:xfrm>
          <a:prstGeom prst="rect">
            <a:avLst/>
          </a:prstGeom>
          <a:noFill/>
          <a:ln/>
        </p:spPr>
        <p:txBody>
          <a:bodyPr wrap="square" lIns="0" tIns="0" rIns="0" bIns="0" rtlCol="0" anchor="t">
            <a:normAutofit/>
          </a:bodyPr>
          <a:lstStyle/>
          <a:p>
            <a:pPr marL="0" indent="0" algn="l">
              <a:lnSpc>
                <a:spcPts val="1568"/>
              </a:lnSpc>
              <a:buNone/>
            </a:pPr>
            <a:r>
              <a:rPr lang="en-US" sz="1306" b="1" dirty="0">
                <a:solidFill>
                  <a:srgbClr val="17140F"/>
                </a:solidFill>
                <a:latin typeface="Arial" pitchFamily="34" charset="0"/>
                <a:ea typeface="Arial" pitchFamily="34" charset="-122"/>
                <a:cs typeface="Arial" pitchFamily="34" charset="-120"/>
              </a:rPr>
              <a:t>The visitor leaves guhantara.com</a:t>
            </a:r>
            <a:endParaRPr lang="en-US" sz="1306" dirty="0"/>
          </a:p>
        </p:txBody>
      </p:sp>
      <p:sp>
        <p:nvSpPr>
          <p:cNvPr id="6" name="Text 4"/>
          <p:cNvSpPr/>
          <p:nvPr/>
        </p:nvSpPr>
        <p:spPr>
          <a:xfrm>
            <a:off x="1127760" y="2908697"/>
            <a:ext cx="4672533" cy="934323"/>
          </a:xfrm>
          <a:prstGeom prst="rect">
            <a:avLst/>
          </a:prstGeom>
          <a:noFill/>
          <a:ln/>
        </p:spPr>
        <p:txBody>
          <a:bodyPr wrap="square" lIns="0" tIns="0" rIns="0" bIns="0" rtlCol="0" anchor="t">
            <a:normAutofit/>
          </a:bodyPr>
          <a:lstStyle/>
          <a:p>
            <a:pPr marL="145352" indent="-121568" algn="l">
              <a:lnSpc>
                <a:spcPts val="1431"/>
              </a:lnSpc>
              <a:buSzPct val="100000"/>
              <a:buChar char="•"/>
            </a:pPr>
            <a:r>
              <a:rPr lang="en-US" sz="954" dirty="0">
                <a:solidFill>
                  <a:srgbClr val="5C5344"/>
                </a:solidFill>
                <a:latin typeface="Arial" pitchFamily="34" charset="0"/>
                <a:ea typeface="Arial" pitchFamily="34" charset="-122"/>
                <a:cs typeface="Arial" pitchFamily="34" charset="-120"/>
              </a:rPr>
              <a:t>Pixel does not follow</a:t>
            </a:r>
            <a:endParaRPr lang="en-US" sz="954" dirty="0"/>
          </a:p>
          <a:p>
            <a:pPr marL="145352" indent="-121568" algn="l">
              <a:lnSpc>
                <a:spcPts val="1431"/>
              </a:lnSpc>
              <a:buSzPct val="100000"/>
              <a:buChar char="•"/>
            </a:pPr>
            <a:r>
              <a:rPr lang="en-US" sz="954" dirty="0">
                <a:solidFill>
                  <a:srgbClr val="5C5344"/>
                </a:solidFill>
                <a:latin typeface="Arial" pitchFamily="34" charset="0"/>
                <a:ea typeface="Arial" pitchFamily="34" charset="-122"/>
                <a:cs typeface="Arial" pitchFamily="34" charset="-120"/>
              </a:rPr>
              <a:t>No purchase or lead event fires</a:t>
            </a:r>
            <a:endParaRPr lang="en-US" sz="954" dirty="0"/>
          </a:p>
          <a:p>
            <a:pPr marL="145352" indent="-121568" algn="l">
              <a:lnSpc>
                <a:spcPts val="1431"/>
              </a:lnSpc>
              <a:buSzPct val="100000"/>
              <a:buChar char="•"/>
            </a:pPr>
            <a:r>
              <a:rPr lang="en-US" sz="954" dirty="0">
                <a:solidFill>
                  <a:srgbClr val="5C5344"/>
                </a:solidFill>
                <a:latin typeface="Arial" pitchFamily="34" charset="0"/>
                <a:ea typeface="Arial" pitchFamily="34" charset="-122"/>
                <a:cs typeface="Arial" pitchFamily="34" charset="-120"/>
              </a:rPr>
              <a:t>Session and campaign tags are lost</a:t>
            </a:r>
            <a:endParaRPr lang="en-US" sz="954" dirty="0"/>
          </a:p>
          <a:p>
            <a:pPr marL="145352" indent="-121568" algn="l">
              <a:lnSpc>
                <a:spcPts val="1431"/>
              </a:lnSpc>
              <a:buSzPct val="100000"/>
              <a:buChar char="•"/>
            </a:pPr>
            <a:r>
              <a:rPr lang="en-US" sz="954" dirty="0">
                <a:solidFill>
                  <a:srgbClr val="5C5344"/>
                </a:solidFill>
                <a:latin typeface="Arial" pitchFamily="34" charset="0"/>
                <a:ea typeface="Arial" pitchFamily="34" charset="-122"/>
                <a:cs typeface="Arial" pitchFamily="34" charset="-120"/>
              </a:rPr>
              <a:t>Booking value never reaches the ad platform</a:t>
            </a:r>
            <a:endParaRPr lang="en-US" sz="954" dirty="0"/>
          </a:p>
          <a:p>
            <a:pPr marL="145352" indent="-121568" algn="l">
              <a:lnSpc>
                <a:spcPts val="1431"/>
              </a:lnSpc>
              <a:buSzPct val="100000"/>
              <a:buChar char="•"/>
            </a:pPr>
            <a:r>
              <a:rPr lang="en-US" sz="954" dirty="0">
                <a:solidFill>
                  <a:srgbClr val="5C5344"/>
                </a:solidFill>
                <a:latin typeface="Arial" pitchFamily="34" charset="0"/>
                <a:ea typeface="Arial" pitchFamily="34" charset="-122"/>
                <a:cs typeface="Arial" pitchFamily="34" charset="-120"/>
              </a:rPr>
              <a:t>The visitor sees a different-looking site mid-purchase</a:t>
            </a:r>
            <a:endParaRPr lang="en-US" sz="954" dirty="0"/>
          </a:p>
        </p:txBody>
      </p:sp>
      <p:sp>
        <p:nvSpPr>
          <p:cNvPr id="7" name="Shape 5"/>
          <p:cNvSpPr/>
          <p:nvPr/>
        </p:nvSpPr>
        <p:spPr>
          <a:xfrm>
            <a:off x="6233160" y="2010246"/>
            <a:ext cx="5146040" cy="2122329"/>
          </a:xfrm>
          <a:prstGeom prst="roundRect">
            <a:avLst>
              <a:gd name="adj" fmla="val 4787"/>
            </a:avLst>
          </a:prstGeom>
          <a:solidFill>
            <a:srgbClr val="17140F"/>
          </a:solidFill>
          <a:ln/>
        </p:spPr>
      </p:sp>
      <p:sp>
        <p:nvSpPr>
          <p:cNvPr id="8" name="Text 6"/>
          <p:cNvSpPr/>
          <p:nvPr/>
        </p:nvSpPr>
        <p:spPr>
          <a:xfrm>
            <a:off x="6537960" y="2315046"/>
            <a:ext cx="4672533" cy="185499"/>
          </a:xfrm>
          <a:prstGeom prst="rect">
            <a:avLst/>
          </a:prstGeom>
          <a:noFill/>
          <a:ln/>
        </p:spPr>
        <p:txBody>
          <a:bodyPr wrap="square" lIns="0" tIns="0" rIns="0" bIns="0" rtlCol="0" anchor="t">
            <a:normAutofit/>
          </a:bodyPr>
          <a:lstStyle/>
          <a:p>
            <a:pPr marL="0" indent="0" algn="l">
              <a:lnSpc>
                <a:spcPts val="1274"/>
              </a:lnSpc>
              <a:buNone/>
            </a:pPr>
            <a:r>
              <a:rPr lang="en-US" sz="910" kern="0" spc="150" dirty="0">
                <a:solidFill>
                  <a:srgbClr val="C9A63C"/>
                </a:solidFill>
                <a:latin typeface="Arial" pitchFamily="34" charset="0"/>
                <a:ea typeface="Arial" pitchFamily="34" charset="-122"/>
                <a:cs typeface="Arial" pitchFamily="34" charset="-120"/>
              </a:rPr>
              <a:t>PROPOSED — EMBEDDED WIDGET</a:t>
            </a:r>
            <a:endParaRPr lang="en-US" sz="910" dirty="0"/>
          </a:p>
        </p:txBody>
      </p:sp>
      <p:sp>
        <p:nvSpPr>
          <p:cNvPr id="9" name="Text 7"/>
          <p:cNvSpPr/>
          <p:nvPr/>
        </p:nvSpPr>
        <p:spPr>
          <a:xfrm>
            <a:off x="6537960" y="2589461"/>
            <a:ext cx="4672533" cy="225901"/>
          </a:xfrm>
          <a:prstGeom prst="rect">
            <a:avLst/>
          </a:prstGeom>
          <a:noFill/>
          <a:ln/>
        </p:spPr>
        <p:txBody>
          <a:bodyPr wrap="square" lIns="0" tIns="0" rIns="0" bIns="0" rtlCol="0" anchor="t">
            <a:normAutofit/>
          </a:bodyPr>
          <a:lstStyle/>
          <a:p>
            <a:pPr marL="0" indent="0" algn="l">
              <a:lnSpc>
                <a:spcPts val="1624"/>
              </a:lnSpc>
              <a:buNone/>
            </a:pPr>
            <a:r>
              <a:rPr lang="en-US" sz="1354" b="1" dirty="0">
                <a:solidFill>
                  <a:srgbClr val="F7F3EA"/>
                </a:solidFill>
                <a:latin typeface="Arial" pitchFamily="34" charset="0"/>
                <a:ea typeface="Arial" pitchFamily="34" charset="-122"/>
                <a:cs typeface="Arial" pitchFamily="34" charset="-120"/>
              </a:rPr>
              <a:t>Djubo runs inside the page</a:t>
            </a:r>
            <a:endParaRPr lang="en-US" sz="1354" dirty="0"/>
          </a:p>
        </p:txBody>
      </p:sp>
      <p:sp>
        <p:nvSpPr>
          <p:cNvPr id="10" name="Text 8"/>
          <p:cNvSpPr/>
          <p:nvPr/>
        </p:nvSpPr>
        <p:spPr>
          <a:xfrm>
            <a:off x="6537960" y="2904257"/>
            <a:ext cx="4672533" cy="948928"/>
          </a:xfrm>
          <a:prstGeom prst="rect">
            <a:avLst/>
          </a:prstGeom>
          <a:noFill/>
          <a:ln/>
        </p:spPr>
        <p:txBody>
          <a:bodyPr wrap="square" lIns="0" tIns="0" rIns="0" bIns="0" rtlCol="0" anchor="t">
            <a:normAutofit/>
          </a:bodyPr>
          <a:lstStyle/>
          <a:p>
            <a:pPr marL="147352" indent="-121668" algn="l">
              <a:lnSpc>
                <a:spcPts val="1450"/>
              </a:lnSpc>
              <a:buSzPct val="100000"/>
              <a:buChar char="•"/>
            </a:pPr>
            <a:r>
              <a:rPr lang="en-US" sz="967" dirty="0">
                <a:solidFill>
                  <a:srgbClr val="A79C89"/>
                </a:solidFill>
                <a:latin typeface="Arial" pitchFamily="34" charset="0"/>
                <a:ea typeface="Arial" pitchFamily="34" charset="-122"/>
                <a:cs typeface="Arial" pitchFamily="34" charset="-120"/>
              </a:rPr>
              <a:t>Pixel and tags stay with the visitor</a:t>
            </a:r>
            <a:endParaRPr lang="en-US" sz="967" dirty="0"/>
          </a:p>
          <a:p>
            <a:pPr marL="147352" indent="-121668" algn="l">
              <a:lnSpc>
                <a:spcPts val="1450"/>
              </a:lnSpc>
              <a:buSzPct val="100000"/>
              <a:buChar char="•"/>
            </a:pPr>
            <a:r>
              <a:rPr lang="en-US" sz="967" dirty="0">
                <a:solidFill>
                  <a:srgbClr val="A79C89"/>
                </a:solidFill>
                <a:latin typeface="Arial" pitchFamily="34" charset="0"/>
                <a:ea typeface="Arial" pitchFamily="34" charset="-122"/>
                <a:cs typeface="Arial" pitchFamily="34" charset="-120"/>
              </a:rPr>
              <a:t>Purchase event fires on confirmation</a:t>
            </a:r>
            <a:endParaRPr lang="en-US" sz="967" dirty="0"/>
          </a:p>
          <a:p>
            <a:pPr marL="147352" indent="-121668" algn="l">
              <a:lnSpc>
                <a:spcPts val="1450"/>
              </a:lnSpc>
              <a:buSzPct val="100000"/>
              <a:buChar char="•"/>
            </a:pPr>
            <a:r>
              <a:rPr lang="en-US" sz="967" dirty="0">
                <a:solidFill>
                  <a:srgbClr val="A79C89"/>
                </a:solidFill>
                <a:latin typeface="Arial" pitchFamily="34" charset="0"/>
                <a:ea typeface="Arial" pitchFamily="34" charset="-122"/>
                <a:cs typeface="Arial" pitchFamily="34" charset="-120"/>
              </a:rPr>
              <a:t>Booking value passes back to Meta and Google</a:t>
            </a:r>
            <a:endParaRPr lang="en-US" sz="967" dirty="0"/>
          </a:p>
          <a:p>
            <a:pPr marL="147352" indent="-121668" algn="l">
              <a:lnSpc>
                <a:spcPts val="1450"/>
              </a:lnSpc>
              <a:buSzPct val="100000"/>
              <a:buChar char="•"/>
            </a:pPr>
            <a:r>
              <a:rPr lang="en-US" sz="967" dirty="0">
                <a:solidFill>
                  <a:srgbClr val="A79C89"/>
                </a:solidFill>
                <a:latin typeface="Arial" pitchFamily="34" charset="0"/>
                <a:ea typeface="Arial" pitchFamily="34" charset="-122"/>
                <a:cs typeface="Arial" pitchFamily="34" charset="-120"/>
              </a:rPr>
              <a:t>Bidding can optimise to revenue, not page views</a:t>
            </a:r>
            <a:endParaRPr lang="en-US" sz="967" dirty="0"/>
          </a:p>
          <a:p>
            <a:pPr marL="147352" indent="-121668" algn="l">
              <a:lnSpc>
                <a:spcPts val="1450"/>
              </a:lnSpc>
              <a:buSzPct val="100000"/>
              <a:buChar char="•"/>
            </a:pPr>
            <a:r>
              <a:rPr lang="en-US" sz="967" dirty="0">
                <a:solidFill>
                  <a:srgbClr val="A79C89"/>
                </a:solidFill>
                <a:latin typeface="Arial" pitchFamily="34" charset="0"/>
                <a:ea typeface="Arial" pitchFamily="34" charset="-122"/>
                <a:cs typeface="Arial" pitchFamily="34" charset="-120"/>
              </a:rPr>
              <a:t>The brand experience holds all the way through</a:t>
            </a:r>
            <a:endParaRPr lang="en-US" sz="967" dirty="0"/>
          </a:p>
        </p:txBody>
      </p:sp>
      <p:sp>
        <p:nvSpPr>
          <p:cNvPr id="11" name="Shape 9"/>
          <p:cNvSpPr/>
          <p:nvPr/>
        </p:nvSpPr>
        <p:spPr>
          <a:xfrm>
            <a:off x="812800" y="4411985"/>
            <a:ext cx="10566400" cy="1430020"/>
          </a:xfrm>
          <a:prstGeom prst="roundRect">
            <a:avLst>
              <a:gd name="adj" fmla="val 7105"/>
            </a:avLst>
          </a:prstGeom>
          <a:solidFill>
            <a:srgbClr val="E8E1D3"/>
          </a:solidFill>
          <a:ln/>
        </p:spPr>
      </p:sp>
      <p:sp>
        <p:nvSpPr>
          <p:cNvPr id="12" name="Text 10"/>
          <p:cNvSpPr/>
          <p:nvPr/>
        </p:nvSpPr>
        <p:spPr>
          <a:xfrm>
            <a:off x="1066800" y="4665985"/>
            <a:ext cx="10203180" cy="947420"/>
          </a:xfrm>
          <a:prstGeom prst="rect">
            <a:avLst/>
          </a:prstGeom>
          <a:noFill/>
          <a:ln/>
        </p:spPr>
        <p:txBody>
          <a:bodyPr wrap="square" lIns="0" tIns="0" rIns="0" bIns="0" rtlCol="0" anchor="t">
            <a:normAutofit/>
          </a:bodyPr>
          <a:lstStyle/>
          <a:p>
            <a:pPr marL="0" indent="0" algn="l">
              <a:lnSpc>
                <a:spcPts val="2052"/>
              </a:lnSpc>
              <a:buNone/>
            </a:pPr>
            <a:r>
              <a:rPr lang="en-US" sz="1415" b="1" dirty="0">
                <a:solidFill>
                  <a:srgbClr val="17140F"/>
                </a:solidFill>
                <a:latin typeface="Arial" pitchFamily="34" charset="0"/>
                <a:ea typeface="Arial" pitchFamily="34" charset="-122"/>
                <a:cs typeface="Arial" pitchFamily="34" charset="-120"/>
              </a:rPr>
              <a:t>First action:</a:t>
            </a:r>
            <a:r>
              <a:rPr lang="en-US" sz="1415" dirty="0">
                <a:solidFill>
                  <a:srgbClr val="17140F"/>
                </a:solidFill>
                <a:latin typeface="Arial" pitchFamily="34" charset="0"/>
                <a:ea typeface="Arial" pitchFamily="34" charset="-122"/>
                <a:cs typeface="Arial" pitchFamily="34" charset="-120"/>
              </a:rPr>
              <a:t> confirm with Djubo whether their widget can be embedded on guhantara.com for this property and plan. Their product is described as an attachable widget, so this should be available — but it must be verified before we commit to it. If it cannot be embedded, the fallback is cross-domain tracking plus a server-side purchase event from the booking confirmation.</a:t>
            </a:r>
            <a:endParaRPr lang="en-US" sz="1415" dirty="0"/>
          </a:p>
        </p:txBody>
      </p:sp>
      <p:sp>
        <p:nvSpPr>
          <p:cNvPr id="13" name="Text 11"/>
          <p:cNvSpPr/>
          <p:nvPr/>
        </p:nvSpPr>
        <p:spPr>
          <a:xfrm>
            <a:off x="812800" y="6238255"/>
            <a:ext cx="767552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071"/>
                </a:solidFill>
                <a:latin typeface="Arial" pitchFamily="34" charset="0"/>
                <a:ea typeface="Arial" pitchFamily="34" charset="-122"/>
                <a:cs typeface="Arial" pitchFamily="34" charset="-120"/>
              </a:rPr>
              <a:t>Either route restores the purchase event. The embed is cleaner; the fallback works if the embed is unavailable.</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8">
    <p:bg>
      <p:bgPr>
        <a:solidFill>
          <a:srgbClr val="17140F"/>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558800"/>
          </a:xfrm>
          <a:prstGeom prst="rect">
            <a:avLst/>
          </a:prstGeom>
          <a:noFill/>
          <a:ln/>
        </p:spPr>
        <p:txBody>
          <a:bodyPr wrap="square" lIns="0" tIns="0" rIns="0" bIns="0" rtlCol="0" anchor="t">
            <a:normAutofit/>
          </a:bodyPr>
          <a:lstStyle/>
          <a:p>
            <a:pPr marL="0" indent="0" algn="l">
              <a:lnSpc>
                <a:spcPts val="4200"/>
              </a:lnSpc>
              <a:buNone/>
            </a:pPr>
            <a:r>
              <a:rPr lang="en-US" sz="4000" dirty="0">
                <a:solidFill>
                  <a:srgbClr val="F7F3EA"/>
                </a:solidFill>
                <a:latin typeface="Georgia" pitchFamily="34" charset="0"/>
                <a:ea typeface="Georgia" pitchFamily="34" charset="-122"/>
                <a:cs typeface="Georgia" pitchFamily="34" charset="-120"/>
              </a:rPr>
              <a:t>What it looks like when it works</a:t>
            </a:r>
            <a:endParaRPr lang="en-US" sz="4000" dirty="0"/>
          </a:p>
        </p:txBody>
      </p:sp>
      <p:sp>
        <p:nvSpPr>
          <p:cNvPr id="3" name="Shape 1"/>
          <p:cNvSpPr/>
          <p:nvPr/>
        </p:nvSpPr>
        <p:spPr>
          <a:xfrm>
            <a:off x="815975" y="1476375"/>
            <a:ext cx="2542540" cy="1392555"/>
          </a:xfrm>
          <a:prstGeom prst="roundRect">
            <a:avLst>
              <a:gd name="adj" fmla="val 7068"/>
            </a:avLst>
          </a:prstGeom>
          <a:solidFill>
            <a:srgbClr val="221E18"/>
          </a:solidFill>
          <a:ln w="6350">
            <a:solidFill>
              <a:srgbClr val="3A342A"/>
            </a:solidFill>
            <a:prstDash val="solid"/>
          </a:ln>
        </p:spPr>
      </p:sp>
      <p:sp>
        <p:nvSpPr>
          <p:cNvPr id="4" name="Text 2"/>
          <p:cNvSpPr/>
          <p:nvPr/>
        </p:nvSpPr>
        <p:spPr>
          <a:xfrm>
            <a:off x="1021080" y="1681485"/>
            <a:ext cx="21963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A63C"/>
                </a:solidFill>
                <a:latin typeface="Arial" pitchFamily="34" charset="0"/>
                <a:ea typeface="Arial" pitchFamily="34" charset="-122"/>
                <a:cs typeface="Arial" pitchFamily="34" charset="-120"/>
              </a:rPr>
              <a:t>01</a:t>
            </a:r>
            <a:endParaRPr lang="en-US" sz="1200" dirty="0"/>
          </a:p>
        </p:txBody>
      </p:sp>
      <p:sp>
        <p:nvSpPr>
          <p:cNvPr id="5" name="Text 3"/>
          <p:cNvSpPr/>
          <p:nvPr/>
        </p:nvSpPr>
        <p:spPr>
          <a:xfrm>
            <a:off x="1021080" y="1958355"/>
            <a:ext cx="2196300" cy="238760"/>
          </a:xfrm>
          <a:prstGeom prst="rect">
            <a:avLst/>
          </a:prstGeom>
          <a:noFill/>
          <a:ln/>
        </p:spPr>
        <p:txBody>
          <a:bodyPr wrap="square" lIns="0" tIns="0" rIns="0" bIns="0" rtlCol="0" anchor="t">
            <a:normAutofit/>
          </a:bodyPr>
          <a:lstStyle/>
          <a:p>
            <a:pPr marL="0" indent="0" algn="l">
              <a:lnSpc>
                <a:spcPts val="1680"/>
              </a:lnSpc>
              <a:buNone/>
            </a:pPr>
            <a:r>
              <a:rPr lang="en-US" sz="1400" dirty="0">
                <a:solidFill>
                  <a:srgbClr val="F7F3EA"/>
                </a:solidFill>
                <a:latin typeface="Arial" pitchFamily="34" charset="0"/>
                <a:ea typeface="Arial" pitchFamily="34" charset="-122"/>
                <a:cs typeface="Arial" pitchFamily="34" charset="-120"/>
              </a:rPr>
              <a:t>The ad</a:t>
            </a:r>
            <a:endParaRPr lang="en-US" sz="1400" dirty="0"/>
          </a:p>
        </p:txBody>
      </p:sp>
      <p:sp>
        <p:nvSpPr>
          <p:cNvPr id="6" name="Text 4"/>
          <p:cNvSpPr/>
          <p:nvPr/>
        </p:nvSpPr>
        <p:spPr>
          <a:xfrm>
            <a:off x="1021080" y="2235200"/>
            <a:ext cx="2196300" cy="454025"/>
          </a:xfrm>
          <a:prstGeom prst="rect">
            <a:avLst/>
          </a:prstGeom>
          <a:noFill/>
          <a:ln/>
        </p:spPr>
        <p:txBody>
          <a:bodyPr wrap="square" lIns="0" tIns="0" rIns="0" bIns="0" rtlCol="0" anchor="t">
            <a:normAutofit/>
          </a:bodyPr>
          <a:lstStyle/>
          <a:p>
            <a:pPr marL="0" indent="0" algn="l">
              <a:lnSpc>
                <a:spcPts val="1688"/>
              </a:lnSpc>
              <a:buNone/>
            </a:pPr>
            <a:r>
              <a:rPr lang="en-US" sz="1250" dirty="0">
                <a:solidFill>
                  <a:srgbClr val="A79C89"/>
                </a:solidFill>
                <a:latin typeface="Arial" pitchFamily="34" charset="0"/>
                <a:ea typeface="Arial" pitchFamily="34" charset="-122"/>
                <a:cs typeface="Arial" pitchFamily="34" charset="-120"/>
              </a:rPr>
              <a:t>Tagged by campaign and product</a:t>
            </a:r>
            <a:endParaRPr lang="en-US" sz="1250" dirty="0"/>
          </a:p>
        </p:txBody>
      </p:sp>
      <p:sp>
        <p:nvSpPr>
          <p:cNvPr id="7" name="Shape 5"/>
          <p:cNvSpPr/>
          <p:nvPr/>
        </p:nvSpPr>
        <p:spPr>
          <a:xfrm>
            <a:off x="3491865" y="1476375"/>
            <a:ext cx="2542540" cy="1392555"/>
          </a:xfrm>
          <a:prstGeom prst="roundRect">
            <a:avLst>
              <a:gd name="adj" fmla="val 7068"/>
            </a:avLst>
          </a:prstGeom>
          <a:solidFill>
            <a:srgbClr val="221E18"/>
          </a:solidFill>
          <a:ln w="6350">
            <a:solidFill>
              <a:srgbClr val="3A342A"/>
            </a:solidFill>
            <a:prstDash val="solid"/>
          </a:ln>
        </p:spPr>
      </p:sp>
      <p:sp>
        <p:nvSpPr>
          <p:cNvPr id="8" name="Text 6"/>
          <p:cNvSpPr/>
          <p:nvPr/>
        </p:nvSpPr>
        <p:spPr>
          <a:xfrm>
            <a:off x="3696970" y="1681485"/>
            <a:ext cx="21963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A63C"/>
                </a:solidFill>
                <a:latin typeface="Arial" pitchFamily="34" charset="0"/>
                <a:ea typeface="Arial" pitchFamily="34" charset="-122"/>
                <a:cs typeface="Arial" pitchFamily="34" charset="-120"/>
              </a:rPr>
              <a:t>02</a:t>
            </a:r>
            <a:endParaRPr lang="en-US" sz="1200" dirty="0"/>
          </a:p>
        </p:txBody>
      </p:sp>
      <p:sp>
        <p:nvSpPr>
          <p:cNvPr id="9" name="Text 7"/>
          <p:cNvSpPr/>
          <p:nvPr/>
        </p:nvSpPr>
        <p:spPr>
          <a:xfrm>
            <a:off x="3696970" y="1958355"/>
            <a:ext cx="2196300" cy="238760"/>
          </a:xfrm>
          <a:prstGeom prst="rect">
            <a:avLst/>
          </a:prstGeom>
          <a:noFill/>
          <a:ln/>
        </p:spPr>
        <p:txBody>
          <a:bodyPr wrap="square" lIns="0" tIns="0" rIns="0" bIns="0" rtlCol="0" anchor="t">
            <a:normAutofit/>
          </a:bodyPr>
          <a:lstStyle/>
          <a:p>
            <a:pPr marL="0" indent="0" algn="l">
              <a:lnSpc>
                <a:spcPts val="1680"/>
              </a:lnSpc>
              <a:buNone/>
            </a:pPr>
            <a:r>
              <a:rPr lang="en-US" sz="1400" dirty="0">
                <a:solidFill>
                  <a:srgbClr val="F7F3EA"/>
                </a:solidFill>
                <a:latin typeface="Arial" pitchFamily="34" charset="0"/>
                <a:ea typeface="Arial" pitchFamily="34" charset="-122"/>
                <a:cs typeface="Arial" pitchFamily="34" charset="-120"/>
              </a:rPr>
              <a:t>The landing page</a:t>
            </a:r>
            <a:endParaRPr lang="en-US" sz="1400" dirty="0"/>
          </a:p>
        </p:txBody>
      </p:sp>
      <p:sp>
        <p:nvSpPr>
          <p:cNvPr id="10" name="Text 8"/>
          <p:cNvSpPr/>
          <p:nvPr/>
        </p:nvSpPr>
        <p:spPr>
          <a:xfrm>
            <a:off x="3696970" y="2235200"/>
            <a:ext cx="2196300" cy="454025"/>
          </a:xfrm>
          <a:prstGeom prst="rect">
            <a:avLst/>
          </a:prstGeom>
          <a:noFill/>
          <a:ln/>
        </p:spPr>
        <p:txBody>
          <a:bodyPr wrap="square" lIns="0" tIns="0" rIns="0" bIns="0" rtlCol="0" anchor="t">
            <a:normAutofit/>
          </a:bodyPr>
          <a:lstStyle/>
          <a:p>
            <a:pPr marL="0" indent="0" algn="l">
              <a:lnSpc>
                <a:spcPts val="1688"/>
              </a:lnSpc>
              <a:buNone/>
            </a:pPr>
            <a:r>
              <a:rPr lang="en-US" sz="1250" dirty="0">
                <a:solidFill>
                  <a:srgbClr val="A79C89"/>
                </a:solidFill>
                <a:latin typeface="Arial" pitchFamily="34" charset="0"/>
                <a:ea typeface="Arial" pitchFamily="34" charset="-122"/>
                <a:cs typeface="Arial" pitchFamily="34" charset="-120"/>
              </a:rPr>
              <a:t>One page per product, one pixel</a:t>
            </a:r>
            <a:endParaRPr lang="en-US" sz="1250" dirty="0"/>
          </a:p>
        </p:txBody>
      </p:sp>
      <p:sp>
        <p:nvSpPr>
          <p:cNvPr id="11" name="Shape 9"/>
          <p:cNvSpPr/>
          <p:nvPr/>
        </p:nvSpPr>
        <p:spPr>
          <a:xfrm>
            <a:off x="6164580" y="1473200"/>
            <a:ext cx="2538730" cy="1398905"/>
          </a:xfrm>
          <a:prstGeom prst="roundRect">
            <a:avLst>
              <a:gd name="adj" fmla="val 7263"/>
            </a:avLst>
          </a:prstGeom>
          <a:solidFill>
            <a:srgbClr val="C9A63C"/>
          </a:solidFill>
          <a:ln/>
        </p:spPr>
      </p:sp>
      <p:sp>
        <p:nvSpPr>
          <p:cNvPr id="12" name="Text 10"/>
          <p:cNvSpPr/>
          <p:nvPr/>
        </p:nvSpPr>
        <p:spPr>
          <a:xfrm>
            <a:off x="6367780" y="1676400"/>
            <a:ext cx="21963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140F"/>
                </a:solidFill>
                <a:latin typeface="Arial" pitchFamily="34" charset="0"/>
                <a:ea typeface="Arial" pitchFamily="34" charset="-122"/>
                <a:cs typeface="Arial" pitchFamily="34" charset="-120"/>
              </a:rPr>
              <a:t>03</a:t>
            </a:r>
            <a:endParaRPr lang="en-US" sz="1200" dirty="0"/>
          </a:p>
        </p:txBody>
      </p:sp>
      <p:sp>
        <p:nvSpPr>
          <p:cNvPr id="13" name="Text 11"/>
          <p:cNvSpPr/>
          <p:nvPr/>
        </p:nvSpPr>
        <p:spPr>
          <a:xfrm>
            <a:off x="6367780" y="1953270"/>
            <a:ext cx="2196300" cy="238760"/>
          </a:xfrm>
          <a:prstGeom prst="rect">
            <a:avLst/>
          </a:prstGeom>
          <a:noFill/>
          <a:ln/>
        </p:spPr>
        <p:txBody>
          <a:bodyPr wrap="square" lIns="0" tIns="0" rIns="0" bIns="0" rtlCol="0" anchor="t">
            <a:normAutofit/>
          </a:bodyPr>
          <a:lstStyle/>
          <a:p>
            <a:pPr marL="0" indent="0" algn="l">
              <a:lnSpc>
                <a:spcPts val="1680"/>
              </a:lnSpc>
              <a:buNone/>
            </a:pPr>
            <a:r>
              <a:rPr lang="en-US" sz="1400" dirty="0">
                <a:solidFill>
                  <a:srgbClr val="17140F"/>
                </a:solidFill>
                <a:latin typeface="Arial" pitchFamily="34" charset="0"/>
                <a:ea typeface="Arial" pitchFamily="34" charset="-122"/>
                <a:cs typeface="Arial" pitchFamily="34" charset="-120"/>
              </a:rPr>
              <a:t>The CRM</a:t>
            </a:r>
            <a:endParaRPr lang="en-US" sz="1400" dirty="0"/>
          </a:p>
        </p:txBody>
      </p:sp>
      <p:sp>
        <p:nvSpPr>
          <p:cNvPr id="14" name="Text 12"/>
          <p:cNvSpPr/>
          <p:nvPr/>
        </p:nvSpPr>
        <p:spPr>
          <a:xfrm>
            <a:off x="6367780" y="2230115"/>
            <a:ext cx="2196300" cy="454025"/>
          </a:xfrm>
          <a:prstGeom prst="rect">
            <a:avLst/>
          </a:prstGeom>
          <a:noFill/>
          <a:ln/>
        </p:spPr>
        <p:txBody>
          <a:bodyPr wrap="square" lIns="0" tIns="0" rIns="0" bIns="0" rtlCol="0" anchor="t">
            <a:normAutofit/>
          </a:bodyPr>
          <a:lstStyle/>
          <a:p>
            <a:pPr marL="0" indent="0" algn="l">
              <a:lnSpc>
                <a:spcPts val="1688"/>
              </a:lnSpc>
              <a:buNone/>
            </a:pPr>
            <a:r>
              <a:rPr lang="en-US" sz="1250" dirty="0">
                <a:solidFill>
                  <a:srgbClr val="3A342A"/>
                </a:solidFill>
                <a:latin typeface="Arial" pitchFamily="34" charset="0"/>
                <a:ea typeface="Arial" pitchFamily="34" charset="-122"/>
                <a:cs typeface="Arial" pitchFamily="34" charset="-120"/>
              </a:rPr>
              <a:t>Person and source logged, owner assigned</a:t>
            </a:r>
            <a:endParaRPr lang="en-US" sz="1250" dirty="0"/>
          </a:p>
        </p:txBody>
      </p:sp>
      <p:sp>
        <p:nvSpPr>
          <p:cNvPr id="15" name="Shape 13"/>
          <p:cNvSpPr/>
          <p:nvPr/>
        </p:nvSpPr>
        <p:spPr>
          <a:xfrm>
            <a:off x="8833485" y="1476375"/>
            <a:ext cx="2542540" cy="1392555"/>
          </a:xfrm>
          <a:prstGeom prst="roundRect">
            <a:avLst>
              <a:gd name="adj" fmla="val 7068"/>
            </a:avLst>
          </a:prstGeom>
          <a:solidFill>
            <a:srgbClr val="221E18"/>
          </a:solidFill>
          <a:ln w="6350">
            <a:solidFill>
              <a:srgbClr val="3A342A"/>
            </a:solidFill>
            <a:prstDash val="solid"/>
          </a:ln>
        </p:spPr>
      </p:sp>
      <p:sp>
        <p:nvSpPr>
          <p:cNvPr id="16" name="Text 14"/>
          <p:cNvSpPr/>
          <p:nvPr/>
        </p:nvSpPr>
        <p:spPr>
          <a:xfrm>
            <a:off x="9038590" y="1681485"/>
            <a:ext cx="21963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A63C"/>
                </a:solidFill>
                <a:latin typeface="Arial" pitchFamily="34" charset="0"/>
                <a:ea typeface="Arial" pitchFamily="34" charset="-122"/>
                <a:cs typeface="Arial" pitchFamily="34" charset="-120"/>
              </a:rPr>
              <a:t>04</a:t>
            </a:r>
            <a:endParaRPr lang="en-US" sz="1200" dirty="0"/>
          </a:p>
        </p:txBody>
      </p:sp>
      <p:sp>
        <p:nvSpPr>
          <p:cNvPr id="17" name="Text 15"/>
          <p:cNvSpPr/>
          <p:nvPr/>
        </p:nvSpPr>
        <p:spPr>
          <a:xfrm>
            <a:off x="9038590" y="1958355"/>
            <a:ext cx="2196300" cy="238760"/>
          </a:xfrm>
          <a:prstGeom prst="rect">
            <a:avLst/>
          </a:prstGeom>
          <a:noFill/>
          <a:ln/>
        </p:spPr>
        <p:txBody>
          <a:bodyPr wrap="square" lIns="0" tIns="0" rIns="0" bIns="0" rtlCol="0" anchor="t">
            <a:normAutofit/>
          </a:bodyPr>
          <a:lstStyle/>
          <a:p>
            <a:pPr marL="0" indent="0" algn="l">
              <a:lnSpc>
                <a:spcPts val="1680"/>
              </a:lnSpc>
              <a:buNone/>
            </a:pPr>
            <a:r>
              <a:rPr lang="en-US" sz="1400" dirty="0">
                <a:solidFill>
                  <a:srgbClr val="F7F3EA"/>
                </a:solidFill>
                <a:latin typeface="Arial" pitchFamily="34" charset="0"/>
                <a:ea typeface="Arial" pitchFamily="34" charset="-122"/>
                <a:cs typeface="Arial" pitchFamily="34" charset="-120"/>
              </a:rPr>
              <a:t>Follow-up</a:t>
            </a:r>
            <a:endParaRPr lang="en-US" sz="1400" dirty="0"/>
          </a:p>
        </p:txBody>
      </p:sp>
      <p:sp>
        <p:nvSpPr>
          <p:cNvPr id="18" name="Text 16"/>
          <p:cNvSpPr/>
          <p:nvPr/>
        </p:nvSpPr>
        <p:spPr>
          <a:xfrm>
            <a:off x="9038590" y="2235200"/>
            <a:ext cx="2196300" cy="454025"/>
          </a:xfrm>
          <a:prstGeom prst="rect">
            <a:avLst/>
          </a:prstGeom>
          <a:noFill/>
          <a:ln/>
        </p:spPr>
        <p:txBody>
          <a:bodyPr wrap="square" lIns="0" tIns="0" rIns="0" bIns="0" rtlCol="0" anchor="t">
            <a:normAutofit/>
          </a:bodyPr>
          <a:lstStyle/>
          <a:p>
            <a:pPr marL="0" indent="0" algn="l">
              <a:lnSpc>
                <a:spcPts val="1688"/>
              </a:lnSpc>
              <a:buNone/>
            </a:pPr>
            <a:r>
              <a:rPr lang="en-US" sz="1250" dirty="0">
                <a:solidFill>
                  <a:srgbClr val="A79C89"/>
                </a:solidFill>
                <a:latin typeface="Arial" pitchFamily="34" charset="0"/>
                <a:ea typeface="Arial" pitchFamily="34" charset="-122"/>
                <a:cs typeface="Arial" pitchFamily="34" charset="-120"/>
              </a:rPr>
              <a:t>Call, quote, chase — all recorded</a:t>
            </a:r>
            <a:endParaRPr lang="en-US" sz="1250" dirty="0"/>
          </a:p>
        </p:txBody>
      </p:sp>
      <p:sp>
        <p:nvSpPr>
          <p:cNvPr id="19" name="Shape 17"/>
          <p:cNvSpPr/>
          <p:nvPr/>
        </p:nvSpPr>
        <p:spPr>
          <a:xfrm>
            <a:off x="815975" y="3103885"/>
            <a:ext cx="2540000" cy="1392555"/>
          </a:xfrm>
          <a:prstGeom prst="roundRect">
            <a:avLst>
              <a:gd name="adj" fmla="val 7068"/>
            </a:avLst>
          </a:prstGeom>
          <a:solidFill>
            <a:srgbClr val="221E18"/>
          </a:solidFill>
          <a:ln w="6350">
            <a:solidFill>
              <a:srgbClr val="3A342A"/>
            </a:solidFill>
            <a:prstDash val="solid"/>
          </a:ln>
        </p:spPr>
      </p:sp>
      <p:sp>
        <p:nvSpPr>
          <p:cNvPr id="20" name="Text 18"/>
          <p:cNvSpPr/>
          <p:nvPr/>
        </p:nvSpPr>
        <p:spPr>
          <a:xfrm>
            <a:off x="1021080" y="3308995"/>
            <a:ext cx="219368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A63C"/>
                </a:solidFill>
                <a:latin typeface="Arial" pitchFamily="34" charset="0"/>
                <a:ea typeface="Arial" pitchFamily="34" charset="-122"/>
                <a:cs typeface="Arial" pitchFamily="34" charset="-120"/>
              </a:rPr>
              <a:t>08</a:t>
            </a:r>
            <a:endParaRPr lang="en-US" sz="1200" dirty="0"/>
          </a:p>
        </p:txBody>
      </p:sp>
      <p:sp>
        <p:nvSpPr>
          <p:cNvPr id="21" name="Text 19"/>
          <p:cNvSpPr/>
          <p:nvPr/>
        </p:nvSpPr>
        <p:spPr>
          <a:xfrm>
            <a:off x="1021080" y="3585840"/>
            <a:ext cx="2193684" cy="238760"/>
          </a:xfrm>
          <a:prstGeom prst="rect">
            <a:avLst/>
          </a:prstGeom>
          <a:noFill/>
          <a:ln/>
        </p:spPr>
        <p:txBody>
          <a:bodyPr wrap="square" lIns="0" tIns="0" rIns="0" bIns="0" rtlCol="0" anchor="t">
            <a:normAutofit/>
          </a:bodyPr>
          <a:lstStyle/>
          <a:p>
            <a:pPr marL="0" indent="0" algn="l">
              <a:lnSpc>
                <a:spcPts val="1680"/>
              </a:lnSpc>
              <a:buNone/>
            </a:pPr>
            <a:r>
              <a:rPr lang="en-US" sz="1400" dirty="0">
                <a:solidFill>
                  <a:srgbClr val="F7F3EA"/>
                </a:solidFill>
                <a:latin typeface="Arial" pitchFamily="34" charset="0"/>
                <a:ea typeface="Arial" pitchFamily="34" charset="-122"/>
                <a:cs typeface="Arial" pitchFamily="34" charset="-120"/>
              </a:rPr>
              <a:t>The report</a:t>
            </a:r>
            <a:endParaRPr lang="en-US" sz="1400" dirty="0"/>
          </a:p>
        </p:txBody>
      </p:sp>
      <p:sp>
        <p:nvSpPr>
          <p:cNvPr id="22" name="Text 20"/>
          <p:cNvSpPr/>
          <p:nvPr/>
        </p:nvSpPr>
        <p:spPr>
          <a:xfrm>
            <a:off x="1021080" y="3862710"/>
            <a:ext cx="2193684" cy="454025"/>
          </a:xfrm>
          <a:prstGeom prst="rect">
            <a:avLst/>
          </a:prstGeom>
          <a:noFill/>
          <a:ln/>
        </p:spPr>
        <p:txBody>
          <a:bodyPr wrap="square" lIns="0" tIns="0" rIns="0" bIns="0" rtlCol="0" anchor="t">
            <a:normAutofit/>
          </a:bodyPr>
          <a:lstStyle/>
          <a:p>
            <a:pPr marL="0" indent="0" algn="l">
              <a:lnSpc>
                <a:spcPts val="1688"/>
              </a:lnSpc>
              <a:buNone/>
            </a:pPr>
            <a:r>
              <a:rPr lang="en-US" sz="1250" dirty="0">
                <a:solidFill>
                  <a:srgbClr val="A79C89"/>
                </a:solidFill>
                <a:latin typeface="Arial" pitchFamily="34" charset="0"/>
                <a:ea typeface="Arial" pitchFamily="34" charset="-122"/>
                <a:cs typeface="Arial" pitchFamily="34" charset="-120"/>
              </a:rPr>
              <a:t>Cost per booking, weekday against weekend</a:t>
            </a:r>
            <a:endParaRPr lang="en-US" sz="1250" dirty="0"/>
          </a:p>
        </p:txBody>
      </p:sp>
      <p:sp>
        <p:nvSpPr>
          <p:cNvPr id="23" name="Shape 21"/>
          <p:cNvSpPr/>
          <p:nvPr/>
        </p:nvSpPr>
        <p:spPr>
          <a:xfrm>
            <a:off x="3489325" y="3103885"/>
            <a:ext cx="2540000" cy="1392555"/>
          </a:xfrm>
          <a:prstGeom prst="roundRect">
            <a:avLst>
              <a:gd name="adj" fmla="val 7068"/>
            </a:avLst>
          </a:prstGeom>
          <a:solidFill>
            <a:srgbClr val="221E18"/>
          </a:solidFill>
          <a:ln w="6350">
            <a:solidFill>
              <a:srgbClr val="3A342A"/>
            </a:solidFill>
            <a:prstDash val="solid"/>
          </a:ln>
        </p:spPr>
      </p:sp>
      <p:sp>
        <p:nvSpPr>
          <p:cNvPr id="24" name="Text 22"/>
          <p:cNvSpPr/>
          <p:nvPr/>
        </p:nvSpPr>
        <p:spPr>
          <a:xfrm>
            <a:off x="3694430" y="3308995"/>
            <a:ext cx="219368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A63C"/>
                </a:solidFill>
                <a:latin typeface="Arial" pitchFamily="34" charset="0"/>
                <a:ea typeface="Arial" pitchFamily="34" charset="-122"/>
                <a:cs typeface="Arial" pitchFamily="34" charset="-120"/>
              </a:rPr>
              <a:t>07</a:t>
            </a:r>
            <a:endParaRPr lang="en-US" sz="1200" dirty="0"/>
          </a:p>
        </p:txBody>
      </p:sp>
      <p:sp>
        <p:nvSpPr>
          <p:cNvPr id="25" name="Text 23"/>
          <p:cNvSpPr/>
          <p:nvPr/>
        </p:nvSpPr>
        <p:spPr>
          <a:xfrm>
            <a:off x="3694430" y="3585840"/>
            <a:ext cx="2193684" cy="238760"/>
          </a:xfrm>
          <a:prstGeom prst="rect">
            <a:avLst/>
          </a:prstGeom>
          <a:noFill/>
          <a:ln/>
        </p:spPr>
        <p:txBody>
          <a:bodyPr wrap="square" lIns="0" tIns="0" rIns="0" bIns="0" rtlCol="0" anchor="t">
            <a:normAutofit/>
          </a:bodyPr>
          <a:lstStyle/>
          <a:p>
            <a:pPr marL="0" indent="0" algn="l">
              <a:lnSpc>
                <a:spcPts val="1680"/>
              </a:lnSpc>
              <a:buNone/>
            </a:pPr>
            <a:r>
              <a:rPr lang="en-US" sz="1400" dirty="0">
                <a:solidFill>
                  <a:srgbClr val="F7F3EA"/>
                </a:solidFill>
                <a:latin typeface="Arial" pitchFamily="34" charset="0"/>
                <a:ea typeface="Arial" pitchFamily="34" charset="-122"/>
                <a:cs typeface="Arial" pitchFamily="34" charset="-120"/>
              </a:rPr>
              <a:t>The platform learns</a:t>
            </a:r>
            <a:endParaRPr lang="en-US" sz="1400" dirty="0"/>
          </a:p>
        </p:txBody>
      </p:sp>
      <p:sp>
        <p:nvSpPr>
          <p:cNvPr id="26" name="Text 24"/>
          <p:cNvSpPr/>
          <p:nvPr/>
        </p:nvSpPr>
        <p:spPr>
          <a:xfrm>
            <a:off x="3694430" y="3862710"/>
            <a:ext cx="2193684" cy="454025"/>
          </a:xfrm>
          <a:prstGeom prst="rect">
            <a:avLst/>
          </a:prstGeom>
          <a:noFill/>
          <a:ln/>
        </p:spPr>
        <p:txBody>
          <a:bodyPr wrap="square" lIns="0" tIns="0" rIns="0" bIns="0" rtlCol="0" anchor="t">
            <a:normAutofit/>
          </a:bodyPr>
          <a:lstStyle/>
          <a:p>
            <a:pPr marL="0" indent="0" algn="l">
              <a:lnSpc>
                <a:spcPts val="1688"/>
              </a:lnSpc>
              <a:buNone/>
            </a:pPr>
            <a:r>
              <a:rPr lang="en-US" sz="1250" dirty="0">
                <a:solidFill>
                  <a:srgbClr val="A79C89"/>
                </a:solidFill>
                <a:latin typeface="Arial" pitchFamily="34" charset="0"/>
                <a:ea typeface="Arial" pitchFamily="34" charset="-122"/>
                <a:cs typeface="Arial" pitchFamily="34" charset="-120"/>
              </a:rPr>
              <a:t>Finds more people who book, not who click</a:t>
            </a:r>
            <a:endParaRPr lang="en-US" sz="1250" dirty="0"/>
          </a:p>
        </p:txBody>
      </p:sp>
      <p:sp>
        <p:nvSpPr>
          <p:cNvPr id="27" name="Shape 25"/>
          <p:cNvSpPr/>
          <p:nvPr/>
        </p:nvSpPr>
        <p:spPr>
          <a:xfrm>
            <a:off x="6162675" y="3103885"/>
            <a:ext cx="2540000" cy="1392555"/>
          </a:xfrm>
          <a:prstGeom prst="roundRect">
            <a:avLst>
              <a:gd name="adj" fmla="val 7068"/>
            </a:avLst>
          </a:prstGeom>
          <a:solidFill>
            <a:srgbClr val="221E18"/>
          </a:solidFill>
          <a:ln w="6350">
            <a:solidFill>
              <a:srgbClr val="3A342A"/>
            </a:solidFill>
            <a:prstDash val="solid"/>
          </a:ln>
        </p:spPr>
      </p:sp>
      <p:sp>
        <p:nvSpPr>
          <p:cNvPr id="28" name="Text 26"/>
          <p:cNvSpPr/>
          <p:nvPr/>
        </p:nvSpPr>
        <p:spPr>
          <a:xfrm>
            <a:off x="6367780" y="3308995"/>
            <a:ext cx="219368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A63C"/>
                </a:solidFill>
                <a:latin typeface="Arial" pitchFamily="34" charset="0"/>
                <a:ea typeface="Arial" pitchFamily="34" charset="-122"/>
                <a:cs typeface="Arial" pitchFamily="34" charset="-120"/>
              </a:rPr>
              <a:t>06</a:t>
            </a:r>
            <a:endParaRPr lang="en-US" sz="1200" dirty="0"/>
          </a:p>
        </p:txBody>
      </p:sp>
      <p:sp>
        <p:nvSpPr>
          <p:cNvPr id="29" name="Text 27"/>
          <p:cNvSpPr/>
          <p:nvPr/>
        </p:nvSpPr>
        <p:spPr>
          <a:xfrm>
            <a:off x="6367780" y="3585840"/>
            <a:ext cx="2193684" cy="238760"/>
          </a:xfrm>
          <a:prstGeom prst="rect">
            <a:avLst/>
          </a:prstGeom>
          <a:noFill/>
          <a:ln/>
        </p:spPr>
        <p:txBody>
          <a:bodyPr wrap="square" lIns="0" tIns="0" rIns="0" bIns="0" rtlCol="0" anchor="t">
            <a:normAutofit/>
          </a:bodyPr>
          <a:lstStyle/>
          <a:p>
            <a:pPr marL="0" indent="0" algn="l">
              <a:lnSpc>
                <a:spcPts val="1680"/>
              </a:lnSpc>
              <a:buNone/>
            </a:pPr>
            <a:r>
              <a:rPr lang="en-US" sz="1400" dirty="0">
                <a:solidFill>
                  <a:srgbClr val="F7F3EA"/>
                </a:solidFill>
                <a:latin typeface="Arial" pitchFamily="34" charset="0"/>
                <a:ea typeface="Arial" pitchFamily="34" charset="-122"/>
                <a:cs typeface="Arial" pitchFamily="34" charset="-120"/>
              </a:rPr>
              <a:t>Sent back</a:t>
            </a:r>
            <a:endParaRPr lang="en-US" sz="1400" dirty="0"/>
          </a:p>
        </p:txBody>
      </p:sp>
      <p:sp>
        <p:nvSpPr>
          <p:cNvPr id="30" name="Text 28"/>
          <p:cNvSpPr/>
          <p:nvPr/>
        </p:nvSpPr>
        <p:spPr>
          <a:xfrm>
            <a:off x="6367780" y="3862710"/>
            <a:ext cx="2193684" cy="454025"/>
          </a:xfrm>
          <a:prstGeom prst="rect">
            <a:avLst/>
          </a:prstGeom>
          <a:noFill/>
          <a:ln/>
        </p:spPr>
        <p:txBody>
          <a:bodyPr wrap="square" lIns="0" tIns="0" rIns="0" bIns="0" rtlCol="0" anchor="t">
            <a:normAutofit/>
          </a:bodyPr>
          <a:lstStyle/>
          <a:p>
            <a:pPr marL="0" indent="0" algn="l">
              <a:lnSpc>
                <a:spcPts val="1688"/>
              </a:lnSpc>
              <a:buNone/>
            </a:pPr>
            <a:r>
              <a:rPr lang="en-US" sz="1250" dirty="0">
                <a:solidFill>
                  <a:srgbClr val="A79C89"/>
                </a:solidFill>
                <a:latin typeface="Arial" pitchFamily="34" charset="0"/>
                <a:ea typeface="Arial" pitchFamily="34" charset="-122"/>
                <a:cs typeface="Arial" pitchFamily="34" charset="-120"/>
              </a:rPr>
              <a:t>Conversions API returns the booking and its value</a:t>
            </a:r>
            <a:endParaRPr lang="en-US" sz="1250" dirty="0"/>
          </a:p>
        </p:txBody>
      </p:sp>
      <p:sp>
        <p:nvSpPr>
          <p:cNvPr id="31" name="Shape 29"/>
          <p:cNvSpPr/>
          <p:nvPr/>
        </p:nvSpPr>
        <p:spPr>
          <a:xfrm>
            <a:off x="8836025" y="3103885"/>
            <a:ext cx="2540000" cy="1392555"/>
          </a:xfrm>
          <a:prstGeom prst="roundRect">
            <a:avLst>
              <a:gd name="adj" fmla="val 7068"/>
            </a:avLst>
          </a:prstGeom>
          <a:solidFill>
            <a:srgbClr val="221E18"/>
          </a:solidFill>
          <a:ln w="6350">
            <a:solidFill>
              <a:srgbClr val="3A342A"/>
            </a:solidFill>
            <a:prstDash val="solid"/>
          </a:ln>
        </p:spPr>
      </p:sp>
      <p:sp>
        <p:nvSpPr>
          <p:cNvPr id="32" name="Text 30"/>
          <p:cNvSpPr/>
          <p:nvPr/>
        </p:nvSpPr>
        <p:spPr>
          <a:xfrm>
            <a:off x="9041130" y="3308995"/>
            <a:ext cx="219368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A63C"/>
                </a:solidFill>
                <a:latin typeface="Arial" pitchFamily="34" charset="0"/>
                <a:ea typeface="Arial" pitchFamily="34" charset="-122"/>
                <a:cs typeface="Arial" pitchFamily="34" charset="-120"/>
              </a:rPr>
              <a:t>05</a:t>
            </a:r>
            <a:endParaRPr lang="en-US" sz="1200" dirty="0"/>
          </a:p>
        </p:txBody>
      </p:sp>
      <p:sp>
        <p:nvSpPr>
          <p:cNvPr id="33" name="Text 31"/>
          <p:cNvSpPr/>
          <p:nvPr/>
        </p:nvSpPr>
        <p:spPr>
          <a:xfrm>
            <a:off x="9041130" y="3585840"/>
            <a:ext cx="2193684" cy="238760"/>
          </a:xfrm>
          <a:prstGeom prst="rect">
            <a:avLst/>
          </a:prstGeom>
          <a:noFill/>
          <a:ln/>
        </p:spPr>
        <p:txBody>
          <a:bodyPr wrap="square" lIns="0" tIns="0" rIns="0" bIns="0" rtlCol="0" anchor="t">
            <a:normAutofit/>
          </a:bodyPr>
          <a:lstStyle/>
          <a:p>
            <a:pPr marL="0" indent="0" algn="l">
              <a:lnSpc>
                <a:spcPts val="1680"/>
              </a:lnSpc>
              <a:buNone/>
            </a:pPr>
            <a:r>
              <a:rPr lang="en-US" sz="1400" dirty="0">
                <a:solidFill>
                  <a:srgbClr val="F7F3EA"/>
                </a:solidFill>
                <a:latin typeface="Arial" pitchFamily="34" charset="0"/>
                <a:ea typeface="Arial" pitchFamily="34" charset="-122"/>
                <a:cs typeface="Arial" pitchFamily="34" charset="-120"/>
              </a:rPr>
              <a:t>The booking</a:t>
            </a:r>
            <a:endParaRPr lang="en-US" sz="1400" dirty="0"/>
          </a:p>
        </p:txBody>
      </p:sp>
      <p:sp>
        <p:nvSpPr>
          <p:cNvPr id="34" name="Text 32"/>
          <p:cNvSpPr/>
          <p:nvPr/>
        </p:nvSpPr>
        <p:spPr>
          <a:xfrm>
            <a:off x="9041130" y="3862710"/>
            <a:ext cx="2193684" cy="454025"/>
          </a:xfrm>
          <a:prstGeom prst="rect">
            <a:avLst/>
          </a:prstGeom>
          <a:noFill/>
          <a:ln/>
        </p:spPr>
        <p:txBody>
          <a:bodyPr wrap="square" lIns="0" tIns="0" rIns="0" bIns="0" rtlCol="0" anchor="t">
            <a:normAutofit/>
          </a:bodyPr>
          <a:lstStyle/>
          <a:p>
            <a:pPr marL="0" indent="0" algn="l">
              <a:lnSpc>
                <a:spcPts val="1688"/>
              </a:lnSpc>
              <a:buNone/>
            </a:pPr>
            <a:r>
              <a:rPr lang="en-US" sz="1250" dirty="0">
                <a:solidFill>
                  <a:srgbClr val="A79C89"/>
                </a:solidFill>
                <a:latin typeface="Arial" pitchFamily="34" charset="0"/>
                <a:ea typeface="Arial" pitchFamily="34" charset="-122"/>
                <a:cs typeface="Arial" pitchFamily="34" charset="-120"/>
              </a:rPr>
              <a:t>Confirmed inside the site, not off it</a:t>
            </a:r>
            <a:endParaRPr lang="en-US" sz="1250" dirty="0"/>
          </a:p>
        </p:txBody>
      </p:sp>
      <p:sp>
        <p:nvSpPr>
          <p:cNvPr id="35" name="Text 33"/>
          <p:cNvSpPr/>
          <p:nvPr/>
        </p:nvSpPr>
        <p:spPr>
          <a:xfrm>
            <a:off x="812800" y="4728220"/>
            <a:ext cx="10333990" cy="909320"/>
          </a:xfrm>
          <a:prstGeom prst="rect">
            <a:avLst/>
          </a:prstGeom>
          <a:noFill/>
          <a:ln/>
        </p:spPr>
        <p:txBody>
          <a:bodyPr wrap="square" lIns="0" tIns="0" rIns="0" bIns="0" rtlCol="0" anchor="t">
            <a:normAutofit/>
          </a:bodyPr>
          <a:lstStyle/>
          <a:p>
            <a:pPr marL="0" indent="0" algn="l">
              <a:lnSpc>
                <a:spcPts val="2320"/>
              </a:lnSpc>
              <a:buNone/>
            </a:pPr>
            <a:r>
              <a:rPr lang="en-US" sz="1600" dirty="0">
                <a:solidFill>
                  <a:srgbClr val="A79C89"/>
                </a:solidFill>
                <a:latin typeface="Arial" pitchFamily="34" charset="0"/>
                <a:ea typeface="Arial" pitchFamily="34" charset="-122"/>
                <a:cs typeface="Arial" pitchFamily="34" charset="-120"/>
              </a:rPr>
              <a:t>Steps 3, 5 and 6 do not exist today. Build those three and every number in this deck becomes decision-grade. Meta's Conversions API for Business Messaging does step 6 for click-to-WhatsApp ads, which is how most enquiries already arrive.</a:t>
            </a:r>
            <a:endParaRPr lang="en-US" sz="1600" dirty="0"/>
          </a:p>
        </p:txBody>
      </p:sp>
      <p:sp>
        <p:nvSpPr>
          <p:cNvPr id="36" name="Text 34"/>
          <p:cNvSpPr/>
          <p:nvPr/>
        </p:nvSpPr>
        <p:spPr>
          <a:xfrm>
            <a:off x="812800" y="6238255"/>
            <a:ext cx="605584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071"/>
                </a:solidFill>
                <a:latin typeface="Arial" pitchFamily="34" charset="0"/>
                <a:ea typeface="Arial" pitchFamily="34" charset="-122"/>
                <a:cs typeface="Arial" pitchFamily="34" charset="-120"/>
              </a:rPr>
              <a:t>The loop runs left to right on the top row, then right to left on the bottom, back to the ad.</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9">
    <p:bg>
      <p:bgPr>
        <a:solidFill>
          <a:srgbClr val="F7F3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541258"/>
          </a:xfrm>
          <a:prstGeom prst="rect">
            <a:avLst/>
          </a:prstGeom>
          <a:noFill/>
          <a:ln/>
        </p:spPr>
        <p:txBody>
          <a:bodyPr wrap="square" lIns="0" tIns="0" rIns="0" bIns="0" rtlCol="0" anchor="t">
            <a:normAutofit/>
          </a:bodyPr>
          <a:lstStyle/>
          <a:p>
            <a:pPr marL="0" indent="0" algn="l">
              <a:lnSpc>
                <a:spcPts val="4071"/>
              </a:lnSpc>
              <a:buNone/>
            </a:pPr>
            <a:r>
              <a:rPr lang="en-US" sz="3878" dirty="0">
                <a:solidFill>
                  <a:srgbClr val="17140F"/>
                </a:solidFill>
                <a:latin typeface="Georgia" pitchFamily="34" charset="0"/>
                <a:ea typeface="Georgia" pitchFamily="34" charset="-122"/>
                <a:cs typeface="Georgia" pitchFamily="34" charset="-120"/>
              </a:rPr>
              <a:t>There is no CRM. Here is what that costs.</a:t>
            </a:r>
            <a:endParaRPr lang="en-US" sz="3878" dirty="0"/>
          </a:p>
        </p:txBody>
      </p:sp>
      <p:sp>
        <p:nvSpPr>
          <p:cNvPr id="3" name="Shape 1"/>
          <p:cNvSpPr/>
          <p:nvPr/>
        </p:nvSpPr>
        <p:spPr>
          <a:xfrm>
            <a:off x="815975" y="1611238"/>
            <a:ext cx="5175250" cy="1456452"/>
          </a:xfrm>
          <a:prstGeom prst="roundRect">
            <a:avLst>
              <a:gd name="adj" fmla="val 6758"/>
            </a:avLst>
          </a:prstGeom>
          <a:solidFill>
            <a:srgbClr val="FFFFFF"/>
          </a:solidFill>
          <a:ln w="6350">
            <a:solidFill>
              <a:srgbClr val="DDD5C5"/>
            </a:solidFill>
            <a:prstDash val="solid"/>
          </a:ln>
        </p:spPr>
      </p:sp>
      <p:sp>
        <p:nvSpPr>
          <p:cNvPr id="4" name="Text 2"/>
          <p:cNvSpPr/>
          <p:nvPr/>
        </p:nvSpPr>
        <p:spPr>
          <a:xfrm>
            <a:off x="1097280" y="1892548"/>
            <a:ext cx="4751019" cy="230584"/>
          </a:xfrm>
          <a:prstGeom prst="rect">
            <a:avLst/>
          </a:prstGeom>
          <a:noFill/>
          <a:ln/>
        </p:spPr>
        <p:txBody>
          <a:bodyPr wrap="square" lIns="0" tIns="0" rIns="0" bIns="0" rtlCol="0" anchor="t">
            <a:normAutofit/>
          </a:bodyPr>
          <a:lstStyle/>
          <a:p>
            <a:pPr marL="0" indent="0" algn="l">
              <a:lnSpc>
                <a:spcPts val="1619"/>
              </a:lnSpc>
              <a:buNone/>
            </a:pPr>
            <a:r>
              <a:rPr lang="en-US" sz="1349" b="1" dirty="0">
                <a:solidFill>
                  <a:srgbClr val="B54A28"/>
                </a:solidFill>
                <a:latin typeface="Arial" pitchFamily="34" charset="0"/>
                <a:ea typeface="Arial" pitchFamily="34" charset="-122"/>
                <a:cs typeface="Arial" pitchFamily="34" charset="-120"/>
              </a:rPr>
              <a:t>No attribution</a:t>
            </a:r>
            <a:endParaRPr lang="en-US" sz="1349" dirty="0"/>
          </a:p>
        </p:txBody>
      </p:sp>
      <p:sp>
        <p:nvSpPr>
          <p:cNvPr id="5" name="Text 3"/>
          <p:cNvSpPr/>
          <p:nvPr/>
        </p:nvSpPr>
        <p:spPr>
          <a:xfrm>
            <a:off x="1097280" y="2173932"/>
            <a:ext cx="4751019" cy="637858"/>
          </a:xfrm>
          <a:prstGeom prst="rect">
            <a:avLst/>
          </a:prstGeom>
          <a:noFill/>
          <a:ln/>
        </p:spPr>
        <p:txBody>
          <a:bodyPr wrap="square" lIns="0" tIns="0" rIns="0" bIns="0" rtlCol="0" anchor="t">
            <a:normAutofit/>
          </a:bodyPr>
          <a:lstStyle/>
          <a:p>
            <a:pPr marL="0" indent="0" algn="l">
              <a:lnSpc>
                <a:spcPts val="1605"/>
              </a:lnSpc>
              <a:buNone/>
            </a:pPr>
            <a:r>
              <a:rPr lang="en-US" sz="1107" dirty="0">
                <a:solidFill>
                  <a:srgbClr val="5C5344"/>
                </a:solidFill>
                <a:latin typeface="Arial" pitchFamily="34" charset="0"/>
                <a:ea typeface="Arial" pitchFamily="34" charset="-122"/>
                <a:cs typeface="Arial" pitchFamily="34" charset="-120"/>
              </a:rPr>
              <a:t>Enquiries arrive by phone and WhatsApp — the only contact routes on the site — and nothing ties them to the campaign that caused them. Budgets get judged on clicks.</a:t>
            </a:r>
            <a:endParaRPr lang="en-US" sz="1107" dirty="0"/>
          </a:p>
        </p:txBody>
      </p:sp>
      <p:sp>
        <p:nvSpPr>
          <p:cNvPr id="6" name="Shape 4"/>
          <p:cNvSpPr/>
          <p:nvPr/>
        </p:nvSpPr>
        <p:spPr>
          <a:xfrm>
            <a:off x="6200775" y="1611238"/>
            <a:ext cx="5175250" cy="1456452"/>
          </a:xfrm>
          <a:prstGeom prst="roundRect">
            <a:avLst>
              <a:gd name="adj" fmla="val 6758"/>
            </a:avLst>
          </a:prstGeom>
          <a:solidFill>
            <a:srgbClr val="FFFFFF"/>
          </a:solidFill>
          <a:ln w="6350">
            <a:solidFill>
              <a:srgbClr val="DDD5C5"/>
            </a:solidFill>
            <a:prstDash val="solid"/>
          </a:ln>
        </p:spPr>
      </p:sp>
      <p:sp>
        <p:nvSpPr>
          <p:cNvPr id="7" name="Text 5"/>
          <p:cNvSpPr/>
          <p:nvPr/>
        </p:nvSpPr>
        <p:spPr>
          <a:xfrm>
            <a:off x="6482080" y="1892548"/>
            <a:ext cx="4751019" cy="230584"/>
          </a:xfrm>
          <a:prstGeom prst="rect">
            <a:avLst/>
          </a:prstGeom>
          <a:noFill/>
          <a:ln/>
        </p:spPr>
        <p:txBody>
          <a:bodyPr wrap="square" lIns="0" tIns="0" rIns="0" bIns="0" rtlCol="0" anchor="t">
            <a:normAutofit/>
          </a:bodyPr>
          <a:lstStyle/>
          <a:p>
            <a:pPr marL="0" indent="0" algn="l">
              <a:lnSpc>
                <a:spcPts val="1619"/>
              </a:lnSpc>
              <a:buNone/>
            </a:pPr>
            <a:r>
              <a:rPr lang="en-US" sz="1349" b="1" dirty="0">
                <a:solidFill>
                  <a:srgbClr val="B54A28"/>
                </a:solidFill>
                <a:latin typeface="Arial" pitchFamily="34" charset="0"/>
                <a:ea typeface="Arial" pitchFamily="34" charset="-122"/>
                <a:cs typeface="Arial" pitchFamily="34" charset="-120"/>
              </a:rPr>
              <a:t>No lead quality</a:t>
            </a:r>
            <a:endParaRPr lang="en-US" sz="1349" dirty="0"/>
          </a:p>
        </p:txBody>
      </p:sp>
      <p:sp>
        <p:nvSpPr>
          <p:cNvPr id="8" name="Text 6"/>
          <p:cNvSpPr/>
          <p:nvPr/>
        </p:nvSpPr>
        <p:spPr>
          <a:xfrm>
            <a:off x="6482080" y="2173932"/>
            <a:ext cx="4751019" cy="637858"/>
          </a:xfrm>
          <a:prstGeom prst="rect">
            <a:avLst/>
          </a:prstGeom>
          <a:noFill/>
          <a:ln/>
        </p:spPr>
        <p:txBody>
          <a:bodyPr wrap="square" lIns="0" tIns="0" rIns="0" bIns="0" rtlCol="0" anchor="t">
            <a:normAutofit/>
          </a:bodyPr>
          <a:lstStyle/>
          <a:p>
            <a:pPr marL="0" indent="0" algn="l">
              <a:lnSpc>
                <a:spcPts val="1764"/>
              </a:lnSpc>
              <a:buNone/>
            </a:pPr>
            <a:r>
              <a:rPr lang="en-US" sz="1216" dirty="0">
                <a:solidFill>
                  <a:srgbClr val="5C5344"/>
                </a:solidFill>
                <a:latin typeface="Arial" pitchFamily="34" charset="0"/>
                <a:ea typeface="Arial" pitchFamily="34" charset="-122"/>
                <a:cs typeface="Arial" pitchFamily="34" charset="-120"/>
              </a:rPr>
              <a:t>1,259 Meta leads exist as a number and nothing else. Which were serious, which booked, which were wrong numbers — unknowable.</a:t>
            </a:r>
            <a:endParaRPr lang="en-US" sz="1216" dirty="0"/>
          </a:p>
        </p:txBody>
      </p:sp>
      <p:sp>
        <p:nvSpPr>
          <p:cNvPr id="9" name="Shape 7"/>
          <p:cNvSpPr/>
          <p:nvPr/>
        </p:nvSpPr>
        <p:spPr>
          <a:xfrm>
            <a:off x="815975" y="3277245"/>
            <a:ext cx="5175250" cy="1456452"/>
          </a:xfrm>
          <a:prstGeom prst="roundRect">
            <a:avLst>
              <a:gd name="adj" fmla="val 6758"/>
            </a:avLst>
          </a:prstGeom>
          <a:solidFill>
            <a:srgbClr val="FFFFFF"/>
          </a:solidFill>
          <a:ln w="6350">
            <a:solidFill>
              <a:srgbClr val="DDD5C5"/>
            </a:solidFill>
            <a:prstDash val="solid"/>
          </a:ln>
        </p:spPr>
      </p:sp>
      <p:sp>
        <p:nvSpPr>
          <p:cNvPr id="10" name="Text 8"/>
          <p:cNvSpPr/>
          <p:nvPr/>
        </p:nvSpPr>
        <p:spPr>
          <a:xfrm>
            <a:off x="1097280" y="3558555"/>
            <a:ext cx="4751019" cy="230584"/>
          </a:xfrm>
          <a:prstGeom prst="rect">
            <a:avLst/>
          </a:prstGeom>
          <a:noFill/>
          <a:ln/>
        </p:spPr>
        <p:txBody>
          <a:bodyPr wrap="square" lIns="0" tIns="0" rIns="0" bIns="0" rtlCol="0" anchor="t">
            <a:normAutofit/>
          </a:bodyPr>
          <a:lstStyle/>
          <a:p>
            <a:pPr marL="0" indent="0" algn="l">
              <a:lnSpc>
                <a:spcPts val="1619"/>
              </a:lnSpc>
              <a:buNone/>
            </a:pPr>
            <a:r>
              <a:rPr lang="en-US" sz="1349" b="1" dirty="0">
                <a:solidFill>
                  <a:srgbClr val="B54A28"/>
                </a:solidFill>
                <a:latin typeface="Arial" pitchFamily="34" charset="0"/>
                <a:ea typeface="Arial" pitchFamily="34" charset="-122"/>
                <a:cs typeface="Arial" pitchFamily="34" charset="-120"/>
              </a:rPr>
              <a:t>No repeat business</a:t>
            </a:r>
            <a:endParaRPr lang="en-US" sz="1349" dirty="0"/>
          </a:p>
        </p:txBody>
      </p:sp>
      <p:sp>
        <p:nvSpPr>
          <p:cNvPr id="11" name="Text 9"/>
          <p:cNvSpPr/>
          <p:nvPr/>
        </p:nvSpPr>
        <p:spPr>
          <a:xfrm>
            <a:off x="1097280" y="3839939"/>
            <a:ext cx="4751019" cy="637858"/>
          </a:xfrm>
          <a:prstGeom prst="rect">
            <a:avLst/>
          </a:prstGeom>
          <a:noFill/>
          <a:ln/>
        </p:spPr>
        <p:txBody>
          <a:bodyPr wrap="square" lIns="0" tIns="0" rIns="0" bIns="0" rtlCol="0" anchor="t">
            <a:normAutofit/>
          </a:bodyPr>
          <a:lstStyle/>
          <a:p>
            <a:pPr marL="0" indent="0" algn="l">
              <a:lnSpc>
                <a:spcPts val="1605"/>
              </a:lnSpc>
              <a:buNone/>
            </a:pPr>
            <a:r>
              <a:rPr lang="en-US" sz="1107" dirty="0">
                <a:solidFill>
                  <a:srgbClr val="5C5344"/>
                </a:solidFill>
                <a:latin typeface="Arial" pitchFamily="34" charset="0"/>
                <a:ea typeface="Arial" pitchFamily="34" charset="-122"/>
                <a:cs typeface="Arial" pitchFamily="34" charset="-120"/>
              </a:rPr>
              <a:t>A corporate buyer who ran a good offsite last year is the cheapest lead the resort will ever have. Today nobody holds their name in a system that prompts a call.</a:t>
            </a:r>
            <a:endParaRPr lang="en-US" sz="1107" dirty="0"/>
          </a:p>
        </p:txBody>
      </p:sp>
      <p:sp>
        <p:nvSpPr>
          <p:cNvPr id="12" name="Shape 10"/>
          <p:cNvSpPr/>
          <p:nvPr/>
        </p:nvSpPr>
        <p:spPr>
          <a:xfrm>
            <a:off x="6200775" y="3277245"/>
            <a:ext cx="5175250" cy="1456452"/>
          </a:xfrm>
          <a:prstGeom prst="roundRect">
            <a:avLst>
              <a:gd name="adj" fmla="val 6758"/>
            </a:avLst>
          </a:prstGeom>
          <a:solidFill>
            <a:srgbClr val="FFFFFF"/>
          </a:solidFill>
          <a:ln w="6350">
            <a:solidFill>
              <a:srgbClr val="DDD5C5"/>
            </a:solidFill>
            <a:prstDash val="solid"/>
          </a:ln>
        </p:spPr>
      </p:sp>
      <p:sp>
        <p:nvSpPr>
          <p:cNvPr id="13" name="Text 11"/>
          <p:cNvSpPr/>
          <p:nvPr/>
        </p:nvSpPr>
        <p:spPr>
          <a:xfrm>
            <a:off x="6482080" y="3558555"/>
            <a:ext cx="4751019" cy="230584"/>
          </a:xfrm>
          <a:prstGeom prst="rect">
            <a:avLst/>
          </a:prstGeom>
          <a:noFill/>
          <a:ln/>
        </p:spPr>
        <p:txBody>
          <a:bodyPr wrap="square" lIns="0" tIns="0" rIns="0" bIns="0" rtlCol="0" anchor="t">
            <a:normAutofit/>
          </a:bodyPr>
          <a:lstStyle/>
          <a:p>
            <a:pPr marL="0" indent="0" algn="l">
              <a:lnSpc>
                <a:spcPts val="1619"/>
              </a:lnSpc>
              <a:buNone/>
            </a:pPr>
            <a:r>
              <a:rPr lang="en-US" sz="1349" b="1" dirty="0">
                <a:solidFill>
                  <a:srgbClr val="B54A28"/>
                </a:solidFill>
                <a:latin typeface="Arial" pitchFamily="34" charset="0"/>
                <a:ea typeface="Arial" pitchFamily="34" charset="-122"/>
                <a:cs typeface="Arial" pitchFamily="34" charset="-120"/>
              </a:rPr>
              <a:t>No audiences</a:t>
            </a:r>
            <a:endParaRPr lang="en-US" sz="1349" dirty="0"/>
          </a:p>
        </p:txBody>
      </p:sp>
      <p:sp>
        <p:nvSpPr>
          <p:cNvPr id="14" name="Text 12"/>
          <p:cNvSpPr/>
          <p:nvPr/>
        </p:nvSpPr>
        <p:spPr>
          <a:xfrm>
            <a:off x="6482080" y="3839939"/>
            <a:ext cx="4751019" cy="637858"/>
          </a:xfrm>
          <a:prstGeom prst="rect">
            <a:avLst/>
          </a:prstGeom>
          <a:noFill/>
          <a:ln/>
        </p:spPr>
        <p:txBody>
          <a:bodyPr wrap="square" lIns="0" tIns="0" rIns="0" bIns="0" rtlCol="0" anchor="t">
            <a:normAutofit/>
          </a:bodyPr>
          <a:lstStyle/>
          <a:p>
            <a:pPr marL="0" indent="0" algn="l">
              <a:lnSpc>
                <a:spcPts val="1605"/>
              </a:lnSpc>
              <a:buNone/>
            </a:pPr>
            <a:r>
              <a:rPr lang="en-US" sz="1107" dirty="0">
                <a:solidFill>
                  <a:srgbClr val="5C5344"/>
                </a:solidFill>
                <a:latin typeface="Arial" pitchFamily="34" charset="0"/>
                <a:ea typeface="Arial" pitchFamily="34" charset="-122"/>
                <a:cs typeface="Arial" pitchFamily="34" charset="-120"/>
              </a:rPr>
              <a:t>Retargeting, exclusions, lookalikes and weekday offers all need a list of who enquired and who booked. That list currently lives in people's phones.</a:t>
            </a:r>
            <a:endParaRPr lang="en-US" sz="1107" dirty="0"/>
          </a:p>
        </p:txBody>
      </p:sp>
      <p:sp>
        <p:nvSpPr>
          <p:cNvPr id="15" name="Text 13"/>
          <p:cNvSpPr/>
          <p:nvPr/>
        </p:nvSpPr>
        <p:spPr>
          <a:xfrm>
            <a:off x="812800" y="5016277"/>
            <a:ext cx="10333990" cy="851138"/>
          </a:xfrm>
          <a:prstGeom prst="rect">
            <a:avLst/>
          </a:prstGeom>
          <a:noFill/>
          <a:ln/>
        </p:spPr>
        <p:txBody>
          <a:bodyPr wrap="square" lIns="0" tIns="0" rIns="0" bIns="0" rtlCol="0" anchor="t">
            <a:normAutofit/>
          </a:bodyPr>
          <a:lstStyle/>
          <a:p>
            <a:pPr marL="0" indent="0" algn="l">
              <a:lnSpc>
                <a:spcPts val="2172"/>
              </a:lnSpc>
              <a:buNone/>
            </a:pPr>
            <a:r>
              <a:rPr lang="en-US" sz="1498" dirty="0">
                <a:solidFill>
                  <a:srgbClr val="5C5344"/>
                </a:solidFill>
                <a:latin typeface="Arial" pitchFamily="34" charset="0"/>
                <a:ea typeface="Arial" pitchFamily="34" charset="-122"/>
                <a:cs typeface="Arial" pitchFamily="34" charset="-120"/>
              </a:rPr>
              <a:t>And underneath all four: </a:t>
            </a:r>
            <a:r>
              <a:rPr lang="en-US" sz="1498" b="1" dirty="0">
                <a:solidFill>
                  <a:srgbClr val="5C5344"/>
                </a:solidFill>
                <a:latin typeface="Arial" pitchFamily="34" charset="0"/>
                <a:ea typeface="Arial" pitchFamily="34" charset="-122"/>
                <a:cs typeface="Arial" pitchFamily="34" charset="-120"/>
              </a:rPr>
              <a:t>18,670 ratings on one booking aggregator</a:t>
            </a:r>
            <a:r>
              <a:rPr lang="en-US" sz="1498" dirty="0">
                <a:solidFill>
                  <a:srgbClr val="5C5344"/>
                </a:solidFill>
                <a:latin typeface="Arial" pitchFamily="34" charset="0"/>
                <a:ea typeface="Arial" pitchFamily="34" charset="-122"/>
                <a:cs typeface="Arial" pitchFamily="34" charset="-120"/>
              </a:rPr>
              <a:t> is a dependency, not just a credential. The platform owns the customer, sets the price comparison and takes the margin. A CRM is how Guhantara starts owning its own demand.</a:t>
            </a:r>
            <a:endParaRPr lang="en-US" sz="1498" dirty="0"/>
          </a:p>
        </p:txBody>
      </p:sp>
      <p:sp>
        <p:nvSpPr>
          <p:cNvPr id="16" name="Text 14"/>
          <p:cNvSpPr/>
          <p:nvPr/>
        </p:nvSpPr>
        <p:spPr>
          <a:xfrm>
            <a:off x="812800" y="6238255"/>
            <a:ext cx="281797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071"/>
                </a:solidFill>
                <a:latin typeface="Arial" pitchFamily="34" charset="0"/>
                <a:ea typeface="Arial" pitchFamily="34" charset="-122"/>
                <a:cs typeface="Arial" pitchFamily="34" charset="-120"/>
              </a:rPr>
              <a:t>The client confirmed no CRM is in place.</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0">
    <p:bg>
      <p:bgPr>
        <a:solidFill>
          <a:srgbClr val="17140F"/>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478076"/>
          </a:xfrm>
          <a:prstGeom prst="rect">
            <a:avLst/>
          </a:prstGeom>
          <a:noFill/>
          <a:ln/>
        </p:spPr>
        <p:txBody>
          <a:bodyPr wrap="square" lIns="0" tIns="0" rIns="0" bIns="0" rtlCol="0" anchor="t">
            <a:normAutofit/>
          </a:bodyPr>
          <a:lstStyle/>
          <a:p>
            <a:pPr marL="0" indent="0" algn="l">
              <a:lnSpc>
                <a:spcPts val="3570"/>
              </a:lnSpc>
              <a:buNone/>
            </a:pPr>
            <a:r>
              <a:rPr lang="en-US" sz="3400" dirty="0">
                <a:solidFill>
                  <a:srgbClr val="F7F3EA"/>
                </a:solidFill>
                <a:latin typeface="Georgia" pitchFamily="34" charset="0"/>
                <a:ea typeface="Georgia" pitchFamily="34" charset="-122"/>
                <a:cs typeface="Georgia" pitchFamily="34" charset="-120"/>
              </a:rPr>
              <a:t>What you would finally be able to see</a:t>
            </a:r>
            <a:endParaRPr lang="en-US" sz="3400" dirty="0"/>
          </a:p>
        </p:txBody>
      </p:sp>
      <p:sp>
        <p:nvSpPr>
          <p:cNvPr id="3" name="Shape 1"/>
          <p:cNvSpPr/>
          <p:nvPr/>
        </p:nvSpPr>
        <p:spPr>
          <a:xfrm>
            <a:off x="812800" y="1342157"/>
            <a:ext cx="7493000" cy="596900"/>
          </a:xfrm>
          <a:prstGeom prst="roundRect">
            <a:avLst>
              <a:gd name="adj" fmla="val 10638"/>
            </a:avLst>
          </a:prstGeom>
          <a:solidFill>
            <a:srgbClr val="3A342A"/>
          </a:solidFill>
          <a:ln/>
        </p:spPr>
      </p:sp>
      <p:sp>
        <p:nvSpPr>
          <p:cNvPr id="4" name="Text 2"/>
          <p:cNvSpPr/>
          <p:nvPr/>
        </p:nvSpPr>
        <p:spPr>
          <a:xfrm>
            <a:off x="1041400" y="1507257"/>
            <a:ext cx="7246874"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7F3EA"/>
                </a:solidFill>
                <a:latin typeface="Arial" pitchFamily="34" charset="0"/>
                <a:ea typeface="Arial" pitchFamily="34" charset="-122"/>
                <a:cs typeface="Arial" pitchFamily="34" charset="-120"/>
              </a:rPr>
              <a:t>Leads</a:t>
            </a:r>
            <a:r>
              <a:rPr lang="en-US" sz="1500" dirty="0">
                <a:solidFill>
                  <a:srgbClr val="F7F3EA"/>
                </a:solidFill>
                <a:latin typeface="Arial" pitchFamily="34" charset="0"/>
                <a:ea typeface="Arial" pitchFamily="34" charset="-122"/>
                <a:cs typeface="Arial" pitchFamily="34" charset="-120"/>
              </a:rPr>
              <a:t> — every enquiry from every source, in one place</a:t>
            </a:r>
            <a:endParaRPr lang="en-US" sz="1500" dirty="0"/>
          </a:p>
        </p:txBody>
      </p:sp>
      <p:sp>
        <p:nvSpPr>
          <p:cNvPr id="5" name="Text 3"/>
          <p:cNvSpPr/>
          <p:nvPr/>
        </p:nvSpPr>
        <p:spPr>
          <a:xfrm>
            <a:off x="8483600" y="1516137"/>
            <a:ext cx="2443286"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A79C89"/>
                </a:solidFill>
                <a:latin typeface="Arial" pitchFamily="34" charset="0"/>
                <a:ea typeface="Arial" pitchFamily="34" charset="-122"/>
                <a:cs typeface="Arial" pitchFamily="34" charset="-120"/>
              </a:rPr>
              <a:t>today: a number with no detail</a:t>
            </a:r>
            <a:endParaRPr lang="en-US" sz="1400" dirty="0"/>
          </a:p>
        </p:txBody>
      </p:sp>
      <p:sp>
        <p:nvSpPr>
          <p:cNvPr id="6" name="Shape 4"/>
          <p:cNvSpPr/>
          <p:nvPr/>
        </p:nvSpPr>
        <p:spPr>
          <a:xfrm>
            <a:off x="812800" y="1939999"/>
            <a:ext cx="5969000" cy="596900"/>
          </a:xfrm>
          <a:prstGeom prst="roundRect">
            <a:avLst>
              <a:gd name="adj" fmla="val 10638"/>
            </a:avLst>
          </a:prstGeom>
          <a:solidFill>
            <a:srgbClr val="4A4234"/>
          </a:solidFill>
          <a:ln/>
        </p:spPr>
      </p:sp>
      <p:sp>
        <p:nvSpPr>
          <p:cNvPr id="7" name="Text 5"/>
          <p:cNvSpPr/>
          <p:nvPr/>
        </p:nvSpPr>
        <p:spPr>
          <a:xfrm>
            <a:off x="1041400" y="2105099"/>
            <a:ext cx="5677154"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7F3EA"/>
                </a:solidFill>
                <a:latin typeface="Arial" pitchFamily="34" charset="0"/>
                <a:ea typeface="Arial" pitchFamily="34" charset="-122"/>
                <a:cs typeface="Arial" pitchFamily="34" charset="-120"/>
              </a:rPr>
              <a:t>MQL</a:t>
            </a:r>
            <a:r>
              <a:rPr lang="en-US" sz="1500" dirty="0">
                <a:solidFill>
                  <a:srgbClr val="F7F3EA"/>
                </a:solidFill>
                <a:latin typeface="Arial" pitchFamily="34" charset="0"/>
                <a:ea typeface="Arial" pitchFamily="34" charset="-122"/>
                <a:cs typeface="Arial" pitchFamily="34" charset="-120"/>
              </a:rPr>
              <a:t> — right city, right party size, real contact details</a:t>
            </a:r>
            <a:endParaRPr lang="en-US" sz="1500" dirty="0"/>
          </a:p>
        </p:txBody>
      </p:sp>
      <p:sp>
        <p:nvSpPr>
          <p:cNvPr id="8" name="Text 6"/>
          <p:cNvSpPr/>
          <p:nvPr/>
        </p:nvSpPr>
        <p:spPr>
          <a:xfrm>
            <a:off x="6959600" y="2113930"/>
            <a:ext cx="1217057"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A79C89"/>
                </a:solidFill>
                <a:latin typeface="Arial" pitchFamily="34" charset="0"/>
                <a:ea typeface="Arial" pitchFamily="34" charset="-122"/>
                <a:cs typeface="Arial" pitchFamily="34" charset="-120"/>
              </a:rPr>
              <a:t>today: invisible</a:t>
            </a:r>
            <a:endParaRPr lang="en-US" sz="1400" dirty="0"/>
          </a:p>
        </p:txBody>
      </p:sp>
      <p:sp>
        <p:nvSpPr>
          <p:cNvPr id="9" name="Shape 7"/>
          <p:cNvSpPr/>
          <p:nvPr/>
        </p:nvSpPr>
        <p:spPr>
          <a:xfrm>
            <a:off x="812800" y="2537792"/>
            <a:ext cx="4445000" cy="596900"/>
          </a:xfrm>
          <a:prstGeom prst="roundRect">
            <a:avLst>
              <a:gd name="adj" fmla="val 10638"/>
            </a:avLst>
          </a:prstGeom>
          <a:solidFill>
            <a:srgbClr val="7A6A3C"/>
          </a:solidFill>
          <a:ln/>
        </p:spPr>
      </p:sp>
      <p:sp>
        <p:nvSpPr>
          <p:cNvPr id="10" name="Text 8"/>
          <p:cNvSpPr/>
          <p:nvPr/>
        </p:nvSpPr>
        <p:spPr>
          <a:xfrm>
            <a:off x="1041400" y="2702892"/>
            <a:ext cx="4107434"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7F3EA"/>
                </a:solidFill>
                <a:latin typeface="Arial" pitchFamily="34" charset="0"/>
                <a:ea typeface="Arial" pitchFamily="34" charset="-122"/>
                <a:cs typeface="Arial" pitchFamily="34" charset="-120"/>
              </a:rPr>
              <a:t>SQL</a:t>
            </a:r>
            <a:r>
              <a:rPr lang="en-US" sz="1500" dirty="0">
                <a:solidFill>
                  <a:srgbClr val="F7F3EA"/>
                </a:solidFill>
                <a:latin typeface="Arial" pitchFamily="34" charset="0"/>
                <a:ea typeface="Arial" pitchFamily="34" charset="-122"/>
                <a:cs typeface="Arial" pitchFamily="34" charset="-120"/>
              </a:rPr>
              <a:t> — reached, dates discussed, quote sent</a:t>
            </a:r>
            <a:endParaRPr lang="en-US" sz="1500" dirty="0"/>
          </a:p>
        </p:txBody>
      </p:sp>
      <p:sp>
        <p:nvSpPr>
          <p:cNvPr id="11" name="Text 9"/>
          <p:cNvSpPr/>
          <p:nvPr/>
        </p:nvSpPr>
        <p:spPr>
          <a:xfrm>
            <a:off x="5435600" y="2711772"/>
            <a:ext cx="1217057"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A79C89"/>
                </a:solidFill>
                <a:latin typeface="Arial" pitchFamily="34" charset="0"/>
                <a:ea typeface="Arial" pitchFamily="34" charset="-122"/>
                <a:cs typeface="Arial" pitchFamily="34" charset="-120"/>
              </a:rPr>
              <a:t>today: invisible</a:t>
            </a:r>
            <a:endParaRPr lang="en-US" sz="1400" dirty="0"/>
          </a:p>
        </p:txBody>
      </p:sp>
      <p:sp>
        <p:nvSpPr>
          <p:cNvPr id="12" name="Shape 10"/>
          <p:cNvSpPr/>
          <p:nvPr/>
        </p:nvSpPr>
        <p:spPr>
          <a:xfrm>
            <a:off x="812800" y="3113162"/>
            <a:ext cx="2794000" cy="863600"/>
          </a:xfrm>
          <a:prstGeom prst="roundRect">
            <a:avLst>
              <a:gd name="adj" fmla="val 7353"/>
            </a:avLst>
          </a:prstGeom>
          <a:solidFill>
            <a:srgbClr val="C9A63C"/>
          </a:solidFill>
          <a:ln/>
        </p:spPr>
      </p:sp>
      <p:sp>
        <p:nvSpPr>
          <p:cNvPr id="13" name="Text 11"/>
          <p:cNvSpPr/>
          <p:nvPr/>
        </p:nvSpPr>
        <p:spPr>
          <a:xfrm>
            <a:off x="1041400" y="3278262"/>
            <a:ext cx="2406904" cy="5588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7140F"/>
                </a:solidFill>
                <a:latin typeface="Arial" pitchFamily="34" charset="0"/>
                <a:ea typeface="Arial" pitchFamily="34" charset="-122"/>
                <a:cs typeface="Arial" pitchFamily="34" charset="-120"/>
              </a:rPr>
              <a:t>Booked</a:t>
            </a:r>
            <a:r>
              <a:rPr lang="en-US" sz="1500" dirty="0">
                <a:solidFill>
                  <a:srgbClr val="17140F"/>
                </a:solidFill>
                <a:latin typeface="Arial" pitchFamily="34" charset="0"/>
                <a:ea typeface="Arial" pitchFamily="34" charset="-122"/>
                <a:cs typeface="Arial" pitchFamily="34" charset="-120"/>
              </a:rPr>
              <a:t> — room, day-out or offsite</a:t>
            </a:r>
            <a:endParaRPr lang="en-US" sz="1500" dirty="0"/>
          </a:p>
        </p:txBody>
      </p:sp>
      <p:sp>
        <p:nvSpPr>
          <p:cNvPr id="14" name="Text 12"/>
          <p:cNvSpPr/>
          <p:nvPr/>
        </p:nvSpPr>
        <p:spPr>
          <a:xfrm>
            <a:off x="3784600" y="3420442"/>
            <a:ext cx="1217057"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A79C89"/>
                </a:solidFill>
                <a:latin typeface="Arial" pitchFamily="34" charset="0"/>
                <a:ea typeface="Arial" pitchFamily="34" charset="-122"/>
                <a:cs typeface="Arial" pitchFamily="34" charset="-120"/>
              </a:rPr>
              <a:t>today: invisible</a:t>
            </a:r>
            <a:endParaRPr lang="en-US" sz="1400" dirty="0"/>
          </a:p>
        </p:txBody>
      </p:sp>
      <p:sp>
        <p:nvSpPr>
          <p:cNvPr id="15" name="Shape 13"/>
          <p:cNvSpPr/>
          <p:nvPr/>
        </p:nvSpPr>
        <p:spPr>
          <a:xfrm>
            <a:off x="815975" y="4135686"/>
            <a:ext cx="3380264" cy="1703149"/>
          </a:xfrm>
          <a:prstGeom prst="roundRect">
            <a:avLst>
              <a:gd name="adj" fmla="val 5779"/>
            </a:avLst>
          </a:prstGeom>
          <a:solidFill>
            <a:srgbClr val="221E18"/>
          </a:solidFill>
          <a:ln w="6350">
            <a:solidFill>
              <a:srgbClr val="3A342A"/>
            </a:solidFill>
            <a:prstDash val="solid"/>
          </a:ln>
        </p:spPr>
      </p:sp>
      <p:sp>
        <p:nvSpPr>
          <p:cNvPr id="16" name="Text 14"/>
          <p:cNvSpPr/>
          <p:nvPr/>
        </p:nvSpPr>
        <p:spPr>
          <a:xfrm>
            <a:off x="1046480" y="4366196"/>
            <a:ext cx="3006831" cy="1056640"/>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A79C89"/>
                </a:solidFill>
                <a:latin typeface="Arial" pitchFamily="34" charset="0"/>
                <a:ea typeface="Arial" pitchFamily="34" charset="-122"/>
                <a:cs typeface="Arial" pitchFamily="34" charset="-120"/>
              </a:rPr>
              <a:t>With this you can price each stage: </a:t>
            </a:r>
            <a:r>
              <a:rPr lang="en-US" sz="1400" b="1" dirty="0">
                <a:solidFill>
                  <a:srgbClr val="A79C89"/>
                </a:solidFill>
                <a:latin typeface="Arial" pitchFamily="34" charset="0"/>
                <a:ea typeface="Arial" pitchFamily="34" charset="-122"/>
                <a:cs typeface="Arial" pitchFamily="34" charset="-120"/>
              </a:rPr>
              <a:t>cost per MQL, cost per SQL, cost per booking</a:t>
            </a:r>
            <a:r>
              <a:rPr lang="en-US" sz="1400" dirty="0">
                <a:solidFill>
                  <a:srgbClr val="A79C89"/>
                </a:solidFill>
                <a:latin typeface="Arial" pitchFamily="34" charset="0"/>
                <a:ea typeface="Arial" pitchFamily="34" charset="-122"/>
                <a:cs typeface="Arial" pitchFamily="34" charset="-120"/>
              </a:rPr>
              <a:t> — by channel, by campaign, by creative.</a:t>
            </a:r>
            <a:endParaRPr lang="en-US" sz="1400" dirty="0"/>
          </a:p>
        </p:txBody>
      </p:sp>
      <p:sp>
        <p:nvSpPr>
          <p:cNvPr id="17" name="Shape 15"/>
          <p:cNvSpPr/>
          <p:nvPr/>
        </p:nvSpPr>
        <p:spPr>
          <a:xfrm>
            <a:off x="4405789" y="4135686"/>
            <a:ext cx="3380343" cy="1703149"/>
          </a:xfrm>
          <a:prstGeom prst="roundRect">
            <a:avLst>
              <a:gd name="adj" fmla="val 5779"/>
            </a:avLst>
          </a:prstGeom>
          <a:solidFill>
            <a:srgbClr val="221E18"/>
          </a:solidFill>
          <a:ln w="6350">
            <a:solidFill>
              <a:srgbClr val="3A342A"/>
            </a:solidFill>
            <a:prstDash val="solid"/>
          </a:ln>
        </p:spPr>
      </p:sp>
      <p:sp>
        <p:nvSpPr>
          <p:cNvPr id="18" name="Text 16"/>
          <p:cNvSpPr/>
          <p:nvPr/>
        </p:nvSpPr>
        <p:spPr>
          <a:xfrm>
            <a:off x="4636294" y="4366196"/>
            <a:ext cx="3006913" cy="1056640"/>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A79C89"/>
                </a:solidFill>
                <a:latin typeface="Arial" pitchFamily="34" charset="0"/>
                <a:ea typeface="Arial" pitchFamily="34" charset="-122"/>
                <a:cs typeface="Arial" pitchFamily="34" charset="-120"/>
              </a:rPr>
              <a:t>You can also send the </a:t>
            </a:r>
            <a:r>
              <a:rPr lang="en-US" sz="1400" b="1" dirty="0">
                <a:solidFill>
                  <a:srgbClr val="A79C89"/>
                </a:solidFill>
                <a:latin typeface="Arial" pitchFamily="34" charset="0"/>
                <a:ea typeface="Arial" pitchFamily="34" charset="-122"/>
                <a:cs typeface="Arial" pitchFamily="34" charset="-120"/>
              </a:rPr>
              <a:t>booked</a:t>
            </a:r>
            <a:r>
              <a:rPr lang="en-US" sz="1400" dirty="0">
                <a:solidFill>
                  <a:srgbClr val="A79C89"/>
                </a:solidFill>
                <a:latin typeface="Arial" pitchFamily="34" charset="0"/>
                <a:ea typeface="Arial" pitchFamily="34" charset="-122"/>
                <a:cs typeface="Arial" pitchFamily="34" charset="-120"/>
              </a:rPr>
              <a:t> stage back to Meta and Google, so they stop optimising toward the cheapest click.</a:t>
            </a:r>
            <a:endParaRPr lang="en-US" sz="1400" dirty="0"/>
          </a:p>
        </p:txBody>
      </p:sp>
      <p:sp>
        <p:nvSpPr>
          <p:cNvPr id="19" name="Shape 17"/>
          <p:cNvSpPr/>
          <p:nvPr/>
        </p:nvSpPr>
        <p:spPr>
          <a:xfrm>
            <a:off x="7995682" y="4135686"/>
            <a:ext cx="3380343" cy="1703149"/>
          </a:xfrm>
          <a:prstGeom prst="roundRect">
            <a:avLst>
              <a:gd name="adj" fmla="val 5779"/>
            </a:avLst>
          </a:prstGeom>
          <a:solidFill>
            <a:srgbClr val="221E18"/>
          </a:solidFill>
          <a:ln w="6350">
            <a:solidFill>
              <a:srgbClr val="3A342A"/>
            </a:solidFill>
            <a:prstDash val="solid"/>
          </a:ln>
        </p:spPr>
      </p:sp>
      <p:sp>
        <p:nvSpPr>
          <p:cNvPr id="20" name="Text 18"/>
          <p:cNvSpPr/>
          <p:nvPr/>
        </p:nvSpPr>
        <p:spPr>
          <a:xfrm>
            <a:off x="8226187" y="4366196"/>
            <a:ext cx="3006913" cy="1267539"/>
          </a:xfrm>
          <a:prstGeom prst="rect">
            <a:avLst/>
          </a:prstGeom>
          <a:noFill/>
          <a:ln/>
        </p:spPr>
        <p:txBody>
          <a:bodyPr wrap="square" lIns="0" tIns="0" rIns="0" bIns="0" rtlCol="0" anchor="t">
            <a:normAutofit/>
          </a:bodyPr>
          <a:lstStyle/>
          <a:p>
            <a:pPr marL="0" indent="0" algn="l">
              <a:lnSpc>
                <a:spcPts val="1954"/>
              </a:lnSpc>
              <a:buNone/>
            </a:pPr>
            <a:r>
              <a:rPr lang="en-US" sz="1347" dirty="0">
                <a:solidFill>
                  <a:srgbClr val="A79C89"/>
                </a:solidFill>
                <a:latin typeface="Arial" pitchFamily="34" charset="0"/>
                <a:ea typeface="Arial" pitchFamily="34" charset="-122"/>
                <a:cs typeface="Arial" pitchFamily="34" charset="-120"/>
              </a:rPr>
              <a:t>Guhantara's own baseline sets the quality target. </a:t>
            </a:r>
            <a:r>
              <a:rPr lang="en-US" sz="1347" b="1" dirty="0">
                <a:solidFill>
                  <a:srgbClr val="A79C89"/>
                </a:solidFill>
                <a:latin typeface="Arial" pitchFamily="34" charset="0"/>
                <a:ea typeface="Arial" pitchFamily="34" charset="-122"/>
                <a:cs typeface="Arial" pitchFamily="34" charset="-120"/>
              </a:rPr>
              <a:t>We would measure for one month before promising a percentage</a:t>
            </a:r>
            <a:r>
              <a:rPr lang="en-US" sz="1347" dirty="0">
                <a:solidFill>
                  <a:srgbClr val="A79C89"/>
                </a:solidFill>
                <a:latin typeface="Arial" pitchFamily="34" charset="0"/>
                <a:ea typeface="Arial" pitchFamily="34" charset="-122"/>
                <a:cs typeface="Arial" pitchFamily="34" charset="-120"/>
              </a:rPr>
              <a:t>, rather than quoting an industry figure that may not fit a resort.</a:t>
            </a:r>
            <a:endParaRPr lang="en-US" sz="1347" dirty="0"/>
          </a:p>
        </p:txBody>
      </p:sp>
      <p:sp>
        <p:nvSpPr>
          <p:cNvPr id="21" name="Text 19"/>
          <p:cNvSpPr/>
          <p:nvPr/>
        </p:nvSpPr>
        <p:spPr>
          <a:xfrm>
            <a:off x="812800" y="6238255"/>
            <a:ext cx="609026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071"/>
                </a:solidFill>
                <a:latin typeface="Arial" pitchFamily="34" charset="0"/>
                <a:ea typeface="Arial" pitchFamily="34" charset="-122"/>
                <a:cs typeface="Arial" pitchFamily="34" charset="-120"/>
              </a:rPr>
              <a:t>Widths are illustrative of funnel shape, not measured values — no stage data exists yet.</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1">
    <p:bg>
      <p:bgPr>
        <a:solidFill>
          <a:srgbClr val="F7F3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512683"/>
          </a:xfrm>
          <a:prstGeom prst="rect">
            <a:avLst/>
          </a:prstGeom>
          <a:noFill/>
          <a:ln/>
        </p:spPr>
        <p:txBody>
          <a:bodyPr wrap="square" lIns="0" tIns="0" rIns="0" bIns="0" rtlCol="0" anchor="t">
            <a:normAutofit/>
          </a:bodyPr>
          <a:lstStyle/>
          <a:p>
            <a:pPr marL="0" indent="0" algn="l">
              <a:lnSpc>
                <a:spcPts val="3869"/>
              </a:lnSpc>
              <a:buNone/>
            </a:pPr>
            <a:r>
              <a:rPr lang="en-US" sz="3685" dirty="0">
                <a:solidFill>
                  <a:srgbClr val="17140F"/>
                </a:solidFill>
                <a:latin typeface="Georgia" pitchFamily="34" charset="0"/>
                <a:ea typeface="Georgia" pitchFamily="34" charset="-122"/>
                <a:cs typeface="Georgia" pitchFamily="34" charset="-120"/>
              </a:rPr>
              <a:t>The options worth considering now</a:t>
            </a:r>
            <a:endParaRPr lang="en-US" sz="3685"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1564248"/>
          <a:ext cx="10556239" cy="3564969"/>
        </p:xfrm>
        <a:graphic>
          <a:graphicData uri="http://schemas.openxmlformats.org/drawingml/2006/table">
            <a:tbl>
              <a:tblPr/>
              <a:tblGrid>
                <a:gridCol w="1688998">
                  <a:extLst>
                    <a:ext uri="{9D8B030D-6E8A-4147-A177-3AD203B41FA5}">
                      <a16:colId xmlns:a16="http://schemas.microsoft.com/office/drawing/2014/main" val="20000"/>
                    </a:ext>
                  </a:extLst>
                </a:gridCol>
                <a:gridCol w="1688998">
                  <a:extLst>
                    <a:ext uri="{9D8B030D-6E8A-4147-A177-3AD203B41FA5}">
                      <a16:colId xmlns:a16="http://schemas.microsoft.com/office/drawing/2014/main" val="20001"/>
                    </a:ext>
                  </a:extLst>
                </a:gridCol>
                <a:gridCol w="2111248">
                  <a:extLst>
                    <a:ext uri="{9D8B030D-6E8A-4147-A177-3AD203B41FA5}">
                      <a16:colId xmlns:a16="http://schemas.microsoft.com/office/drawing/2014/main" val="20002"/>
                    </a:ext>
                  </a:extLst>
                </a:gridCol>
                <a:gridCol w="5066995">
                  <a:extLst>
                    <a:ext uri="{9D8B030D-6E8A-4147-A177-3AD203B41FA5}">
                      <a16:colId xmlns:a16="http://schemas.microsoft.com/office/drawing/2014/main" val="20003"/>
                    </a:ext>
                  </a:extLst>
                </a:gridCol>
              </a:tblGrid>
              <a:tr h="339169">
                <a:tc>
                  <a:txBody>
                    <a:bodyPr/>
                    <a:lstStyle/>
                    <a:p>
                      <a:pPr marL="0" indent="0">
                        <a:lnSpc>
                          <a:spcPts val="1721"/>
                        </a:lnSpc>
                        <a:buNone/>
                      </a:pPr>
                      <a:r>
                        <a:rPr lang="en-US" sz="1229" b="1" dirty="0">
                          <a:solidFill>
                            <a:srgbClr val="F7F3EA"/>
                          </a:solidFill>
                          <a:latin typeface="Arial" pitchFamily="34" charset="0"/>
                          <a:ea typeface="Arial" pitchFamily="34" charset="-122"/>
                          <a:cs typeface="Arial" pitchFamily="34" charset="-120"/>
                        </a:rPr>
                        <a:t>Option</a:t>
                      </a:r>
                      <a:endParaRPr lang="en-US" sz="1229" dirty="0">
                        <a:latin typeface="Arial" charset="0"/>
                        <a:ea typeface="Arial" charset="0"/>
                        <a:cs typeface="Arial" charset="0"/>
                      </a:endParaRPr>
                    </a:p>
                  </a:txBody>
                  <a:tcPr marL="54646" marR="54646" marT="54646" marB="54646">
                    <a:lnL w="12700" cap="flat" cmpd="sng" algn="ctr">
                      <a:solidFill>
                        <a:srgbClr val="C5C2BB"/>
                      </a:solidFill>
                      <a:prstDash val="solid"/>
                      <a:round/>
                      <a:headEnd type="none" w="med" len="med"/>
                      <a:tailEnd type="none" w="med" len="med"/>
                    </a:lnL>
                    <a:lnR w="12700" cap="flat" cmpd="sng" algn="ctr">
                      <a:solidFill>
                        <a:srgbClr val="161410"/>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161410"/>
                      </a:solidFill>
                      <a:prstDash val="solid"/>
                      <a:round/>
                      <a:headEnd type="none" w="med" len="med"/>
                      <a:tailEnd type="none" w="med" len="med"/>
                    </a:lnB>
                    <a:solidFill>
                      <a:srgbClr val="17140F"/>
                    </a:solidFill>
                  </a:tcPr>
                </a:tc>
                <a:tc>
                  <a:txBody>
                    <a:bodyPr/>
                    <a:lstStyle/>
                    <a:p>
                      <a:pPr marL="0" indent="0">
                        <a:lnSpc>
                          <a:spcPts val="1721"/>
                        </a:lnSpc>
                        <a:buNone/>
                      </a:pPr>
                      <a:r>
                        <a:rPr lang="en-US" sz="1229" b="1" dirty="0">
                          <a:solidFill>
                            <a:srgbClr val="F7F3EA"/>
                          </a:solidFill>
                          <a:latin typeface="Arial" pitchFamily="34" charset="0"/>
                          <a:ea typeface="Arial" pitchFamily="34" charset="-122"/>
                          <a:cs typeface="Arial" pitchFamily="34" charset="-120"/>
                        </a:rPr>
                        <a:t>From</a:t>
                      </a:r>
                      <a:endParaRPr lang="en-US" sz="1229" dirty="0">
                        <a:latin typeface="Arial" charset="0"/>
                        <a:ea typeface="Arial" charset="0"/>
                        <a:cs typeface="Arial" charset="0"/>
                      </a:endParaRPr>
                    </a:p>
                  </a:txBody>
                  <a:tcPr marL="54646" marR="54646" marT="54646" marB="54646">
                    <a:lnL w="12700" cap="flat" cmpd="sng" algn="ctr">
                      <a:solidFill>
                        <a:srgbClr val="161410"/>
                      </a:solidFill>
                      <a:prstDash val="solid"/>
                      <a:round/>
                      <a:headEnd type="none" w="med" len="med"/>
                      <a:tailEnd type="none" w="med" len="med"/>
                    </a:lnL>
                    <a:lnR w="12700" cap="flat" cmpd="sng" algn="ctr">
                      <a:solidFill>
                        <a:srgbClr val="161410"/>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161410"/>
                      </a:solidFill>
                      <a:prstDash val="solid"/>
                      <a:round/>
                      <a:headEnd type="none" w="med" len="med"/>
                      <a:tailEnd type="none" w="med" len="med"/>
                    </a:lnB>
                    <a:solidFill>
                      <a:srgbClr val="17140F"/>
                    </a:solidFill>
                  </a:tcPr>
                </a:tc>
                <a:tc>
                  <a:txBody>
                    <a:bodyPr/>
                    <a:lstStyle/>
                    <a:p>
                      <a:pPr marL="0" indent="0">
                        <a:lnSpc>
                          <a:spcPts val="1721"/>
                        </a:lnSpc>
                        <a:buNone/>
                      </a:pPr>
                      <a:r>
                        <a:rPr lang="en-US" sz="1229" b="1" dirty="0">
                          <a:solidFill>
                            <a:srgbClr val="F7F3EA"/>
                          </a:solidFill>
                          <a:latin typeface="Arial" pitchFamily="34" charset="0"/>
                          <a:ea typeface="Arial" pitchFamily="34" charset="-122"/>
                          <a:cs typeface="Arial" pitchFamily="34" charset="-120"/>
                        </a:rPr>
                        <a:t>WhatsApp</a:t>
                      </a:r>
                      <a:endParaRPr lang="en-US" sz="1229" dirty="0">
                        <a:latin typeface="Arial" charset="0"/>
                        <a:ea typeface="Arial" charset="0"/>
                        <a:cs typeface="Arial" charset="0"/>
                      </a:endParaRPr>
                    </a:p>
                  </a:txBody>
                  <a:tcPr marL="54646" marR="54646" marT="54646" marB="54646">
                    <a:lnL w="12700" cap="flat" cmpd="sng" algn="ctr">
                      <a:solidFill>
                        <a:srgbClr val="161410"/>
                      </a:solidFill>
                      <a:prstDash val="solid"/>
                      <a:round/>
                      <a:headEnd type="none" w="med" len="med"/>
                      <a:tailEnd type="none" w="med" len="med"/>
                    </a:lnL>
                    <a:lnR w="12700" cap="flat" cmpd="sng" algn="ctr">
                      <a:solidFill>
                        <a:srgbClr val="161410"/>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161410"/>
                      </a:solidFill>
                      <a:prstDash val="solid"/>
                      <a:round/>
                      <a:headEnd type="none" w="med" len="med"/>
                      <a:tailEnd type="none" w="med" len="med"/>
                    </a:lnB>
                    <a:solidFill>
                      <a:srgbClr val="17140F"/>
                    </a:solidFill>
                  </a:tcPr>
                </a:tc>
                <a:tc>
                  <a:txBody>
                    <a:bodyPr/>
                    <a:lstStyle/>
                    <a:p>
                      <a:pPr marL="0" indent="0">
                        <a:lnSpc>
                          <a:spcPts val="1721"/>
                        </a:lnSpc>
                        <a:buNone/>
                      </a:pPr>
                      <a:r>
                        <a:rPr lang="en-US" sz="1229" b="1" dirty="0">
                          <a:solidFill>
                            <a:srgbClr val="F7F3EA"/>
                          </a:solidFill>
                          <a:latin typeface="Arial" pitchFamily="34" charset="0"/>
                          <a:ea typeface="Arial" pitchFamily="34" charset="-122"/>
                          <a:cs typeface="Arial" pitchFamily="34" charset="-120"/>
                        </a:rPr>
                        <a:t>Fit for Guhantara</a:t>
                      </a:r>
                      <a:endParaRPr lang="en-US" sz="1229" dirty="0">
                        <a:latin typeface="Arial" charset="0"/>
                        <a:ea typeface="Arial" charset="0"/>
                        <a:cs typeface="Arial" charset="0"/>
                      </a:endParaRPr>
                    </a:p>
                  </a:txBody>
                  <a:tcPr marL="54646" marR="54646" marT="54646" marB="54646">
                    <a:lnL w="12700" cap="flat" cmpd="sng" algn="ctr">
                      <a:solidFill>
                        <a:srgbClr val="161410"/>
                      </a:solidFill>
                      <a:prstDash val="solid"/>
                      <a:round/>
                      <a:headEnd type="none" w="med" len="med"/>
                      <a:tailEnd type="none" w="med" len="med"/>
                    </a:lnL>
                    <a:lnR w="12700" cap="flat" cmpd="sng" algn="ctr">
                      <a:solidFill>
                        <a:srgbClr val="161410"/>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161410"/>
                      </a:solidFill>
                      <a:prstDash val="solid"/>
                      <a:round/>
                      <a:headEnd type="none" w="med" len="med"/>
                      <a:tailEnd type="none" w="med" len="med"/>
                    </a:lnB>
                    <a:solidFill>
                      <a:srgbClr val="17140F"/>
                    </a:solidFill>
                  </a:tcPr>
                </a:tc>
                <a:extLst>
                  <a:ext uri="{0D108BD9-81ED-4DB2-BD59-A6C34878D82A}">
                    <a16:rowId xmlns:a16="http://schemas.microsoft.com/office/drawing/2014/main" val="10000"/>
                  </a:ext>
                </a:extLst>
              </a:tr>
              <a:tr h="776208">
                <a:tc>
                  <a:txBody>
                    <a:bodyPr/>
                    <a:lstStyle/>
                    <a:p>
                      <a:pPr marL="0" indent="0">
                        <a:lnSpc>
                          <a:spcPts val="1721"/>
                        </a:lnSpc>
                        <a:buNone/>
                      </a:pPr>
                      <a:r>
                        <a:rPr lang="en-US" sz="1229" dirty="0">
                          <a:solidFill>
                            <a:srgbClr val="17140F"/>
                          </a:solidFill>
                          <a:latin typeface="Arial" pitchFamily="34" charset="0"/>
                          <a:ea typeface="Arial" pitchFamily="34" charset="-122"/>
                          <a:cs typeface="Arial" pitchFamily="34" charset="-120"/>
                        </a:rPr>
                        <a:t>Zoho CRM</a:t>
                      </a:r>
                      <a:endParaRPr lang="en-US" sz="1229" dirty="0">
                        <a:latin typeface="Arial" charset="0"/>
                        <a:ea typeface="Arial" charset="0"/>
                        <a:cs typeface="Arial" charset="0"/>
                      </a:endParaRPr>
                    </a:p>
                  </a:txBody>
                  <a:tcPr marL="54646" marR="54646" marT="54646" marB="54646">
                    <a:lnL w="12700" cap="flat" cmpd="sng" algn="ctr">
                      <a:solidFill>
                        <a:srgbClr val="C5C2BB"/>
                      </a:solidFill>
                      <a:prstDash val="solid"/>
                      <a:round/>
                      <a:headEnd type="none" w="med" len="med"/>
                      <a:tailEnd type="none" w="med" len="med"/>
                    </a:lnL>
                    <a:lnR w="12700" cap="flat" cmpd="sng" algn="ctr">
                      <a:solidFill>
                        <a:srgbClr val="B9B4A9"/>
                      </a:solidFill>
                      <a:prstDash val="solid"/>
                      <a:round/>
                      <a:headEnd type="none" w="med" len="med"/>
                      <a:tailEnd type="none" w="med" len="med"/>
                    </a:lnR>
                    <a:lnT w="12700" cap="flat" cmpd="sng" algn="ctr">
                      <a:solidFill>
                        <a:srgbClr val="161410"/>
                      </a:solidFill>
                      <a:prstDash val="solid"/>
                      <a:round/>
                      <a:headEnd type="none" w="med" len="med"/>
                      <a:tailEnd type="none" w="med" len="med"/>
                    </a:lnT>
                    <a:lnB w="12700" cap="flat" cmpd="sng" algn="ctr">
                      <a:solidFill>
                        <a:srgbClr val="B9B4A9"/>
                      </a:solidFill>
                      <a:prstDash val="solid"/>
                      <a:round/>
                      <a:headEnd type="none" w="med" len="med"/>
                      <a:tailEnd type="none" w="med" len="med"/>
                    </a:lnB>
                    <a:solidFill>
                      <a:srgbClr val="E8E1D3"/>
                    </a:solidFill>
                  </a:tcPr>
                </a:tc>
                <a:tc>
                  <a:txBody>
                    <a:bodyPr/>
                    <a:lstStyle/>
                    <a:p>
                      <a:pPr marL="0" indent="0">
                        <a:lnSpc>
                          <a:spcPts val="1721"/>
                        </a:lnSpc>
                        <a:buNone/>
                      </a:pPr>
                      <a:r>
                        <a:rPr lang="en-US" sz="1229" dirty="0">
                          <a:solidFill>
                            <a:srgbClr val="17140F"/>
                          </a:solidFill>
                          <a:latin typeface="Arial" pitchFamily="34" charset="0"/>
                          <a:ea typeface="Arial" pitchFamily="34" charset="-122"/>
                          <a:cs typeface="Arial" pitchFamily="34" charset="-120"/>
                        </a:rPr>
                        <a:t>₹800</a:t>
                      </a:r>
                      <a:endParaRPr lang="en-US" sz="1229" dirty="0">
                        <a:latin typeface="Arial" charset="0"/>
                        <a:ea typeface="Arial" charset="0"/>
                        <a:cs typeface="Arial" charset="0"/>
                      </a:endParaRPr>
                    </a:p>
                  </a:txBody>
                  <a:tcPr marL="54646" marR="54646" marT="54646" marB="54646">
                    <a:lnL w="12700" cap="flat" cmpd="sng" algn="ctr">
                      <a:solidFill>
                        <a:srgbClr val="B9B4A9"/>
                      </a:solidFill>
                      <a:prstDash val="solid"/>
                      <a:round/>
                      <a:headEnd type="none" w="med" len="med"/>
                      <a:tailEnd type="none" w="med" len="med"/>
                    </a:lnL>
                    <a:lnR w="12700" cap="flat" cmpd="sng" algn="ctr">
                      <a:solidFill>
                        <a:srgbClr val="B9B4A9"/>
                      </a:solidFill>
                      <a:prstDash val="solid"/>
                      <a:round/>
                      <a:headEnd type="none" w="med" len="med"/>
                      <a:tailEnd type="none" w="med" len="med"/>
                    </a:lnR>
                    <a:lnT w="12700" cap="flat" cmpd="sng" algn="ctr">
                      <a:solidFill>
                        <a:srgbClr val="161410"/>
                      </a:solidFill>
                      <a:prstDash val="solid"/>
                      <a:round/>
                      <a:headEnd type="none" w="med" len="med"/>
                      <a:tailEnd type="none" w="med" len="med"/>
                    </a:lnT>
                    <a:lnB w="12700" cap="flat" cmpd="sng" algn="ctr">
                      <a:solidFill>
                        <a:srgbClr val="B9B4A9"/>
                      </a:solidFill>
                      <a:prstDash val="solid"/>
                      <a:round/>
                      <a:headEnd type="none" w="med" len="med"/>
                      <a:tailEnd type="none" w="med" len="med"/>
                    </a:lnB>
                    <a:solidFill>
                      <a:srgbClr val="E8E1D3"/>
                    </a:solidFill>
                  </a:tcPr>
                </a:tc>
                <a:tc>
                  <a:txBody>
                    <a:bodyPr/>
                    <a:lstStyle/>
                    <a:p>
                      <a:pPr marL="0" indent="0">
                        <a:lnSpc>
                          <a:spcPts val="1721"/>
                        </a:lnSpc>
                        <a:buNone/>
                      </a:pPr>
                      <a:r>
                        <a:rPr lang="en-US" sz="1229" dirty="0">
                          <a:solidFill>
                            <a:srgbClr val="17140F"/>
                          </a:solidFill>
                          <a:latin typeface="Arial" pitchFamily="34" charset="0"/>
                          <a:ea typeface="Arial" pitchFamily="34" charset="-122"/>
                          <a:cs typeface="Arial" pitchFamily="34" charset="-120"/>
                        </a:rPr>
                        <a:t>Yes, via WhatsApp Business</a:t>
                      </a:r>
                      <a:endParaRPr lang="en-US" sz="1229" dirty="0">
                        <a:latin typeface="Arial" charset="0"/>
                        <a:ea typeface="Arial" charset="0"/>
                        <a:cs typeface="Arial" charset="0"/>
                      </a:endParaRPr>
                    </a:p>
                  </a:txBody>
                  <a:tcPr marL="54646" marR="54646" marT="54646" marB="54646">
                    <a:lnL w="12700" cap="flat" cmpd="sng" algn="ctr">
                      <a:solidFill>
                        <a:srgbClr val="B9B4A9"/>
                      </a:solidFill>
                      <a:prstDash val="solid"/>
                      <a:round/>
                      <a:headEnd type="none" w="med" len="med"/>
                      <a:tailEnd type="none" w="med" len="med"/>
                    </a:lnL>
                    <a:lnR w="12700" cap="flat" cmpd="sng" algn="ctr">
                      <a:solidFill>
                        <a:srgbClr val="B9B4A9"/>
                      </a:solidFill>
                      <a:prstDash val="solid"/>
                      <a:round/>
                      <a:headEnd type="none" w="med" len="med"/>
                      <a:tailEnd type="none" w="med" len="med"/>
                    </a:lnR>
                    <a:lnT w="12700" cap="flat" cmpd="sng" algn="ctr">
                      <a:solidFill>
                        <a:srgbClr val="161410"/>
                      </a:solidFill>
                      <a:prstDash val="solid"/>
                      <a:round/>
                      <a:headEnd type="none" w="med" len="med"/>
                      <a:tailEnd type="none" w="med" len="med"/>
                    </a:lnT>
                    <a:lnB w="12700" cap="flat" cmpd="sng" algn="ctr">
                      <a:solidFill>
                        <a:srgbClr val="B9B4A9"/>
                      </a:solidFill>
                      <a:prstDash val="solid"/>
                      <a:round/>
                      <a:headEnd type="none" w="med" len="med"/>
                      <a:tailEnd type="none" w="med" len="med"/>
                    </a:lnB>
                    <a:solidFill>
                      <a:srgbClr val="E8E1D3"/>
                    </a:solidFill>
                  </a:tcPr>
                </a:tc>
                <a:tc>
                  <a:txBody>
                    <a:bodyPr/>
                    <a:lstStyle/>
                    <a:p>
                      <a:pPr marL="0" indent="0">
                        <a:lnSpc>
                          <a:spcPts val="1721"/>
                        </a:lnSpc>
                        <a:buNone/>
                      </a:pPr>
                      <a:r>
                        <a:rPr lang="en-US" sz="1229" dirty="0">
                          <a:solidFill>
                            <a:srgbClr val="17140F"/>
                          </a:solidFill>
                          <a:latin typeface="Arial" pitchFamily="34" charset="0"/>
                          <a:ea typeface="Arial" pitchFamily="34" charset="-122"/>
                          <a:cs typeface="Arial" pitchFamily="34" charset="-120"/>
                        </a:rPr>
                        <a:t>Best all-round start. Handles corporate and event pipelines, guest profiles and follow-up automation, and connects to booking systems. Needs configuration to behave like hospitality software.</a:t>
                      </a:r>
                      <a:endParaRPr lang="en-US" sz="1229" dirty="0">
                        <a:latin typeface="Arial" charset="0"/>
                        <a:ea typeface="Arial" charset="0"/>
                        <a:cs typeface="Arial" charset="0"/>
                      </a:endParaRPr>
                    </a:p>
                  </a:txBody>
                  <a:tcPr marL="54646" marR="54646" marT="54646" marB="54646">
                    <a:lnL w="12700" cap="flat" cmpd="sng" algn="ctr">
                      <a:solidFill>
                        <a:srgbClr val="B9B4A9"/>
                      </a:solidFill>
                      <a:prstDash val="solid"/>
                      <a:round/>
                      <a:headEnd type="none" w="med" len="med"/>
                      <a:tailEnd type="none" w="med" len="med"/>
                    </a:lnL>
                    <a:lnR w="12700" cap="flat" cmpd="sng" algn="ctr">
                      <a:solidFill>
                        <a:srgbClr val="B9B4A9"/>
                      </a:solidFill>
                      <a:prstDash val="solid"/>
                      <a:round/>
                      <a:headEnd type="none" w="med" len="med"/>
                      <a:tailEnd type="none" w="med" len="med"/>
                    </a:lnR>
                    <a:lnT w="12700" cap="flat" cmpd="sng" algn="ctr">
                      <a:solidFill>
                        <a:srgbClr val="161410"/>
                      </a:solidFill>
                      <a:prstDash val="solid"/>
                      <a:round/>
                      <a:headEnd type="none" w="med" len="med"/>
                      <a:tailEnd type="none" w="med" len="med"/>
                    </a:lnT>
                    <a:lnB w="12700" cap="flat" cmpd="sng" algn="ctr">
                      <a:solidFill>
                        <a:srgbClr val="B9B4A9"/>
                      </a:solidFill>
                      <a:prstDash val="solid"/>
                      <a:round/>
                      <a:headEnd type="none" w="med" len="med"/>
                      <a:tailEnd type="none" w="med" len="med"/>
                    </a:lnB>
                    <a:solidFill>
                      <a:srgbClr val="E8E1D3"/>
                    </a:solidFill>
                  </a:tcPr>
                </a:tc>
                <a:extLst>
                  <a:ext uri="{0D108BD9-81ED-4DB2-BD59-A6C34878D82A}">
                    <a16:rowId xmlns:a16="http://schemas.microsoft.com/office/drawing/2014/main" val="10001"/>
                  </a:ext>
                </a:extLst>
              </a:tr>
              <a:tr h="776288">
                <a:tc>
                  <a:txBody>
                    <a:bodyPr/>
                    <a:lstStyle/>
                    <a:p>
                      <a:pPr marL="0" indent="0">
                        <a:lnSpc>
                          <a:spcPts val="1721"/>
                        </a:lnSpc>
                        <a:buNone/>
                      </a:pPr>
                      <a:r>
                        <a:rPr lang="en-US" sz="1229" dirty="0">
                          <a:solidFill>
                            <a:srgbClr val="17140F"/>
                          </a:solidFill>
                          <a:latin typeface="Arial" pitchFamily="34" charset="0"/>
                          <a:ea typeface="Arial" pitchFamily="34" charset="-122"/>
                          <a:cs typeface="Arial" pitchFamily="34" charset="-120"/>
                        </a:rPr>
                        <a:t>TeleCRM</a:t>
                      </a:r>
                      <a:endParaRPr lang="en-US" sz="1229" dirty="0">
                        <a:latin typeface="Arial" charset="0"/>
                        <a:ea typeface="Arial" charset="0"/>
                        <a:cs typeface="Arial" charset="0"/>
                      </a:endParaRPr>
                    </a:p>
                  </a:txBody>
                  <a:tcPr marL="54646" marR="54646" marT="54646" marB="54646">
                    <a:lnL w="12700" cap="flat" cmpd="sng" algn="ctr">
                      <a:solidFill>
                        <a:srgbClr val="C5C2BB"/>
                      </a:solidFill>
                      <a:prstDash val="solid"/>
                      <a:round/>
                      <a:headEnd type="none" w="med" len="med"/>
                      <a:tailEnd type="none" w="med" len="med"/>
                    </a:lnL>
                    <a:lnR w="12700" cap="flat" cmpd="sng" algn="ctr">
                      <a:solidFill>
                        <a:srgbClr val="B9B4A9"/>
                      </a:solidFill>
                      <a:prstDash val="solid"/>
                      <a:round/>
                      <a:headEnd type="none" w="med" len="med"/>
                      <a:tailEnd type="none" w="med" len="med"/>
                    </a:lnR>
                    <a:lnT w="12700" cap="flat" cmpd="sng" algn="ctr">
                      <a:solidFill>
                        <a:srgbClr val="B9B4A9"/>
                      </a:solidFill>
                      <a:prstDash val="solid"/>
                      <a:round/>
                      <a:headEnd type="none" w="med" len="med"/>
                      <a:tailEnd type="none" w="med" len="med"/>
                    </a:lnT>
                    <a:lnB w="12700" cap="flat" cmpd="sng" algn="ctr">
                      <a:solidFill>
                        <a:srgbClr val="B9B4A9"/>
                      </a:solidFill>
                      <a:prstDash val="solid"/>
                      <a:round/>
                      <a:headEnd type="none" w="med" len="med"/>
                      <a:tailEnd type="none" w="med" len="med"/>
                    </a:lnB>
                    <a:solidFill>
                      <a:srgbClr val="E8E1D3"/>
                    </a:solidFill>
                  </a:tcPr>
                </a:tc>
                <a:tc>
                  <a:txBody>
                    <a:bodyPr/>
                    <a:lstStyle/>
                    <a:p>
                      <a:pPr marL="0" indent="0">
                        <a:lnSpc>
                          <a:spcPts val="1721"/>
                        </a:lnSpc>
                        <a:buNone/>
                      </a:pPr>
                      <a:r>
                        <a:rPr lang="en-US" sz="1229" dirty="0">
                          <a:solidFill>
                            <a:srgbClr val="17140F"/>
                          </a:solidFill>
                          <a:latin typeface="Arial" pitchFamily="34" charset="0"/>
                          <a:ea typeface="Arial" pitchFamily="34" charset="-122"/>
                          <a:cs typeface="Arial" pitchFamily="34" charset="-120"/>
                        </a:rPr>
                        <a:t>₹799</a:t>
                      </a:r>
                      <a:endParaRPr lang="en-US" sz="1229" dirty="0">
                        <a:latin typeface="Arial" charset="0"/>
                        <a:ea typeface="Arial" charset="0"/>
                        <a:cs typeface="Arial" charset="0"/>
                      </a:endParaRPr>
                    </a:p>
                  </a:txBody>
                  <a:tcPr marL="54646" marR="54646" marT="54646" marB="54646">
                    <a:lnL w="12700" cap="flat" cmpd="sng" algn="ctr">
                      <a:solidFill>
                        <a:srgbClr val="B9B4A9"/>
                      </a:solidFill>
                      <a:prstDash val="solid"/>
                      <a:round/>
                      <a:headEnd type="none" w="med" len="med"/>
                      <a:tailEnd type="none" w="med" len="med"/>
                    </a:lnL>
                    <a:lnR w="12700" cap="flat" cmpd="sng" algn="ctr">
                      <a:solidFill>
                        <a:srgbClr val="B9B4A9"/>
                      </a:solidFill>
                      <a:prstDash val="solid"/>
                      <a:round/>
                      <a:headEnd type="none" w="med" len="med"/>
                      <a:tailEnd type="none" w="med" len="med"/>
                    </a:lnR>
                    <a:lnT w="12700" cap="flat" cmpd="sng" algn="ctr">
                      <a:solidFill>
                        <a:srgbClr val="B9B4A9"/>
                      </a:solidFill>
                      <a:prstDash val="solid"/>
                      <a:round/>
                      <a:headEnd type="none" w="med" len="med"/>
                      <a:tailEnd type="none" w="med" len="med"/>
                    </a:lnT>
                    <a:lnB w="12700" cap="flat" cmpd="sng" algn="ctr">
                      <a:solidFill>
                        <a:srgbClr val="B9B4A9"/>
                      </a:solidFill>
                      <a:prstDash val="solid"/>
                      <a:round/>
                      <a:headEnd type="none" w="med" len="med"/>
                      <a:tailEnd type="none" w="med" len="med"/>
                    </a:lnB>
                    <a:solidFill>
                      <a:srgbClr val="E8E1D3"/>
                    </a:solidFill>
                  </a:tcPr>
                </a:tc>
                <a:tc>
                  <a:txBody>
                    <a:bodyPr/>
                    <a:lstStyle/>
                    <a:p>
                      <a:pPr marL="0" indent="0">
                        <a:lnSpc>
                          <a:spcPts val="1721"/>
                        </a:lnSpc>
                        <a:buNone/>
                      </a:pPr>
                      <a:r>
                        <a:rPr lang="en-US" sz="1229" dirty="0">
                          <a:solidFill>
                            <a:srgbClr val="17140F"/>
                          </a:solidFill>
                          <a:latin typeface="Arial" pitchFamily="34" charset="0"/>
                          <a:ea typeface="Arial" pitchFamily="34" charset="-122"/>
                          <a:cs typeface="Arial" pitchFamily="34" charset="-120"/>
                        </a:rPr>
                        <a:t>Native, WhatsApp Cloud API</a:t>
                      </a:r>
                      <a:endParaRPr lang="en-US" sz="1229" dirty="0">
                        <a:latin typeface="Arial" charset="0"/>
                        <a:ea typeface="Arial" charset="0"/>
                        <a:cs typeface="Arial" charset="0"/>
                      </a:endParaRPr>
                    </a:p>
                  </a:txBody>
                  <a:tcPr marL="54646" marR="54646" marT="54646" marB="54646">
                    <a:lnL w="12700" cap="flat" cmpd="sng" algn="ctr">
                      <a:solidFill>
                        <a:srgbClr val="B9B4A9"/>
                      </a:solidFill>
                      <a:prstDash val="solid"/>
                      <a:round/>
                      <a:headEnd type="none" w="med" len="med"/>
                      <a:tailEnd type="none" w="med" len="med"/>
                    </a:lnL>
                    <a:lnR w="12700" cap="flat" cmpd="sng" algn="ctr">
                      <a:solidFill>
                        <a:srgbClr val="B9B4A9"/>
                      </a:solidFill>
                      <a:prstDash val="solid"/>
                      <a:round/>
                      <a:headEnd type="none" w="med" len="med"/>
                      <a:tailEnd type="none" w="med" len="med"/>
                    </a:lnR>
                    <a:lnT w="12700" cap="flat" cmpd="sng" algn="ctr">
                      <a:solidFill>
                        <a:srgbClr val="B9B4A9"/>
                      </a:solidFill>
                      <a:prstDash val="solid"/>
                      <a:round/>
                      <a:headEnd type="none" w="med" len="med"/>
                      <a:tailEnd type="none" w="med" len="med"/>
                    </a:lnT>
                    <a:lnB w="12700" cap="flat" cmpd="sng" algn="ctr">
                      <a:solidFill>
                        <a:srgbClr val="B9B4A9"/>
                      </a:solidFill>
                      <a:prstDash val="solid"/>
                      <a:round/>
                      <a:headEnd type="none" w="med" len="med"/>
                      <a:tailEnd type="none" w="med" len="med"/>
                    </a:lnB>
                    <a:solidFill>
                      <a:srgbClr val="E8E1D3"/>
                    </a:solidFill>
                  </a:tcPr>
                </a:tc>
                <a:tc>
                  <a:txBody>
                    <a:bodyPr/>
                    <a:lstStyle/>
                    <a:p>
                      <a:pPr marL="0" indent="0">
                        <a:lnSpc>
                          <a:spcPts val="1721"/>
                        </a:lnSpc>
                        <a:buNone/>
                      </a:pPr>
                      <a:r>
                        <a:rPr lang="en-US" sz="1229" dirty="0">
                          <a:solidFill>
                            <a:srgbClr val="17140F"/>
                          </a:solidFill>
                          <a:latin typeface="Arial" pitchFamily="34" charset="0"/>
                          <a:ea typeface="Arial" pitchFamily="34" charset="-122"/>
                          <a:cs typeface="Arial" pitchFamily="34" charset="-120"/>
                        </a:rPr>
                        <a:t>Built around calling and WhatsApp, which is exactly how enquiries already arrive here. Fastest route to a working system for a small team.</a:t>
                      </a:r>
                      <a:endParaRPr lang="en-US" sz="1229" dirty="0">
                        <a:latin typeface="Arial" charset="0"/>
                        <a:ea typeface="Arial" charset="0"/>
                        <a:cs typeface="Arial" charset="0"/>
                      </a:endParaRPr>
                    </a:p>
                  </a:txBody>
                  <a:tcPr marL="54646" marR="54646" marT="54646" marB="54646">
                    <a:lnL w="12700" cap="flat" cmpd="sng" algn="ctr">
                      <a:solidFill>
                        <a:srgbClr val="B9B4A9"/>
                      </a:solidFill>
                      <a:prstDash val="solid"/>
                      <a:round/>
                      <a:headEnd type="none" w="med" len="med"/>
                      <a:tailEnd type="none" w="med" len="med"/>
                    </a:lnL>
                    <a:lnR w="12700" cap="flat" cmpd="sng" algn="ctr">
                      <a:solidFill>
                        <a:srgbClr val="B9B4A9"/>
                      </a:solidFill>
                      <a:prstDash val="solid"/>
                      <a:round/>
                      <a:headEnd type="none" w="med" len="med"/>
                      <a:tailEnd type="none" w="med" len="med"/>
                    </a:lnR>
                    <a:lnT w="12700" cap="flat" cmpd="sng" algn="ctr">
                      <a:solidFill>
                        <a:srgbClr val="B9B4A9"/>
                      </a:solidFill>
                      <a:prstDash val="solid"/>
                      <a:round/>
                      <a:headEnd type="none" w="med" len="med"/>
                      <a:tailEnd type="none" w="med" len="med"/>
                    </a:lnT>
                    <a:lnB w="12700" cap="flat" cmpd="sng" algn="ctr">
                      <a:solidFill>
                        <a:srgbClr val="B9B4A9"/>
                      </a:solidFill>
                      <a:prstDash val="solid"/>
                      <a:round/>
                      <a:headEnd type="none" w="med" len="med"/>
                      <a:tailEnd type="none" w="med" len="med"/>
                    </a:lnB>
                    <a:solidFill>
                      <a:srgbClr val="E8E1D3"/>
                    </a:solidFill>
                  </a:tcPr>
                </a:tc>
                <a:extLst>
                  <a:ext uri="{0D108BD9-81ED-4DB2-BD59-A6C34878D82A}">
                    <a16:rowId xmlns:a16="http://schemas.microsoft.com/office/drawing/2014/main" val="10002"/>
                  </a:ext>
                </a:extLst>
              </a:tr>
              <a:tr h="557768">
                <a:tc>
                  <a:txBody>
                    <a:bodyPr/>
                    <a:lstStyle/>
                    <a:p>
                      <a:pPr marL="0" indent="0">
                        <a:lnSpc>
                          <a:spcPts val="1721"/>
                        </a:lnSpc>
                        <a:buNone/>
                      </a:pPr>
                      <a:r>
                        <a:rPr lang="en-US" sz="1229" dirty="0">
                          <a:solidFill>
                            <a:srgbClr val="17140F"/>
                          </a:solidFill>
                          <a:latin typeface="Arial" pitchFamily="34" charset="0"/>
                          <a:ea typeface="Arial" pitchFamily="34" charset="-122"/>
                          <a:cs typeface="Arial" pitchFamily="34" charset="-120"/>
                        </a:rPr>
                        <a:t>Freshsales</a:t>
                      </a:r>
                      <a:endParaRPr lang="en-US" sz="1229" dirty="0">
                        <a:latin typeface="Arial" charset="0"/>
                        <a:ea typeface="Arial" charset="0"/>
                        <a:cs typeface="Arial" charset="0"/>
                      </a:endParaRPr>
                    </a:p>
                  </a:txBody>
                  <a:tcPr marL="54646" marR="54646" marT="54646" marB="54646">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B9B4A9"/>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721"/>
                        </a:lnSpc>
                        <a:buNone/>
                      </a:pPr>
                      <a:r>
                        <a:rPr lang="en-US" sz="1229" dirty="0">
                          <a:solidFill>
                            <a:srgbClr val="17140F"/>
                          </a:solidFill>
                          <a:latin typeface="Arial" pitchFamily="34" charset="0"/>
                          <a:ea typeface="Arial" pitchFamily="34" charset="-122"/>
                          <a:cs typeface="Arial" pitchFamily="34" charset="-120"/>
                        </a:rPr>
                        <a:t>₹749</a:t>
                      </a:r>
                      <a:endParaRPr lang="en-US" sz="1229" dirty="0">
                        <a:latin typeface="Arial" charset="0"/>
                        <a:ea typeface="Arial" charset="0"/>
                        <a:cs typeface="Arial" charset="0"/>
                      </a:endParaRPr>
                    </a:p>
                  </a:txBody>
                  <a:tcPr marL="54646" marR="54646" marT="54646" marB="54646">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B9B4A9"/>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721"/>
                        </a:lnSpc>
                        <a:buNone/>
                      </a:pPr>
                      <a:r>
                        <a:rPr lang="en-US" sz="1229" dirty="0">
                          <a:solidFill>
                            <a:srgbClr val="17140F"/>
                          </a:solidFill>
                          <a:latin typeface="Arial" pitchFamily="34" charset="0"/>
                          <a:ea typeface="Arial" pitchFamily="34" charset="-122"/>
                          <a:cs typeface="Arial" pitchFamily="34" charset="-120"/>
                        </a:rPr>
                        <a:t>Not confirmed</a:t>
                      </a:r>
                      <a:endParaRPr lang="en-US" sz="1229" dirty="0">
                        <a:latin typeface="Arial" charset="0"/>
                        <a:ea typeface="Arial" charset="0"/>
                        <a:cs typeface="Arial" charset="0"/>
                      </a:endParaRPr>
                    </a:p>
                  </a:txBody>
                  <a:tcPr marL="54646" marR="54646" marT="54646" marB="54646">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B9B4A9"/>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721"/>
                        </a:lnSpc>
                        <a:buNone/>
                      </a:pPr>
                      <a:r>
                        <a:rPr lang="en-US" sz="1229" dirty="0">
                          <a:solidFill>
                            <a:srgbClr val="17140F"/>
                          </a:solidFill>
                          <a:latin typeface="Arial" pitchFamily="34" charset="0"/>
                          <a:ea typeface="Arial" pitchFamily="34" charset="-122"/>
                          <a:cs typeface="Arial" pitchFamily="34" charset="-120"/>
                        </a:rPr>
                        <a:t>Simple and quick to launch. Reasonable if the team stays small and WhatsApp is handled elsewhere.</a:t>
                      </a:r>
                      <a:endParaRPr lang="en-US" sz="1229" dirty="0">
                        <a:latin typeface="Arial" charset="0"/>
                        <a:ea typeface="Arial" charset="0"/>
                        <a:cs typeface="Arial" charset="0"/>
                      </a:endParaRPr>
                    </a:p>
                  </a:txBody>
                  <a:tcPr marL="54646" marR="54646" marT="54646" marB="54646">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B9B4A9"/>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extLst>
                  <a:ext uri="{0D108BD9-81ED-4DB2-BD59-A6C34878D82A}">
                    <a16:rowId xmlns:a16="http://schemas.microsoft.com/office/drawing/2014/main" val="10003"/>
                  </a:ext>
                </a:extLst>
              </a:tr>
              <a:tr h="557768">
                <a:tc>
                  <a:txBody>
                    <a:bodyPr/>
                    <a:lstStyle/>
                    <a:p>
                      <a:pPr marL="0" indent="0">
                        <a:lnSpc>
                          <a:spcPts val="1721"/>
                        </a:lnSpc>
                        <a:buNone/>
                      </a:pPr>
                      <a:r>
                        <a:rPr lang="en-US" sz="1229" dirty="0">
                          <a:solidFill>
                            <a:srgbClr val="17140F"/>
                          </a:solidFill>
                          <a:latin typeface="Arial" pitchFamily="34" charset="0"/>
                          <a:ea typeface="Arial" pitchFamily="34" charset="-122"/>
                          <a:cs typeface="Arial" pitchFamily="34" charset="-120"/>
                        </a:rPr>
                        <a:t>HubSpot</a:t>
                      </a:r>
                      <a:endParaRPr lang="en-US" sz="1229" dirty="0">
                        <a:latin typeface="Arial" charset="0"/>
                        <a:ea typeface="Arial" charset="0"/>
                        <a:cs typeface="Arial" charset="0"/>
                      </a:endParaRPr>
                    </a:p>
                  </a:txBody>
                  <a:tcPr marL="54646" marR="54646" marT="54646" marB="54646">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721"/>
                        </a:lnSpc>
                        <a:buNone/>
                      </a:pPr>
                      <a:r>
                        <a:rPr lang="en-US" sz="1229" dirty="0">
                          <a:solidFill>
                            <a:srgbClr val="17140F"/>
                          </a:solidFill>
                          <a:latin typeface="Arial" pitchFamily="34" charset="0"/>
                          <a:ea typeface="Arial" pitchFamily="34" charset="-122"/>
                          <a:cs typeface="Arial" pitchFamily="34" charset="-120"/>
                        </a:rPr>
                        <a:t>Free tier, paid from $7</a:t>
                      </a:r>
                      <a:endParaRPr lang="en-US" sz="1229" dirty="0">
                        <a:latin typeface="Arial" charset="0"/>
                        <a:ea typeface="Arial" charset="0"/>
                        <a:cs typeface="Arial" charset="0"/>
                      </a:endParaRPr>
                    </a:p>
                  </a:txBody>
                  <a:tcPr marL="54646" marR="54646" marT="54646" marB="54646">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721"/>
                        </a:lnSpc>
                        <a:buNone/>
                      </a:pPr>
                      <a:r>
                        <a:rPr lang="en-US" sz="1229" dirty="0">
                          <a:solidFill>
                            <a:srgbClr val="17140F"/>
                          </a:solidFill>
                          <a:latin typeface="Arial" pitchFamily="34" charset="0"/>
                          <a:ea typeface="Arial" pitchFamily="34" charset="-122"/>
                          <a:cs typeface="Arial" pitchFamily="34" charset="-120"/>
                        </a:rPr>
                        <a:t>Not native</a:t>
                      </a:r>
                      <a:endParaRPr lang="en-US" sz="1229" dirty="0">
                        <a:latin typeface="Arial" charset="0"/>
                        <a:ea typeface="Arial" charset="0"/>
                        <a:cs typeface="Arial" charset="0"/>
                      </a:endParaRPr>
                    </a:p>
                  </a:txBody>
                  <a:tcPr marL="54646" marR="54646" marT="54646" marB="54646">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721"/>
                        </a:lnSpc>
                        <a:buNone/>
                      </a:pPr>
                      <a:r>
                        <a:rPr lang="en-US" sz="1229" dirty="0">
                          <a:solidFill>
                            <a:srgbClr val="17140F"/>
                          </a:solidFill>
                          <a:latin typeface="Arial" pitchFamily="34" charset="0"/>
                          <a:ea typeface="Arial" pitchFamily="34" charset="-122"/>
                          <a:cs typeface="Arial" pitchFamily="34" charset="-120"/>
                        </a:rPr>
                        <a:t>Strong free entry and good email tooling. Weaker on the calling and WhatsApp habits this business runs on.</a:t>
                      </a:r>
                      <a:endParaRPr lang="en-US" sz="1229" dirty="0">
                        <a:latin typeface="Arial" charset="0"/>
                        <a:ea typeface="Arial" charset="0"/>
                        <a:cs typeface="Arial" charset="0"/>
                      </a:endParaRPr>
                    </a:p>
                  </a:txBody>
                  <a:tcPr marL="54646" marR="54646" marT="54646" marB="54646">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extLst>
                  <a:ext uri="{0D108BD9-81ED-4DB2-BD59-A6C34878D82A}">
                    <a16:rowId xmlns:a16="http://schemas.microsoft.com/office/drawing/2014/main" val="10004"/>
                  </a:ext>
                </a:extLst>
              </a:tr>
              <a:tr h="557768">
                <a:tc>
                  <a:txBody>
                    <a:bodyPr/>
                    <a:lstStyle/>
                    <a:p>
                      <a:pPr marL="0" indent="0">
                        <a:lnSpc>
                          <a:spcPts val="1721"/>
                        </a:lnSpc>
                        <a:buNone/>
                      </a:pPr>
                      <a:r>
                        <a:rPr lang="en-US" sz="1229" dirty="0">
                          <a:solidFill>
                            <a:srgbClr val="17140F"/>
                          </a:solidFill>
                          <a:latin typeface="Arial" pitchFamily="34" charset="0"/>
                          <a:ea typeface="Arial" pitchFamily="34" charset="-122"/>
                          <a:cs typeface="Arial" pitchFamily="34" charset="-120"/>
                        </a:rPr>
                        <a:t>LeadSquared</a:t>
                      </a:r>
                      <a:endParaRPr lang="en-US" sz="1229" dirty="0">
                        <a:latin typeface="Arial" charset="0"/>
                        <a:ea typeface="Arial" charset="0"/>
                        <a:cs typeface="Arial" charset="0"/>
                      </a:endParaRPr>
                    </a:p>
                  </a:txBody>
                  <a:tcPr marL="54646" marR="54646" marT="54646" marB="54646">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721"/>
                        </a:lnSpc>
                        <a:buNone/>
                      </a:pPr>
                      <a:r>
                        <a:rPr lang="en-US" sz="1229" dirty="0">
                          <a:solidFill>
                            <a:srgbClr val="17140F"/>
                          </a:solidFill>
                          <a:latin typeface="Arial" pitchFamily="34" charset="0"/>
                          <a:ea typeface="Arial" pitchFamily="34" charset="-122"/>
                          <a:cs typeface="Arial" pitchFamily="34" charset="-120"/>
                        </a:rPr>
                        <a:t>₹2,500</a:t>
                      </a:r>
                      <a:endParaRPr lang="en-US" sz="1229" dirty="0">
                        <a:latin typeface="Arial" charset="0"/>
                        <a:ea typeface="Arial" charset="0"/>
                        <a:cs typeface="Arial" charset="0"/>
                      </a:endParaRPr>
                    </a:p>
                  </a:txBody>
                  <a:tcPr marL="54646" marR="54646" marT="54646" marB="54646">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721"/>
                        </a:lnSpc>
                        <a:buNone/>
                      </a:pPr>
                      <a:r>
                        <a:rPr lang="en-US" sz="1229" dirty="0">
                          <a:solidFill>
                            <a:srgbClr val="17140F"/>
                          </a:solidFill>
                          <a:latin typeface="Arial" pitchFamily="34" charset="0"/>
                          <a:ea typeface="Arial" pitchFamily="34" charset="-122"/>
                          <a:cs typeface="Arial" pitchFamily="34" charset="-120"/>
                        </a:rPr>
                        <a:t>Not confirmed</a:t>
                      </a:r>
                      <a:endParaRPr lang="en-US" sz="1229" dirty="0">
                        <a:latin typeface="Arial" charset="0"/>
                        <a:ea typeface="Arial" charset="0"/>
                        <a:cs typeface="Arial" charset="0"/>
                      </a:endParaRPr>
                    </a:p>
                  </a:txBody>
                  <a:tcPr marL="54646" marR="54646" marT="54646" marB="54646">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721"/>
                        </a:lnSpc>
                        <a:buNone/>
                      </a:pPr>
                      <a:r>
                        <a:rPr lang="en-US" sz="1229" dirty="0">
                          <a:solidFill>
                            <a:srgbClr val="17140F"/>
                          </a:solidFill>
                          <a:latin typeface="Arial" pitchFamily="34" charset="0"/>
                          <a:ea typeface="Arial" pitchFamily="34" charset="-122"/>
                          <a:cs typeface="Arial" pitchFamily="34" charset="-120"/>
                        </a:rPr>
                        <a:t>Built for high-volume sales in education and finance. More than this stage of the business needs.</a:t>
                      </a:r>
                      <a:endParaRPr lang="en-US" sz="1229" dirty="0">
                        <a:latin typeface="Arial" charset="0"/>
                        <a:ea typeface="Arial" charset="0"/>
                        <a:cs typeface="Arial" charset="0"/>
                      </a:endParaRPr>
                    </a:p>
                  </a:txBody>
                  <a:tcPr marL="54646" marR="54646" marT="54646" marB="54646">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4" name="Text 1"/>
          <p:cNvSpPr/>
          <p:nvPr/>
        </p:nvSpPr>
        <p:spPr>
          <a:xfrm>
            <a:off x="812800" y="5383213"/>
            <a:ext cx="10333990" cy="484187"/>
          </a:xfrm>
          <a:prstGeom prst="rect">
            <a:avLst/>
          </a:prstGeom>
          <a:noFill/>
          <a:ln/>
        </p:spPr>
        <p:txBody>
          <a:bodyPr wrap="square" lIns="0" tIns="0" rIns="0" bIns="0" rtlCol="0" anchor="t">
            <a:normAutofit/>
          </a:bodyPr>
          <a:lstStyle/>
          <a:p>
            <a:pPr marL="0" indent="0" algn="l">
              <a:lnSpc>
                <a:spcPts val="1808"/>
              </a:lnSpc>
              <a:buNone/>
            </a:pPr>
            <a:r>
              <a:rPr lang="en-US" sz="1247" dirty="0">
                <a:solidFill>
                  <a:srgbClr val="5C5344"/>
                </a:solidFill>
                <a:latin typeface="Arial" pitchFamily="34" charset="0"/>
                <a:ea typeface="Arial" pitchFamily="34" charset="-122"/>
                <a:cs typeface="Arial" pitchFamily="34" charset="-120"/>
              </a:rPr>
              <a:t>Prices are per user per month on annual billing, from a published Indian CRM comparison. Confirm current pricing with each vendor before committing — these move.</a:t>
            </a:r>
            <a:endParaRPr lang="en-US" sz="1247" dirty="0"/>
          </a:p>
        </p:txBody>
      </p:sp>
      <p:sp>
        <p:nvSpPr>
          <p:cNvPr id="5" name="Text 2"/>
          <p:cNvSpPr/>
          <p:nvPr/>
        </p:nvSpPr>
        <p:spPr>
          <a:xfrm>
            <a:off x="812800" y="6238255"/>
            <a:ext cx="474962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071"/>
                </a:solidFill>
                <a:latin typeface="Arial" pitchFamily="34" charset="0"/>
                <a:ea typeface="Arial" pitchFamily="34" charset="-122"/>
                <a:cs typeface="Arial" pitchFamily="34" charset="-120"/>
              </a:rPr>
              <a:t>Source: TeleCRM, Top 10 CRM software in India, read 29 Sep 2026.</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2">
    <p:bg>
      <p:bgPr>
        <a:solidFill>
          <a:srgbClr val="C9A63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1049338"/>
          </a:xfrm>
          <a:prstGeom prst="rect">
            <a:avLst/>
          </a:prstGeom>
          <a:noFill/>
          <a:ln/>
        </p:spPr>
        <p:txBody>
          <a:bodyPr wrap="square" lIns="0" tIns="0" rIns="0" bIns="0" rtlCol="0" anchor="t">
            <a:normAutofit/>
          </a:bodyPr>
          <a:lstStyle/>
          <a:p>
            <a:pPr marL="0" indent="0" algn="l">
              <a:lnSpc>
                <a:spcPts val="4490"/>
              </a:lnSpc>
              <a:buNone/>
            </a:pPr>
            <a:r>
              <a:rPr lang="en-US" sz="4276" dirty="0">
                <a:solidFill>
                  <a:srgbClr val="17140F"/>
                </a:solidFill>
                <a:latin typeface="Georgia" pitchFamily="34" charset="0"/>
                <a:ea typeface="Georgia" pitchFamily="34" charset="-122"/>
                <a:cs typeface="Georgia" pitchFamily="34" charset="-120"/>
              </a:rPr>
              <a:t>Our recommendation turns on one question</a:t>
            </a:r>
            <a:endParaRPr lang="en-US" sz="4276" dirty="0"/>
          </a:p>
        </p:txBody>
      </p:sp>
      <p:sp>
        <p:nvSpPr>
          <p:cNvPr id="3" name="Shape 1"/>
          <p:cNvSpPr/>
          <p:nvPr/>
        </p:nvSpPr>
        <p:spPr>
          <a:xfrm>
            <a:off x="812800" y="2090738"/>
            <a:ext cx="10566400" cy="1343025"/>
          </a:xfrm>
          <a:prstGeom prst="roundRect">
            <a:avLst>
              <a:gd name="adj" fmla="val 7565"/>
            </a:avLst>
          </a:prstGeom>
          <a:solidFill>
            <a:srgbClr val="17140F"/>
          </a:solidFill>
          <a:ln/>
        </p:spPr>
      </p:sp>
      <p:sp>
        <p:nvSpPr>
          <p:cNvPr id="4" name="Text 2"/>
          <p:cNvSpPr/>
          <p:nvPr/>
        </p:nvSpPr>
        <p:spPr>
          <a:xfrm>
            <a:off x="1143000" y="2420938"/>
            <a:ext cx="10203180" cy="708025"/>
          </a:xfrm>
          <a:prstGeom prst="rect">
            <a:avLst/>
          </a:prstGeom>
          <a:noFill/>
          <a:ln/>
        </p:spPr>
        <p:txBody>
          <a:bodyPr wrap="square" lIns="0" tIns="0" rIns="0" bIns="0" rtlCol="0" anchor="t">
            <a:normAutofit/>
          </a:bodyPr>
          <a:lstStyle/>
          <a:p>
            <a:pPr marL="0" indent="0" algn="l">
              <a:lnSpc>
                <a:spcPts val="2705"/>
              </a:lnSpc>
              <a:buNone/>
            </a:pPr>
            <a:r>
              <a:rPr lang="en-US" sz="1932" dirty="0">
                <a:solidFill>
                  <a:srgbClr val="F7F3EA"/>
                </a:solidFill>
                <a:latin typeface="Arial" pitchFamily="34" charset="0"/>
                <a:ea typeface="Arial" pitchFamily="34" charset="-122"/>
                <a:cs typeface="Arial" pitchFamily="34" charset="-120"/>
              </a:rPr>
              <a:t>Are enquiries mostly calls and WhatsApp — or is there going to be a real sales pipeline for corporate and events?</a:t>
            </a:r>
            <a:endParaRPr lang="en-US" sz="1932" dirty="0"/>
          </a:p>
        </p:txBody>
      </p:sp>
      <p:sp>
        <p:nvSpPr>
          <p:cNvPr id="5" name="Shape 3"/>
          <p:cNvSpPr/>
          <p:nvPr/>
        </p:nvSpPr>
        <p:spPr>
          <a:xfrm>
            <a:off x="812800" y="3687762"/>
            <a:ext cx="3386614" cy="2154238"/>
          </a:xfrm>
          <a:prstGeom prst="roundRect">
            <a:avLst>
              <a:gd name="adj" fmla="val 4716"/>
            </a:avLst>
          </a:prstGeom>
          <a:solidFill>
            <a:srgbClr val="F7F3EA"/>
          </a:solidFill>
          <a:ln/>
        </p:spPr>
      </p:sp>
      <p:sp>
        <p:nvSpPr>
          <p:cNvPr id="6" name="Text 4"/>
          <p:cNvSpPr/>
          <p:nvPr/>
        </p:nvSpPr>
        <p:spPr>
          <a:xfrm>
            <a:off x="1092200" y="3967163"/>
            <a:ext cx="2912648" cy="509508"/>
          </a:xfrm>
          <a:prstGeom prst="rect">
            <a:avLst/>
          </a:prstGeom>
          <a:noFill/>
          <a:ln/>
        </p:spPr>
        <p:txBody>
          <a:bodyPr wrap="square" lIns="0" tIns="0" rIns="0" bIns="0" rtlCol="0" anchor="t">
            <a:normAutofit/>
          </a:bodyPr>
          <a:lstStyle/>
          <a:p>
            <a:pPr marL="0" indent="0" algn="l">
              <a:lnSpc>
                <a:spcPts val="2059"/>
              </a:lnSpc>
              <a:buNone/>
            </a:pPr>
            <a:r>
              <a:rPr lang="en-US" sz="1716" b="1" dirty="0">
                <a:solidFill>
                  <a:srgbClr val="17140F"/>
                </a:solidFill>
                <a:latin typeface="Arial" pitchFamily="34" charset="0"/>
                <a:ea typeface="Arial" pitchFamily="34" charset="-122"/>
                <a:cs typeface="Arial" pitchFamily="34" charset="-120"/>
              </a:rPr>
              <a:t>Mostly calls and WhatsApp</a:t>
            </a:r>
            <a:endParaRPr lang="en-US" sz="1716" dirty="0"/>
          </a:p>
        </p:txBody>
      </p:sp>
      <p:sp>
        <p:nvSpPr>
          <p:cNvPr id="7" name="Text 5"/>
          <p:cNvSpPr/>
          <p:nvPr/>
        </p:nvSpPr>
        <p:spPr>
          <a:xfrm>
            <a:off x="1092200" y="4540176"/>
            <a:ext cx="2912648" cy="276463"/>
          </a:xfrm>
          <a:prstGeom prst="rect">
            <a:avLst/>
          </a:prstGeom>
          <a:noFill/>
          <a:ln/>
        </p:spPr>
        <p:txBody>
          <a:bodyPr wrap="square" lIns="0" tIns="0" rIns="0" bIns="0" rtlCol="0" anchor="t">
            <a:normAutofit/>
          </a:bodyPr>
          <a:lstStyle/>
          <a:p>
            <a:pPr marL="0" indent="0" algn="l">
              <a:lnSpc>
                <a:spcPts val="2023"/>
              </a:lnSpc>
              <a:buNone/>
            </a:pPr>
            <a:r>
              <a:rPr lang="en-US" sz="1445" dirty="0">
                <a:solidFill>
                  <a:srgbClr val="B54A28"/>
                </a:solidFill>
                <a:latin typeface="Arial" pitchFamily="34" charset="0"/>
                <a:ea typeface="Arial" pitchFamily="34" charset="-122"/>
                <a:cs typeface="Arial" pitchFamily="34" charset="-120"/>
              </a:rPr>
              <a:t>Start with TeleCRM</a:t>
            </a:r>
            <a:endParaRPr lang="en-US" sz="1445" dirty="0"/>
          </a:p>
        </p:txBody>
      </p:sp>
      <p:sp>
        <p:nvSpPr>
          <p:cNvPr id="8" name="Text 6"/>
          <p:cNvSpPr/>
          <p:nvPr/>
        </p:nvSpPr>
        <p:spPr>
          <a:xfrm>
            <a:off x="1092200" y="4880149"/>
            <a:ext cx="2912648" cy="707866"/>
          </a:xfrm>
          <a:prstGeom prst="rect">
            <a:avLst/>
          </a:prstGeom>
          <a:noFill/>
          <a:ln/>
        </p:spPr>
        <p:txBody>
          <a:bodyPr wrap="square" lIns="0" tIns="0" rIns="0" bIns="0" rtlCol="0" anchor="t">
            <a:normAutofit/>
          </a:bodyPr>
          <a:lstStyle/>
          <a:p>
            <a:pPr marL="0" indent="0" algn="l">
              <a:lnSpc>
                <a:spcPts val="1789"/>
              </a:lnSpc>
              <a:buNone/>
            </a:pPr>
            <a:r>
              <a:rPr lang="en-US" sz="1234" dirty="0">
                <a:solidFill>
                  <a:srgbClr val="5C5344"/>
                </a:solidFill>
                <a:latin typeface="Arial" pitchFamily="34" charset="0"/>
                <a:ea typeface="Arial" pitchFamily="34" charset="-122"/>
                <a:cs typeface="Arial" pitchFamily="34" charset="-120"/>
              </a:rPr>
              <a:t>Live in days, built around how the team already works, native WhatsApp Cloud API.</a:t>
            </a:r>
            <a:endParaRPr lang="en-US" sz="1234" dirty="0"/>
          </a:p>
        </p:txBody>
      </p:sp>
      <p:sp>
        <p:nvSpPr>
          <p:cNvPr id="9" name="Shape 7"/>
          <p:cNvSpPr/>
          <p:nvPr/>
        </p:nvSpPr>
        <p:spPr>
          <a:xfrm>
            <a:off x="4402614" y="3687762"/>
            <a:ext cx="3386693" cy="2154238"/>
          </a:xfrm>
          <a:prstGeom prst="roundRect">
            <a:avLst>
              <a:gd name="adj" fmla="val 4716"/>
            </a:avLst>
          </a:prstGeom>
          <a:solidFill>
            <a:srgbClr val="F7F3EA"/>
          </a:solidFill>
          <a:ln/>
        </p:spPr>
      </p:sp>
      <p:sp>
        <p:nvSpPr>
          <p:cNvPr id="10" name="Text 8"/>
          <p:cNvSpPr/>
          <p:nvPr/>
        </p:nvSpPr>
        <p:spPr>
          <a:xfrm>
            <a:off x="4682014" y="3967163"/>
            <a:ext cx="2912730" cy="269954"/>
          </a:xfrm>
          <a:prstGeom prst="rect">
            <a:avLst/>
          </a:prstGeom>
          <a:noFill/>
          <a:ln/>
        </p:spPr>
        <p:txBody>
          <a:bodyPr wrap="square" lIns="0" tIns="0" rIns="0" bIns="0" rtlCol="0" anchor="t">
            <a:normAutofit/>
          </a:bodyPr>
          <a:lstStyle/>
          <a:p>
            <a:pPr marL="0" indent="0" algn="l">
              <a:lnSpc>
                <a:spcPts val="1971"/>
              </a:lnSpc>
              <a:buNone/>
            </a:pPr>
            <a:r>
              <a:rPr lang="en-US" sz="1643" b="1" dirty="0">
                <a:solidFill>
                  <a:srgbClr val="17140F"/>
                </a:solidFill>
                <a:latin typeface="Arial" pitchFamily="34" charset="0"/>
                <a:ea typeface="Arial" pitchFamily="34" charset="-122"/>
                <a:cs typeface="Arial" pitchFamily="34" charset="-120"/>
              </a:rPr>
              <a:t>A real pipeline to build</a:t>
            </a:r>
            <a:endParaRPr lang="en-US" sz="1643" dirty="0"/>
          </a:p>
        </p:txBody>
      </p:sp>
      <p:sp>
        <p:nvSpPr>
          <p:cNvPr id="11" name="Text 9"/>
          <p:cNvSpPr/>
          <p:nvPr/>
        </p:nvSpPr>
        <p:spPr>
          <a:xfrm>
            <a:off x="4682014" y="4300612"/>
            <a:ext cx="2912730" cy="279083"/>
          </a:xfrm>
          <a:prstGeom prst="rect">
            <a:avLst/>
          </a:prstGeom>
          <a:noFill/>
          <a:ln/>
        </p:spPr>
        <p:txBody>
          <a:bodyPr wrap="square" lIns="0" tIns="0" rIns="0" bIns="0" rtlCol="0" anchor="t">
            <a:normAutofit/>
          </a:bodyPr>
          <a:lstStyle/>
          <a:p>
            <a:pPr marL="0" indent="0" algn="l">
              <a:lnSpc>
                <a:spcPts val="2023"/>
              </a:lnSpc>
              <a:buNone/>
            </a:pPr>
            <a:r>
              <a:rPr lang="en-US" sz="1445" dirty="0">
                <a:solidFill>
                  <a:srgbClr val="B54A28"/>
                </a:solidFill>
                <a:latin typeface="Arial" pitchFamily="34" charset="0"/>
                <a:ea typeface="Arial" pitchFamily="34" charset="-122"/>
                <a:cs typeface="Arial" pitchFamily="34" charset="-120"/>
              </a:rPr>
              <a:t>Start with Zoho CRM</a:t>
            </a:r>
            <a:endParaRPr lang="en-US" sz="1445" dirty="0"/>
          </a:p>
        </p:txBody>
      </p:sp>
      <p:sp>
        <p:nvSpPr>
          <p:cNvPr id="12" name="Text 10"/>
          <p:cNvSpPr/>
          <p:nvPr/>
        </p:nvSpPr>
        <p:spPr>
          <a:xfrm>
            <a:off x="4682014" y="4643214"/>
            <a:ext cx="2912730" cy="944801"/>
          </a:xfrm>
          <a:prstGeom prst="rect">
            <a:avLst/>
          </a:prstGeom>
          <a:noFill/>
          <a:ln/>
        </p:spPr>
        <p:txBody>
          <a:bodyPr wrap="square" lIns="0" tIns="0" rIns="0" bIns="0" rtlCol="0" anchor="t">
            <a:normAutofit/>
          </a:bodyPr>
          <a:lstStyle/>
          <a:p>
            <a:pPr marL="0" indent="0" algn="l">
              <a:lnSpc>
                <a:spcPts val="2024"/>
              </a:lnSpc>
              <a:buNone/>
            </a:pPr>
            <a:r>
              <a:rPr lang="en-US" sz="1396" dirty="0">
                <a:solidFill>
                  <a:srgbClr val="5C5344"/>
                </a:solidFill>
                <a:latin typeface="Arial" pitchFamily="34" charset="0"/>
                <a:ea typeface="Arial" pitchFamily="34" charset="-122"/>
                <a:cs typeface="Arial" pitchFamily="34" charset="-120"/>
              </a:rPr>
              <a:t>Grows into corporate and wedding sales, connects to the booking system, more configuration up front.</a:t>
            </a:r>
            <a:endParaRPr lang="en-US" sz="1396" dirty="0"/>
          </a:p>
        </p:txBody>
      </p:sp>
      <p:sp>
        <p:nvSpPr>
          <p:cNvPr id="13" name="Shape 11"/>
          <p:cNvSpPr/>
          <p:nvPr/>
        </p:nvSpPr>
        <p:spPr>
          <a:xfrm>
            <a:off x="7992507" y="3687762"/>
            <a:ext cx="3386693" cy="2154238"/>
          </a:xfrm>
          <a:prstGeom prst="roundRect">
            <a:avLst>
              <a:gd name="adj" fmla="val 4716"/>
            </a:avLst>
          </a:prstGeom>
          <a:solidFill>
            <a:srgbClr val="17140F"/>
          </a:solidFill>
          <a:ln/>
        </p:spPr>
      </p:sp>
      <p:sp>
        <p:nvSpPr>
          <p:cNvPr id="14" name="Text 12"/>
          <p:cNvSpPr/>
          <p:nvPr/>
        </p:nvSpPr>
        <p:spPr>
          <a:xfrm>
            <a:off x="8271907" y="3967163"/>
            <a:ext cx="2912730" cy="252333"/>
          </a:xfrm>
          <a:prstGeom prst="rect">
            <a:avLst/>
          </a:prstGeom>
          <a:noFill/>
          <a:ln/>
        </p:spPr>
        <p:txBody>
          <a:bodyPr wrap="square" lIns="0" tIns="0" rIns="0" bIns="0" rtlCol="0" anchor="t">
            <a:normAutofit/>
          </a:bodyPr>
          <a:lstStyle/>
          <a:p>
            <a:pPr marL="0" indent="0" algn="l">
              <a:lnSpc>
                <a:spcPts val="1823"/>
              </a:lnSpc>
              <a:buNone/>
            </a:pPr>
            <a:r>
              <a:rPr lang="en-US" sz="1519" b="1" dirty="0">
                <a:solidFill>
                  <a:srgbClr val="F7F3EA"/>
                </a:solidFill>
                <a:latin typeface="Arial" pitchFamily="34" charset="0"/>
                <a:ea typeface="Arial" pitchFamily="34" charset="-122"/>
                <a:cs typeface="Arial" pitchFamily="34" charset="-120"/>
              </a:rPr>
              <a:t>Either way</a:t>
            </a:r>
            <a:endParaRPr lang="en-US" sz="1519" dirty="0"/>
          </a:p>
        </p:txBody>
      </p:sp>
      <p:sp>
        <p:nvSpPr>
          <p:cNvPr id="15" name="Text 13"/>
          <p:cNvSpPr/>
          <p:nvPr/>
        </p:nvSpPr>
        <p:spPr>
          <a:xfrm>
            <a:off x="8271907" y="4283001"/>
            <a:ext cx="2912730" cy="1305004"/>
          </a:xfrm>
          <a:prstGeom prst="rect">
            <a:avLst/>
          </a:prstGeom>
          <a:noFill/>
          <a:ln/>
        </p:spPr>
        <p:txBody>
          <a:bodyPr wrap="square" lIns="0" tIns="0" rIns="0" bIns="0" rtlCol="0" anchor="t">
            <a:normAutofit/>
          </a:bodyPr>
          <a:lstStyle/>
          <a:p>
            <a:pPr marL="0" indent="0" algn="l">
              <a:lnSpc>
                <a:spcPts val="1687"/>
              </a:lnSpc>
              <a:buNone/>
            </a:pPr>
            <a:r>
              <a:rPr lang="en-US" sz="1164" dirty="0">
                <a:solidFill>
                  <a:srgbClr val="A79C89"/>
                </a:solidFill>
                <a:latin typeface="Arial" pitchFamily="34" charset="0"/>
                <a:ea typeface="Arial" pitchFamily="34" charset="-122"/>
                <a:cs typeface="Arial" pitchFamily="34" charset="-120"/>
              </a:rPr>
              <a:t>Connect a WhatsApp Business API provider so every conversation is logged against a person, and name </a:t>
            </a:r>
            <a:r>
              <a:rPr lang="en-US" sz="1164" b="1" dirty="0">
                <a:solidFill>
                  <a:srgbClr val="A79C89"/>
                </a:solidFill>
                <a:latin typeface="Arial" pitchFamily="34" charset="0"/>
                <a:ea typeface="Arial" pitchFamily="34" charset="-122"/>
                <a:cs typeface="Arial" pitchFamily="34" charset="-120"/>
              </a:rPr>
              <a:t>one owner</a:t>
            </a:r>
            <a:r>
              <a:rPr lang="en-US" sz="1164" dirty="0">
                <a:solidFill>
                  <a:srgbClr val="A79C89"/>
                </a:solidFill>
                <a:latin typeface="Arial" pitchFamily="34" charset="0"/>
                <a:ea typeface="Arial" pitchFamily="34" charset="-122"/>
                <a:cs typeface="Arial" pitchFamily="34" charset="-120"/>
              </a:rPr>
              <a:t> at the resort. A CRM nobody is accountable for becomes an empty database in a month.</a:t>
            </a:r>
            <a:endParaRPr lang="en-US" sz="1164" dirty="0"/>
          </a:p>
        </p:txBody>
      </p:sp>
      <p:sp>
        <p:nvSpPr>
          <p:cNvPr id="16" name="Text 14"/>
          <p:cNvSpPr/>
          <p:nvPr/>
        </p:nvSpPr>
        <p:spPr>
          <a:xfrm>
            <a:off x="812800" y="6238255"/>
            <a:ext cx="590754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5A1F"/>
                </a:solidFill>
                <a:latin typeface="Arial" pitchFamily="34" charset="0"/>
                <a:ea typeface="Arial" pitchFamily="34" charset="-122"/>
                <a:cs typeface="Arial" pitchFamily="34" charset="-120"/>
              </a:rPr>
              <a:t>Migration and training decide whether a CRM is used or abandoned. Budget for both.</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33">
    <p:bg>
      <p:bgPr>
        <a:solidFill>
          <a:srgbClr val="17140F"/>
        </a:solidFill>
        <a:effectLst/>
      </p:bgPr>
    </p:bg>
    <p:spTree>
      <p:nvGrpSpPr>
        <p:cNvPr id="1" name=""/>
        <p:cNvGrpSpPr/>
        <p:nvPr/>
      </p:nvGrpSpPr>
      <p:grpSpPr>
        <a:xfrm>
          <a:off x="0" y="0"/>
          <a:ext cx="0" cy="0"/>
          <a:chOff x="0" y="0"/>
          <a:chExt cx="0" cy="0"/>
        </a:xfrm>
      </p:grpSpPr>
      <p:sp>
        <p:nvSpPr>
          <p:cNvPr id="2" name="Text 0"/>
          <p:cNvSpPr/>
          <p:nvPr/>
        </p:nvSpPr>
        <p:spPr>
          <a:xfrm>
            <a:off x="812800" y="624542"/>
            <a:ext cx="10883392" cy="494665"/>
          </a:xfrm>
          <a:prstGeom prst="rect">
            <a:avLst/>
          </a:prstGeom>
          <a:noFill/>
          <a:ln/>
        </p:spPr>
        <p:txBody>
          <a:bodyPr wrap="square" lIns="0" tIns="0" rIns="0" bIns="0" rtlCol="0" anchor="t">
            <a:normAutofit fontScale="85000" lnSpcReduction="10000"/>
          </a:bodyPr>
          <a:lstStyle/>
          <a:p>
            <a:pPr marL="0" indent="0" algn="l">
              <a:lnSpc>
                <a:spcPts val="3725"/>
              </a:lnSpc>
              <a:buNone/>
            </a:pPr>
            <a:r>
              <a:rPr lang="en-US" sz="3548" dirty="0">
                <a:solidFill>
                  <a:srgbClr val="C9A63C"/>
                </a:solidFill>
                <a:latin typeface="Georgia" pitchFamily="34" charset="0"/>
                <a:ea typeface="Georgia" pitchFamily="34" charset="-122"/>
                <a:cs typeface="Georgia" pitchFamily="34" charset="-120"/>
              </a:rPr>
              <a:t>If WhatsApp is the pipeline, choose the provider deliberately</a:t>
            </a:r>
            <a:endParaRPr lang="en-US" sz="3548" dirty="0"/>
          </a:p>
        </p:txBody>
      </p:sp>
      <p:graphicFrame>
        <p:nvGraphicFramePr>
          <p:cNvPr id="3" name="Table 0"/>
          <p:cNvGraphicFramePr>
            <a:graphicFrameLocks noGrp="1"/>
          </p:cNvGraphicFramePr>
          <p:nvPr/>
        </p:nvGraphicFramePr>
        <p:xfrm>
          <a:off x="822960" y="1620000"/>
          <a:ext cx="10556240" cy="2350000"/>
        </p:xfrm>
        <a:graphic>
          <a:graphicData uri="http://schemas.openxmlformats.org/drawingml/2006/table">
            <a:tbl>
              <a:tblPr/>
              <a:tblGrid>
                <a:gridCol w="1583436">
                  <a:extLst>
                    <a:ext uri="{9D8B030D-6E8A-4147-A177-3AD203B41FA5}">
                      <a16:colId xmlns:a16="http://schemas.microsoft.com/office/drawing/2014/main" val="20000"/>
                    </a:ext>
                  </a:extLst>
                </a:gridCol>
                <a:gridCol w="4433621">
                  <a:extLst>
                    <a:ext uri="{9D8B030D-6E8A-4147-A177-3AD203B41FA5}">
                      <a16:colId xmlns:a16="http://schemas.microsoft.com/office/drawing/2014/main" val="20001"/>
                    </a:ext>
                  </a:extLst>
                </a:gridCol>
                <a:gridCol w="4539183">
                  <a:extLst>
                    <a:ext uri="{9D8B030D-6E8A-4147-A177-3AD203B41FA5}">
                      <a16:colId xmlns:a16="http://schemas.microsoft.com/office/drawing/2014/main" val="20002"/>
                    </a:ext>
                  </a:extLst>
                </a:gridCol>
              </a:tblGrid>
              <a:tr h="470000">
                <a:tc>
                  <a:txBody>
                    <a:bodyPr/>
                    <a:lstStyle/>
                    <a:p>
                      <a:pPr marL="0" indent="0">
                        <a:lnSpc>
                          <a:spcPts val="1420"/>
                        </a:lnSpc>
                        <a:buNone/>
                      </a:pPr>
                      <a:r>
                        <a:rPr lang="en-US" sz="1050" b="1" dirty="0">
                          <a:solidFill>
                            <a:srgbClr val="F7F3EA"/>
                          </a:solidFill>
                          <a:latin typeface="Arial" pitchFamily="34" charset="0"/>
                          <a:ea typeface="Arial" pitchFamily="34" charset="-122"/>
                          <a:cs typeface="Arial" pitchFamily="34" charset="-120"/>
                        </a:rPr>
                        <a:t>Provider</a:t>
                      </a:r>
                      <a:endParaRPr lang="en-US" sz="105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645F57"/>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645F57"/>
                      </a:solidFill>
                      <a:prstDash val="solid"/>
                      <a:round/>
                      <a:headEnd type="none" w="med" len="med"/>
                      <a:tailEnd type="none" w="med" len="med"/>
                    </a:lnB>
                    <a:solidFill>
                      <a:srgbClr val="3A342A"/>
                    </a:solidFill>
                  </a:tcPr>
                </a:tc>
                <a:tc>
                  <a:txBody>
                    <a:bodyPr/>
                    <a:lstStyle/>
                    <a:p>
                      <a:pPr marL="0" indent="0">
                        <a:lnSpc>
                          <a:spcPts val="1420"/>
                        </a:lnSpc>
                        <a:buNone/>
                      </a:pPr>
                      <a:r>
                        <a:rPr lang="en-US" sz="1050" b="1" dirty="0">
                          <a:solidFill>
                            <a:srgbClr val="F7F3EA"/>
                          </a:solidFill>
                          <a:latin typeface="Arial" pitchFamily="34" charset="0"/>
                          <a:ea typeface="Arial" pitchFamily="34" charset="-122"/>
                          <a:cs typeface="Arial" pitchFamily="34" charset="-120"/>
                        </a:rPr>
                        <a:t>Where it fits</a:t>
                      </a:r>
                      <a:endParaRPr lang="en-US" sz="1050" dirty="0">
                        <a:latin typeface="Arial" charset="0"/>
                        <a:ea typeface="Arial" charset="0"/>
                        <a:cs typeface="Arial" charset="0"/>
                      </a:endParaRPr>
                    </a:p>
                  </a:txBody>
                  <a:tcPr marL="51965" marR="51965" marT="51965" marB="51965">
                    <a:lnL w="12700" cap="flat" cmpd="sng" algn="ctr">
                      <a:solidFill>
                        <a:srgbClr val="645F57"/>
                      </a:solidFill>
                      <a:prstDash val="solid"/>
                      <a:round/>
                      <a:headEnd type="none" w="med" len="med"/>
                      <a:tailEnd type="none" w="med" len="med"/>
                    </a:lnL>
                    <a:lnR w="12700" cap="flat" cmpd="sng" algn="ctr">
                      <a:solidFill>
                        <a:srgbClr val="645F57"/>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645F57"/>
                      </a:solidFill>
                      <a:prstDash val="solid"/>
                      <a:round/>
                      <a:headEnd type="none" w="med" len="med"/>
                      <a:tailEnd type="none" w="med" len="med"/>
                    </a:lnB>
                    <a:solidFill>
                      <a:srgbClr val="3A342A"/>
                    </a:solidFill>
                  </a:tcPr>
                </a:tc>
                <a:tc>
                  <a:txBody>
                    <a:bodyPr/>
                    <a:lstStyle/>
                    <a:p>
                      <a:pPr marL="0" indent="0">
                        <a:lnSpc>
                          <a:spcPts val="1420"/>
                        </a:lnSpc>
                        <a:buNone/>
                      </a:pPr>
                      <a:r>
                        <a:rPr lang="en-US" sz="1050" b="1" dirty="0">
                          <a:solidFill>
                            <a:srgbClr val="F7F3EA"/>
                          </a:solidFill>
                          <a:latin typeface="Arial" pitchFamily="34" charset="0"/>
                          <a:ea typeface="Arial" pitchFamily="34" charset="-122"/>
                          <a:cs typeface="Arial" pitchFamily="34" charset="-120"/>
                        </a:rPr>
                        <a:t>What to check before signing</a:t>
                      </a:r>
                      <a:endParaRPr lang="en-US" sz="1050" dirty="0">
                        <a:latin typeface="Arial" charset="0"/>
                        <a:ea typeface="Arial" charset="0"/>
                        <a:cs typeface="Arial" charset="0"/>
                      </a:endParaRPr>
                    </a:p>
                  </a:txBody>
                  <a:tcPr marL="51965" marR="51965" marT="51965" marB="51965">
                    <a:lnL w="12700" cap="flat" cmpd="sng" algn="ctr">
                      <a:solidFill>
                        <a:srgbClr val="645F57"/>
                      </a:solidFill>
                      <a:prstDash val="solid"/>
                      <a:round/>
                      <a:headEnd type="none" w="med" len="med"/>
                      <a:tailEnd type="none" w="med" len="med"/>
                    </a:lnL>
                    <a:lnR w="12700" cap="flat" cmpd="sng" algn="ctr">
                      <a:solidFill>
                        <a:srgbClr val="645F57"/>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645F57"/>
                      </a:solidFill>
                      <a:prstDash val="solid"/>
                      <a:round/>
                      <a:headEnd type="none" w="med" len="med"/>
                      <a:tailEnd type="none" w="med" len="med"/>
                    </a:lnB>
                    <a:solidFill>
                      <a:srgbClr val="3A342A"/>
                    </a:solidFill>
                  </a:tcPr>
                </a:tc>
                <a:extLst>
                  <a:ext uri="{0D108BD9-81ED-4DB2-BD59-A6C34878D82A}">
                    <a16:rowId xmlns:a16="http://schemas.microsoft.com/office/drawing/2014/main" val="10000"/>
                  </a:ext>
                </a:extLst>
              </a:tr>
              <a:tr h="470000">
                <a:tc>
                  <a:txBody>
                    <a:bodyPr/>
                    <a:lstStyle/>
                    <a:p>
                      <a:pPr marL="0" indent="0">
                        <a:lnSpc>
                          <a:spcPts val="1420"/>
                        </a:lnSpc>
                        <a:buNone/>
                      </a:pPr>
                      <a:r>
                        <a:rPr lang="en-US" sz="1050" dirty="0">
                          <a:solidFill>
                            <a:srgbClr val="F7F3EA"/>
                          </a:solidFill>
                          <a:latin typeface="Arial" pitchFamily="34" charset="0"/>
                          <a:ea typeface="Arial" pitchFamily="34" charset="-122"/>
                          <a:cs typeface="Arial" pitchFamily="34" charset="-120"/>
                        </a:rPr>
                        <a:t>Wati</a:t>
                      </a:r>
                      <a:endParaRPr lang="en-US" sz="105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645F57"/>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420"/>
                        </a:lnSpc>
                        <a:buNone/>
                      </a:pPr>
                      <a:r>
                        <a:rPr lang="en-US" sz="1050" dirty="0">
                          <a:solidFill>
                            <a:srgbClr val="F7F3EA"/>
                          </a:solidFill>
                          <a:latin typeface="Arial" pitchFamily="34" charset="0"/>
                          <a:ea typeface="Arial" pitchFamily="34" charset="-122"/>
                          <a:cs typeface="Arial" pitchFamily="34" charset="-120"/>
                        </a:rPr>
                        <a:t>The widest adoption among Indian small and mid-sized businesses. Shared team inbox, broadcast templates, straightforward automation.</a:t>
                      </a:r>
                      <a:endParaRPr lang="en-US" sz="105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645F57"/>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420"/>
                        </a:lnSpc>
                        <a:buNone/>
                      </a:pPr>
                      <a:r>
                        <a:rPr lang="en-US" sz="1050" dirty="0">
                          <a:solidFill>
                            <a:srgbClr val="F7F3EA"/>
                          </a:solidFill>
                          <a:latin typeface="Arial" pitchFamily="34" charset="0"/>
                          <a:ea typeface="Arial" pitchFamily="34" charset="-122"/>
                          <a:cs typeface="Arial" pitchFamily="34" charset="-120"/>
                        </a:rPr>
                        <a:t>Per-seat cost as the front desk grows, and whether your plan exposes the API your CRM needs.</a:t>
                      </a:r>
                      <a:endParaRPr lang="en-US" sz="105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645F57"/>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extLst>
                  <a:ext uri="{0D108BD9-81ED-4DB2-BD59-A6C34878D82A}">
                    <a16:rowId xmlns:a16="http://schemas.microsoft.com/office/drawing/2014/main" val="10001"/>
                  </a:ext>
                </a:extLst>
              </a:tr>
              <a:tr h="470000">
                <a:tc>
                  <a:txBody>
                    <a:bodyPr/>
                    <a:lstStyle/>
                    <a:p>
                      <a:pPr marL="0" indent="0">
                        <a:lnSpc>
                          <a:spcPts val="1420"/>
                        </a:lnSpc>
                        <a:buNone/>
                      </a:pPr>
                      <a:r>
                        <a:rPr lang="en-US" sz="1050" dirty="0">
                          <a:solidFill>
                            <a:srgbClr val="F7F3EA"/>
                          </a:solidFill>
                          <a:latin typeface="Arial" pitchFamily="34" charset="0"/>
                          <a:ea typeface="Arial" pitchFamily="34" charset="-122"/>
                          <a:cs typeface="Arial" pitchFamily="34" charset="-120"/>
                        </a:rPr>
                        <a:t>Interakt</a:t>
                      </a:r>
                      <a:endParaRPr lang="en-US" sz="105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420"/>
                        </a:lnSpc>
                        <a:buNone/>
                      </a:pPr>
                      <a:r>
                        <a:rPr lang="en-US" sz="1050" dirty="0">
                          <a:solidFill>
                            <a:srgbClr val="F7F3EA"/>
                          </a:solidFill>
                          <a:latin typeface="Arial" pitchFamily="34" charset="0"/>
                          <a:ea typeface="Arial" pitchFamily="34" charset="-122"/>
                          <a:cs typeface="Arial" pitchFamily="34" charset="-120"/>
                        </a:rPr>
                        <a:t>Built for small teams that sell inside WhatsApp. Quick to set up, catalogue and order flows out of the box.</a:t>
                      </a:r>
                      <a:endParaRPr lang="en-US" sz="105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420"/>
                        </a:lnSpc>
                        <a:buNone/>
                      </a:pPr>
                      <a:r>
                        <a:rPr lang="en-US" sz="1050" dirty="0">
                          <a:solidFill>
                            <a:srgbClr val="F7F3EA"/>
                          </a:solidFill>
                          <a:latin typeface="Arial" pitchFamily="34" charset="0"/>
                          <a:ea typeface="Arial" pitchFamily="34" charset="-122"/>
                          <a:cs typeface="Arial" pitchFamily="34" charset="-120"/>
                        </a:rPr>
                        <a:t>Depth of reporting, and whether it hands conversations to a CRM rather than trying to be one.</a:t>
                      </a:r>
                      <a:endParaRPr lang="en-US" sz="105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extLst>
                  <a:ext uri="{0D108BD9-81ED-4DB2-BD59-A6C34878D82A}">
                    <a16:rowId xmlns:a16="http://schemas.microsoft.com/office/drawing/2014/main" val="10002"/>
                  </a:ext>
                </a:extLst>
              </a:tr>
              <a:tr h="470000">
                <a:tc>
                  <a:txBody>
                    <a:bodyPr/>
                    <a:lstStyle/>
                    <a:p>
                      <a:pPr marL="0" indent="0">
                        <a:lnSpc>
                          <a:spcPts val="1420"/>
                        </a:lnSpc>
                        <a:buNone/>
                      </a:pPr>
                      <a:r>
                        <a:rPr lang="en-US" sz="1050" dirty="0">
                          <a:solidFill>
                            <a:srgbClr val="F7F3EA"/>
                          </a:solidFill>
                          <a:latin typeface="Arial" pitchFamily="34" charset="0"/>
                          <a:ea typeface="Arial" pitchFamily="34" charset="-122"/>
                          <a:cs typeface="Arial" pitchFamily="34" charset="-120"/>
                        </a:rPr>
                        <a:t>BiteSpeed</a:t>
                      </a:r>
                      <a:endParaRPr lang="en-US" sz="105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420"/>
                        </a:lnSpc>
                        <a:buNone/>
                      </a:pPr>
                      <a:r>
                        <a:rPr lang="en-US" sz="1050" dirty="0">
                          <a:solidFill>
                            <a:srgbClr val="F7F3EA"/>
                          </a:solidFill>
                          <a:latin typeface="Arial" pitchFamily="34" charset="0"/>
                          <a:ea typeface="Arial" pitchFamily="34" charset="-122"/>
                          <a:cs typeface="Arial" pitchFamily="34" charset="-120"/>
                        </a:rPr>
                        <a:t>Campaign-led. Strong at broadcast, journeys and re-engaging people who dropped out of an enquiry.</a:t>
                      </a:r>
                      <a:endParaRPr lang="en-US" sz="105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420"/>
                        </a:lnSpc>
                        <a:buNone/>
                      </a:pPr>
                      <a:r>
                        <a:rPr lang="en-US" sz="1050" dirty="0">
                          <a:solidFill>
                            <a:srgbClr val="F7F3EA"/>
                          </a:solidFill>
                          <a:latin typeface="Arial" pitchFamily="34" charset="0"/>
                          <a:ea typeface="Arial" pitchFamily="34" charset="-122"/>
                          <a:cs typeface="Arial" pitchFamily="34" charset="-120"/>
                        </a:rPr>
                        <a:t>That the journeys map to booking enquiries and not to an e-commerce cart.</a:t>
                      </a:r>
                      <a:endParaRPr lang="en-US" sz="105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extLst>
                  <a:ext uri="{0D108BD9-81ED-4DB2-BD59-A6C34878D82A}">
                    <a16:rowId xmlns:a16="http://schemas.microsoft.com/office/drawing/2014/main" val="10003"/>
                  </a:ext>
                </a:extLst>
              </a:tr>
              <a:tr h="470000">
                <a:tc>
                  <a:txBody>
                    <a:bodyPr/>
                    <a:lstStyle/>
                    <a:p>
                      <a:pPr marL="0" indent="0">
                        <a:lnSpc>
                          <a:spcPts val="1420"/>
                        </a:lnSpc>
                        <a:buNone/>
                      </a:pPr>
                      <a:r>
                        <a:rPr lang="en-US" sz="1050" dirty="0">
                          <a:solidFill>
                            <a:srgbClr val="F7F3EA"/>
                          </a:solidFill>
                          <a:latin typeface="Arial" pitchFamily="34" charset="0"/>
                          <a:ea typeface="Arial" pitchFamily="34" charset="-122"/>
                          <a:cs typeface="Arial" pitchFamily="34" charset="-120"/>
                        </a:rPr>
                        <a:t>LimeChat</a:t>
                      </a:r>
                      <a:endParaRPr lang="en-US" sz="105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420"/>
                        </a:lnSpc>
                        <a:buNone/>
                      </a:pPr>
                      <a:r>
                        <a:rPr lang="en-US" sz="1050" dirty="0">
                          <a:solidFill>
                            <a:srgbClr val="F7F3EA"/>
                          </a:solidFill>
                          <a:latin typeface="Arial" pitchFamily="34" charset="0"/>
                          <a:ea typeface="Arial" pitchFamily="34" charset="-122"/>
                          <a:cs typeface="Arial" pitchFamily="34" charset="-120"/>
                        </a:rPr>
                        <a:t>The heaviest of the four, with AI-assisted agents. Made for high conversation volume.</a:t>
                      </a:r>
                      <a:endParaRPr lang="en-US" sz="105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420"/>
                        </a:lnSpc>
                        <a:buNone/>
                      </a:pPr>
                      <a:r>
                        <a:rPr lang="en-US" sz="1050" dirty="0">
                          <a:solidFill>
                            <a:srgbClr val="F7F3EA"/>
                          </a:solidFill>
                          <a:latin typeface="Arial" pitchFamily="34" charset="0"/>
                          <a:ea typeface="Arial" pitchFamily="34" charset="-122"/>
                          <a:cs typeface="Arial" pitchFamily="34" charset="-120"/>
                        </a:rPr>
                        <a:t>Whether your enquiry volume justifies the cost, and how long implementation actually takes.</a:t>
                      </a:r>
                      <a:endParaRPr lang="en-US" sz="105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4" name="Text 1"/>
          <p:cNvSpPr/>
          <p:nvPr/>
        </p:nvSpPr>
        <p:spPr>
          <a:xfrm>
            <a:off x="812800" y="4400000"/>
            <a:ext cx="10333990" cy="1100000"/>
          </a:xfrm>
          <a:prstGeom prst="rect">
            <a:avLst/>
          </a:prstGeom>
          <a:noFill/>
          <a:ln/>
        </p:spPr>
        <p:txBody>
          <a:bodyPr wrap="square" lIns="0" tIns="0" rIns="0" bIns="0" rtlCol="0" anchor="t">
            <a:normAutofit/>
          </a:bodyPr>
          <a:lstStyle/>
          <a:p>
            <a:pPr marL="0" indent="0" algn="l">
              <a:lnSpc>
                <a:spcPts val="1856"/>
              </a:lnSpc>
              <a:buNone/>
            </a:pPr>
            <a:r>
              <a:rPr lang="en-US" sz="1280" dirty="0">
                <a:solidFill>
                  <a:srgbClr val="A79C89"/>
                </a:solidFill>
                <a:latin typeface="Arial" pitchFamily="34" charset="0"/>
                <a:ea typeface="Arial" pitchFamily="34" charset="-122"/>
                <a:cs typeface="Arial" pitchFamily="34" charset="-120"/>
              </a:rPr>
              <a:t>All four are Meta-approved providers, so the WhatsApp capability is broadly the same. What differs is the cost as you grow and how cleanly each one hands a conversation to the CRM. Shortlist two, demo them against your own enquiry flow, and confirm the hand-off before you sign.</a:t>
            </a:r>
            <a:endParaRPr lang="en-US" sz="1280" dirty="0"/>
          </a:p>
        </p:txBody>
      </p:sp>
      <p:sp>
        <p:nvSpPr>
          <p:cNvPr id="5" name="Text 2"/>
          <p:cNvSpPr/>
          <p:nvPr/>
        </p:nvSpPr>
        <p:spPr>
          <a:xfrm>
            <a:off x="812800" y="6238255"/>
            <a:ext cx="1033399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071"/>
                </a:solidFill>
                <a:latin typeface="Arial" pitchFamily="34" charset="0"/>
                <a:ea typeface="Arial" pitchFamily="34" charset="-122"/>
                <a:cs typeface="Arial" pitchFamily="34" charset="-120"/>
              </a:rPr>
              <a:t>Positioning as at September 2026. Pricing and features change often; verify at the demo.</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3">
    <p:bg>
      <p:bgPr>
        <a:solidFill>
          <a:srgbClr val="17140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554196"/>
          </a:xfrm>
          <a:prstGeom prst="rect">
            <a:avLst/>
          </a:prstGeom>
          <a:noFill/>
          <a:ln/>
        </p:spPr>
        <p:txBody>
          <a:bodyPr wrap="square" lIns="0" tIns="0" rIns="0" bIns="0" rtlCol="0" anchor="t">
            <a:normAutofit/>
          </a:bodyPr>
          <a:lstStyle/>
          <a:p>
            <a:pPr marL="0" indent="0" algn="l">
              <a:lnSpc>
                <a:spcPts val="4172"/>
              </a:lnSpc>
              <a:buNone/>
            </a:pPr>
            <a:r>
              <a:rPr lang="en-US" sz="3974" dirty="0">
                <a:solidFill>
                  <a:srgbClr val="C9A63C"/>
                </a:solidFill>
                <a:latin typeface="Georgia" pitchFamily="34" charset="0"/>
                <a:ea typeface="Georgia" pitchFamily="34" charset="-122"/>
                <a:cs typeface="Georgia" pitchFamily="34" charset="-120"/>
              </a:rPr>
              <a:t>Week one: stop the bleeding</a:t>
            </a:r>
            <a:endParaRPr lang="en-US" sz="3974"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1605771"/>
          <a:ext cx="10556240" cy="3451228"/>
        </p:xfrm>
        <a:graphic>
          <a:graphicData uri="http://schemas.openxmlformats.org/drawingml/2006/table">
            <a:tbl>
              <a:tblPr/>
              <a:tblGrid>
                <a:gridCol w="4855870">
                  <a:extLst>
                    <a:ext uri="{9D8B030D-6E8A-4147-A177-3AD203B41FA5}">
                      <a16:colId xmlns:a16="http://schemas.microsoft.com/office/drawing/2014/main" val="20000"/>
                    </a:ext>
                  </a:extLst>
                </a:gridCol>
                <a:gridCol w="2322373">
                  <a:extLst>
                    <a:ext uri="{9D8B030D-6E8A-4147-A177-3AD203B41FA5}">
                      <a16:colId xmlns:a16="http://schemas.microsoft.com/office/drawing/2014/main" val="20001"/>
                    </a:ext>
                  </a:extLst>
                </a:gridCol>
                <a:gridCol w="3377997">
                  <a:extLst>
                    <a:ext uri="{9D8B030D-6E8A-4147-A177-3AD203B41FA5}">
                      <a16:colId xmlns:a16="http://schemas.microsoft.com/office/drawing/2014/main" val="20002"/>
                    </a:ext>
                  </a:extLst>
                </a:gridCol>
              </a:tblGrid>
              <a:tr h="383461">
                <a:tc>
                  <a:txBody>
                    <a:bodyPr/>
                    <a:lstStyle/>
                    <a:p>
                      <a:pPr marL="0" indent="0">
                        <a:lnSpc>
                          <a:spcPts val="1948"/>
                        </a:lnSpc>
                        <a:buNone/>
                      </a:pPr>
                      <a:r>
                        <a:rPr lang="en-US" sz="1391" b="1" dirty="0">
                          <a:solidFill>
                            <a:srgbClr val="F7F3EA"/>
                          </a:solidFill>
                          <a:latin typeface="Arial" pitchFamily="34" charset="0"/>
                          <a:ea typeface="Arial" pitchFamily="34" charset="-122"/>
                          <a:cs typeface="Arial" pitchFamily="34" charset="-120"/>
                        </a:rPr>
                        <a:t>Action</a:t>
                      </a:r>
                      <a:endParaRPr lang="en-US" sz="1391" dirty="0">
                        <a:latin typeface="Arial" charset="0"/>
                        <a:ea typeface="Arial" charset="0"/>
                        <a:cs typeface="Arial" charset="0"/>
                      </a:endParaRPr>
                    </a:p>
                  </a:txBody>
                  <a:tcPr marL="61834" marR="61834" marT="61834" marB="61834">
                    <a:lnL w="12700" cap="flat" cmpd="sng" algn="ctr">
                      <a:solidFill>
                        <a:srgbClr val="494642"/>
                      </a:solidFill>
                      <a:prstDash val="solid"/>
                      <a:round/>
                      <a:headEnd type="none" w="med" len="med"/>
                      <a:tailEnd type="none" w="med" len="med"/>
                    </a:lnL>
                    <a:lnR w="12700" cap="flat" cmpd="sng" algn="ctr">
                      <a:solidFill>
                        <a:srgbClr val="645F57"/>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645F57"/>
                      </a:solidFill>
                      <a:prstDash val="solid"/>
                      <a:round/>
                      <a:headEnd type="none" w="med" len="med"/>
                      <a:tailEnd type="none" w="med" len="med"/>
                    </a:lnB>
                    <a:solidFill>
                      <a:srgbClr val="3A342A"/>
                    </a:solidFill>
                  </a:tcPr>
                </a:tc>
                <a:tc>
                  <a:txBody>
                    <a:bodyPr/>
                    <a:lstStyle/>
                    <a:p>
                      <a:pPr marL="0" indent="0">
                        <a:lnSpc>
                          <a:spcPts val="1948"/>
                        </a:lnSpc>
                        <a:buNone/>
                      </a:pPr>
                      <a:r>
                        <a:rPr lang="en-US" sz="1391" b="1" dirty="0">
                          <a:solidFill>
                            <a:srgbClr val="F7F3EA"/>
                          </a:solidFill>
                          <a:latin typeface="Arial" pitchFamily="34" charset="0"/>
                          <a:ea typeface="Arial" pitchFamily="34" charset="-122"/>
                          <a:cs typeface="Arial" pitchFamily="34" charset="-120"/>
                        </a:rPr>
                        <a:t>Owner</a:t>
                      </a:r>
                      <a:endParaRPr lang="en-US" sz="1391" dirty="0">
                        <a:latin typeface="Arial" charset="0"/>
                        <a:ea typeface="Arial" charset="0"/>
                        <a:cs typeface="Arial" charset="0"/>
                      </a:endParaRPr>
                    </a:p>
                  </a:txBody>
                  <a:tcPr marL="61834" marR="61834" marT="61834" marB="61834">
                    <a:lnL w="12700" cap="flat" cmpd="sng" algn="ctr">
                      <a:solidFill>
                        <a:srgbClr val="645F57"/>
                      </a:solidFill>
                      <a:prstDash val="solid"/>
                      <a:round/>
                      <a:headEnd type="none" w="med" len="med"/>
                      <a:tailEnd type="none" w="med" len="med"/>
                    </a:lnL>
                    <a:lnR w="12700" cap="flat" cmpd="sng" algn="ctr">
                      <a:solidFill>
                        <a:srgbClr val="645F57"/>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645F57"/>
                      </a:solidFill>
                      <a:prstDash val="solid"/>
                      <a:round/>
                      <a:headEnd type="none" w="med" len="med"/>
                      <a:tailEnd type="none" w="med" len="med"/>
                    </a:lnB>
                    <a:solidFill>
                      <a:srgbClr val="3A342A"/>
                    </a:solidFill>
                  </a:tcPr>
                </a:tc>
                <a:tc>
                  <a:txBody>
                    <a:bodyPr/>
                    <a:lstStyle/>
                    <a:p>
                      <a:pPr marL="0" indent="0">
                        <a:lnSpc>
                          <a:spcPts val="1948"/>
                        </a:lnSpc>
                        <a:buNone/>
                      </a:pPr>
                      <a:r>
                        <a:rPr lang="en-US" sz="1391" b="1" dirty="0">
                          <a:solidFill>
                            <a:srgbClr val="F7F3EA"/>
                          </a:solidFill>
                          <a:latin typeface="Arial" pitchFamily="34" charset="0"/>
                          <a:ea typeface="Arial" pitchFamily="34" charset="-122"/>
                          <a:cs typeface="Arial" pitchFamily="34" charset="-120"/>
                        </a:rPr>
                        <a:t>What it unlocks</a:t>
                      </a:r>
                      <a:endParaRPr lang="en-US" sz="1391" dirty="0">
                        <a:latin typeface="Arial" charset="0"/>
                        <a:ea typeface="Arial" charset="0"/>
                        <a:cs typeface="Arial" charset="0"/>
                      </a:endParaRPr>
                    </a:p>
                  </a:txBody>
                  <a:tcPr marL="61834" marR="61834" marT="61834" marB="61834">
                    <a:lnL w="12700" cap="flat" cmpd="sng" algn="ctr">
                      <a:solidFill>
                        <a:srgbClr val="645F57"/>
                      </a:solidFill>
                      <a:prstDash val="solid"/>
                      <a:round/>
                      <a:headEnd type="none" w="med" len="med"/>
                      <a:tailEnd type="none" w="med" len="med"/>
                    </a:lnL>
                    <a:lnR w="12700" cap="flat" cmpd="sng" algn="ctr">
                      <a:solidFill>
                        <a:srgbClr val="645F57"/>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645F57"/>
                      </a:solidFill>
                      <a:prstDash val="solid"/>
                      <a:round/>
                      <a:headEnd type="none" w="med" len="med"/>
                      <a:tailEnd type="none" w="med" len="med"/>
                    </a:lnB>
                    <a:solidFill>
                      <a:srgbClr val="3A342A"/>
                    </a:solidFill>
                  </a:tcPr>
                </a:tc>
                <a:extLst>
                  <a:ext uri="{0D108BD9-81ED-4DB2-BD59-A6C34878D82A}">
                    <a16:rowId xmlns:a16="http://schemas.microsoft.com/office/drawing/2014/main" val="10000"/>
                  </a:ext>
                </a:extLst>
              </a:tr>
              <a:tr h="383461">
                <a:tc>
                  <a:txBody>
                    <a:bodyPr/>
                    <a:lstStyle/>
                    <a:p>
                      <a:pPr marL="0" indent="0">
                        <a:lnSpc>
                          <a:spcPts val="1948"/>
                        </a:lnSpc>
                        <a:buNone/>
                      </a:pPr>
                      <a:r>
                        <a:rPr lang="en-US" sz="1391" dirty="0">
                          <a:solidFill>
                            <a:srgbClr val="F7F3EA"/>
                          </a:solidFill>
                          <a:latin typeface="Arial" pitchFamily="34" charset="0"/>
                          <a:ea typeface="Arial" pitchFamily="34" charset="-122"/>
                          <a:cs typeface="Arial" pitchFamily="34" charset="-120"/>
                        </a:rPr>
                        <a:t>Resolve to one Meta pixel, one dataset, standard events</a:t>
                      </a:r>
                      <a:endParaRPr lang="en-US" sz="1391" dirty="0">
                        <a:latin typeface="Arial" charset="0"/>
                        <a:ea typeface="Arial" charset="0"/>
                        <a:cs typeface="Arial" charset="0"/>
                      </a:endParaRPr>
                    </a:p>
                  </a:txBody>
                  <a:tcPr marL="61834" marR="61834" marT="61834" marB="61834">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645F57"/>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948"/>
                        </a:lnSpc>
                        <a:buNone/>
                      </a:pPr>
                      <a:r>
                        <a:rPr lang="en-US" sz="1391" dirty="0">
                          <a:solidFill>
                            <a:srgbClr val="F7F3EA"/>
                          </a:solidFill>
                          <a:latin typeface="Arial" pitchFamily="34" charset="0"/>
                          <a:ea typeface="Arial" pitchFamily="34" charset="-122"/>
                          <a:cs typeface="Arial" pitchFamily="34" charset="-120"/>
                        </a:rPr>
                        <a:t>Us, with site access</a:t>
                      </a:r>
                      <a:endParaRPr lang="en-US" sz="1391" dirty="0">
                        <a:latin typeface="Arial" charset="0"/>
                        <a:ea typeface="Arial" charset="0"/>
                        <a:cs typeface="Arial" charset="0"/>
                      </a:endParaRPr>
                    </a:p>
                  </a:txBody>
                  <a:tcPr marL="61834" marR="61834" marT="61834" marB="61834">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645F57"/>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948"/>
                        </a:lnSpc>
                        <a:buNone/>
                      </a:pPr>
                      <a:r>
                        <a:rPr lang="en-US" sz="1391" dirty="0">
                          <a:solidFill>
                            <a:srgbClr val="F7F3EA"/>
                          </a:solidFill>
                          <a:latin typeface="Arial" pitchFamily="34" charset="0"/>
                          <a:ea typeface="Arial" pitchFamily="34" charset="-122"/>
                          <a:cs typeface="Arial" pitchFamily="34" charset="-120"/>
                        </a:rPr>
                        <a:t>Reporting that can be trusted</a:t>
                      </a:r>
                      <a:endParaRPr lang="en-US" sz="1391" dirty="0">
                        <a:latin typeface="Arial" charset="0"/>
                        <a:ea typeface="Arial" charset="0"/>
                        <a:cs typeface="Arial" charset="0"/>
                      </a:endParaRPr>
                    </a:p>
                  </a:txBody>
                  <a:tcPr marL="61834" marR="61834" marT="61834" marB="61834">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645F57"/>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extLst>
                  <a:ext uri="{0D108BD9-81ED-4DB2-BD59-A6C34878D82A}">
                    <a16:rowId xmlns:a16="http://schemas.microsoft.com/office/drawing/2014/main" val="10001"/>
                  </a:ext>
                </a:extLst>
              </a:tr>
              <a:tr h="383461">
                <a:tc>
                  <a:txBody>
                    <a:bodyPr/>
                    <a:lstStyle/>
                    <a:p>
                      <a:pPr marL="0" indent="0">
                        <a:lnSpc>
                          <a:spcPts val="1948"/>
                        </a:lnSpc>
                        <a:buNone/>
                      </a:pPr>
                      <a:r>
                        <a:rPr lang="en-US" sz="1391" dirty="0">
                          <a:solidFill>
                            <a:srgbClr val="F7F3EA"/>
                          </a:solidFill>
                          <a:latin typeface="Arial" pitchFamily="34" charset="0"/>
                          <a:ea typeface="Arial" pitchFamily="34" charset="-122"/>
                          <a:cs typeface="Arial" pitchFamily="34" charset="-120"/>
                        </a:rPr>
                        <a:t>Confirm whether Djubo can be embedded in the site</a:t>
                      </a:r>
                      <a:endParaRPr lang="en-US" sz="1391" dirty="0">
                        <a:latin typeface="Arial" charset="0"/>
                        <a:ea typeface="Arial" charset="0"/>
                        <a:cs typeface="Arial" charset="0"/>
                      </a:endParaRPr>
                    </a:p>
                  </a:txBody>
                  <a:tcPr marL="61834" marR="61834" marT="61834" marB="61834">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948"/>
                        </a:lnSpc>
                        <a:buNone/>
                      </a:pPr>
                      <a:r>
                        <a:rPr lang="en-US" sz="1391" dirty="0">
                          <a:solidFill>
                            <a:srgbClr val="F7F3EA"/>
                          </a:solidFill>
                          <a:latin typeface="Arial" pitchFamily="34" charset="0"/>
                          <a:ea typeface="Arial" pitchFamily="34" charset="-122"/>
                          <a:cs typeface="Arial" pitchFamily="34" charset="-120"/>
                        </a:rPr>
                        <a:t>Client, with Djubo</a:t>
                      </a:r>
                      <a:endParaRPr lang="en-US" sz="1391" dirty="0">
                        <a:latin typeface="Arial" charset="0"/>
                        <a:ea typeface="Arial" charset="0"/>
                        <a:cs typeface="Arial" charset="0"/>
                      </a:endParaRPr>
                    </a:p>
                  </a:txBody>
                  <a:tcPr marL="61834" marR="61834" marT="61834" marB="61834">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948"/>
                        </a:lnSpc>
                        <a:buNone/>
                      </a:pPr>
                      <a:r>
                        <a:rPr lang="en-US" sz="1391" dirty="0">
                          <a:solidFill>
                            <a:srgbClr val="F7F3EA"/>
                          </a:solidFill>
                          <a:latin typeface="Arial" pitchFamily="34" charset="0"/>
                          <a:ea typeface="Arial" pitchFamily="34" charset="-122"/>
                          <a:cs typeface="Arial" pitchFamily="34" charset="-120"/>
                        </a:rPr>
                        <a:t>The purchase event</a:t>
                      </a:r>
                      <a:endParaRPr lang="en-US" sz="1391" dirty="0">
                        <a:latin typeface="Arial" charset="0"/>
                        <a:ea typeface="Arial" charset="0"/>
                        <a:cs typeface="Arial" charset="0"/>
                      </a:endParaRPr>
                    </a:p>
                  </a:txBody>
                  <a:tcPr marL="61834" marR="61834" marT="61834" marB="61834">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extLst>
                  <a:ext uri="{0D108BD9-81ED-4DB2-BD59-A6C34878D82A}">
                    <a16:rowId xmlns:a16="http://schemas.microsoft.com/office/drawing/2014/main" val="10002"/>
                  </a:ext>
                </a:extLst>
              </a:tr>
              <a:tr h="383461">
                <a:tc>
                  <a:txBody>
                    <a:bodyPr/>
                    <a:lstStyle/>
                    <a:p>
                      <a:pPr marL="0" indent="0">
                        <a:lnSpc>
                          <a:spcPts val="1948"/>
                        </a:lnSpc>
                        <a:buNone/>
                      </a:pPr>
                      <a:r>
                        <a:rPr lang="en-US" sz="1391" dirty="0">
                          <a:solidFill>
                            <a:srgbClr val="F7F3EA"/>
                          </a:solidFill>
                          <a:latin typeface="Arial" pitchFamily="34" charset="0"/>
                          <a:ea typeface="Arial" pitchFamily="34" charset="-122"/>
                          <a:cs typeface="Arial" pitchFamily="34" charset="-120"/>
                        </a:rPr>
                        <a:t>Fix the day-out page so it loads</a:t>
                      </a:r>
                      <a:endParaRPr lang="en-US" sz="1391" dirty="0">
                        <a:latin typeface="Arial" charset="0"/>
                        <a:ea typeface="Arial" charset="0"/>
                        <a:cs typeface="Arial" charset="0"/>
                      </a:endParaRPr>
                    </a:p>
                  </a:txBody>
                  <a:tcPr marL="61834" marR="61834" marT="61834" marB="61834">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948"/>
                        </a:lnSpc>
                        <a:buNone/>
                      </a:pPr>
                      <a:r>
                        <a:rPr lang="en-US" sz="1391" dirty="0">
                          <a:solidFill>
                            <a:srgbClr val="F7F3EA"/>
                          </a:solidFill>
                          <a:latin typeface="Arial" pitchFamily="34" charset="0"/>
                          <a:ea typeface="Arial" pitchFamily="34" charset="-122"/>
                          <a:cs typeface="Arial" pitchFamily="34" charset="-120"/>
                        </a:rPr>
                        <a:t>Client's web team</a:t>
                      </a:r>
                      <a:endParaRPr lang="en-US" sz="1391" dirty="0">
                        <a:latin typeface="Arial" charset="0"/>
                        <a:ea typeface="Arial" charset="0"/>
                        <a:cs typeface="Arial" charset="0"/>
                      </a:endParaRPr>
                    </a:p>
                  </a:txBody>
                  <a:tcPr marL="61834" marR="61834" marT="61834" marB="61834">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948"/>
                        </a:lnSpc>
                        <a:buNone/>
                      </a:pPr>
                      <a:r>
                        <a:rPr lang="en-US" sz="1391" dirty="0">
                          <a:solidFill>
                            <a:srgbClr val="F7F3EA"/>
                          </a:solidFill>
                          <a:latin typeface="Arial" pitchFamily="34" charset="0"/>
                          <a:ea typeface="Arial" pitchFamily="34" charset="-122"/>
                          <a:cs typeface="Arial" pitchFamily="34" charset="-120"/>
                        </a:rPr>
                        <a:t>Spend already running to a broken page</a:t>
                      </a:r>
                      <a:endParaRPr lang="en-US" sz="1391" dirty="0">
                        <a:latin typeface="Arial" charset="0"/>
                        <a:ea typeface="Arial" charset="0"/>
                        <a:cs typeface="Arial" charset="0"/>
                      </a:endParaRPr>
                    </a:p>
                  </a:txBody>
                  <a:tcPr marL="61834" marR="61834" marT="61834" marB="61834">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extLst>
                  <a:ext uri="{0D108BD9-81ED-4DB2-BD59-A6C34878D82A}">
                    <a16:rowId xmlns:a16="http://schemas.microsoft.com/office/drawing/2014/main" val="10003"/>
                  </a:ext>
                </a:extLst>
              </a:tr>
              <a:tr h="383461">
                <a:tc>
                  <a:txBody>
                    <a:bodyPr/>
                    <a:lstStyle/>
                    <a:p>
                      <a:pPr marL="0" indent="0">
                        <a:lnSpc>
                          <a:spcPts val="1948"/>
                        </a:lnSpc>
                        <a:buNone/>
                      </a:pPr>
                      <a:r>
                        <a:rPr lang="en-US" sz="1391" dirty="0">
                          <a:solidFill>
                            <a:srgbClr val="F7F3EA"/>
                          </a:solidFill>
                          <a:latin typeface="Arial" pitchFamily="34" charset="0"/>
                          <a:ea typeface="Arial" pitchFamily="34" charset="-122"/>
                          <a:cs typeface="Arial" pitchFamily="34" charset="-120"/>
                        </a:rPr>
                        <a:t>Split day-out and rooms onto separate URLs</a:t>
                      </a:r>
                      <a:endParaRPr lang="en-US" sz="1391" dirty="0">
                        <a:latin typeface="Arial" charset="0"/>
                        <a:ea typeface="Arial" charset="0"/>
                        <a:cs typeface="Arial" charset="0"/>
                      </a:endParaRPr>
                    </a:p>
                  </a:txBody>
                  <a:tcPr marL="61834" marR="61834" marT="61834" marB="61834">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948"/>
                        </a:lnSpc>
                        <a:buNone/>
                      </a:pPr>
                      <a:r>
                        <a:rPr lang="en-US" sz="1391" dirty="0">
                          <a:solidFill>
                            <a:srgbClr val="F7F3EA"/>
                          </a:solidFill>
                          <a:latin typeface="Arial" pitchFamily="34" charset="0"/>
                          <a:ea typeface="Arial" pitchFamily="34" charset="-122"/>
                          <a:cs typeface="Arial" pitchFamily="34" charset="-120"/>
                        </a:rPr>
                        <a:t>Client's web team</a:t>
                      </a:r>
                      <a:endParaRPr lang="en-US" sz="1391" dirty="0">
                        <a:latin typeface="Arial" charset="0"/>
                        <a:ea typeface="Arial" charset="0"/>
                        <a:cs typeface="Arial" charset="0"/>
                      </a:endParaRPr>
                    </a:p>
                  </a:txBody>
                  <a:tcPr marL="61834" marR="61834" marT="61834" marB="61834">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948"/>
                        </a:lnSpc>
                        <a:buNone/>
                      </a:pPr>
                      <a:r>
                        <a:rPr lang="en-US" sz="1391" dirty="0">
                          <a:solidFill>
                            <a:srgbClr val="F7F3EA"/>
                          </a:solidFill>
                          <a:latin typeface="Arial" pitchFamily="34" charset="0"/>
                          <a:ea typeface="Arial" pitchFamily="34" charset="-122"/>
                          <a:cs typeface="Arial" pitchFamily="34" charset="-120"/>
                        </a:rPr>
                        <a:t>Product-level measurement</a:t>
                      </a:r>
                      <a:endParaRPr lang="en-US" sz="1391" dirty="0">
                        <a:latin typeface="Arial" charset="0"/>
                        <a:ea typeface="Arial" charset="0"/>
                        <a:cs typeface="Arial" charset="0"/>
                      </a:endParaRPr>
                    </a:p>
                  </a:txBody>
                  <a:tcPr marL="61834" marR="61834" marT="61834" marB="61834">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extLst>
                  <a:ext uri="{0D108BD9-81ED-4DB2-BD59-A6C34878D82A}">
                    <a16:rowId xmlns:a16="http://schemas.microsoft.com/office/drawing/2014/main" val="10004"/>
                  </a:ext>
                </a:extLst>
              </a:tr>
              <a:tr h="383461">
                <a:tc>
                  <a:txBody>
                    <a:bodyPr/>
                    <a:lstStyle/>
                    <a:p>
                      <a:pPr marL="0" indent="0">
                        <a:lnSpc>
                          <a:spcPts val="1948"/>
                        </a:lnSpc>
                        <a:buNone/>
                      </a:pPr>
                      <a:r>
                        <a:rPr lang="en-US" sz="1391" dirty="0">
                          <a:solidFill>
                            <a:srgbClr val="F7F3EA"/>
                          </a:solidFill>
                          <a:latin typeface="Arial" pitchFamily="34" charset="0"/>
                          <a:ea typeface="Arial" pitchFamily="34" charset="-122"/>
                          <a:cs typeface="Arial" pitchFamily="34" charset="-120"/>
                        </a:rPr>
                        <a:t>Open a separate Meta ad account for Guhantara</a:t>
                      </a:r>
                      <a:endParaRPr lang="en-US" sz="1391" dirty="0">
                        <a:latin typeface="Arial" charset="0"/>
                        <a:ea typeface="Arial" charset="0"/>
                        <a:cs typeface="Arial" charset="0"/>
                      </a:endParaRPr>
                    </a:p>
                  </a:txBody>
                  <a:tcPr marL="61834" marR="61834" marT="61834" marB="61834">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948"/>
                        </a:lnSpc>
                        <a:buNone/>
                      </a:pPr>
                      <a:r>
                        <a:rPr lang="en-US" sz="1391" dirty="0">
                          <a:solidFill>
                            <a:srgbClr val="F7F3EA"/>
                          </a:solidFill>
                          <a:latin typeface="Arial" pitchFamily="34" charset="0"/>
                          <a:ea typeface="Arial" pitchFamily="34" charset="-122"/>
                          <a:cs typeface="Arial" pitchFamily="34" charset="-120"/>
                        </a:rPr>
                        <a:t>Client</a:t>
                      </a:r>
                      <a:endParaRPr lang="en-US" sz="1391" dirty="0">
                        <a:latin typeface="Arial" charset="0"/>
                        <a:ea typeface="Arial" charset="0"/>
                        <a:cs typeface="Arial" charset="0"/>
                      </a:endParaRPr>
                    </a:p>
                  </a:txBody>
                  <a:tcPr marL="61834" marR="61834" marT="61834" marB="61834">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948"/>
                        </a:lnSpc>
                        <a:buNone/>
                      </a:pPr>
                      <a:r>
                        <a:rPr lang="en-US" sz="1391" dirty="0">
                          <a:solidFill>
                            <a:srgbClr val="F7F3EA"/>
                          </a:solidFill>
                          <a:latin typeface="Arial" pitchFamily="34" charset="0"/>
                          <a:ea typeface="Arial" pitchFamily="34" charset="-122"/>
                          <a:cs typeface="Arial" pitchFamily="34" charset="-120"/>
                        </a:rPr>
                        <a:t>Clean learning for the algorithm</a:t>
                      </a:r>
                      <a:endParaRPr lang="en-US" sz="1391" dirty="0">
                        <a:latin typeface="Arial" charset="0"/>
                        <a:ea typeface="Arial" charset="0"/>
                        <a:cs typeface="Arial" charset="0"/>
                      </a:endParaRPr>
                    </a:p>
                  </a:txBody>
                  <a:tcPr marL="61834" marR="61834" marT="61834" marB="61834">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extLst>
                  <a:ext uri="{0D108BD9-81ED-4DB2-BD59-A6C34878D82A}">
                    <a16:rowId xmlns:a16="http://schemas.microsoft.com/office/drawing/2014/main" val="10005"/>
                  </a:ext>
                </a:extLst>
              </a:tr>
              <a:tr h="383461">
                <a:tc>
                  <a:txBody>
                    <a:bodyPr/>
                    <a:lstStyle/>
                    <a:p>
                      <a:pPr marL="0" indent="0">
                        <a:lnSpc>
                          <a:spcPts val="1948"/>
                        </a:lnSpc>
                        <a:buNone/>
                      </a:pPr>
                      <a:r>
                        <a:rPr lang="en-US" sz="1391" dirty="0">
                          <a:solidFill>
                            <a:srgbClr val="F7F3EA"/>
                          </a:solidFill>
                          <a:latin typeface="Arial" pitchFamily="34" charset="0"/>
                          <a:ea typeface="Arial" pitchFamily="34" charset="-122"/>
                          <a:cs typeface="Arial" pitchFamily="34" charset="-120"/>
                        </a:rPr>
                        <a:t>Audit and retire Google conversion actions</a:t>
                      </a:r>
                      <a:endParaRPr lang="en-US" sz="1391" dirty="0">
                        <a:latin typeface="Arial" charset="0"/>
                        <a:ea typeface="Arial" charset="0"/>
                        <a:cs typeface="Arial" charset="0"/>
                      </a:endParaRPr>
                    </a:p>
                  </a:txBody>
                  <a:tcPr marL="61834" marR="61834" marT="61834" marB="61834">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948"/>
                        </a:lnSpc>
                        <a:buNone/>
                      </a:pPr>
                      <a:r>
                        <a:rPr lang="en-US" sz="1391" dirty="0">
                          <a:solidFill>
                            <a:srgbClr val="F7F3EA"/>
                          </a:solidFill>
                          <a:latin typeface="Arial" pitchFamily="34" charset="0"/>
                          <a:ea typeface="Arial" pitchFamily="34" charset="-122"/>
                          <a:cs typeface="Arial" pitchFamily="34" charset="-120"/>
                        </a:rPr>
                        <a:t>Us, with account access</a:t>
                      </a:r>
                      <a:endParaRPr lang="en-US" sz="1391" dirty="0">
                        <a:latin typeface="Arial" charset="0"/>
                        <a:ea typeface="Arial" charset="0"/>
                        <a:cs typeface="Arial" charset="0"/>
                      </a:endParaRPr>
                    </a:p>
                  </a:txBody>
                  <a:tcPr marL="61834" marR="61834" marT="61834" marB="61834">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948"/>
                        </a:lnSpc>
                        <a:buNone/>
                      </a:pPr>
                      <a:r>
                        <a:rPr lang="en-US" sz="1391" dirty="0">
                          <a:solidFill>
                            <a:srgbClr val="F7F3EA"/>
                          </a:solidFill>
                          <a:latin typeface="Arial" pitchFamily="34" charset="0"/>
                          <a:ea typeface="Arial" pitchFamily="34" charset="-122"/>
                          <a:cs typeface="Arial" pitchFamily="34" charset="-120"/>
                        </a:rPr>
                        <a:t>Bidding toward real outcomes</a:t>
                      </a:r>
                      <a:endParaRPr lang="en-US" sz="1391" dirty="0">
                        <a:latin typeface="Arial" charset="0"/>
                        <a:ea typeface="Arial" charset="0"/>
                        <a:cs typeface="Arial" charset="0"/>
                      </a:endParaRPr>
                    </a:p>
                  </a:txBody>
                  <a:tcPr marL="61834" marR="61834" marT="61834" marB="61834">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extLst>
                  <a:ext uri="{0D108BD9-81ED-4DB2-BD59-A6C34878D82A}">
                    <a16:rowId xmlns:a16="http://schemas.microsoft.com/office/drawing/2014/main" val="10006"/>
                  </a:ext>
                </a:extLst>
              </a:tr>
              <a:tr h="383461">
                <a:tc>
                  <a:txBody>
                    <a:bodyPr/>
                    <a:lstStyle/>
                    <a:p>
                      <a:pPr marL="0" indent="0">
                        <a:lnSpc>
                          <a:spcPts val="1948"/>
                        </a:lnSpc>
                        <a:buNone/>
                      </a:pPr>
                      <a:r>
                        <a:rPr lang="en-US" sz="1391" dirty="0">
                          <a:solidFill>
                            <a:srgbClr val="F7F3EA"/>
                          </a:solidFill>
                          <a:latin typeface="Arial" pitchFamily="34" charset="0"/>
                          <a:ea typeface="Arial" pitchFamily="34" charset="-122"/>
                          <a:cs typeface="Arial" pitchFamily="34" charset="-120"/>
                        </a:rPr>
                        <a:t>Choose the CRM and name its owner</a:t>
                      </a:r>
                      <a:endParaRPr lang="en-US" sz="1391" dirty="0">
                        <a:latin typeface="Arial" charset="0"/>
                        <a:ea typeface="Arial" charset="0"/>
                        <a:cs typeface="Arial" charset="0"/>
                      </a:endParaRPr>
                    </a:p>
                  </a:txBody>
                  <a:tcPr marL="61834" marR="61834" marT="61834" marB="61834">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948"/>
                        </a:lnSpc>
                        <a:buNone/>
                      </a:pPr>
                      <a:r>
                        <a:rPr lang="en-US" sz="1391" dirty="0">
                          <a:solidFill>
                            <a:srgbClr val="F7F3EA"/>
                          </a:solidFill>
                          <a:latin typeface="Arial" pitchFamily="34" charset="0"/>
                          <a:ea typeface="Arial" pitchFamily="34" charset="-122"/>
                          <a:cs typeface="Arial" pitchFamily="34" charset="-120"/>
                        </a:rPr>
                        <a:t>Client</a:t>
                      </a:r>
                      <a:endParaRPr lang="en-US" sz="1391" dirty="0">
                        <a:latin typeface="Arial" charset="0"/>
                        <a:ea typeface="Arial" charset="0"/>
                        <a:cs typeface="Arial" charset="0"/>
                      </a:endParaRPr>
                    </a:p>
                  </a:txBody>
                  <a:tcPr marL="61834" marR="61834" marT="61834" marB="61834">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948"/>
                        </a:lnSpc>
                        <a:buNone/>
                      </a:pPr>
                      <a:r>
                        <a:rPr lang="en-US" sz="1391" dirty="0">
                          <a:solidFill>
                            <a:srgbClr val="F7F3EA"/>
                          </a:solidFill>
                          <a:latin typeface="Arial" pitchFamily="34" charset="0"/>
                          <a:ea typeface="Arial" pitchFamily="34" charset="-122"/>
                          <a:cs typeface="Arial" pitchFamily="34" charset="-120"/>
                        </a:rPr>
                        <a:t>Everything downstream</a:t>
                      </a:r>
                      <a:endParaRPr lang="en-US" sz="1391" dirty="0">
                        <a:latin typeface="Arial" charset="0"/>
                        <a:ea typeface="Arial" charset="0"/>
                        <a:cs typeface="Arial" charset="0"/>
                      </a:endParaRPr>
                    </a:p>
                  </a:txBody>
                  <a:tcPr marL="61834" marR="61834" marT="61834" marB="61834">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extLst>
                  <a:ext uri="{0D108BD9-81ED-4DB2-BD59-A6C34878D82A}">
                    <a16:rowId xmlns:a16="http://schemas.microsoft.com/office/drawing/2014/main" val="10007"/>
                  </a:ext>
                </a:extLst>
              </a:tr>
              <a:tr h="383540">
                <a:tc>
                  <a:txBody>
                    <a:bodyPr/>
                    <a:lstStyle/>
                    <a:p>
                      <a:pPr marL="0" indent="0">
                        <a:lnSpc>
                          <a:spcPts val="1948"/>
                        </a:lnSpc>
                        <a:buNone/>
                      </a:pPr>
                      <a:r>
                        <a:rPr lang="en-US" sz="1391" dirty="0">
                          <a:solidFill>
                            <a:srgbClr val="F7F3EA"/>
                          </a:solidFill>
                          <a:latin typeface="Arial" pitchFamily="34" charset="0"/>
                          <a:ea typeface="Arial" pitchFamily="34" charset="-122"/>
                          <a:cs typeface="Arial" pitchFamily="34" charset="-120"/>
                        </a:rPr>
                        <a:t>Turn off the zero-lead placements</a:t>
                      </a:r>
                      <a:endParaRPr lang="en-US" sz="1391" dirty="0">
                        <a:latin typeface="Arial" charset="0"/>
                        <a:ea typeface="Arial" charset="0"/>
                        <a:cs typeface="Arial" charset="0"/>
                      </a:endParaRPr>
                    </a:p>
                  </a:txBody>
                  <a:tcPr marL="61834" marR="61834" marT="61834" marB="61834">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948"/>
                        </a:lnSpc>
                        <a:buNone/>
                      </a:pPr>
                      <a:r>
                        <a:rPr lang="en-US" sz="1391" dirty="0">
                          <a:solidFill>
                            <a:srgbClr val="F7F3EA"/>
                          </a:solidFill>
                          <a:latin typeface="Arial" pitchFamily="34" charset="0"/>
                          <a:ea typeface="Arial" pitchFamily="34" charset="-122"/>
                          <a:cs typeface="Arial" pitchFamily="34" charset="-120"/>
                        </a:rPr>
                        <a:t>Us</a:t>
                      </a:r>
                      <a:endParaRPr lang="en-US" sz="1391" dirty="0">
                        <a:latin typeface="Arial" charset="0"/>
                        <a:ea typeface="Arial" charset="0"/>
                        <a:cs typeface="Arial" charset="0"/>
                      </a:endParaRPr>
                    </a:p>
                  </a:txBody>
                  <a:tcPr marL="61834" marR="61834" marT="61834" marB="61834">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948"/>
                        </a:lnSpc>
                        <a:buNone/>
                      </a:pPr>
                      <a:r>
                        <a:rPr lang="en-US" sz="1391" dirty="0">
                          <a:solidFill>
                            <a:srgbClr val="F7F3EA"/>
                          </a:solidFill>
                          <a:latin typeface="Arial" pitchFamily="34" charset="0"/>
                          <a:ea typeface="Arial" pitchFamily="34" charset="-122"/>
                          <a:cs typeface="Arial" pitchFamily="34" charset="-120"/>
                        </a:rPr>
                        <a:t>₹67,188 of proven waste</a:t>
                      </a:r>
                      <a:endParaRPr lang="en-US" sz="1391" dirty="0">
                        <a:latin typeface="Arial" charset="0"/>
                        <a:ea typeface="Arial" charset="0"/>
                        <a:cs typeface="Arial" charset="0"/>
                      </a:endParaRPr>
                    </a:p>
                  </a:txBody>
                  <a:tcPr marL="61834" marR="61834" marT="61834" marB="61834">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4" name="Text 1"/>
          <p:cNvSpPr/>
          <p:nvPr/>
        </p:nvSpPr>
        <p:spPr>
          <a:xfrm>
            <a:off x="812800" y="5310981"/>
            <a:ext cx="10333990" cy="556419"/>
          </a:xfrm>
          <a:prstGeom prst="rect">
            <a:avLst/>
          </a:prstGeom>
          <a:noFill/>
          <a:ln/>
        </p:spPr>
        <p:txBody>
          <a:bodyPr wrap="square" lIns="0" tIns="0" rIns="0" bIns="0" rtlCol="0" anchor="t">
            <a:normAutofit/>
          </a:bodyPr>
          <a:lstStyle/>
          <a:p>
            <a:pPr marL="0" indent="0" algn="l">
              <a:lnSpc>
                <a:spcPts val="2110"/>
              </a:lnSpc>
              <a:buNone/>
            </a:pPr>
            <a:r>
              <a:rPr lang="en-US" sz="1455" dirty="0">
                <a:solidFill>
                  <a:srgbClr val="A79C89"/>
                </a:solidFill>
                <a:latin typeface="Arial" pitchFamily="34" charset="0"/>
                <a:ea typeface="Arial" pitchFamily="34" charset="-122"/>
                <a:cs typeface="Arial" pitchFamily="34" charset="-120"/>
              </a:rPr>
              <a:t>None of these require new creative, a new agency retainer or a rebrand. They are the conditions under which the rest of the money starts working.</a:t>
            </a:r>
            <a:endParaRPr lang="en-US" sz="1455" dirty="0"/>
          </a:p>
        </p:txBody>
      </p:sp>
      <p:sp>
        <p:nvSpPr>
          <p:cNvPr id="5" name="Text 2"/>
          <p:cNvSpPr/>
          <p:nvPr/>
        </p:nvSpPr>
        <p:spPr>
          <a:xfrm>
            <a:off x="812800" y="6238255"/>
            <a:ext cx="691028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071"/>
                </a:solidFill>
                <a:latin typeface="Arial" pitchFamily="34" charset="0"/>
                <a:ea typeface="Arial" pitchFamily="34" charset="-122"/>
                <a:cs typeface="Arial" pitchFamily="34" charset="-120"/>
              </a:rPr>
              <a:t>Four of the eight sit with the client, which is why we are showing them now rather than after signing.</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4">
    <p:bg>
      <p:bgPr>
        <a:solidFill>
          <a:srgbClr val="17140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47491"/>
          </a:xfrm>
          <a:prstGeom prst="rect">
            <a:avLst/>
          </a:prstGeom>
          <a:noFill/>
          <a:ln/>
        </p:spPr>
        <p:txBody>
          <a:bodyPr wrap="square" lIns="0" tIns="0" rIns="0" bIns="0" rtlCol="0" anchor="t">
            <a:normAutofit/>
          </a:bodyPr>
          <a:lstStyle/>
          <a:p>
            <a:pPr marL="0" indent="0" algn="l">
              <a:lnSpc>
                <a:spcPts val="1774"/>
              </a:lnSpc>
              <a:buNone/>
            </a:pPr>
            <a:r>
              <a:rPr lang="en-US" sz="1268" kern="0" spc="200" dirty="0">
                <a:solidFill>
                  <a:srgbClr val="C9A63C"/>
                </a:solidFill>
                <a:latin typeface="Arial" pitchFamily="34" charset="0"/>
                <a:ea typeface="Arial" pitchFamily="34" charset="-122"/>
                <a:cs typeface="Arial" pitchFamily="34" charset="-120"/>
              </a:rPr>
              <a:t>SECTION FIVE</a:t>
            </a:r>
            <a:endParaRPr lang="en-US" sz="1268" dirty="0"/>
          </a:p>
        </p:txBody>
      </p:sp>
      <p:sp>
        <p:nvSpPr>
          <p:cNvPr id="3" name="Text 1"/>
          <p:cNvSpPr/>
          <p:nvPr/>
        </p:nvSpPr>
        <p:spPr>
          <a:xfrm>
            <a:off x="812800" y="1111101"/>
            <a:ext cx="10883392" cy="640397"/>
          </a:xfrm>
          <a:prstGeom prst="rect">
            <a:avLst/>
          </a:prstGeom>
          <a:noFill/>
          <a:ln/>
        </p:spPr>
        <p:txBody>
          <a:bodyPr wrap="square" lIns="0" tIns="0" rIns="0" bIns="0" rtlCol="0" anchor="t">
            <a:normAutofit/>
          </a:bodyPr>
          <a:lstStyle/>
          <a:p>
            <a:pPr marL="0" indent="0" algn="l">
              <a:lnSpc>
                <a:spcPts val="4867"/>
              </a:lnSpc>
              <a:buNone/>
            </a:pPr>
            <a:r>
              <a:rPr lang="en-US" sz="4635" dirty="0">
                <a:solidFill>
                  <a:srgbClr val="F7F3EA"/>
                </a:solidFill>
                <a:latin typeface="Georgia" pitchFamily="34" charset="0"/>
                <a:ea typeface="Georgia" pitchFamily="34" charset="-122"/>
                <a:cs typeface="Georgia" pitchFamily="34" charset="-120"/>
              </a:rPr>
              <a:t>Where ₹45.65 lakh has been landing</a:t>
            </a:r>
            <a:endParaRPr lang="en-US" sz="4635" dirty="0"/>
          </a:p>
        </p:txBody>
      </p:sp>
      <p:sp>
        <p:nvSpPr>
          <p:cNvPr id="4" name="Text 2"/>
          <p:cNvSpPr/>
          <p:nvPr/>
        </p:nvSpPr>
        <p:spPr>
          <a:xfrm>
            <a:off x="812800" y="2030884"/>
            <a:ext cx="10203180" cy="1053782"/>
          </a:xfrm>
          <a:prstGeom prst="rect">
            <a:avLst/>
          </a:prstGeom>
          <a:noFill/>
          <a:ln/>
        </p:spPr>
        <p:txBody>
          <a:bodyPr wrap="square" lIns="0" tIns="0" rIns="0" bIns="0" rtlCol="0" anchor="t">
            <a:normAutofit/>
          </a:bodyPr>
          <a:lstStyle/>
          <a:p>
            <a:pPr marL="0" indent="0" algn="l">
              <a:lnSpc>
                <a:spcPts val="2704"/>
              </a:lnSpc>
              <a:buNone/>
            </a:pPr>
            <a:r>
              <a:rPr lang="en-US" sz="1931" dirty="0">
                <a:solidFill>
                  <a:srgbClr val="A79C89"/>
                </a:solidFill>
                <a:latin typeface="Arial" pitchFamily="34" charset="0"/>
                <a:ea typeface="Arial" pitchFamily="34" charset="-122"/>
                <a:cs typeface="Arial" pitchFamily="34" charset="-120"/>
              </a:rPr>
              <a:t>Every rupee of media in this deck was spent driving people to one website. It is the least-examined asset in the whole operation and the reason two thirds of paid clicks never convert into a landing page view.</a:t>
            </a:r>
            <a:endParaRPr lang="en-US" sz="1931" dirty="0"/>
          </a:p>
        </p:txBody>
      </p:sp>
      <p:sp>
        <p:nvSpPr>
          <p:cNvPr id="5" name="Shape 3"/>
          <p:cNvSpPr/>
          <p:nvPr/>
        </p:nvSpPr>
        <p:spPr>
          <a:xfrm>
            <a:off x="815975" y="3367261"/>
            <a:ext cx="3397250" cy="1143714"/>
          </a:xfrm>
          <a:prstGeom prst="roundRect">
            <a:avLst>
              <a:gd name="adj" fmla="val 8606"/>
            </a:avLst>
          </a:prstGeom>
          <a:solidFill>
            <a:srgbClr val="221E18"/>
          </a:solidFill>
          <a:ln w="6350">
            <a:solidFill>
              <a:srgbClr val="3A342A"/>
            </a:solidFill>
            <a:prstDash val="solid"/>
          </a:ln>
        </p:spPr>
      </p:sp>
      <p:sp>
        <p:nvSpPr>
          <p:cNvPr id="6" name="Text 4"/>
          <p:cNvSpPr/>
          <p:nvPr/>
        </p:nvSpPr>
        <p:spPr>
          <a:xfrm>
            <a:off x="1046480" y="3597746"/>
            <a:ext cx="3024327" cy="275193"/>
          </a:xfrm>
          <a:prstGeom prst="rect">
            <a:avLst/>
          </a:prstGeom>
          <a:noFill/>
          <a:ln/>
        </p:spPr>
        <p:txBody>
          <a:bodyPr wrap="square" lIns="0" tIns="0" rIns="0" bIns="0" rtlCol="0" anchor="t">
            <a:normAutofit/>
          </a:bodyPr>
          <a:lstStyle/>
          <a:p>
            <a:pPr marL="0" indent="0" algn="l">
              <a:lnSpc>
                <a:spcPts val="1969"/>
              </a:lnSpc>
              <a:buNone/>
            </a:pPr>
            <a:r>
              <a:rPr lang="en-US" sz="1406" b="1" dirty="0">
                <a:solidFill>
                  <a:srgbClr val="B54A28"/>
                </a:solidFill>
                <a:latin typeface="Arial" pitchFamily="34" charset="0"/>
                <a:ea typeface="Arial" pitchFamily="34" charset="-122"/>
                <a:cs typeface="Arial" pitchFamily="34" charset="-120"/>
              </a:rPr>
              <a:t>Day-out page fails to load</a:t>
            </a:r>
            <a:endParaRPr lang="en-US" sz="1406" dirty="0"/>
          </a:p>
        </p:txBody>
      </p:sp>
      <p:sp>
        <p:nvSpPr>
          <p:cNvPr id="7" name="Text 5"/>
          <p:cNvSpPr/>
          <p:nvPr/>
        </p:nvSpPr>
        <p:spPr>
          <a:xfrm>
            <a:off x="1046480" y="3847554"/>
            <a:ext cx="3024327" cy="458311"/>
          </a:xfrm>
          <a:prstGeom prst="rect">
            <a:avLst/>
          </a:prstGeom>
          <a:noFill/>
          <a:ln/>
        </p:spPr>
        <p:txBody>
          <a:bodyPr wrap="square" lIns="0" tIns="0" rIns="0" bIns="0" rtlCol="0" anchor="t">
            <a:normAutofit/>
          </a:bodyPr>
          <a:lstStyle/>
          <a:p>
            <a:pPr marL="0" indent="0" algn="l">
              <a:lnSpc>
                <a:spcPts val="1712"/>
              </a:lnSpc>
              <a:buNone/>
            </a:pPr>
            <a:r>
              <a:rPr lang="en-US" sz="1223" dirty="0">
                <a:solidFill>
                  <a:srgbClr val="A79C89"/>
                </a:solidFill>
                <a:latin typeface="Arial" pitchFamily="34" charset="0"/>
                <a:ea typeface="Arial" pitchFamily="34" charset="-122"/>
                <a:cs typeface="Arial" pitchFamily="34" charset="-120"/>
              </a:rPr>
              <a:t>Too many requests, page times out — while ads run to it</a:t>
            </a:r>
            <a:endParaRPr lang="en-US" sz="1223" dirty="0"/>
          </a:p>
        </p:txBody>
      </p:sp>
      <p:sp>
        <p:nvSpPr>
          <p:cNvPr id="8" name="Shape 6"/>
          <p:cNvSpPr/>
          <p:nvPr/>
        </p:nvSpPr>
        <p:spPr>
          <a:xfrm>
            <a:off x="4397375" y="3367261"/>
            <a:ext cx="3397250" cy="1143714"/>
          </a:xfrm>
          <a:prstGeom prst="roundRect">
            <a:avLst>
              <a:gd name="adj" fmla="val 8606"/>
            </a:avLst>
          </a:prstGeom>
          <a:solidFill>
            <a:srgbClr val="221E18"/>
          </a:solidFill>
          <a:ln w="6350">
            <a:solidFill>
              <a:srgbClr val="3A342A"/>
            </a:solidFill>
            <a:prstDash val="solid"/>
          </a:ln>
        </p:spPr>
      </p:sp>
      <p:sp>
        <p:nvSpPr>
          <p:cNvPr id="9" name="Text 7"/>
          <p:cNvSpPr/>
          <p:nvPr/>
        </p:nvSpPr>
        <p:spPr>
          <a:xfrm>
            <a:off x="4627880" y="3597746"/>
            <a:ext cx="3024327"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B54A28"/>
                </a:solidFill>
                <a:latin typeface="Arial" pitchFamily="34" charset="0"/>
                <a:ea typeface="Arial" pitchFamily="34" charset="-122"/>
                <a:cs typeface="Arial" pitchFamily="34" charset="-120"/>
              </a:rPr>
              <a:t>One URL, two products</a:t>
            </a:r>
            <a:endParaRPr lang="en-US" sz="1500" dirty="0"/>
          </a:p>
        </p:txBody>
      </p:sp>
      <p:sp>
        <p:nvSpPr>
          <p:cNvPr id="10" name="Text 8"/>
          <p:cNvSpPr/>
          <p:nvPr/>
        </p:nvSpPr>
        <p:spPr>
          <a:xfrm>
            <a:off x="4627880" y="3864446"/>
            <a:ext cx="3024327"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A79C89"/>
                </a:solidFill>
                <a:latin typeface="Arial" pitchFamily="34" charset="0"/>
                <a:ea typeface="Arial" pitchFamily="34" charset="-122"/>
                <a:cs typeface="Arial" pitchFamily="34" charset="-120"/>
              </a:rPr>
              <a:t>Day-out and rooms share a destination</a:t>
            </a:r>
            <a:endParaRPr lang="en-US" sz="1300" dirty="0"/>
          </a:p>
        </p:txBody>
      </p:sp>
      <p:sp>
        <p:nvSpPr>
          <p:cNvPr id="11" name="Shape 9"/>
          <p:cNvSpPr/>
          <p:nvPr/>
        </p:nvSpPr>
        <p:spPr>
          <a:xfrm>
            <a:off x="7978775" y="3367261"/>
            <a:ext cx="3397250" cy="1143714"/>
          </a:xfrm>
          <a:prstGeom prst="roundRect">
            <a:avLst>
              <a:gd name="adj" fmla="val 8606"/>
            </a:avLst>
          </a:prstGeom>
          <a:solidFill>
            <a:srgbClr val="221E18"/>
          </a:solidFill>
          <a:ln w="6350">
            <a:solidFill>
              <a:srgbClr val="3A342A"/>
            </a:solidFill>
            <a:prstDash val="solid"/>
          </a:ln>
        </p:spPr>
      </p:sp>
      <p:sp>
        <p:nvSpPr>
          <p:cNvPr id="12" name="Text 10"/>
          <p:cNvSpPr/>
          <p:nvPr/>
        </p:nvSpPr>
        <p:spPr>
          <a:xfrm>
            <a:off x="8209280" y="3597746"/>
            <a:ext cx="3024327" cy="275193"/>
          </a:xfrm>
          <a:prstGeom prst="rect">
            <a:avLst/>
          </a:prstGeom>
          <a:noFill/>
          <a:ln/>
        </p:spPr>
        <p:txBody>
          <a:bodyPr wrap="square" lIns="0" tIns="0" rIns="0" bIns="0" rtlCol="0" anchor="t">
            <a:normAutofit/>
          </a:bodyPr>
          <a:lstStyle/>
          <a:p>
            <a:pPr marL="0" indent="0" algn="l">
              <a:lnSpc>
                <a:spcPts val="1969"/>
              </a:lnSpc>
              <a:buNone/>
            </a:pPr>
            <a:r>
              <a:rPr lang="en-US" sz="1406" b="1" dirty="0">
                <a:solidFill>
                  <a:srgbClr val="B54A28"/>
                </a:solidFill>
                <a:latin typeface="Arial" pitchFamily="34" charset="0"/>
                <a:ea typeface="Arial" pitchFamily="34" charset="-122"/>
                <a:cs typeface="Arial" pitchFamily="34" charset="-120"/>
              </a:rPr>
              <a:t>Logo treatment</a:t>
            </a:r>
            <a:endParaRPr lang="en-US" sz="1406" dirty="0"/>
          </a:p>
        </p:txBody>
      </p:sp>
      <p:sp>
        <p:nvSpPr>
          <p:cNvPr id="13" name="Text 11"/>
          <p:cNvSpPr/>
          <p:nvPr/>
        </p:nvSpPr>
        <p:spPr>
          <a:xfrm>
            <a:off x="8209280" y="3847554"/>
            <a:ext cx="3024327" cy="458311"/>
          </a:xfrm>
          <a:prstGeom prst="rect">
            <a:avLst/>
          </a:prstGeom>
          <a:noFill/>
          <a:ln/>
        </p:spPr>
        <p:txBody>
          <a:bodyPr wrap="square" lIns="0" tIns="0" rIns="0" bIns="0" rtlCol="0" anchor="t">
            <a:normAutofit/>
          </a:bodyPr>
          <a:lstStyle/>
          <a:p>
            <a:pPr marL="0" indent="0" algn="l">
              <a:lnSpc>
                <a:spcPts val="1712"/>
              </a:lnSpc>
              <a:buNone/>
            </a:pPr>
            <a:r>
              <a:rPr lang="en-US" sz="1223" dirty="0">
                <a:solidFill>
                  <a:srgbClr val="A79C89"/>
                </a:solidFill>
                <a:latin typeface="Arial" pitchFamily="34" charset="0"/>
                <a:ea typeface="Arial" pitchFamily="34" charset="-122"/>
                <a:cs typeface="Arial" pitchFamily="34" charset="-120"/>
              </a:rPr>
              <a:t>Cut out and pasted on; it does not read as the brand</a:t>
            </a:r>
            <a:endParaRPr lang="en-US" sz="1223" dirty="0"/>
          </a:p>
        </p:txBody>
      </p:sp>
      <p:sp>
        <p:nvSpPr>
          <p:cNvPr id="14" name="Shape 12"/>
          <p:cNvSpPr/>
          <p:nvPr/>
        </p:nvSpPr>
        <p:spPr>
          <a:xfrm>
            <a:off x="815975" y="4695106"/>
            <a:ext cx="3397250" cy="1143714"/>
          </a:xfrm>
          <a:prstGeom prst="roundRect">
            <a:avLst>
              <a:gd name="adj" fmla="val 8606"/>
            </a:avLst>
          </a:prstGeom>
          <a:solidFill>
            <a:srgbClr val="221E18"/>
          </a:solidFill>
          <a:ln w="6350">
            <a:solidFill>
              <a:srgbClr val="3A342A"/>
            </a:solidFill>
            <a:prstDash val="solid"/>
          </a:ln>
        </p:spPr>
      </p:sp>
      <p:sp>
        <p:nvSpPr>
          <p:cNvPr id="15" name="Text 13"/>
          <p:cNvSpPr/>
          <p:nvPr/>
        </p:nvSpPr>
        <p:spPr>
          <a:xfrm>
            <a:off x="1046480" y="4925616"/>
            <a:ext cx="3024327"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B54A28"/>
                </a:solidFill>
                <a:latin typeface="Arial" pitchFamily="34" charset="0"/>
                <a:ea typeface="Arial" pitchFamily="34" charset="-122"/>
                <a:cs typeface="Arial" pitchFamily="34" charset="-120"/>
              </a:rPr>
              <a:t>No premium feel</a:t>
            </a:r>
            <a:endParaRPr lang="en-US" sz="1500" dirty="0"/>
          </a:p>
        </p:txBody>
      </p:sp>
      <p:sp>
        <p:nvSpPr>
          <p:cNvPr id="16" name="Text 14"/>
          <p:cNvSpPr/>
          <p:nvPr/>
        </p:nvSpPr>
        <p:spPr>
          <a:xfrm>
            <a:off x="1046480" y="5192316"/>
            <a:ext cx="3024327"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A79C89"/>
                </a:solidFill>
                <a:latin typeface="Arial" pitchFamily="34" charset="0"/>
                <a:ea typeface="Arial" pitchFamily="34" charset="-122"/>
                <a:cs typeface="Arial" pitchFamily="34" charset="-120"/>
              </a:rPr>
              <a:t>Nothing signals India's only cave resort</a:t>
            </a:r>
            <a:endParaRPr lang="en-US" sz="1300" dirty="0"/>
          </a:p>
        </p:txBody>
      </p:sp>
      <p:sp>
        <p:nvSpPr>
          <p:cNvPr id="17" name="Shape 15"/>
          <p:cNvSpPr/>
          <p:nvPr/>
        </p:nvSpPr>
        <p:spPr>
          <a:xfrm>
            <a:off x="4397375" y="4695106"/>
            <a:ext cx="3397250" cy="1143714"/>
          </a:xfrm>
          <a:prstGeom prst="roundRect">
            <a:avLst>
              <a:gd name="adj" fmla="val 8606"/>
            </a:avLst>
          </a:prstGeom>
          <a:solidFill>
            <a:srgbClr val="221E18"/>
          </a:solidFill>
          <a:ln w="6350">
            <a:solidFill>
              <a:srgbClr val="3A342A"/>
            </a:solidFill>
            <a:prstDash val="solid"/>
          </a:ln>
        </p:spPr>
      </p:sp>
      <p:sp>
        <p:nvSpPr>
          <p:cNvPr id="18" name="Text 16"/>
          <p:cNvSpPr/>
          <p:nvPr/>
        </p:nvSpPr>
        <p:spPr>
          <a:xfrm>
            <a:off x="4627880" y="4925616"/>
            <a:ext cx="3024327" cy="275193"/>
          </a:xfrm>
          <a:prstGeom prst="rect">
            <a:avLst/>
          </a:prstGeom>
          <a:noFill/>
          <a:ln/>
        </p:spPr>
        <p:txBody>
          <a:bodyPr wrap="square" lIns="0" tIns="0" rIns="0" bIns="0" rtlCol="0" anchor="t">
            <a:normAutofit/>
          </a:bodyPr>
          <a:lstStyle/>
          <a:p>
            <a:pPr marL="0" indent="0" algn="l">
              <a:lnSpc>
                <a:spcPts val="1969"/>
              </a:lnSpc>
              <a:buNone/>
            </a:pPr>
            <a:r>
              <a:rPr lang="en-US" sz="1406" b="1" dirty="0">
                <a:solidFill>
                  <a:srgbClr val="B54A28"/>
                </a:solidFill>
                <a:latin typeface="Arial" pitchFamily="34" charset="0"/>
                <a:ea typeface="Arial" pitchFamily="34" charset="-122"/>
                <a:cs typeface="Arial" pitchFamily="34" charset="-120"/>
              </a:rPr>
              <a:t>Key details hidden</a:t>
            </a:r>
            <a:endParaRPr lang="en-US" sz="1406" dirty="0"/>
          </a:p>
        </p:txBody>
      </p:sp>
      <p:sp>
        <p:nvSpPr>
          <p:cNvPr id="19" name="Text 17"/>
          <p:cNvSpPr/>
          <p:nvPr/>
        </p:nvSpPr>
        <p:spPr>
          <a:xfrm>
            <a:off x="4627880" y="5175424"/>
            <a:ext cx="3024327" cy="458311"/>
          </a:xfrm>
          <a:prstGeom prst="rect">
            <a:avLst/>
          </a:prstGeom>
          <a:noFill/>
          <a:ln/>
        </p:spPr>
        <p:txBody>
          <a:bodyPr wrap="square" lIns="0" tIns="0" rIns="0" bIns="0" rtlCol="0" anchor="t">
            <a:normAutofit/>
          </a:bodyPr>
          <a:lstStyle/>
          <a:p>
            <a:pPr marL="0" indent="0" algn="l">
              <a:lnSpc>
                <a:spcPts val="1712"/>
              </a:lnSpc>
              <a:buNone/>
            </a:pPr>
            <a:r>
              <a:rPr lang="en-US" sz="1223" dirty="0">
                <a:solidFill>
                  <a:srgbClr val="A79C89"/>
                </a:solidFill>
                <a:latin typeface="Arial" pitchFamily="34" charset="0"/>
                <a:ea typeface="Arial" pitchFamily="34" charset="-122"/>
                <a:cs typeface="Arial" pitchFamily="34" charset="-120"/>
              </a:rPr>
              <a:t>Room types, rates and inclusions are hard to find</a:t>
            </a:r>
            <a:endParaRPr lang="en-US" sz="1223" dirty="0"/>
          </a:p>
        </p:txBody>
      </p:sp>
      <p:sp>
        <p:nvSpPr>
          <p:cNvPr id="20" name="Shape 18"/>
          <p:cNvSpPr/>
          <p:nvPr/>
        </p:nvSpPr>
        <p:spPr>
          <a:xfrm>
            <a:off x="7978775" y="4695106"/>
            <a:ext cx="3397250" cy="1143714"/>
          </a:xfrm>
          <a:prstGeom prst="roundRect">
            <a:avLst>
              <a:gd name="adj" fmla="val 8606"/>
            </a:avLst>
          </a:prstGeom>
          <a:solidFill>
            <a:srgbClr val="221E18"/>
          </a:solidFill>
          <a:ln w="6350">
            <a:solidFill>
              <a:srgbClr val="3A342A"/>
            </a:solidFill>
            <a:prstDash val="solid"/>
          </a:ln>
        </p:spPr>
      </p:sp>
      <p:sp>
        <p:nvSpPr>
          <p:cNvPr id="21" name="Text 19"/>
          <p:cNvSpPr/>
          <p:nvPr/>
        </p:nvSpPr>
        <p:spPr>
          <a:xfrm>
            <a:off x="8209280" y="4925616"/>
            <a:ext cx="3024327" cy="275193"/>
          </a:xfrm>
          <a:prstGeom prst="rect">
            <a:avLst/>
          </a:prstGeom>
          <a:noFill/>
          <a:ln/>
        </p:spPr>
        <p:txBody>
          <a:bodyPr wrap="square" lIns="0" tIns="0" rIns="0" bIns="0" rtlCol="0" anchor="t">
            <a:normAutofit/>
          </a:bodyPr>
          <a:lstStyle/>
          <a:p>
            <a:pPr marL="0" indent="0" algn="l">
              <a:lnSpc>
                <a:spcPts val="1969"/>
              </a:lnSpc>
              <a:buNone/>
            </a:pPr>
            <a:r>
              <a:rPr lang="en-US" sz="1406" b="1" dirty="0">
                <a:solidFill>
                  <a:srgbClr val="B54A28"/>
                </a:solidFill>
                <a:latin typeface="Arial" pitchFamily="34" charset="0"/>
                <a:ea typeface="Arial" pitchFamily="34" charset="-122"/>
                <a:cs typeface="Arial" pitchFamily="34" charset="-120"/>
              </a:rPr>
              <a:t>No landing page testing</a:t>
            </a:r>
            <a:endParaRPr lang="en-US" sz="1406" dirty="0"/>
          </a:p>
        </p:txBody>
      </p:sp>
      <p:sp>
        <p:nvSpPr>
          <p:cNvPr id="22" name="Text 20"/>
          <p:cNvSpPr/>
          <p:nvPr/>
        </p:nvSpPr>
        <p:spPr>
          <a:xfrm>
            <a:off x="8209280" y="5175424"/>
            <a:ext cx="3024327" cy="458311"/>
          </a:xfrm>
          <a:prstGeom prst="rect">
            <a:avLst/>
          </a:prstGeom>
          <a:noFill/>
          <a:ln/>
        </p:spPr>
        <p:txBody>
          <a:bodyPr wrap="square" lIns="0" tIns="0" rIns="0" bIns="0" rtlCol="0" anchor="t">
            <a:normAutofit/>
          </a:bodyPr>
          <a:lstStyle/>
          <a:p>
            <a:pPr marL="0" indent="0" algn="l">
              <a:lnSpc>
                <a:spcPts val="1712"/>
              </a:lnSpc>
              <a:buNone/>
            </a:pPr>
            <a:r>
              <a:rPr lang="en-US" sz="1223" dirty="0">
                <a:solidFill>
                  <a:srgbClr val="A79C89"/>
                </a:solidFill>
                <a:latin typeface="Arial" pitchFamily="34" charset="0"/>
                <a:ea typeface="Arial" pitchFamily="34" charset="-122"/>
                <a:cs typeface="Arial" pitchFamily="34" charset="-120"/>
              </a:rPr>
              <a:t>One page for every campaign, never varied</a:t>
            </a:r>
            <a:endParaRPr lang="en-US" sz="1223" dirty="0"/>
          </a:p>
        </p:txBody>
      </p:sp>
      <p:sp>
        <p:nvSpPr>
          <p:cNvPr id="23" name="Text 21"/>
          <p:cNvSpPr/>
          <p:nvPr/>
        </p:nvSpPr>
        <p:spPr>
          <a:xfrm>
            <a:off x="812800" y="6238255"/>
            <a:ext cx="3019177"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071"/>
                </a:solidFill>
                <a:latin typeface="Arial" pitchFamily="34" charset="0"/>
                <a:ea typeface="Arial" pitchFamily="34" charset="-122"/>
                <a:cs typeface="Arial" pitchFamily="34" charset="-120"/>
              </a:rPr>
              <a:t>Observed on the live site, September 2026.</a:t>
            </a:r>
            <a:endParaRPr lang="en-US" sz="1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5">
    <p:bg>
      <p:bgPr>
        <a:solidFill>
          <a:srgbClr val="B54A28"/>
        </a:solidFill>
        <a:effectLst/>
      </p:bgPr>
    </p:bg>
    <p:spTree>
      <p:nvGrpSpPr>
        <p:cNvPr id="1" name=""/>
        <p:cNvGrpSpPr/>
        <p:nvPr/>
      </p:nvGrpSpPr>
      <p:grpSpPr>
        <a:xfrm>
          <a:off x="0" y="0"/>
          <a:ext cx="0" cy="0"/>
          <a:chOff x="0" y="0"/>
          <a:chExt cx="0" cy="0"/>
        </a:xfrm>
      </p:grpSpPr>
      <p:sp>
        <p:nvSpPr>
          <p:cNvPr id="2" name="Text 0"/>
          <p:cNvSpPr/>
          <p:nvPr/>
        </p:nvSpPr>
        <p:spPr>
          <a:xfrm>
            <a:off x="812800" y="936947"/>
            <a:ext cx="10883392" cy="274320"/>
          </a:xfrm>
          <a:prstGeom prst="rect">
            <a:avLst/>
          </a:prstGeom>
          <a:noFill/>
          <a:ln/>
        </p:spPr>
        <p:txBody>
          <a:bodyPr wrap="square" lIns="0" tIns="0" rIns="0" bIns="0" rtlCol="0" anchor="t">
            <a:normAutofit/>
          </a:bodyPr>
          <a:lstStyle/>
          <a:p>
            <a:pPr marL="0" indent="0" algn="l">
              <a:lnSpc>
                <a:spcPts val="1960"/>
              </a:lnSpc>
              <a:buNone/>
            </a:pPr>
            <a:r>
              <a:rPr lang="en-US" sz="1400" kern="0" spc="200" dirty="0">
                <a:solidFill>
                  <a:srgbClr val="F7F3EA"/>
                </a:solidFill>
                <a:latin typeface="Arial" pitchFamily="34" charset="0"/>
                <a:ea typeface="Arial" pitchFamily="34" charset="-122"/>
                <a:cs typeface="Arial" pitchFamily="34" charset="-120"/>
              </a:rPr>
              <a:t>THE SINGLE MOST EXPENSIVE FAULT</a:t>
            </a:r>
            <a:endParaRPr lang="en-US" sz="1400" dirty="0"/>
          </a:p>
        </p:txBody>
      </p:sp>
      <p:sp>
        <p:nvSpPr>
          <p:cNvPr id="3" name="Text 1"/>
          <p:cNvSpPr/>
          <p:nvPr/>
        </p:nvSpPr>
        <p:spPr>
          <a:xfrm>
            <a:off x="812800" y="1465263"/>
            <a:ext cx="10595610" cy="1671320"/>
          </a:xfrm>
          <a:prstGeom prst="rect">
            <a:avLst/>
          </a:prstGeom>
          <a:noFill/>
          <a:ln/>
        </p:spPr>
        <p:txBody>
          <a:bodyPr wrap="square" lIns="0" tIns="0" rIns="0" bIns="0" rtlCol="0" anchor="t">
            <a:normAutofit/>
          </a:bodyPr>
          <a:lstStyle/>
          <a:p>
            <a:pPr marL="0" indent="0" algn="l">
              <a:lnSpc>
                <a:spcPts val="6480"/>
              </a:lnSpc>
              <a:buNone/>
            </a:pPr>
            <a:r>
              <a:rPr lang="en-US" sz="6000" dirty="0">
                <a:solidFill>
                  <a:srgbClr val="F7F3EA"/>
                </a:solidFill>
                <a:latin typeface="Georgia" pitchFamily="34" charset="0"/>
                <a:ea typeface="Georgia" pitchFamily="34" charset="-122"/>
                <a:cs typeface="Georgia" pitchFamily="34" charset="-120"/>
              </a:rPr>
              <a:t>Ads are running to a day-out page that does not load.</a:t>
            </a:r>
            <a:endParaRPr lang="en-US" sz="6000" dirty="0"/>
          </a:p>
        </p:txBody>
      </p:sp>
      <p:sp>
        <p:nvSpPr>
          <p:cNvPr id="4" name="Text 2"/>
          <p:cNvSpPr/>
          <p:nvPr/>
        </p:nvSpPr>
        <p:spPr>
          <a:xfrm>
            <a:off x="812800" y="3390578"/>
            <a:ext cx="10203180" cy="736600"/>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F7F3EA"/>
                </a:solidFill>
                <a:latin typeface="Arial" pitchFamily="34" charset="0"/>
                <a:ea typeface="Arial" pitchFamily="34" charset="-122"/>
                <a:cs typeface="Arial" pitchFamily="34" charset="-120"/>
              </a:rPr>
              <a:t>The page returns too many requests and times out. Meanwhile paid traffic is being bought and sent to it.</a:t>
            </a:r>
            <a:endParaRPr lang="en-US" sz="2000" dirty="0"/>
          </a:p>
        </p:txBody>
      </p:sp>
      <p:sp>
        <p:nvSpPr>
          <p:cNvPr id="5" name="Shape 3"/>
          <p:cNvSpPr/>
          <p:nvPr/>
        </p:nvSpPr>
        <p:spPr>
          <a:xfrm>
            <a:off x="812800" y="4381178"/>
            <a:ext cx="5181600" cy="1336675"/>
          </a:xfrm>
          <a:prstGeom prst="roundRect">
            <a:avLst>
              <a:gd name="adj" fmla="val 7601"/>
            </a:avLst>
          </a:prstGeom>
          <a:solidFill>
            <a:srgbClr val="17140F"/>
          </a:solidFill>
          <a:ln/>
        </p:spPr>
      </p:sp>
      <p:sp>
        <p:nvSpPr>
          <p:cNvPr id="6" name="Text 4"/>
          <p:cNvSpPr/>
          <p:nvPr/>
        </p:nvSpPr>
        <p:spPr>
          <a:xfrm>
            <a:off x="1066800" y="4635178"/>
            <a:ext cx="4813808" cy="854075"/>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F7F3EA"/>
                </a:solidFill>
                <a:latin typeface="Arial" pitchFamily="34" charset="0"/>
                <a:ea typeface="Arial" pitchFamily="34" charset="-122"/>
                <a:cs typeface="Arial" pitchFamily="34" charset="-120"/>
              </a:rPr>
              <a:t>This alone would depress the landing-page-view rate across the whole account. It is a strong candidate for a large share of the </a:t>
            </a:r>
            <a:r>
              <a:rPr lang="en-US" sz="1500" b="1" dirty="0">
                <a:solidFill>
                  <a:srgbClr val="F7F3EA"/>
                </a:solidFill>
                <a:latin typeface="Arial" pitchFamily="34" charset="0"/>
                <a:ea typeface="Arial" pitchFamily="34" charset="-122"/>
                <a:cs typeface="Arial" pitchFamily="34" charset="-120"/>
              </a:rPr>
              <a:t>66% of clicks that never arrive</a:t>
            </a:r>
            <a:r>
              <a:rPr lang="en-US" sz="1500" dirty="0">
                <a:solidFill>
                  <a:srgbClr val="F7F3EA"/>
                </a:solidFill>
                <a:latin typeface="Arial" pitchFamily="34" charset="0"/>
                <a:ea typeface="Arial" pitchFamily="34" charset="-122"/>
                <a:cs typeface="Arial" pitchFamily="34" charset="-120"/>
              </a:rPr>
              <a:t>.</a:t>
            </a:r>
            <a:endParaRPr lang="en-US" sz="1500" dirty="0"/>
          </a:p>
        </p:txBody>
      </p:sp>
      <p:sp>
        <p:nvSpPr>
          <p:cNvPr id="7" name="Shape 5"/>
          <p:cNvSpPr/>
          <p:nvPr/>
        </p:nvSpPr>
        <p:spPr>
          <a:xfrm>
            <a:off x="6197600" y="4381178"/>
            <a:ext cx="5181600" cy="1336675"/>
          </a:xfrm>
          <a:prstGeom prst="roundRect">
            <a:avLst>
              <a:gd name="adj" fmla="val 7601"/>
            </a:avLst>
          </a:prstGeom>
          <a:solidFill>
            <a:srgbClr val="17140F"/>
          </a:solidFill>
          <a:ln/>
        </p:spPr>
      </p:sp>
      <p:sp>
        <p:nvSpPr>
          <p:cNvPr id="8" name="Text 6"/>
          <p:cNvSpPr/>
          <p:nvPr/>
        </p:nvSpPr>
        <p:spPr>
          <a:xfrm>
            <a:off x="6451600" y="4635178"/>
            <a:ext cx="4813808" cy="854075"/>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F7F3EA"/>
                </a:solidFill>
                <a:latin typeface="Arial" pitchFamily="34" charset="0"/>
                <a:ea typeface="Arial" pitchFamily="34" charset="-122"/>
                <a:cs typeface="Arial" pitchFamily="34" charset="-120"/>
              </a:rPr>
              <a:t>Day-out is the </a:t>
            </a:r>
            <a:r>
              <a:rPr lang="en-US" sz="1500" b="1" dirty="0">
                <a:solidFill>
                  <a:srgbClr val="F7F3EA"/>
                </a:solidFill>
                <a:latin typeface="Arial" pitchFamily="34" charset="0"/>
                <a:ea typeface="Arial" pitchFamily="34" charset="-122"/>
                <a:cs typeface="Arial" pitchFamily="34" charset="-120"/>
              </a:rPr>
              <a:t>higher-volume product</a:t>
            </a:r>
            <a:r>
              <a:rPr lang="en-US" sz="1500" dirty="0">
                <a:solidFill>
                  <a:srgbClr val="F7F3EA"/>
                </a:solidFill>
                <a:latin typeface="Arial" pitchFamily="34" charset="0"/>
                <a:ea typeface="Arial" pitchFamily="34" charset="-122"/>
                <a:cs typeface="Arial" pitchFamily="34" charset="-120"/>
              </a:rPr>
              <a:t> and the one the aggregators dominate. It is exactly the traffic Guhantara most needs to own directly.</a:t>
            </a:r>
            <a:endParaRPr lang="en-US" sz="1500" dirty="0"/>
          </a:p>
        </p:txBody>
      </p:sp>
      <p:sp>
        <p:nvSpPr>
          <p:cNvPr id="9" name="Text 7"/>
          <p:cNvSpPr/>
          <p:nvPr/>
        </p:nvSpPr>
        <p:spPr>
          <a:xfrm>
            <a:off x="812800" y="6238255"/>
            <a:ext cx="376920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7D9CC"/>
                </a:solidFill>
                <a:latin typeface="Arial" pitchFamily="34" charset="0"/>
                <a:ea typeface="Arial" pitchFamily="34" charset="-122"/>
                <a:cs typeface="Arial" pitchFamily="34" charset="-120"/>
              </a:rPr>
              <a:t>Fix this before any other recommendation in this deck.</a:t>
            </a:r>
            <a:endParaRPr 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6">
    <p:bg>
      <p:bgPr>
        <a:solidFill>
          <a:srgbClr val="F7F3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533400"/>
          </a:xfrm>
          <a:prstGeom prst="rect">
            <a:avLst/>
          </a:prstGeom>
          <a:noFill/>
          <a:ln/>
        </p:spPr>
        <p:txBody>
          <a:bodyPr wrap="square" lIns="0" tIns="0" rIns="0" bIns="0" rtlCol="0" anchor="t">
            <a:normAutofit/>
          </a:bodyPr>
          <a:lstStyle/>
          <a:p>
            <a:pPr marL="0" indent="0" algn="l">
              <a:lnSpc>
                <a:spcPts val="4014"/>
              </a:lnSpc>
              <a:buNone/>
            </a:pPr>
            <a:r>
              <a:rPr lang="en-US" sz="3823" dirty="0">
                <a:solidFill>
                  <a:srgbClr val="17140F"/>
                </a:solidFill>
                <a:latin typeface="Georgia" pitchFamily="34" charset="0"/>
                <a:ea typeface="Georgia" pitchFamily="34" charset="-122"/>
                <a:cs typeface="Georgia" pitchFamily="34" charset="-120"/>
              </a:rPr>
              <a:t>Two products, two buyers, one destination</a:t>
            </a:r>
            <a:endParaRPr lang="en-US" sz="3823" dirty="0"/>
          </a:p>
        </p:txBody>
      </p:sp>
      <p:sp>
        <p:nvSpPr>
          <p:cNvPr id="3" name="Shape 1"/>
          <p:cNvSpPr/>
          <p:nvPr/>
        </p:nvSpPr>
        <p:spPr>
          <a:xfrm>
            <a:off x="815975" y="1603375"/>
            <a:ext cx="3383677" cy="1927939"/>
          </a:xfrm>
          <a:prstGeom prst="roundRect">
            <a:avLst>
              <a:gd name="adj" fmla="val 5105"/>
            </a:avLst>
          </a:prstGeom>
          <a:solidFill>
            <a:srgbClr val="FFFFFF"/>
          </a:solidFill>
          <a:ln w="6350">
            <a:solidFill>
              <a:srgbClr val="DDD5C5"/>
            </a:solidFill>
            <a:prstDash val="solid"/>
          </a:ln>
        </p:spPr>
      </p:sp>
      <p:sp>
        <p:nvSpPr>
          <p:cNvPr id="4" name="Text 2"/>
          <p:cNvSpPr/>
          <p:nvPr/>
        </p:nvSpPr>
        <p:spPr>
          <a:xfrm>
            <a:off x="1097280" y="1884685"/>
            <a:ext cx="2905699" cy="247174"/>
          </a:xfrm>
          <a:prstGeom prst="rect">
            <a:avLst/>
          </a:prstGeom>
          <a:noFill/>
          <a:ln/>
        </p:spPr>
        <p:txBody>
          <a:bodyPr wrap="square" lIns="0" tIns="0" rIns="0" bIns="0" rtlCol="0" anchor="t">
            <a:normAutofit/>
          </a:bodyPr>
          <a:lstStyle/>
          <a:p>
            <a:pPr marL="0" indent="0" algn="l">
              <a:lnSpc>
                <a:spcPts val="1768"/>
              </a:lnSpc>
              <a:buNone/>
            </a:pPr>
            <a:r>
              <a:rPr lang="en-US" sz="1474" b="1" dirty="0">
                <a:solidFill>
                  <a:srgbClr val="17140F"/>
                </a:solidFill>
                <a:latin typeface="Arial" pitchFamily="34" charset="0"/>
                <a:ea typeface="Arial" pitchFamily="34" charset="-122"/>
                <a:cs typeface="Arial" pitchFamily="34" charset="-120"/>
              </a:rPr>
              <a:t>The day-out buyer</a:t>
            </a:r>
            <a:endParaRPr lang="en-US" sz="1474" dirty="0"/>
          </a:p>
        </p:txBody>
      </p:sp>
      <p:sp>
        <p:nvSpPr>
          <p:cNvPr id="5" name="Text 3"/>
          <p:cNvSpPr/>
          <p:nvPr/>
        </p:nvSpPr>
        <p:spPr>
          <a:xfrm>
            <a:off x="1097280" y="2208064"/>
            <a:ext cx="2905699" cy="1067356"/>
          </a:xfrm>
          <a:prstGeom prst="rect">
            <a:avLst/>
          </a:prstGeom>
          <a:noFill/>
          <a:ln/>
        </p:spPr>
        <p:txBody>
          <a:bodyPr wrap="square" lIns="0" tIns="0" rIns="0" bIns="0" rtlCol="0" anchor="t">
            <a:normAutofit/>
          </a:bodyPr>
          <a:lstStyle/>
          <a:p>
            <a:pPr marL="0" indent="0" algn="l">
              <a:lnSpc>
                <a:spcPts val="1783"/>
              </a:lnSpc>
              <a:buNone/>
            </a:pPr>
            <a:r>
              <a:rPr lang="en-US" sz="1229" dirty="0">
                <a:solidFill>
                  <a:srgbClr val="5C5344"/>
                </a:solidFill>
                <a:latin typeface="Arial" pitchFamily="34" charset="0"/>
                <a:ea typeface="Arial" pitchFamily="34" charset="-122"/>
                <a:cs typeface="Arial" pitchFamily="34" charset="-120"/>
              </a:rPr>
              <a:t>A family or a group planning a Sunday. Wants price per head, timings, the activity list, how far it is, whether children are catered for. Decides in a day.</a:t>
            </a:r>
            <a:endParaRPr lang="en-US" sz="1229" dirty="0"/>
          </a:p>
        </p:txBody>
      </p:sp>
      <p:sp>
        <p:nvSpPr>
          <p:cNvPr id="6" name="Shape 4"/>
          <p:cNvSpPr/>
          <p:nvPr/>
        </p:nvSpPr>
        <p:spPr>
          <a:xfrm>
            <a:off x="4409202" y="1603375"/>
            <a:ext cx="3383756" cy="1927939"/>
          </a:xfrm>
          <a:prstGeom prst="roundRect">
            <a:avLst>
              <a:gd name="adj" fmla="val 5105"/>
            </a:avLst>
          </a:prstGeom>
          <a:solidFill>
            <a:srgbClr val="FFFFFF"/>
          </a:solidFill>
          <a:ln w="6350">
            <a:solidFill>
              <a:srgbClr val="DDD5C5"/>
            </a:solidFill>
            <a:prstDash val="solid"/>
          </a:ln>
        </p:spPr>
      </p:sp>
      <p:sp>
        <p:nvSpPr>
          <p:cNvPr id="7" name="Text 5"/>
          <p:cNvSpPr/>
          <p:nvPr/>
        </p:nvSpPr>
        <p:spPr>
          <a:xfrm>
            <a:off x="4690507" y="1884685"/>
            <a:ext cx="2905781" cy="247174"/>
          </a:xfrm>
          <a:prstGeom prst="rect">
            <a:avLst/>
          </a:prstGeom>
          <a:noFill/>
          <a:ln/>
        </p:spPr>
        <p:txBody>
          <a:bodyPr wrap="square" lIns="0" tIns="0" rIns="0" bIns="0" rtlCol="0" anchor="t">
            <a:normAutofit/>
          </a:bodyPr>
          <a:lstStyle/>
          <a:p>
            <a:pPr marL="0" indent="0" algn="l">
              <a:lnSpc>
                <a:spcPts val="1768"/>
              </a:lnSpc>
              <a:buNone/>
            </a:pPr>
            <a:r>
              <a:rPr lang="en-US" sz="1474" b="1" dirty="0">
                <a:solidFill>
                  <a:srgbClr val="17140F"/>
                </a:solidFill>
                <a:latin typeface="Arial" pitchFamily="34" charset="0"/>
                <a:ea typeface="Arial" pitchFamily="34" charset="-122"/>
                <a:cs typeface="Arial" pitchFamily="34" charset="-120"/>
              </a:rPr>
              <a:t>The stay buyer</a:t>
            </a:r>
            <a:endParaRPr lang="en-US" sz="1474" dirty="0"/>
          </a:p>
        </p:txBody>
      </p:sp>
      <p:sp>
        <p:nvSpPr>
          <p:cNvPr id="8" name="Text 6"/>
          <p:cNvSpPr/>
          <p:nvPr/>
        </p:nvSpPr>
        <p:spPr>
          <a:xfrm>
            <a:off x="4690507" y="2208064"/>
            <a:ext cx="2905781" cy="1067356"/>
          </a:xfrm>
          <a:prstGeom prst="rect">
            <a:avLst/>
          </a:prstGeom>
          <a:noFill/>
          <a:ln/>
        </p:spPr>
        <p:txBody>
          <a:bodyPr wrap="square" lIns="0" tIns="0" rIns="0" bIns="0" rtlCol="0" anchor="t">
            <a:normAutofit/>
          </a:bodyPr>
          <a:lstStyle/>
          <a:p>
            <a:pPr marL="0" indent="0" algn="l">
              <a:lnSpc>
                <a:spcPts val="1643"/>
              </a:lnSpc>
              <a:buNone/>
            </a:pPr>
            <a:r>
              <a:rPr lang="en-US" sz="1133" dirty="0">
                <a:solidFill>
                  <a:srgbClr val="5C5344"/>
                </a:solidFill>
                <a:latin typeface="Arial" pitchFamily="34" charset="0"/>
                <a:ea typeface="Arial" pitchFamily="34" charset="-122"/>
                <a:cs typeface="Arial" pitchFamily="34" charset="-120"/>
              </a:rPr>
              <a:t>A couple or a family booking a night underground. Wants room types, photographs of the interiors, rates, what is included, what the cave is actually like. Takes over a week.</a:t>
            </a:r>
            <a:endParaRPr lang="en-US" sz="1133" dirty="0"/>
          </a:p>
        </p:txBody>
      </p:sp>
      <p:sp>
        <p:nvSpPr>
          <p:cNvPr id="9" name="Shape 7"/>
          <p:cNvSpPr/>
          <p:nvPr/>
        </p:nvSpPr>
        <p:spPr>
          <a:xfrm>
            <a:off x="7999333" y="1600200"/>
            <a:ext cx="3379867" cy="1934289"/>
          </a:xfrm>
          <a:prstGeom prst="roundRect">
            <a:avLst>
              <a:gd name="adj" fmla="val 5253"/>
            </a:avLst>
          </a:prstGeom>
          <a:solidFill>
            <a:srgbClr val="B54A28"/>
          </a:solidFill>
          <a:ln/>
        </p:spPr>
      </p:sp>
      <p:sp>
        <p:nvSpPr>
          <p:cNvPr id="10" name="Text 8"/>
          <p:cNvSpPr/>
          <p:nvPr/>
        </p:nvSpPr>
        <p:spPr>
          <a:xfrm>
            <a:off x="8278733" y="1879600"/>
            <a:ext cx="2905699" cy="248920"/>
          </a:xfrm>
          <a:prstGeom prst="rect">
            <a:avLst/>
          </a:prstGeom>
          <a:noFill/>
          <a:ln/>
        </p:spPr>
        <p:txBody>
          <a:bodyPr wrap="square" lIns="0" tIns="0" rIns="0" bIns="0" rtlCol="0" anchor="t">
            <a:normAutofit/>
          </a:bodyPr>
          <a:lstStyle/>
          <a:p>
            <a:pPr marL="0" indent="0" algn="l">
              <a:lnSpc>
                <a:spcPts val="1768"/>
              </a:lnSpc>
              <a:buNone/>
            </a:pPr>
            <a:r>
              <a:rPr lang="en-US" sz="1474" b="1" dirty="0">
                <a:solidFill>
                  <a:srgbClr val="F7F3EA"/>
                </a:solidFill>
                <a:latin typeface="Arial" pitchFamily="34" charset="0"/>
                <a:ea typeface="Arial" pitchFamily="34" charset="-122"/>
                <a:cs typeface="Arial" pitchFamily="34" charset="-120"/>
              </a:rPr>
              <a:t>What both get</a:t>
            </a:r>
            <a:endParaRPr lang="en-US" sz="1474" dirty="0"/>
          </a:p>
        </p:txBody>
      </p:sp>
      <p:sp>
        <p:nvSpPr>
          <p:cNvPr id="11" name="Text 9"/>
          <p:cNvSpPr/>
          <p:nvPr/>
        </p:nvSpPr>
        <p:spPr>
          <a:xfrm>
            <a:off x="8278733" y="2204715"/>
            <a:ext cx="2905699" cy="1075769"/>
          </a:xfrm>
          <a:prstGeom prst="rect">
            <a:avLst/>
          </a:prstGeom>
          <a:noFill/>
          <a:ln/>
        </p:spPr>
        <p:txBody>
          <a:bodyPr wrap="square" lIns="0" tIns="0" rIns="0" bIns="0" rtlCol="0" anchor="t">
            <a:normAutofit/>
          </a:bodyPr>
          <a:lstStyle/>
          <a:p>
            <a:pPr marL="0" indent="0" algn="l">
              <a:lnSpc>
                <a:spcPts val="1789"/>
              </a:lnSpc>
              <a:buNone/>
            </a:pPr>
            <a:r>
              <a:rPr lang="en-US" sz="1234" dirty="0">
                <a:solidFill>
                  <a:srgbClr val="F7F3EA"/>
                </a:solidFill>
                <a:latin typeface="Arial" pitchFamily="34" charset="0"/>
                <a:ea typeface="Arial" pitchFamily="34" charset="-122"/>
                <a:cs typeface="Arial" pitchFamily="34" charset="-120"/>
              </a:rPr>
              <a:t>The same URL. The same promotional homepage. Neither finds what they came for quickly, and the ad's promise is broken within two seconds of the click.</a:t>
            </a:r>
            <a:endParaRPr lang="en-US" sz="1234" dirty="0"/>
          </a:p>
        </p:txBody>
      </p:sp>
      <p:sp>
        <p:nvSpPr>
          <p:cNvPr id="12" name="Text 10"/>
          <p:cNvSpPr/>
          <p:nvPr/>
        </p:nvSpPr>
        <p:spPr>
          <a:xfrm>
            <a:off x="812800" y="3813894"/>
            <a:ext cx="10333990" cy="838597"/>
          </a:xfrm>
          <a:prstGeom prst="rect">
            <a:avLst/>
          </a:prstGeom>
          <a:noFill/>
          <a:ln/>
        </p:spPr>
        <p:txBody>
          <a:bodyPr wrap="square" lIns="0" tIns="0" rIns="0" bIns="0" rtlCol="0" anchor="t">
            <a:normAutofit/>
          </a:bodyPr>
          <a:lstStyle/>
          <a:p>
            <a:pPr marL="0" indent="0" algn="l">
              <a:lnSpc>
                <a:spcPts val="2319"/>
              </a:lnSpc>
              <a:buNone/>
            </a:pPr>
            <a:r>
              <a:rPr lang="en-US" sz="1599" dirty="0">
                <a:solidFill>
                  <a:srgbClr val="5C5344"/>
                </a:solidFill>
                <a:latin typeface="Arial" pitchFamily="34" charset="0"/>
                <a:ea typeface="Arial" pitchFamily="34" charset="-122"/>
                <a:cs typeface="Arial" pitchFamily="34" charset="-120"/>
              </a:rPr>
              <a:t>Beyond the conversion loss, this makes product-level measurement impossible. There is no way to say whether day-out or stay advertising works, because both land in the same place and neither fires a distinct event.</a:t>
            </a:r>
            <a:endParaRPr lang="en-US" sz="1599" dirty="0"/>
          </a:p>
        </p:txBody>
      </p:sp>
      <p:sp>
        <p:nvSpPr>
          <p:cNvPr id="13" name="Shape 11"/>
          <p:cNvSpPr/>
          <p:nvPr/>
        </p:nvSpPr>
        <p:spPr>
          <a:xfrm>
            <a:off x="812800" y="4906491"/>
            <a:ext cx="10566400" cy="935514"/>
          </a:xfrm>
          <a:prstGeom prst="roundRect">
            <a:avLst>
              <a:gd name="adj" fmla="val 10860"/>
            </a:avLst>
          </a:prstGeom>
          <a:solidFill>
            <a:srgbClr val="E8E1D3"/>
          </a:solidFill>
          <a:ln/>
        </p:spPr>
      </p:sp>
      <p:sp>
        <p:nvSpPr>
          <p:cNvPr id="14" name="Text 12"/>
          <p:cNvSpPr/>
          <p:nvPr/>
        </p:nvSpPr>
        <p:spPr>
          <a:xfrm>
            <a:off x="1041400" y="5135091"/>
            <a:ext cx="10203180" cy="503714"/>
          </a:xfrm>
          <a:prstGeom prst="rect">
            <a:avLst/>
          </a:prstGeom>
          <a:noFill/>
          <a:ln/>
        </p:spPr>
        <p:txBody>
          <a:bodyPr wrap="square" lIns="0" tIns="0" rIns="0" bIns="0" rtlCol="0" anchor="t">
            <a:normAutofit/>
          </a:bodyPr>
          <a:lstStyle/>
          <a:p>
            <a:pPr marL="0" indent="0" algn="l">
              <a:lnSpc>
                <a:spcPts val="1883"/>
              </a:lnSpc>
              <a:buNone/>
            </a:pPr>
            <a:r>
              <a:rPr lang="en-US" sz="1298" b="1" dirty="0">
                <a:solidFill>
                  <a:srgbClr val="17140F"/>
                </a:solidFill>
                <a:latin typeface="Arial" pitchFamily="34" charset="0"/>
                <a:ea typeface="Arial" pitchFamily="34" charset="-122"/>
                <a:cs typeface="Arial" pitchFamily="34" charset="-120"/>
              </a:rPr>
              <a:t>Four pages are needed, not one:</a:t>
            </a:r>
            <a:r>
              <a:rPr lang="en-US" sz="1298" dirty="0">
                <a:solidFill>
                  <a:srgbClr val="17140F"/>
                </a:solidFill>
                <a:latin typeface="Arial" pitchFamily="34" charset="0"/>
                <a:ea typeface="Arial" pitchFamily="34" charset="-122"/>
                <a:cs typeface="Arial" pitchFamily="34" charset="-120"/>
              </a:rPr>
              <a:t> day-out, stay, corporate offsite, weddings and events. Each with its own URL, its own event, its own ad set.</a:t>
            </a:r>
            <a:endParaRPr lang="en-US" sz="1298" dirty="0"/>
          </a:p>
        </p:txBody>
      </p:sp>
      <p:sp>
        <p:nvSpPr>
          <p:cNvPr id="15" name="Text 13"/>
          <p:cNvSpPr/>
          <p:nvPr/>
        </p:nvSpPr>
        <p:spPr>
          <a:xfrm>
            <a:off x="812800" y="6238255"/>
            <a:ext cx="935716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071"/>
                </a:solidFill>
                <a:latin typeface="Arial" pitchFamily="34" charset="0"/>
                <a:ea typeface="Arial" pitchFamily="34" charset="-122"/>
                <a:cs typeface="Arial" pitchFamily="34" charset="-120"/>
              </a:rPr>
              <a:t>Indian travellers touch an average of 7 touchpoints before booking, and 44% take more than a week. Source: Think with Google APAC.</a:t>
            </a:r>
            <a:endParaRPr lang="en-US" sz="1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7">
    <p:bg>
      <p:bgPr>
        <a:solidFill>
          <a:srgbClr val="F7F3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601980"/>
          </a:xfrm>
          <a:prstGeom prst="rect">
            <a:avLst/>
          </a:prstGeom>
          <a:noFill/>
          <a:ln/>
        </p:spPr>
        <p:txBody>
          <a:bodyPr wrap="square" lIns="0" tIns="0" rIns="0" bIns="0" rtlCol="0" anchor="t">
            <a:normAutofit/>
          </a:bodyPr>
          <a:lstStyle/>
          <a:p>
            <a:pPr marL="0" indent="0" algn="l">
              <a:lnSpc>
                <a:spcPts val="4562"/>
              </a:lnSpc>
              <a:buNone/>
            </a:pPr>
            <a:r>
              <a:rPr lang="en-US" sz="4345" dirty="0">
                <a:solidFill>
                  <a:srgbClr val="17140F"/>
                </a:solidFill>
                <a:latin typeface="Georgia" pitchFamily="34" charset="0"/>
                <a:ea typeface="Georgia" pitchFamily="34" charset="-122"/>
                <a:cs typeface="Georgia" pitchFamily="34" charset="-120"/>
              </a:rPr>
              <a:t>The logo is on the page, not part of it</a:t>
            </a:r>
            <a:endParaRPr lang="en-US" sz="4345" dirty="0"/>
          </a:p>
        </p:txBody>
      </p:sp>
      <p:sp>
        <p:nvSpPr>
          <p:cNvPr id="3" name="Shape 1"/>
          <p:cNvSpPr/>
          <p:nvPr/>
        </p:nvSpPr>
        <p:spPr>
          <a:xfrm>
            <a:off x="815975" y="1671960"/>
            <a:ext cx="4692650" cy="3308429"/>
          </a:xfrm>
          <a:prstGeom prst="roundRect">
            <a:avLst>
              <a:gd name="adj" fmla="val 2975"/>
            </a:avLst>
          </a:prstGeom>
          <a:solidFill>
            <a:srgbClr val="FFFFFF"/>
          </a:solidFill>
          <a:ln w="6350">
            <a:solidFill>
              <a:srgbClr val="DDD5C5"/>
            </a:solidFill>
            <a:prstDash val="solid"/>
          </a:ln>
        </p:spPr>
      </p:sp>
      <p:sp>
        <p:nvSpPr>
          <p:cNvPr id="4" name="Text 2"/>
          <p:cNvSpPr/>
          <p:nvPr/>
        </p:nvSpPr>
        <p:spPr>
          <a:xfrm>
            <a:off x="1122680" y="1978670"/>
            <a:ext cx="4201617"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54A28"/>
                </a:solidFill>
                <a:latin typeface="Arial" pitchFamily="34" charset="0"/>
                <a:ea typeface="Arial" pitchFamily="34" charset="-122"/>
                <a:cs typeface="Arial" pitchFamily="34" charset="-120"/>
              </a:rPr>
              <a:t>What it looks like today</a:t>
            </a:r>
            <a:endParaRPr lang="en-US" sz="1800" dirty="0"/>
          </a:p>
        </p:txBody>
      </p:sp>
      <p:sp>
        <p:nvSpPr>
          <p:cNvPr id="5" name="Text 3"/>
          <p:cNvSpPr/>
          <p:nvPr/>
        </p:nvSpPr>
        <p:spPr>
          <a:xfrm>
            <a:off x="1122680" y="2379985"/>
            <a:ext cx="4201617" cy="1797050"/>
          </a:xfrm>
          <a:prstGeom prst="rect">
            <a:avLst/>
          </a:prstGeom>
          <a:noFill/>
          <a:ln/>
        </p:spPr>
        <p:txBody>
          <a:bodyPr wrap="square" lIns="0" tIns="0" rIns="0" bIns="0" rtlCol="0" anchor="t">
            <a:normAutofit/>
          </a:bodyPr>
          <a:lstStyle/>
          <a:p>
            <a:pPr marL="228600" indent="-170180" algn="l">
              <a:lnSpc>
                <a:spcPts val="2325"/>
              </a:lnSpc>
              <a:buSzPct val="100000"/>
              <a:buChar char="•"/>
            </a:pPr>
            <a:r>
              <a:rPr lang="en-US" sz="1500" dirty="0">
                <a:solidFill>
                  <a:srgbClr val="5C5344"/>
                </a:solidFill>
                <a:latin typeface="Arial" pitchFamily="34" charset="0"/>
                <a:ea typeface="Arial" pitchFamily="34" charset="-122"/>
                <a:cs typeface="Arial" pitchFamily="34" charset="-120"/>
              </a:rPr>
              <a:t>Cut out and dropped onto the header</a:t>
            </a:r>
            <a:endParaRPr lang="en-US" sz="1500" dirty="0"/>
          </a:p>
          <a:p>
            <a:pPr marL="228600" indent="-170180" algn="l">
              <a:lnSpc>
                <a:spcPts val="2325"/>
              </a:lnSpc>
              <a:buSzPct val="100000"/>
              <a:buChar char="•"/>
            </a:pPr>
            <a:r>
              <a:rPr lang="en-US" sz="1500" dirty="0">
                <a:solidFill>
                  <a:srgbClr val="5C5344"/>
                </a:solidFill>
                <a:latin typeface="Arial" pitchFamily="34" charset="0"/>
                <a:ea typeface="Arial" pitchFamily="34" charset="-122"/>
                <a:cs typeface="Arial" pitchFamily="34" charset="-120"/>
              </a:rPr>
              <a:t>No clear space, no consistent size</a:t>
            </a:r>
            <a:endParaRPr lang="en-US" sz="1500" dirty="0"/>
          </a:p>
          <a:p>
            <a:pPr marL="228600" indent="-170180" algn="l">
              <a:lnSpc>
                <a:spcPts val="2325"/>
              </a:lnSpc>
              <a:buSzPct val="100000"/>
              <a:buChar char="•"/>
            </a:pPr>
            <a:r>
              <a:rPr lang="en-US" sz="1500" dirty="0">
                <a:solidFill>
                  <a:srgbClr val="5C5344"/>
                </a:solidFill>
                <a:latin typeface="Arial" pitchFamily="34" charset="0"/>
                <a:ea typeface="Arial" pitchFamily="34" charset="-122"/>
                <a:cs typeface="Arial" pitchFamily="34" charset="-120"/>
              </a:rPr>
              <a:t>Sits over imagery it was not made for</a:t>
            </a:r>
            <a:endParaRPr lang="en-US" sz="1500" dirty="0"/>
          </a:p>
          <a:p>
            <a:pPr marL="228600" indent="-170180" algn="l">
              <a:lnSpc>
                <a:spcPts val="2325"/>
              </a:lnSpc>
              <a:buSzPct val="100000"/>
              <a:buChar char="•"/>
            </a:pPr>
            <a:r>
              <a:rPr lang="en-US" sz="1500" dirty="0">
                <a:solidFill>
                  <a:srgbClr val="5C5344"/>
                </a:solidFill>
                <a:latin typeface="Arial" pitchFamily="34" charset="0"/>
                <a:ea typeface="Arial" pitchFamily="34" charset="-122"/>
                <a:cs typeface="Arial" pitchFamily="34" charset="-120"/>
              </a:rPr>
              <a:t>Reads as a placeholder, not an identity</a:t>
            </a:r>
            <a:endParaRPr lang="en-US" sz="1500" dirty="0"/>
          </a:p>
          <a:p>
            <a:pPr marL="228600" indent="-170180" algn="l">
              <a:lnSpc>
                <a:spcPts val="2325"/>
              </a:lnSpc>
              <a:buSzPct val="100000"/>
              <a:buChar char="•"/>
            </a:pPr>
            <a:r>
              <a:rPr lang="en-US" sz="1500" dirty="0">
                <a:solidFill>
                  <a:srgbClr val="5C5344"/>
                </a:solidFill>
                <a:latin typeface="Arial" pitchFamily="34" charset="0"/>
                <a:ea typeface="Arial" pitchFamily="34" charset="-122"/>
                <a:cs typeface="Arial" pitchFamily="34" charset="-120"/>
              </a:rPr>
              <a:t>Nothing about it says cave, or South India, or premium</a:t>
            </a:r>
            <a:endParaRPr lang="en-US" sz="1500" dirty="0"/>
          </a:p>
        </p:txBody>
      </p:sp>
      <p:sp>
        <p:nvSpPr>
          <p:cNvPr id="6" name="Shape 4"/>
          <p:cNvSpPr/>
          <p:nvPr/>
        </p:nvSpPr>
        <p:spPr>
          <a:xfrm>
            <a:off x="5765800" y="1668785"/>
            <a:ext cx="5613400" cy="3314779"/>
          </a:xfrm>
          <a:prstGeom prst="roundRect">
            <a:avLst>
              <a:gd name="adj" fmla="val 3065"/>
            </a:avLst>
          </a:prstGeom>
          <a:solidFill>
            <a:srgbClr val="17140F"/>
          </a:solidFill>
          <a:ln/>
        </p:spPr>
      </p:sp>
      <p:sp>
        <p:nvSpPr>
          <p:cNvPr id="7" name="Text 5"/>
          <p:cNvSpPr/>
          <p:nvPr/>
        </p:nvSpPr>
        <p:spPr>
          <a:xfrm>
            <a:off x="6070600" y="1973585"/>
            <a:ext cx="5153914" cy="293688"/>
          </a:xfrm>
          <a:prstGeom prst="rect">
            <a:avLst/>
          </a:prstGeom>
          <a:noFill/>
          <a:ln/>
        </p:spPr>
        <p:txBody>
          <a:bodyPr wrap="square" lIns="0" tIns="0" rIns="0" bIns="0" rtlCol="0" anchor="t">
            <a:normAutofit/>
          </a:bodyPr>
          <a:lstStyle/>
          <a:p>
            <a:pPr marL="0" indent="0" algn="l">
              <a:lnSpc>
                <a:spcPts val="2119"/>
              </a:lnSpc>
              <a:buNone/>
            </a:pPr>
            <a:r>
              <a:rPr lang="en-US" sz="1766" b="1" dirty="0">
                <a:solidFill>
                  <a:srgbClr val="C9A63C"/>
                </a:solidFill>
                <a:latin typeface="Arial" pitchFamily="34" charset="0"/>
                <a:ea typeface="Arial" pitchFamily="34" charset="-122"/>
                <a:cs typeface="Arial" pitchFamily="34" charset="-120"/>
              </a:rPr>
              <a:t>What a brand mark has to do here</a:t>
            </a:r>
            <a:endParaRPr lang="en-US" sz="1766" dirty="0"/>
          </a:p>
        </p:txBody>
      </p:sp>
      <p:sp>
        <p:nvSpPr>
          <p:cNvPr id="8" name="Text 6"/>
          <p:cNvSpPr/>
          <p:nvPr/>
        </p:nvSpPr>
        <p:spPr>
          <a:xfrm>
            <a:off x="6070600" y="2368872"/>
            <a:ext cx="5153914" cy="2335292"/>
          </a:xfrm>
          <a:prstGeom prst="rect">
            <a:avLst/>
          </a:prstGeom>
          <a:noFill/>
          <a:ln/>
        </p:spPr>
        <p:txBody>
          <a:bodyPr wrap="square" lIns="0" tIns="0" rIns="0" bIns="0" rtlCol="0" anchor="t">
            <a:normAutofit/>
          </a:bodyPr>
          <a:lstStyle/>
          <a:p>
            <a:pPr marL="223599" indent="-169930" algn="l">
              <a:lnSpc>
                <a:spcPts val="2274"/>
              </a:lnSpc>
              <a:buSzPct val="100000"/>
              <a:buChar char="•"/>
            </a:pPr>
            <a:r>
              <a:rPr lang="en-US" sz="1467" dirty="0">
                <a:solidFill>
                  <a:srgbClr val="A79C89"/>
                </a:solidFill>
                <a:latin typeface="Arial" pitchFamily="34" charset="0"/>
                <a:ea typeface="Arial" pitchFamily="34" charset="-122"/>
                <a:cs typeface="Arial" pitchFamily="34" charset="-120"/>
              </a:rPr>
              <a:t>Survive at 40px on a phone and at 4 metres on a banquet banner</a:t>
            </a:r>
            <a:endParaRPr lang="en-US" sz="1467" dirty="0"/>
          </a:p>
          <a:p>
            <a:pPr marL="223599" indent="-169930" algn="l">
              <a:lnSpc>
                <a:spcPts val="2274"/>
              </a:lnSpc>
              <a:buSzPct val="100000"/>
              <a:buChar char="•"/>
            </a:pPr>
            <a:r>
              <a:rPr lang="en-US" sz="1467" dirty="0">
                <a:solidFill>
                  <a:srgbClr val="A79C89"/>
                </a:solidFill>
                <a:latin typeface="Arial" pitchFamily="34" charset="0"/>
                <a:ea typeface="Arial" pitchFamily="34" charset="-122"/>
                <a:cs typeface="Arial" pitchFamily="34" charset="-120"/>
              </a:rPr>
              <a:t>Work in gold on dark stone and in single colour on a bill</a:t>
            </a:r>
            <a:endParaRPr lang="en-US" sz="1467" dirty="0"/>
          </a:p>
          <a:p>
            <a:pPr marL="223599" indent="-169930" algn="l">
              <a:lnSpc>
                <a:spcPts val="2274"/>
              </a:lnSpc>
              <a:buSzPct val="100000"/>
              <a:buChar char="•"/>
            </a:pPr>
            <a:r>
              <a:rPr lang="en-US" sz="1467" dirty="0">
                <a:solidFill>
                  <a:srgbClr val="A79C89"/>
                </a:solidFill>
                <a:latin typeface="Arial" pitchFamily="34" charset="0"/>
                <a:ea typeface="Arial" pitchFamily="34" charset="-122"/>
                <a:cs typeface="Arial" pitchFamily="34" charset="-120"/>
              </a:rPr>
              <a:t>Carry the one idea no competitor can copy: it is underground</a:t>
            </a:r>
            <a:endParaRPr lang="en-US" sz="1467" dirty="0"/>
          </a:p>
          <a:p>
            <a:pPr marL="223599" indent="-169930" algn="l">
              <a:lnSpc>
                <a:spcPts val="2274"/>
              </a:lnSpc>
              <a:buSzPct val="100000"/>
              <a:buChar char="•"/>
            </a:pPr>
            <a:r>
              <a:rPr lang="en-US" sz="1467" dirty="0">
                <a:solidFill>
                  <a:srgbClr val="A79C89"/>
                </a:solidFill>
                <a:latin typeface="Arial" pitchFamily="34" charset="0"/>
                <a:ea typeface="Arial" pitchFamily="34" charset="-122"/>
                <a:cs typeface="Arial" pitchFamily="34" charset="-120"/>
              </a:rPr>
              <a:t>Anchor a system — lockups, clear space, secondary marks for Sambhojana, Rangamandapa, Agastya Kuteera</a:t>
            </a:r>
            <a:endParaRPr lang="en-US" sz="1467" dirty="0"/>
          </a:p>
        </p:txBody>
      </p:sp>
      <p:sp>
        <p:nvSpPr>
          <p:cNvPr id="9" name="Text 7"/>
          <p:cNvSpPr/>
          <p:nvPr/>
        </p:nvSpPr>
        <p:spPr>
          <a:xfrm>
            <a:off x="812800" y="5262959"/>
            <a:ext cx="10333990" cy="604441"/>
          </a:xfrm>
          <a:prstGeom prst="rect">
            <a:avLst/>
          </a:prstGeom>
          <a:noFill/>
          <a:ln/>
        </p:spPr>
        <p:txBody>
          <a:bodyPr wrap="square" lIns="0" tIns="0" rIns="0" bIns="0" rtlCol="0" anchor="t">
            <a:normAutofit/>
          </a:bodyPr>
          <a:lstStyle/>
          <a:p>
            <a:pPr marL="0" indent="0" algn="l">
              <a:lnSpc>
                <a:spcPts val="2284"/>
              </a:lnSpc>
              <a:buNone/>
            </a:pPr>
            <a:r>
              <a:rPr lang="en-US" sz="1575" dirty="0">
                <a:solidFill>
                  <a:srgbClr val="5C5344"/>
                </a:solidFill>
                <a:latin typeface="Arial" pitchFamily="34" charset="0"/>
                <a:ea typeface="Arial" pitchFamily="34" charset="-122"/>
                <a:cs typeface="Arial" pitchFamily="34" charset="-120"/>
              </a:rPr>
              <a:t>A property with 21,392 reviews and a genuinely unrepeatable asset is presenting itself with an identity that would not look out of place on any of the twenty resorts it competes with.</a:t>
            </a:r>
            <a:endParaRPr lang="en-US" sz="1575" dirty="0"/>
          </a:p>
        </p:txBody>
      </p:sp>
      <p:sp>
        <p:nvSpPr>
          <p:cNvPr id="10" name="Text 8"/>
          <p:cNvSpPr/>
          <p:nvPr/>
        </p:nvSpPr>
        <p:spPr>
          <a:xfrm>
            <a:off x="812800" y="6238255"/>
            <a:ext cx="515669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071"/>
                </a:solidFill>
                <a:latin typeface="Arial" pitchFamily="34" charset="0"/>
                <a:ea typeface="Arial" pitchFamily="34" charset="-122"/>
                <a:cs typeface="Arial" pitchFamily="34" charset="-120"/>
              </a:rPr>
              <a:t>Observation from the live site. A full identity audit sits in the branding deck.</a:t>
            </a:r>
            <a:endParaRPr lang="en-US" sz="1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48">
    <p:bg>
      <p:bgPr>
        <a:solidFill>
          <a:srgbClr val="17140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845741"/>
          </a:xfrm>
          <a:prstGeom prst="rect">
            <a:avLst/>
          </a:prstGeom>
          <a:noFill/>
          <a:ln/>
        </p:spPr>
        <p:txBody>
          <a:bodyPr wrap="square" lIns="0" tIns="0" rIns="0" bIns="0" rtlCol="0" anchor="t">
            <a:normAutofit/>
          </a:bodyPr>
          <a:lstStyle/>
          <a:p>
            <a:pPr marL="0" indent="0" algn="l">
              <a:lnSpc>
                <a:spcPts val="3234"/>
              </a:lnSpc>
              <a:buNone/>
            </a:pPr>
            <a:r>
              <a:rPr lang="en-US" sz="3080" dirty="0">
                <a:solidFill>
                  <a:srgbClr val="F7F3EA"/>
                </a:solidFill>
                <a:latin typeface="Georgia" pitchFamily="34" charset="0"/>
                <a:ea typeface="Georgia" pitchFamily="34" charset="-122"/>
                <a:cs typeface="Georgia" pitchFamily="34" charset="-120"/>
              </a:rPr>
              <a:t>The website sells a discount. The property is worth more than that.</a:t>
            </a:r>
            <a:endParaRPr lang="en-US" sz="308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1922701"/>
          <a:ext cx="10556240" cy="2753201"/>
        </p:xfrm>
        <a:graphic>
          <a:graphicData uri="http://schemas.openxmlformats.org/drawingml/2006/table">
            <a:tbl>
              <a:tblPr/>
              <a:tblGrid>
                <a:gridCol w="3589122">
                  <a:extLst>
                    <a:ext uri="{9D8B030D-6E8A-4147-A177-3AD203B41FA5}">
                      <a16:colId xmlns:a16="http://schemas.microsoft.com/office/drawing/2014/main" val="20000"/>
                    </a:ext>
                  </a:extLst>
                </a:gridCol>
                <a:gridCol w="6967118">
                  <a:extLst>
                    <a:ext uri="{9D8B030D-6E8A-4147-A177-3AD203B41FA5}">
                      <a16:colId xmlns:a16="http://schemas.microsoft.com/office/drawing/2014/main" val="20001"/>
                    </a:ext>
                  </a:extLst>
                </a:gridCol>
              </a:tblGrid>
              <a:tr h="360680">
                <a:tc>
                  <a:txBody>
                    <a:bodyPr/>
                    <a:lstStyle/>
                    <a:p>
                      <a:pPr marL="0" indent="0">
                        <a:lnSpc>
                          <a:spcPts val="1798"/>
                        </a:lnSpc>
                        <a:buNone/>
                      </a:pPr>
                      <a:r>
                        <a:rPr lang="en-US" sz="1284" b="1" dirty="0">
                          <a:solidFill>
                            <a:srgbClr val="F7F3EA"/>
                          </a:solidFill>
                          <a:latin typeface="Arial" pitchFamily="34" charset="0"/>
                          <a:ea typeface="Arial" pitchFamily="34" charset="-122"/>
                          <a:cs typeface="Arial" pitchFamily="34" charset="-120"/>
                        </a:rPr>
                        <a:t>What the site does</a:t>
                      </a:r>
                      <a:endParaRPr lang="en-US" sz="1284" dirty="0">
                        <a:latin typeface="Arial" charset="0"/>
                        <a:ea typeface="Arial" charset="0"/>
                        <a:cs typeface="Arial" charset="0"/>
                      </a:endParaRPr>
                    </a:p>
                  </a:txBody>
                  <a:tcPr marL="57090" marR="57090" marT="57090" marB="57090">
                    <a:lnL w="12700" cap="flat" cmpd="sng" algn="ctr">
                      <a:solidFill>
                        <a:srgbClr val="494642"/>
                      </a:solidFill>
                      <a:prstDash val="solid"/>
                      <a:round/>
                      <a:headEnd type="none" w="med" len="med"/>
                      <a:tailEnd type="none" w="med" len="med"/>
                    </a:lnL>
                    <a:lnR w="12700" cap="flat" cmpd="sng" algn="ctr">
                      <a:solidFill>
                        <a:srgbClr val="645F57"/>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645F57"/>
                      </a:solidFill>
                      <a:prstDash val="solid"/>
                      <a:round/>
                      <a:headEnd type="none" w="med" len="med"/>
                      <a:tailEnd type="none" w="med" len="med"/>
                    </a:lnB>
                    <a:solidFill>
                      <a:srgbClr val="3A342A"/>
                    </a:solidFill>
                  </a:tcPr>
                </a:tc>
                <a:tc>
                  <a:txBody>
                    <a:bodyPr/>
                    <a:lstStyle/>
                    <a:p>
                      <a:pPr marL="0" indent="0">
                        <a:lnSpc>
                          <a:spcPts val="1798"/>
                        </a:lnSpc>
                        <a:buNone/>
                      </a:pPr>
                      <a:r>
                        <a:rPr lang="en-US" sz="1284" b="1" dirty="0">
                          <a:solidFill>
                            <a:srgbClr val="F7F3EA"/>
                          </a:solidFill>
                          <a:latin typeface="Arial" pitchFamily="34" charset="0"/>
                          <a:ea typeface="Arial" pitchFamily="34" charset="-122"/>
                          <a:cs typeface="Arial" pitchFamily="34" charset="-120"/>
                        </a:rPr>
                        <a:t>What it signals to a buyer</a:t>
                      </a:r>
                      <a:endParaRPr lang="en-US" sz="1284" dirty="0">
                        <a:latin typeface="Arial" charset="0"/>
                        <a:ea typeface="Arial" charset="0"/>
                        <a:cs typeface="Arial" charset="0"/>
                      </a:endParaRPr>
                    </a:p>
                  </a:txBody>
                  <a:tcPr marL="57090" marR="57090" marT="57090" marB="57090">
                    <a:lnL w="12700" cap="flat" cmpd="sng" algn="ctr">
                      <a:solidFill>
                        <a:srgbClr val="645F57"/>
                      </a:solidFill>
                      <a:prstDash val="solid"/>
                      <a:round/>
                      <a:headEnd type="none" w="med" len="med"/>
                      <a:tailEnd type="none" w="med" len="med"/>
                    </a:lnL>
                    <a:lnR w="12700" cap="flat" cmpd="sng" algn="ctr">
                      <a:solidFill>
                        <a:srgbClr val="645F57"/>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645F57"/>
                      </a:solidFill>
                      <a:prstDash val="solid"/>
                      <a:round/>
                      <a:headEnd type="none" w="med" len="med"/>
                      <a:tailEnd type="none" w="med" len="med"/>
                    </a:lnB>
                    <a:solidFill>
                      <a:srgbClr val="3A342A"/>
                    </a:solidFill>
                  </a:tcPr>
                </a:tc>
                <a:extLst>
                  <a:ext uri="{0D108BD9-81ED-4DB2-BD59-A6C34878D82A}">
                    <a16:rowId xmlns:a16="http://schemas.microsoft.com/office/drawing/2014/main" val="10000"/>
                  </a:ext>
                </a:extLst>
              </a:tr>
              <a:tr h="360680">
                <a:tc>
                  <a:txBody>
                    <a:bodyPr/>
                    <a:lstStyle/>
                    <a:p>
                      <a:pPr marL="0" indent="0">
                        <a:lnSpc>
                          <a:spcPts val="1798"/>
                        </a:lnSpc>
                        <a:buNone/>
                      </a:pPr>
                      <a:r>
                        <a:rPr lang="en-US" sz="1284" dirty="0">
                          <a:solidFill>
                            <a:srgbClr val="F7F3EA"/>
                          </a:solidFill>
                          <a:latin typeface="Arial" pitchFamily="34" charset="0"/>
                          <a:ea typeface="Arial" pitchFamily="34" charset="-122"/>
                          <a:cs typeface="Arial" pitchFamily="34" charset="-120"/>
                        </a:rPr>
                        <a:t>Leads with 20–30% off codes</a:t>
                      </a:r>
                      <a:endParaRPr lang="en-US" sz="1284" dirty="0">
                        <a:latin typeface="Arial" charset="0"/>
                        <a:ea typeface="Arial" charset="0"/>
                        <a:cs typeface="Arial" charset="0"/>
                      </a:endParaRPr>
                    </a:p>
                  </a:txBody>
                  <a:tcPr marL="57090" marR="57090" marT="57090" marB="57090">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645F57"/>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798"/>
                        </a:lnSpc>
                        <a:buNone/>
                      </a:pPr>
                      <a:r>
                        <a:rPr lang="en-US" sz="1284" dirty="0">
                          <a:solidFill>
                            <a:srgbClr val="A79C89"/>
                          </a:solidFill>
                          <a:latin typeface="Arial" pitchFamily="34" charset="0"/>
                          <a:ea typeface="Arial" pitchFamily="34" charset="-122"/>
                          <a:cs typeface="Arial" pitchFamily="34" charset="-120"/>
                        </a:rPr>
                        <a:t>A crowd. Wait for a better code. Do not book at full price.</a:t>
                      </a:r>
                      <a:endParaRPr lang="en-US" sz="1284" dirty="0">
                        <a:latin typeface="Arial" charset="0"/>
                        <a:ea typeface="Arial" charset="0"/>
                        <a:cs typeface="Arial" charset="0"/>
                      </a:endParaRPr>
                    </a:p>
                  </a:txBody>
                  <a:tcPr marL="57090" marR="57090" marT="57090" marB="57090">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645F57"/>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extLst>
                  <a:ext uri="{0D108BD9-81ED-4DB2-BD59-A6C34878D82A}">
                    <a16:rowId xmlns:a16="http://schemas.microsoft.com/office/drawing/2014/main" val="10001"/>
                  </a:ext>
                </a:extLst>
              </a:tr>
              <a:tr h="589042">
                <a:tc>
                  <a:txBody>
                    <a:bodyPr/>
                    <a:lstStyle/>
                    <a:p>
                      <a:pPr marL="0" indent="0">
                        <a:lnSpc>
                          <a:spcPts val="1798"/>
                        </a:lnSpc>
                        <a:buNone/>
                      </a:pPr>
                      <a:r>
                        <a:rPr lang="en-US" sz="1284" dirty="0">
                          <a:solidFill>
                            <a:srgbClr val="F7F3EA"/>
                          </a:solidFill>
                          <a:latin typeface="Arial" pitchFamily="34" charset="0"/>
                          <a:ea typeface="Arial" pitchFamily="34" charset="-122"/>
                          <a:cs typeface="Arial" pitchFamily="34" charset="-120"/>
                        </a:rPr>
                        <a:t>Struck-through prices in the booking engine itself</a:t>
                      </a:r>
                      <a:endParaRPr lang="en-US" sz="1284" dirty="0">
                        <a:latin typeface="Arial" charset="0"/>
                        <a:ea typeface="Arial" charset="0"/>
                        <a:cs typeface="Arial" charset="0"/>
                      </a:endParaRPr>
                    </a:p>
                  </a:txBody>
                  <a:tcPr marL="57090" marR="57090" marT="57090" marB="57090">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798"/>
                        </a:lnSpc>
                        <a:buNone/>
                      </a:pPr>
                      <a:r>
                        <a:rPr lang="en-US" sz="1284" dirty="0">
                          <a:solidFill>
                            <a:srgbClr val="A79C89"/>
                          </a:solidFill>
                          <a:latin typeface="Arial" pitchFamily="34" charset="0"/>
                          <a:ea typeface="Arial" pitchFamily="34" charset="-122"/>
                          <a:cs typeface="Arial" pitchFamily="34" charset="-120"/>
                        </a:rPr>
                        <a:t>The real price is the lower one. Every guest learns this at checkout.</a:t>
                      </a:r>
                      <a:endParaRPr lang="en-US" sz="1284" dirty="0">
                        <a:latin typeface="Arial" charset="0"/>
                        <a:ea typeface="Arial" charset="0"/>
                        <a:cs typeface="Arial" charset="0"/>
                      </a:endParaRPr>
                    </a:p>
                  </a:txBody>
                  <a:tcPr marL="57090" marR="57090" marT="57090" marB="57090">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extLst>
                  <a:ext uri="{0D108BD9-81ED-4DB2-BD59-A6C34878D82A}">
                    <a16:rowId xmlns:a16="http://schemas.microsoft.com/office/drawing/2014/main" val="10002"/>
                  </a:ext>
                </a:extLst>
              </a:tr>
              <a:tr h="360680">
                <a:tc>
                  <a:txBody>
                    <a:bodyPr/>
                    <a:lstStyle/>
                    <a:p>
                      <a:pPr marL="0" indent="0">
                        <a:lnSpc>
                          <a:spcPts val="1798"/>
                        </a:lnSpc>
                        <a:buNone/>
                      </a:pPr>
                      <a:r>
                        <a:rPr lang="en-US" sz="1284" dirty="0">
                          <a:solidFill>
                            <a:srgbClr val="F7F3EA"/>
                          </a:solidFill>
                          <a:latin typeface="Arial" pitchFamily="34" charset="0"/>
                          <a:ea typeface="Arial" pitchFamily="34" charset="-122"/>
                          <a:cs typeface="Arial" pitchFamily="34" charset="-120"/>
                        </a:rPr>
                        <a:t>"Bangalore's Best Kept Secret" with emojis</a:t>
                      </a:r>
                      <a:endParaRPr lang="en-US" sz="1284" dirty="0">
                        <a:latin typeface="Arial" charset="0"/>
                        <a:ea typeface="Arial" charset="0"/>
                        <a:cs typeface="Arial" charset="0"/>
                      </a:endParaRPr>
                    </a:p>
                  </a:txBody>
                  <a:tcPr marL="57090" marR="57090" marT="57090" marB="57090">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798"/>
                        </a:lnSpc>
                        <a:buNone/>
                      </a:pPr>
                      <a:r>
                        <a:rPr lang="en-US" sz="1284" dirty="0">
                          <a:solidFill>
                            <a:srgbClr val="A79C89"/>
                          </a:solidFill>
                          <a:latin typeface="Arial" pitchFamily="34" charset="0"/>
                          <a:ea typeface="Arial" pitchFamily="34" charset="-122"/>
                          <a:cs typeface="Arial" pitchFamily="34" charset="-120"/>
                        </a:rPr>
                        <a:t>A day-out venue, not a destination worth travelling for.</a:t>
                      </a:r>
                      <a:endParaRPr lang="en-US" sz="1284" dirty="0">
                        <a:latin typeface="Arial" charset="0"/>
                        <a:ea typeface="Arial" charset="0"/>
                        <a:cs typeface="Arial" charset="0"/>
                      </a:endParaRPr>
                    </a:p>
                  </a:txBody>
                  <a:tcPr marL="57090" marR="57090" marT="57090" marB="57090">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extLst>
                  <a:ext uri="{0D108BD9-81ED-4DB2-BD59-A6C34878D82A}">
                    <a16:rowId xmlns:a16="http://schemas.microsoft.com/office/drawing/2014/main" val="10003"/>
                  </a:ext>
                </a:extLst>
              </a:tr>
              <a:tr h="360680">
                <a:tc>
                  <a:txBody>
                    <a:bodyPr/>
                    <a:lstStyle/>
                    <a:p>
                      <a:pPr marL="0" indent="0">
                        <a:lnSpc>
                          <a:spcPts val="1798"/>
                        </a:lnSpc>
                        <a:buNone/>
                      </a:pPr>
                      <a:r>
                        <a:rPr lang="en-US" sz="1284" dirty="0">
                          <a:solidFill>
                            <a:srgbClr val="F7F3EA"/>
                          </a:solidFill>
                          <a:latin typeface="Arial" pitchFamily="34" charset="0"/>
                          <a:ea typeface="Arial" pitchFamily="34" charset="-122"/>
                          <a:cs typeface="Arial" pitchFamily="34" charset="-120"/>
                        </a:rPr>
                        <a:t>Little real imagery of the cave interiors</a:t>
                      </a:r>
                      <a:endParaRPr lang="en-US" sz="1284" dirty="0">
                        <a:latin typeface="Arial" charset="0"/>
                        <a:ea typeface="Arial" charset="0"/>
                        <a:cs typeface="Arial" charset="0"/>
                      </a:endParaRPr>
                    </a:p>
                  </a:txBody>
                  <a:tcPr marL="57090" marR="57090" marT="57090" marB="57090">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798"/>
                        </a:lnSpc>
                        <a:buNone/>
                      </a:pPr>
                      <a:r>
                        <a:rPr lang="en-US" sz="1284" dirty="0">
                          <a:solidFill>
                            <a:srgbClr val="A79C89"/>
                          </a:solidFill>
                          <a:latin typeface="Arial" pitchFamily="34" charset="0"/>
                          <a:ea typeface="Arial" pitchFamily="34" charset="-122"/>
                          <a:cs typeface="Arial" pitchFamily="34" charset="-120"/>
                        </a:rPr>
                        <a:t>No proof of the one thing that cannot be copied.</a:t>
                      </a:r>
                      <a:endParaRPr lang="en-US" sz="1284" dirty="0">
                        <a:latin typeface="Arial" charset="0"/>
                        <a:ea typeface="Arial" charset="0"/>
                        <a:cs typeface="Arial" charset="0"/>
                      </a:endParaRPr>
                    </a:p>
                  </a:txBody>
                  <a:tcPr marL="57090" marR="57090" marT="57090" marB="57090">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extLst>
                  <a:ext uri="{0D108BD9-81ED-4DB2-BD59-A6C34878D82A}">
                    <a16:rowId xmlns:a16="http://schemas.microsoft.com/office/drawing/2014/main" val="10004"/>
                  </a:ext>
                </a:extLst>
              </a:tr>
              <a:tr h="360680">
                <a:tc>
                  <a:txBody>
                    <a:bodyPr/>
                    <a:lstStyle/>
                    <a:p>
                      <a:pPr marL="0" indent="0">
                        <a:lnSpc>
                          <a:spcPts val="1798"/>
                        </a:lnSpc>
                        <a:buNone/>
                      </a:pPr>
                      <a:r>
                        <a:rPr lang="en-US" sz="1284" dirty="0">
                          <a:solidFill>
                            <a:srgbClr val="F7F3EA"/>
                          </a:solidFill>
                          <a:latin typeface="Arial" pitchFamily="34" charset="0"/>
                          <a:ea typeface="Arial" pitchFamily="34" charset="-122"/>
                          <a:cs typeface="Arial" pitchFamily="34" charset="-120"/>
                        </a:rPr>
                        <a:t>No room types, capacities or rates on the page</a:t>
                      </a:r>
                      <a:endParaRPr lang="en-US" sz="1284" dirty="0">
                        <a:latin typeface="Arial" charset="0"/>
                        <a:ea typeface="Arial" charset="0"/>
                        <a:cs typeface="Arial" charset="0"/>
                      </a:endParaRPr>
                    </a:p>
                  </a:txBody>
                  <a:tcPr marL="57090" marR="57090" marT="57090" marB="57090">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798"/>
                        </a:lnSpc>
                        <a:buNone/>
                      </a:pPr>
                      <a:r>
                        <a:rPr lang="en-US" sz="1284" dirty="0">
                          <a:solidFill>
                            <a:srgbClr val="A79C89"/>
                          </a:solidFill>
                          <a:latin typeface="Arial" pitchFamily="34" charset="0"/>
                          <a:ea typeface="Arial" pitchFamily="34" charset="-122"/>
                          <a:cs typeface="Arial" pitchFamily="34" charset="-120"/>
                        </a:rPr>
                        <a:t>The stay product barely exists; go to an aggregator instead.</a:t>
                      </a:r>
                      <a:endParaRPr lang="en-US" sz="1284" dirty="0">
                        <a:latin typeface="Arial" charset="0"/>
                        <a:ea typeface="Arial" charset="0"/>
                        <a:cs typeface="Arial" charset="0"/>
                      </a:endParaRPr>
                    </a:p>
                  </a:txBody>
                  <a:tcPr marL="57090" marR="57090" marT="57090" marB="57090">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extLst>
                  <a:ext uri="{0D108BD9-81ED-4DB2-BD59-A6C34878D82A}">
                    <a16:rowId xmlns:a16="http://schemas.microsoft.com/office/drawing/2014/main" val="10005"/>
                  </a:ext>
                </a:extLst>
              </a:tr>
              <a:tr h="360759">
                <a:tc>
                  <a:txBody>
                    <a:bodyPr/>
                    <a:lstStyle/>
                    <a:p>
                      <a:pPr marL="0" indent="0">
                        <a:lnSpc>
                          <a:spcPts val="1798"/>
                        </a:lnSpc>
                        <a:buNone/>
                      </a:pPr>
                      <a:r>
                        <a:rPr lang="en-US" sz="1284" dirty="0">
                          <a:solidFill>
                            <a:srgbClr val="F7F3EA"/>
                          </a:solidFill>
                          <a:latin typeface="Arial" pitchFamily="34" charset="0"/>
                          <a:ea typeface="Arial" pitchFamily="34" charset="-122"/>
                          <a:cs typeface="Arial" pitchFamily="34" charset="-120"/>
                        </a:rPr>
                        <a:t>No guest reviews despite 21,392 of them</a:t>
                      </a:r>
                      <a:endParaRPr lang="en-US" sz="1284" dirty="0">
                        <a:latin typeface="Arial" charset="0"/>
                        <a:ea typeface="Arial" charset="0"/>
                        <a:cs typeface="Arial" charset="0"/>
                      </a:endParaRPr>
                    </a:p>
                  </a:txBody>
                  <a:tcPr marL="57090" marR="57090" marT="57090" marB="57090">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798"/>
                        </a:lnSpc>
                        <a:buNone/>
                      </a:pPr>
                      <a:r>
                        <a:rPr lang="en-US" sz="1284" dirty="0">
                          <a:solidFill>
                            <a:srgbClr val="A79C89"/>
                          </a:solidFill>
                          <a:latin typeface="Arial" pitchFamily="34" charset="0"/>
                          <a:ea typeface="Arial" pitchFamily="34" charset="-122"/>
                          <a:cs typeface="Arial" pitchFamily="34" charset="-120"/>
                        </a:rPr>
                        <a:t>Nothing to reassure a buyer who has seen 3.7 stars elsewhere.</a:t>
                      </a:r>
                      <a:endParaRPr lang="en-US" sz="1284" dirty="0">
                        <a:latin typeface="Arial" charset="0"/>
                        <a:ea typeface="Arial" charset="0"/>
                        <a:cs typeface="Arial" charset="0"/>
                      </a:endParaRPr>
                    </a:p>
                  </a:txBody>
                  <a:tcPr marL="57090" marR="57090" marT="57090" marB="57090">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4" name="Shape 1"/>
          <p:cNvSpPr/>
          <p:nvPr/>
        </p:nvSpPr>
        <p:spPr>
          <a:xfrm>
            <a:off x="815975" y="4958482"/>
            <a:ext cx="5175250" cy="880348"/>
          </a:xfrm>
          <a:prstGeom prst="roundRect">
            <a:avLst>
              <a:gd name="adj" fmla="val 11180"/>
            </a:avLst>
          </a:prstGeom>
          <a:solidFill>
            <a:srgbClr val="221E18"/>
          </a:solidFill>
          <a:ln w="6350">
            <a:solidFill>
              <a:srgbClr val="3A342A"/>
            </a:solidFill>
            <a:prstDash val="solid"/>
          </a:ln>
        </p:spPr>
      </p:sp>
      <p:sp>
        <p:nvSpPr>
          <p:cNvPr id="5" name="Text 2"/>
          <p:cNvSpPr/>
          <p:nvPr/>
        </p:nvSpPr>
        <p:spPr>
          <a:xfrm>
            <a:off x="1046480" y="5188992"/>
            <a:ext cx="4855667" cy="444738"/>
          </a:xfrm>
          <a:prstGeom prst="rect">
            <a:avLst/>
          </a:prstGeom>
          <a:noFill/>
          <a:ln/>
        </p:spPr>
        <p:txBody>
          <a:bodyPr wrap="square" lIns="0" tIns="0" rIns="0" bIns="0" rtlCol="0" anchor="t">
            <a:normAutofit/>
          </a:bodyPr>
          <a:lstStyle/>
          <a:p>
            <a:pPr marL="0" indent="0" algn="l">
              <a:lnSpc>
                <a:spcPts val="1413"/>
              </a:lnSpc>
              <a:buNone/>
            </a:pPr>
            <a:r>
              <a:rPr lang="en-US" sz="974" dirty="0">
                <a:solidFill>
                  <a:srgbClr val="A79C89"/>
                </a:solidFill>
                <a:latin typeface="Arial" pitchFamily="34" charset="0"/>
                <a:ea typeface="Arial" pitchFamily="34" charset="-122"/>
                <a:cs typeface="Arial" pitchFamily="34" charset="-120"/>
              </a:rPr>
              <a:t>Every weekday rate in the booking engine already carries a </a:t>
            </a:r>
            <a:r>
              <a:rPr lang="en-US" sz="974" b="1" dirty="0">
                <a:solidFill>
                  <a:srgbClr val="A79C89"/>
                </a:solidFill>
                <a:latin typeface="Arial" pitchFamily="34" charset="0"/>
                <a:ea typeface="Arial" pitchFamily="34" charset="-122"/>
                <a:cs typeface="Arial" pitchFamily="34" charset="-120"/>
              </a:rPr>
              <a:t>20% discount by default</a:t>
            </a:r>
            <a:r>
              <a:rPr lang="en-US" sz="974" dirty="0">
                <a:solidFill>
                  <a:srgbClr val="A79C89"/>
                </a:solidFill>
                <a:latin typeface="Arial" pitchFamily="34" charset="0"/>
                <a:ea typeface="Arial" pitchFamily="34" charset="-122"/>
                <a:cs typeface="Arial" pitchFamily="34" charset="-120"/>
              </a:rPr>
              <a:t> — the checkout teaches the discount habit before the guest has even chosen a room.</a:t>
            </a:r>
            <a:endParaRPr lang="en-US" sz="974" dirty="0"/>
          </a:p>
        </p:txBody>
      </p:sp>
      <p:sp>
        <p:nvSpPr>
          <p:cNvPr id="6" name="Shape 3"/>
          <p:cNvSpPr/>
          <p:nvPr/>
        </p:nvSpPr>
        <p:spPr>
          <a:xfrm>
            <a:off x="6200775" y="4958482"/>
            <a:ext cx="5175250" cy="880348"/>
          </a:xfrm>
          <a:prstGeom prst="roundRect">
            <a:avLst>
              <a:gd name="adj" fmla="val 11180"/>
            </a:avLst>
          </a:prstGeom>
          <a:solidFill>
            <a:srgbClr val="221E18"/>
          </a:solidFill>
          <a:ln w="6350">
            <a:solidFill>
              <a:srgbClr val="3A342A"/>
            </a:solidFill>
            <a:prstDash val="solid"/>
          </a:ln>
        </p:spPr>
      </p:sp>
      <p:sp>
        <p:nvSpPr>
          <p:cNvPr id="7" name="Text 4"/>
          <p:cNvSpPr/>
          <p:nvPr/>
        </p:nvSpPr>
        <p:spPr>
          <a:xfrm>
            <a:off x="6431280" y="5188992"/>
            <a:ext cx="4855667" cy="444738"/>
          </a:xfrm>
          <a:prstGeom prst="rect">
            <a:avLst/>
          </a:prstGeom>
          <a:noFill/>
          <a:ln/>
        </p:spPr>
        <p:txBody>
          <a:bodyPr wrap="square" lIns="0" tIns="0" rIns="0" bIns="0" rtlCol="0" anchor="t">
            <a:normAutofit/>
          </a:bodyPr>
          <a:lstStyle/>
          <a:p>
            <a:pPr marL="0" indent="0" algn="l">
              <a:lnSpc>
                <a:spcPts val="1485"/>
              </a:lnSpc>
              <a:buNone/>
            </a:pPr>
            <a:r>
              <a:rPr lang="en-US" sz="1024" dirty="0">
                <a:solidFill>
                  <a:srgbClr val="A79C89"/>
                </a:solidFill>
                <a:latin typeface="Arial" pitchFamily="34" charset="0"/>
                <a:ea typeface="Arial" pitchFamily="34" charset="-122"/>
                <a:cs typeface="Arial" pitchFamily="34" charset="-120"/>
              </a:rPr>
              <a:t>Replace the percentage with something the weekend crowd cannot get: a private amphitheatre slot, a spa credit, a guided tunnel trek. </a:t>
            </a:r>
            <a:r>
              <a:rPr lang="en-US" sz="1024" b="1" dirty="0">
                <a:solidFill>
                  <a:srgbClr val="A79C89"/>
                </a:solidFill>
                <a:latin typeface="Arial" pitchFamily="34" charset="0"/>
                <a:ea typeface="Arial" pitchFamily="34" charset="-122"/>
                <a:cs typeface="Arial" pitchFamily="34" charset="-120"/>
              </a:rPr>
              <a:t>Add value; protect the rate.</a:t>
            </a:r>
            <a:endParaRPr lang="en-US" sz="1024" dirty="0"/>
          </a:p>
        </p:txBody>
      </p:sp>
      <p:sp>
        <p:nvSpPr>
          <p:cNvPr id="8" name="Text 5"/>
          <p:cNvSpPr/>
          <p:nvPr/>
        </p:nvSpPr>
        <p:spPr>
          <a:xfrm>
            <a:off x="812800" y="6238255"/>
            <a:ext cx="443274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071"/>
                </a:solidFill>
                <a:latin typeface="Arial" pitchFamily="34" charset="0"/>
                <a:ea typeface="Arial" pitchFamily="34" charset="-122"/>
                <a:cs typeface="Arial" pitchFamily="34" charset="-120"/>
              </a:rPr>
              <a:t>Live rates confirmed from the booking engine, September 2026.</a:t>
            </a:r>
            <a:endParaRPr lang="en-US" sz="12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42">
    <p:bg>
      <p:bgPr>
        <a:solidFill>
          <a:srgbClr val="C9A63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1049338"/>
          </a:xfrm>
          <a:prstGeom prst="rect">
            <a:avLst/>
          </a:prstGeom>
          <a:noFill/>
          <a:ln/>
        </p:spPr>
        <p:txBody>
          <a:bodyPr wrap="square" lIns="0" tIns="0" rIns="0" bIns="0" rtlCol="0" anchor="t">
            <a:normAutofit/>
          </a:bodyPr>
          <a:lstStyle/>
          <a:p>
            <a:pPr marL="0" indent="0" algn="l">
              <a:lnSpc>
                <a:spcPts val="4490"/>
              </a:lnSpc>
              <a:buNone/>
            </a:pPr>
            <a:r>
              <a:rPr lang="en-US" sz="4276" dirty="0">
                <a:solidFill>
                  <a:srgbClr val="17140F"/>
                </a:solidFill>
                <a:latin typeface="Georgia" pitchFamily="34" charset="0"/>
                <a:ea typeface="Georgia" pitchFamily="34" charset="-122"/>
                <a:cs typeface="Georgia" pitchFamily="34" charset="-120"/>
              </a:rPr>
              <a:t>Three sites worth putting beside yours</a:t>
            </a:r>
            <a:endParaRPr lang="en-US" sz="4276" dirty="0"/>
          </a:p>
        </p:txBody>
      </p:sp>
      <p:sp>
        <p:nvSpPr>
          <p:cNvPr id="3" name="Shape 1"/>
          <p:cNvSpPr/>
          <p:nvPr/>
        </p:nvSpPr>
        <p:spPr>
          <a:xfrm>
            <a:off x="812800" y="2090738"/>
            <a:ext cx="10566400" cy="1343025"/>
          </a:xfrm>
          <a:prstGeom prst="roundRect">
            <a:avLst>
              <a:gd name="adj" fmla="val 7565"/>
            </a:avLst>
          </a:prstGeom>
          <a:solidFill>
            <a:srgbClr val="17140F"/>
          </a:solidFill>
          <a:ln/>
        </p:spPr>
      </p:sp>
      <p:sp>
        <p:nvSpPr>
          <p:cNvPr id="4" name="Text 2"/>
          <p:cNvSpPr/>
          <p:nvPr/>
        </p:nvSpPr>
        <p:spPr>
          <a:xfrm>
            <a:off x="1143000" y="2420938"/>
            <a:ext cx="10203180" cy="708025"/>
          </a:xfrm>
          <a:prstGeom prst="rect">
            <a:avLst/>
          </a:prstGeom>
          <a:noFill/>
          <a:ln/>
        </p:spPr>
        <p:txBody>
          <a:bodyPr wrap="square" lIns="0" tIns="0" rIns="0" bIns="0" rtlCol="0" anchor="t">
            <a:normAutofit/>
          </a:bodyPr>
          <a:lstStyle/>
          <a:p>
            <a:pPr marL="0" indent="0" algn="l">
              <a:lnSpc>
                <a:spcPts val="2705"/>
              </a:lnSpc>
              <a:buNone/>
            </a:pPr>
            <a:r>
              <a:rPr lang="en-US" sz="1932" dirty="0">
                <a:solidFill>
                  <a:srgbClr val="F7F3EA"/>
                </a:solidFill>
                <a:latin typeface="Arial" pitchFamily="34" charset="0"/>
                <a:ea typeface="Arial" pitchFamily="34" charset="-122"/>
                <a:cs typeface="Arial" pitchFamily="34" charset="-120"/>
              </a:rPr>
              <a:t>None of these three owns a cave. All three sell a stay better than guhantara.com sells one.</a:t>
            </a:r>
            <a:endParaRPr lang="en-US" sz="1932" dirty="0"/>
          </a:p>
        </p:txBody>
      </p:sp>
      <p:sp>
        <p:nvSpPr>
          <p:cNvPr id="5" name="Shape 3"/>
          <p:cNvSpPr/>
          <p:nvPr/>
        </p:nvSpPr>
        <p:spPr>
          <a:xfrm>
            <a:off x="812800" y="3687762"/>
            <a:ext cx="3386614" cy="2154238"/>
          </a:xfrm>
          <a:prstGeom prst="roundRect">
            <a:avLst>
              <a:gd name="adj" fmla="val 4716"/>
            </a:avLst>
          </a:prstGeom>
          <a:solidFill>
            <a:srgbClr val="F7F3EA"/>
          </a:solidFill>
          <a:ln/>
        </p:spPr>
      </p:sp>
      <p:sp>
        <p:nvSpPr>
          <p:cNvPr id="6" name="Text 4"/>
          <p:cNvSpPr/>
          <p:nvPr/>
        </p:nvSpPr>
        <p:spPr>
          <a:xfrm>
            <a:off x="1092200" y="3967163"/>
            <a:ext cx="2912648" cy="269954"/>
          </a:xfrm>
          <a:prstGeom prst="rect">
            <a:avLst/>
          </a:prstGeom>
          <a:noFill/>
          <a:ln/>
        </p:spPr>
        <p:txBody>
          <a:bodyPr wrap="square" lIns="0" tIns="0" rIns="0" bIns="0" rtlCol="0" anchor="t">
            <a:normAutofit/>
          </a:bodyPr>
          <a:lstStyle/>
          <a:p>
            <a:pPr marL="0" indent="0" algn="l">
              <a:lnSpc>
                <a:spcPts val="2059"/>
              </a:lnSpc>
              <a:buNone/>
            </a:pPr>
            <a:r>
              <a:rPr lang="en-US" sz="1716" b="1" dirty="0">
                <a:solidFill>
                  <a:srgbClr val="17140F"/>
                </a:solidFill>
                <a:latin typeface="Arial" pitchFamily="34" charset="0"/>
                <a:ea typeface="Arial" pitchFamily="34" charset="-122"/>
                <a:cs typeface="Arial" pitchFamily="34" charset="-120"/>
              </a:rPr>
              <a:t>Aldovia</a:t>
            </a:r>
            <a:endParaRPr lang="en-US" sz="1716" dirty="0"/>
          </a:p>
        </p:txBody>
      </p:sp>
      <p:sp>
        <p:nvSpPr>
          <p:cNvPr id="7" name="Text 5"/>
          <p:cNvSpPr/>
          <p:nvPr/>
        </p:nvSpPr>
        <p:spPr>
          <a:xfrm>
            <a:off x="1092200" y="4300612"/>
            <a:ext cx="2912648" cy="276463"/>
          </a:xfrm>
          <a:prstGeom prst="rect">
            <a:avLst/>
          </a:prstGeom>
          <a:noFill/>
          <a:ln/>
        </p:spPr>
        <p:txBody>
          <a:bodyPr wrap="square" lIns="0" tIns="0" rIns="0" bIns="0" rtlCol="0" anchor="t">
            <a:normAutofit/>
          </a:bodyPr>
          <a:lstStyle/>
          <a:p>
            <a:pPr marL="0" indent="0" algn="l">
              <a:lnSpc>
                <a:spcPts val="2023"/>
              </a:lnSpc>
              <a:buNone/>
            </a:pPr>
            <a:r>
              <a:rPr lang="en-US" sz="1445" dirty="0">
                <a:solidFill>
                  <a:srgbClr val="B54A28"/>
                </a:solidFill>
                <a:latin typeface="Arial" pitchFamily="34" charset="0"/>
                <a:ea typeface="Arial" pitchFamily="34" charset="-122"/>
                <a:cs typeface="Arial" pitchFamily="34" charset="-120"/>
                <a:hlinkClick r:id="rId2"/>
              </a:rPr>
              <a:t>aldovia.in</a:t>
            </a:r>
            <a:endParaRPr lang="en-US" sz="1445" dirty="0"/>
          </a:p>
        </p:txBody>
      </p:sp>
      <p:sp>
        <p:nvSpPr>
          <p:cNvPr id="8" name="Text 6"/>
          <p:cNvSpPr/>
          <p:nvPr/>
        </p:nvSpPr>
        <p:spPr>
          <a:xfrm>
            <a:off x="1092200" y="4643214"/>
            <a:ext cx="2912648" cy="944801"/>
          </a:xfrm>
          <a:prstGeom prst="rect">
            <a:avLst/>
          </a:prstGeom>
          <a:noFill/>
          <a:ln/>
        </p:spPr>
        <p:txBody>
          <a:bodyPr wrap="square" lIns="0" tIns="0" rIns="0" bIns="0" rtlCol="0" anchor="t">
            <a:normAutofit/>
          </a:bodyPr>
          <a:lstStyle/>
          <a:p>
            <a:pPr marL="0" indent="0" algn="l">
              <a:lnSpc>
                <a:spcPts val="1789"/>
              </a:lnSpc>
              <a:buNone/>
            </a:pPr>
            <a:r>
              <a:rPr lang="en-US" sz="1234" dirty="0">
                <a:solidFill>
                  <a:srgbClr val="5C5344"/>
                </a:solidFill>
                <a:latin typeface="Arial" pitchFamily="34" charset="0"/>
                <a:ea typeface="Arial" pitchFamily="34" charset="-122"/>
                <a:cs typeface="Arial" pitchFamily="34" charset="-120"/>
              </a:rPr>
              <a:t>Rooms, rates and capacities are on the page. Corporate and convention gets its own route through the site — the buyer Guhantara has no page for at all.</a:t>
            </a:r>
            <a:endParaRPr lang="en-US" sz="1234" dirty="0"/>
          </a:p>
        </p:txBody>
      </p:sp>
      <p:sp>
        <p:nvSpPr>
          <p:cNvPr id="9" name="Shape 7"/>
          <p:cNvSpPr/>
          <p:nvPr/>
        </p:nvSpPr>
        <p:spPr>
          <a:xfrm>
            <a:off x="4402614" y="3687762"/>
            <a:ext cx="3386693" cy="2154238"/>
          </a:xfrm>
          <a:prstGeom prst="roundRect">
            <a:avLst>
              <a:gd name="adj" fmla="val 4716"/>
            </a:avLst>
          </a:prstGeom>
          <a:solidFill>
            <a:srgbClr val="F7F3EA"/>
          </a:solidFill>
          <a:ln/>
        </p:spPr>
      </p:sp>
      <p:sp>
        <p:nvSpPr>
          <p:cNvPr id="10" name="Text 8"/>
          <p:cNvSpPr/>
          <p:nvPr/>
        </p:nvSpPr>
        <p:spPr>
          <a:xfrm>
            <a:off x="4682014" y="3967163"/>
            <a:ext cx="2912730" cy="269954"/>
          </a:xfrm>
          <a:prstGeom prst="rect">
            <a:avLst/>
          </a:prstGeom>
          <a:noFill/>
          <a:ln/>
        </p:spPr>
        <p:txBody>
          <a:bodyPr wrap="square" lIns="0" tIns="0" rIns="0" bIns="0" rtlCol="0" anchor="t">
            <a:normAutofit/>
          </a:bodyPr>
          <a:lstStyle/>
          <a:p>
            <a:pPr marL="0" indent="0" algn="l">
              <a:lnSpc>
                <a:spcPts val="1971"/>
              </a:lnSpc>
              <a:buNone/>
            </a:pPr>
            <a:r>
              <a:rPr lang="en-US" sz="1643" b="1" dirty="0">
                <a:solidFill>
                  <a:srgbClr val="17140F"/>
                </a:solidFill>
                <a:latin typeface="Arial" pitchFamily="34" charset="0"/>
                <a:ea typeface="Arial" pitchFamily="34" charset="-122"/>
                <a:cs typeface="Arial" pitchFamily="34" charset="-120"/>
              </a:rPr>
              <a:t>CGH Earth</a:t>
            </a:r>
            <a:endParaRPr lang="en-US" sz="1643" dirty="0"/>
          </a:p>
        </p:txBody>
      </p:sp>
      <p:sp>
        <p:nvSpPr>
          <p:cNvPr id="11" name="Text 9"/>
          <p:cNvSpPr/>
          <p:nvPr/>
        </p:nvSpPr>
        <p:spPr>
          <a:xfrm>
            <a:off x="4682014" y="4300612"/>
            <a:ext cx="2912730" cy="279083"/>
          </a:xfrm>
          <a:prstGeom prst="rect">
            <a:avLst/>
          </a:prstGeom>
          <a:noFill/>
          <a:ln/>
        </p:spPr>
        <p:txBody>
          <a:bodyPr wrap="square" lIns="0" tIns="0" rIns="0" bIns="0" rtlCol="0" anchor="t">
            <a:normAutofit/>
          </a:bodyPr>
          <a:lstStyle/>
          <a:p>
            <a:pPr marL="0" indent="0" algn="l">
              <a:lnSpc>
                <a:spcPts val="2023"/>
              </a:lnSpc>
              <a:buNone/>
            </a:pPr>
            <a:r>
              <a:rPr lang="en-US" sz="1445" dirty="0">
                <a:solidFill>
                  <a:srgbClr val="B54A28"/>
                </a:solidFill>
                <a:latin typeface="Arial" pitchFamily="34" charset="0"/>
                <a:ea typeface="Arial" pitchFamily="34" charset="-122"/>
                <a:cs typeface="Arial" pitchFamily="34" charset="-120"/>
                <a:hlinkClick r:id="rId3"/>
              </a:rPr>
              <a:t>cghearth.com</a:t>
            </a:r>
            <a:endParaRPr lang="en-US" sz="1445" dirty="0"/>
          </a:p>
        </p:txBody>
      </p:sp>
      <p:sp>
        <p:nvSpPr>
          <p:cNvPr id="12" name="Text 10"/>
          <p:cNvSpPr/>
          <p:nvPr/>
        </p:nvSpPr>
        <p:spPr>
          <a:xfrm>
            <a:off x="4682014" y="4643214"/>
            <a:ext cx="2912730" cy="944801"/>
          </a:xfrm>
          <a:prstGeom prst="rect">
            <a:avLst/>
          </a:prstGeom>
          <a:noFill/>
          <a:ln/>
        </p:spPr>
        <p:txBody>
          <a:bodyPr wrap="square" lIns="0" tIns="0" rIns="0" bIns="0" rtlCol="0" anchor="t">
            <a:normAutofit fontScale="70000" lnSpcReduction="20000"/>
          </a:bodyPr>
          <a:lstStyle/>
          <a:p>
            <a:pPr marL="0" indent="0" algn="l">
              <a:lnSpc>
                <a:spcPts val="2024"/>
              </a:lnSpc>
              <a:buNone/>
            </a:pPr>
            <a:r>
              <a:rPr lang="en-US" sz="1396" dirty="0">
                <a:solidFill>
                  <a:srgbClr val="5C5344"/>
                </a:solidFill>
                <a:latin typeface="Arial" pitchFamily="34" charset="0"/>
                <a:ea typeface="Arial" pitchFamily="34" charset="-122"/>
                <a:cs typeface="Arial" pitchFamily="34" charset="-120"/>
              </a:rPr>
              <a:t>Prices the experience, never the discount. No codes on the homepage, photography that carries the property, every place allowed a story of its own.</a:t>
            </a:r>
            <a:endParaRPr lang="en-US" sz="1396" dirty="0"/>
          </a:p>
        </p:txBody>
      </p:sp>
      <p:sp>
        <p:nvSpPr>
          <p:cNvPr id="13" name="Shape 11"/>
          <p:cNvSpPr/>
          <p:nvPr/>
        </p:nvSpPr>
        <p:spPr>
          <a:xfrm>
            <a:off x="7992507" y="3687762"/>
            <a:ext cx="3386693" cy="2154238"/>
          </a:xfrm>
          <a:prstGeom prst="roundRect">
            <a:avLst>
              <a:gd name="adj" fmla="val 4716"/>
            </a:avLst>
          </a:prstGeom>
          <a:solidFill>
            <a:srgbClr val="F7F3EA"/>
          </a:solidFill>
          <a:ln/>
        </p:spPr>
      </p:sp>
      <p:sp>
        <p:nvSpPr>
          <p:cNvPr id="14" name="Text 12"/>
          <p:cNvSpPr/>
          <p:nvPr/>
        </p:nvSpPr>
        <p:spPr>
          <a:xfrm>
            <a:off x="8271907" y="3967163"/>
            <a:ext cx="2912730" cy="252333"/>
          </a:xfrm>
          <a:prstGeom prst="rect">
            <a:avLst/>
          </a:prstGeom>
          <a:noFill/>
          <a:ln/>
        </p:spPr>
        <p:txBody>
          <a:bodyPr wrap="square" lIns="0" tIns="0" rIns="0" bIns="0" rtlCol="0" anchor="t">
            <a:normAutofit/>
          </a:bodyPr>
          <a:lstStyle/>
          <a:p>
            <a:pPr marL="0" indent="0" algn="l">
              <a:lnSpc>
                <a:spcPts val="1823"/>
              </a:lnSpc>
              <a:buNone/>
            </a:pPr>
            <a:r>
              <a:rPr lang="en-US" sz="1519" b="1" dirty="0">
                <a:solidFill>
                  <a:srgbClr val="17140F"/>
                </a:solidFill>
                <a:latin typeface="Arial" pitchFamily="34" charset="0"/>
                <a:ea typeface="Arial" pitchFamily="34" charset="-122"/>
                <a:cs typeface="Arial" pitchFamily="34" charset="-120"/>
              </a:rPr>
              <a:t>Discovery Village</a:t>
            </a:r>
            <a:endParaRPr lang="en-US" sz="1519" dirty="0"/>
          </a:p>
        </p:txBody>
      </p:sp>
      <p:sp>
        <p:nvSpPr>
          <p:cNvPr id="15" name="Text 13"/>
          <p:cNvSpPr/>
          <p:nvPr/>
        </p:nvSpPr>
        <p:spPr>
          <a:xfrm>
            <a:off x="8271907" y="4643214"/>
            <a:ext cx="2912730" cy="944801"/>
          </a:xfrm>
          <a:prstGeom prst="rect">
            <a:avLst/>
          </a:prstGeom>
          <a:noFill/>
          <a:ln/>
        </p:spPr>
        <p:txBody>
          <a:bodyPr wrap="square" lIns="0" tIns="0" rIns="0" bIns="0" rtlCol="0" anchor="t">
            <a:normAutofit/>
          </a:bodyPr>
          <a:lstStyle/>
          <a:p>
            <a:pPr marL="0" indent="0" algn="l">
              <a:lnSpc>
                <a:spcPts val="1687"/>
              </a:lnSpc>
              <a:buNone/>
            </a:pPr>
            <a:r>
              <a:rPr lang="en-US" sz="1164" dirty="0">
                <a:solidFill>
                  <a:srgbClr val="5C5344"/>
                </a:solidFill>
                <a:latin typeface="Arial" pitchFamily="34" charset="0"/>
                <a:ea typeface="Arial" pitchFamily="34" charset="-122"/>
                <a:cs typeface="Arial" pitchFamily="34" charset="-120"/>
              </a:rPr>
              <a:t>Day-out and stay are properly separated, with activity pages built the way people search. The direct competitor for weekday day-out demand.</a:t>
            </a:r>
            <a:endParaRPr lang="en-US" sz="1164" dirty="0"/>
          </a:p>
        </p:txBody>
      </p:sp>
      <p:sp>
        <p:nvSpPr>
          <p:cNvPr id="40" name="Text 15"/>
          <p:cNvSpPr/>
          <p:nvPr/>
        </p:nvSpPr>
        <p:spPr>
          <a:xfrm>
            <a:off x="8271907" y="4300612"/>
            <a:ext cx="2912730" cy="279083"/>
          </a:xfrm>
          <a:prstGeom prst="rect">
            <a:avLst/>
          </a:prstGeom>
          <a:noFill/>
          <a:ln/>
        </p:spPr>
        <p:txBody>
          <a:bodyPr wrap="square" lIns="0" tIns="0" rIns="0" bIns="0" rtlCol="0" anchor="t">
            <a:normAutofit/>
          </a:bodyPr>
          <a:lstStyle/>
          <a:p>
            <a:pPr marL="0" indent="0" algn="l">
              <a:lnSpc>
                <a:spcPts val="2023"/>
              </a:lnSpc>
              <a:buNone/>
            </a:pPr>
            <a:r>
              <a:rPr lang="en-US" sz="1445" dirty="0">
                <a:solidFill>
                  <a:srgbClr val="B54A28"/>
                </a:solidFill>
                <a:latin typeface="Arial" pitchFamily="34" charset="0"/>
                <a:ea typeface="Arial" pitchFamily="34" charset="-122"/>
                <a:cs typeface="Arial" pitchFamily="34" charset="-120"/>
                <a:hlinkClick r:id="rId4"/>
              </a:rPr>
              <a:t>discoveryvillage.in</a:t>
            </a:r>
            <a:endParaRPr lang="en-US" sz="1445" dirty="0"/>
          </a:p>
        </p:txBody>
      </p:sp>
      <p:sp>
        <p:nvSpPr>
          <p:cNvPr id="17" name="Text 15"/>
          <p:cNvSpPr/>
          <p:nvPr/>
        </p:nvSpPr>
        <p:spPr>
          <a:xfrm>
            <a:off x="8271907" y="4300612"/>
            <a:ext cx="2912730" cy="279083"/>
          </a:xfrm>
          <a:prstGeom prst="rect">
            <a:avLst/>
          </a:prstGeom>
          <a:noFill/>
          <a:ln/>
        </p:spPr>
        <p:txBody>
          <a:bodyPr wrap="square" lIns="0" tIns="0" rIns="0" bIns="0" rtlCol="0" anchor="t">
            <a:normAutofit/>
          </a:bodyPr>
          <a:lstStyle/>
          <a:p>
            <a:pPr marL="0" indent="0" algn="l">
              <a:lnSpc>
                <a:spcPts val="2023"/>
              </a:lnSpc>
              <a:buNone/>
            </a:pPr>
            <a:r>
              <a:rPr lang="en-US" sz="1445" dirty="0">
                <a:solidFill>
                  <a:srgbClr val="B54A28"/>
                </a:solidFill>
                <a:latin typeface="Arial" pitchFamily="34" charset="0"/>
                <a:ea typeface="Arial" pitchFamily="34" charset="-122"/>
                <a:cs typeface="Arial" pitchFamily="34" charset="-120"/>
                <a:hlinkClick r:id="rId4"/>
              </a:rPr>
              <a:t>discoveryvillage.in</a:t>
            </a:r>
            <a:endParaRPr lang="en-US" sz="1445" dirty="0"/>
          </a:p>
        </p:txBody>
      </p:sp>
      <p:sp>
        <p:nvSpPr>
          <p:cNvPr id="16" name="Text 14"/>
          <p:cNvSpPr/>
          <p:nvPr/>
        </p:nvSpPr>
        <p:spPr>
          <a:xfrm>
            <a:off x="812800" y="6238255"/>
            <a:ext cx="5907543" cy="238760"/>
          </a:xfrm>
          <a:prstGeom prst="rect">
            <a:avLst/>
          </a:prstGeom>
          <a:noFill/>
          <a:ln/>
        </p:spPr>
        <p:txBody>
          <a:bodyPr wrap="square" lIns="0" tIns="0" rIns="0" bIns="0" rtlCol="0" anchor="t">
            <a:normAutofit fontScale="92500"/>
          </a:bodyPr>
          <a:lstStyle/>
          <a:p>
            <a:pPr marL="0" indent="0" algn="l">
              <a:lnSpc>
                <a:spcPts val="1680"/>
              </a:lnSpc>
              <a:buNone/>
            </a:pPr>
            <a:r>
              <a:rPr lang="en-US" sz="1200" dirty="0">
                <a:solidFill>
                  <a:srgbClr val="6B5A1F"/>
                </a:solidFill>
                <a:latin typeface="Arial" pitchFamily="34" charset="0"/>
                <a:ea typeface="Arial" pitchFamily="34" charset="-122"/>
                <a:cs typeface="Arial" pitchFamily="34" charset="-120"/>
              </a:rPr>
              <a:t>Reference for structure and positioning, not for visual design. Reviewed September 2026.</a:t>
            </a:r>
            <a:endParaRPr lang="en-US" sz="12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49">
    <p:bg>
      <p:bgPr>
        <a:solidFill>
          <a:srgbClr val="F7F3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995204"/>
          </a:xfrm>
          <a:prstGeom prst="rect">
            <a:avLst/>
          </a:prstGeom>
          <a:noFill/>
          <a:ln/>
        </p:spPr>
        <p:txBody>
          <a:bodyPr wrap="square" lIns="0" tIns="0" rIns="0" bIns="0" rtlCol="0" anchor="t">
            <a:normAutofit/>
          </a:bodyPr>
          <a:lstStyle/>
          <a:p>
            <a:pPr marL="0" indent="0" algn="l">
              <a:lnSpc>
                <a:spcPts val="4158"/>
              </a:lnSpc>
              <a:buNone/>
            </a:pPr>
            <a:r>
              <a:rPr lang="en-US" sz="3960" dirty="0">
                <a:solidFill>
                  <a:srgbClr val="17140F"/>
                </a:solidFill>
                <a:latin typeface="Georgia" pitchFamily="34" charset="0"/>
                <a:ea typeface="Georgia" pitchFamily="34" charset="-122"/>
                <a:cs typeface="Georgia" pitchFamily="34" charset="-120"/>
              </a:rPr>
              <a:t>The things a buyer needs are the hardest to find</a:t>
            </a:r>
            <a:endParaRPr lang="en-US" sz="3960" dirty="0"/>
          </a:p>
        </p:txBody>
      </p:sp>
      <p:sp>
        <p:nvSpPr>
          <p:cNvPr id="3" name="Text 1"/>
          <p:cNvSpPr/>
          <p:nvPr/>
        </p:nvSpPr>
        <p:spPr>
          <a:xfrm>
            <a:off x="812800" y="2036614"/>
            <a:ext cx="5624830" cy="909320"/>
          </a:xfrm>
          <a:prstGeom prst="rect">
            <a:avLst/>
          </a:prstGeom>
          <a:noFill/>
          <a:ln/>
        </p:spPr>
        <p:txBody>
          <a:bodyPr wrap="square" lIns="0" tIns="0" rIns="0" bIns="0" rtlCol="0" anchor="t">
            <a:normAutofit/>
          </a:bodyPr>
          <a:lstStyle/>
          <a:p>
            <a:pPr marL="0" indent="0" algn="l">
              <a:lnSpc>
                <a:spcPts val="2320"/>
              </a:lnSpc>
              <a:buNone/>
            </a:pPr>
            <a:r>
              <a:rPr lang="en-US" sz="1600" dirty="0">
                <a:solidFill>
                  <a:srgbClr val="5C5344"/>
                </a:solidFill>
                <a:latin typeface="Arial" pitchFamily="34" charset="0"/>
                <a:ea typeface="Arial" pitchFamily="34" charset="-122"/>
                <a:cs typeface="Arial" pitchFamily="34" charset="-120"/>
              </a:rPr>
              <a:t>These are the live rates. None of them appear on the website in a form a visitor can compare. They are three clicks away on a different domain.</a:t>
            </a:r>
            <a:endParaRPr lang="en-US" sz="1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3057689"/>
          <a:ext cx="5450841" cy="1480820"/>
        </p:xfrm>
        <a:graphic>
          <a:graphicData uri="http://schemas.openxmlformats.org/drawingml/2006/table">
            <a:tbl>
              <a:tblPr/>
              <a:tblGrid>
                <a:gridCol w="1526235">
                  <a:extLst>
                    <a:ext uri="{9D8B030D-6E8A-4147-A177-3AD203B41FA5}">
                      <a16:colId xmlns:a16="http://schemas.microsoft.com/office/drawing/2014/main" val="20000"/>
                    </a:ext>
                  </a:extLst>
                </a:gridCol>
                <a:gridCol w="1308202">
                  <a:extLst>
                    <a:ext uri="{9D8B030D-6E8A-4147-A177-3AD203B41FA5}">
                      <a16:colId xmlns:a16="http://schemas.microsoft.com/office/drawing/2014/main" val="20001"/>
                    </a:ext>
                  </a:extLst>
                </a:gridCol>
                <a:gridCol w="1308202">
                  <a:extLst>
                    <a:ext uri="{9D8B030D-6E8A-4147-A177-3AD203B41FA5}">
                      <a16:colId xmlns:a16="http://schemas.microsoft.com/office/drawing/2014/main" val="20002"/>
                    </a:ext>
                  </a:extLst>
                </a:gridCol>
                <a:gridCol w="1308202">
                  <a:extLst>
                    <a:ext uri="{9D8B030D-6E8A-4147-A177-3AD203B41FA5}">
                      <a16:colId xmlns:a16="http://schemas.microsoft.com/office/drawing/2014/main" val="20003"/>
                    </a:ext>
                  </a:extLst>
                </a:gridCol>
              </a:tblGrid>
              <a:tr h="370205">
                <a:tc>
                  <a:txBody>
                    <a:bodyPr/>
                    <a:lstStyle/>
                    <a:p>
                      <a:pPr marL="0" indent="0">
                        <a:lnSpc>
                          <a:spcPts val="1890"/>
                        </a:lnSpc>
                        <a:buNone/>
                      </a:pPr>
                      <a:r>
                        <a:rPr lang="en-US" sz="1350" b="1" dirty="0">
                          <a:solidFill>
                            <a:srgbClr val="F7F3EA"/>
                          </a:solidFill>
                          <a:latin typeface="Arial" pitchFamily="34" charset="0"/>
                          <a:ea typeface="Arial" pitchFamily="34" charset="-122"/>
                          <a:cs typeface="Arial" pitchFamily="34" charset="-120"/>
                        </a:rPr>
                        <a:t>Room</a:t>
                      </a:r>
                      <a:endParaRPr lang="en-US" sz="1350" dirty="0">
                        <a:latin typeface="Arial" charset="0"/>
                        <a:ea typeface="Arial" charset="0"/>
                        <a:cs typeface="Arial" charset="0"/>
                      </a:endParaRPr>
                    </a:p>
                  </a:txBody>
                  <a:tcPr marL="60007" marR="60007" marT="60007" marB="60007">
                    <a:lnL w="12700" cap="flat" cmpd="sng" algn="ctr">
                      <a:solidFill>
                        <a:srgbClr val="C5C2BB"/>
                      </a:solidFill>
                      <a:prstDash val="solid"/>
                      <a:round/>
                      <a:headEnd type="none" w="med" len="med"/>
                      <a:tailEnd type="none" w="med" len="med"/>
                    </a:lnL>
                    <a:lnR w="12700" cap="flat" cmpd="sng" algn="ctr">
                      <a:solidFill>
                        <a:srgbClr val="161410"/>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161410"/>
                      </a:solidFill>
                      <a:prstDash val="solid"/>
                      <a:round/>
                      <a:headEnd type="none" w="med" len="med"/>
                      <a:tailEnd type="none" w="med" len="med"/>
                    </a:lnB>
                    <a:solidFill>
                      <a:srgbClr val="17140F"/>
                    </a:solidFill>
                  </a:tcPr>
                </a:tc>
                <a:tc>
                  <a:txBody>
                    <a:bodyPr/>
                    <a:lstStyle/>
                    <a:p>
                      <a:pPr marL="0" indent="0">
                        <a:lnSpc>
                          <a:spcPts val="1890"/>
                        </a:lnSpc>
                        <a:buNone/>
                      </a:pPr>
                      <a:r>
                        <a:rPr lang="en-US" sz="1350" b="1" dirty="0">
                          <a:solidFill>
                            <a:srgbClr val="F7F3EA"/>
                          </a:solidFill>
                          <a:latin typeface="Arial" pitchFamily="34" charset="0"/>
                          <a:ea typeface="Arial" pitchFamily="34" charset="-122"/>
                          <a:cs typeface="Arial" pitchFamily="34" charset="-120"/>
                        </a:rPr>
                        <a:t>Room only</a:t>
                      </a:r>
                      <a:endParaRPr lang="en-US" sz="1350" dirty="0">
                        <a:latin typeface="Arial" charset="0"/>
                        <a:ea typeface="Arial" charset="0"/>
                        <a:cs typeface="Arial" charset="0"/>
                      </a:endParaRPr>
                    </a:p>
                  </a:txBody>
                  <a:tcPr marL="60007" marR="60007" marT="60007" marB="60007">
                    <a:lnL w="12700" cap="flat" cmpd="sng" algn="ctr">
                      <a:solidFill>
                        <a:srgbClr val="161410"/>
                      </a:solidFill>
                      <a:prstDash val="solid"/>
                      <a:round/>
                      <a:headEnd type="none" w="med" len="med"/>
                      <a:tailEnd type="none" w="med" len="med"/>
                    </a:lnL>
                    <a:lnR w="12700" cap="flat" cmpd="sng" algn="ctr">
                      <a:solidFill>
                        <a:srgbClr val="161410"/>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161410"/>
                      </a:solidFill>
                      <a:prstDash val="solid"/>
                      <a:round/>
                      <a:headEnd type="none" w="med" len="med"/>
                      <a:tailEnd type="none" w="med" len="med"/>
                    </a:lnB>
                    <a:solidFill>
                      <a:srgbClr val="17140F"/>
                    </a:solidFill>
                  </a:tcPr>
                </a:tc>
                <a:tc>
                  <a:txBody>
                    <a:bodyPr/>
                    <a:lstStyle/>
                    <a:p>
                      <a:pPr marL="0" indent="0">
                        <a:lnSpc>
                          <a:spcPts val="1890"/>
                        </a:lnSpc>
                        <a:buNone/>
                      </a:pPr>
                      <a:r>
                        <a:rPr lang="en-US" sz="1350" b="1" dirty="0">
                          <a:solidFill>
                            <a:srgbClr val="F7F3EA"/>
                          </a:solidFill>
                          <a:latin typeface="Arial" pitchFamily="34" charset="0"/>
                          <a:ea typeface="Arial" pitchFamily="34" charset="-122"/>
                          <a:cs typeface="Arial" pitchFamily="34" charset="-120"/>
                        </a:rPr>
                        <a:t>B&amp;B</a:t>
                      </a:r>
                      <a:endParaRPr lang="en-US" sz="1350" dirty="0">
                        <a:latin typeface="Arial" charset="0"/>
                        <a:ea typeface="Arial" charset="0"/>
                        <a:cs typeface="Arial" charset="0"/>
                      </a:endParaRPr>
                    </a:p>
                  </a:txBody>
                  <a:tcPr marL="60007" marR="60007" marT="60007" marB="60007">
                    <a:lnL w="12700" cap="flat" cmpd="sng" algn="ctr">
                      <a:solidFill>
                        <a:srgbClr val="161410"/>
                      </a:solidFill>
                      <a:prstDash val="solid"/>
                      <a:round/>
                      <a:headEnd type="none" w="med" len="med"/>
                      <a:tailEnd type="none" w="med" len="med"/>
                    </a:lnL>
                    <a:lnR w="12700" cap="flat" cmpd="sng" algn="ctr">
                      <a:solidFill>
                        <a:srgbClr val="161410"/>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161410"/>
                      </a:solidFill>
                      <a:prstDash val="solid"/>
                      <a:round/>
                      <a:headEnd type="none" w="med" len="med"/>
                      <a:tailEnd type="none" w="med" len="med"/>
                    </a:lnB>
                    <a:solidFill>
                      <a:srgbClr val="17140F"/>
                    </a:solidFill>
                  </a:tcPr>
                </a:tc>
                <a:tc>
                  <a:txBody>
                    <a:bodyPr/>
                    <a:lstStyle/>
                    <a:p>
                      <a:pPr marL="0" indent="0">
                        <a:lnSpc>
                          <a:spcPts val="1890"/>
                        </a:lnSpc>
                        <a:buNone/>
                      </a:pPr>
                      <a:r>
                        <a:rPr lang="en-US" sz="1350" b="1" dirty="0">
                          <a:solidFill>
                            <a:srgbClr val="F7F3EA"/>
                          </a:solidFill>
                          <a:latin typeface="Arial" pitchFamily="34" charset="0"/>
                          <a:ea typeface="Arial" pitchFamily="34" charset="-122"/>
                          <a:cs typeface="Arial" pitchFamily="34" charset="-120"/>
                        </a:rPr>
                        <a:t>All meals</a:t>
                      </a:r>
                      <a:endParaRPr lang="en-US" sz="1350" dirty="0">
                        <a:latin typeface="Arial" charset="0"/>
                        <a:ea typeface="Arial" charset="0"/>
                        <a:cs typeface="Arial" charset="0"/>
                      </a:endParaRPr>
                    </a:p>
                  </a:txBody>
                  <a:tcPr marL="60007" marR="60007" marT="60007" marB="60007">
                    <a:lnL w="12700" cap="flat" cmpd="sng" algn="ctr">
                      <a:solidFill>
                        <a:srgbClr val="161410"/>
                      </a:solidFill>
                      <a:prstDash val="solid"/>
                      <a:round/>
                      <a:headEnd type="none" w="med" len="med"/>
                      <a:tailEnd type="none" w="med" len="med"/>
                    </a:lnL>
                    <a:lnR w="12700" cap="flat" cmpd="sng" algn="ctr">
                      <a:solidFill>
                        <a:srgbClr val="161410"/>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161410"/>
                      </a:solidFill>
                      <a:prstDash val="solid"/>
                      <a:round/>
                      <a:headEnd type="none" w="med" len="med"/>
                      <a:tailEnd type="none" w="med" len="med"/>
                    </a:lnB>
                    <a:solidFill>
                      <a:srgbClr val="17140F"/>
                    </a:solidFill>
                  </a:tcPr>
                </a:tc>
                <a:extLst>
                  <a:ext uri="{0D108BD9-81ED-4DB2-BD59-A6C34878D82A}">
                    <a16:rowId xmlns:a16="http://schemas.microsoft.com/office/drawing/2014/main" val="10000"/>
                  </a:ext>
                </a:extLst>
              </a:tr>
              <a:tr h="370205">
                <a:tc>
                  <a:txBody>
                    <a:bodyPr/>
                    <a:lstStyle/>
                    <a:p>
                      <a:pPr marL="0" indent="0">
                        <a:lnSpc>
                          <a:spcPts val="1890"/>
                        </a:lnSpc>
                        <a:buNone/>
                      </a:pPr>
                      <a:r>
                        <a:rPr lang="en-US" sz="1350" dirty="0">
                          <a:solidFill>
                            <a:srgbClr val="17140F"/>
                          </a:solidFill>
                          <a:latin typeface="Arial" pitchFamily="34" charset="0"/>
                          <a:ea typeface="Arial" pitchFamily="34" charset="-122"/>
                          <a:cs typeface="Arial" pitchFamily="34" charset="-120"/>
                        </a:rPr>
                        <a:t>Primitive</a:t>
                      </a:r>
                      <a:endParaRPr lang="en-US" sz="1350" dirty="0">
                        <a:latin typeface="Arial" charset="0"/>
                        <a:ea typeface="Arial" charset="0"/>
                        <a:cs typeface="Arial" charset="0"/>
                      </a:endParaRPr>
                    </a:p>
                  </a:txBody>
                  <a:tcPr marL="60007" marR="60007" marT="60007" marB="60007">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161410"/>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890"/>
                        </a:lnSpc>
                        <a:buNone/>
                      </a:pPr>
                      <a:r>
                        <a:rPr lang="en-US" sz="1350" dirty="0">
                          <a:solidFill>
                            <a:srgbClr val="17140F"/>
                          </a:solidFill>
                          <a:latin typeface="Arial" pitchFamily="34" charset="0"/>
                          <a:ea typeface="Arial" pitchFamily="34" charset="-122"/>
                          <a:cs typeface="Arial" pitchFamily="34" charset="-120"/>
                        </a:rPr>
                        <a:t>₹4,620</a:t>
                      </a:r>
                      <a:endParaRPr lang="en-US" sz="1350" dirty="0">
                        <a:latin typeface="Arial" charset="0"/>
                        <a:ea typeface="Arial" charset="0"/>
                        <a:cs typeface="Arial" charset="0"/>
                      </a:endParaRPr>
                    </a:p>
                  </a:txBody>
                  <a:tcPr marL="60007" marR="60007" marT="60007" marB="60007">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161410"/>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890"/>
                        </a:lnSpc>
                        <a:buNone/>
                      </a:pPr>
                      <a:r>
                        <a:rPr lang="en-US" sz="1350" dirty="0">
                          <a:solidFill>
                            <a:srgbClr val="17140F"/>
                          </a:solidFill>
                          <a:latin typeface="Arial" pitchFamily="34" charset="0"/>
                          <a:ea typeface="Arial" pitchFamily="34" charset="-122"/>
                          <a:cs typeface="Arial" pitchFamily="34" charset="-120"/>
                        </a:rPr>
                        <a:t>₹5,040</a:t>
                      </a:r>
                      <a:endParaRPr lang="en-US" sz="1350" dirty="0">
                        <a:latin typeface="Arial" charset="0"/>
                        <a:ea typeface="Arial" charset="0"/>
                        <a:cs typeface="Arial" charset="0"/>
                      </a:endParaRPr>
                    </a:p>
                  </a:txBody>
                  <a:tcPr marL="60007" marR="60007" marT="60007" marB="60007">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161410"/>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890"/>
                        </a:lnSpc>
                        <a:buNone/>
                      </a:pPr>
                      <a:r>
                        <a:rPr lang="en-US" sz="1350" dirty="0">
                          <a:solidFill>
                            <a:srgbClr val="17140F"/>
                          </a:solidFill>
                          <a:latin typeface="Arial" pitchFamily="34" charset="0"/>
                          <a:ea typeface="Arial" pitchFamily="34" charset="-122"/>
                          <a:cs typeface="Arial" pitchFamily="34" charset="-120"/>
                        </a:rPr>
                        <a:t>₹7,560</a:t>
                      </a:r>
                      <a:endParaRPr lang="en-US" sz="1350" dirty="0">
                        <a:latin typeface="Arial" charset="0"/>
                        <a:ea typeface="Arial" charset="0"/>
                        <a:cs typeface="Arial" charset="0"/>
                      </a:endParaRPr>
                    </a:p>
                  </a:txBody>
                  <a:tcPr marL="60007" marR="60007" marT="60007" marB="60007">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161410"/>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extLst>
                  <a:ext uri="{0D108BD9-81ED-4DB2-BD59-A6C34878D82A}">
                    <a16:rowId xmlns:a16="http://schemas.microsoft.com/office/drawing/2014/main" val="10001"/>
                  </a:ext>
                </a:extLst>
              </a:tr>
              <a:tr h="370205">
                <a:tc>
                  <a:txBody>
                    <a:bodyPr/>
                    <a:lstStyle/>
                    <a:p>
                      <a:pPr marL="0" indent="0">
                        <a:lnSpc>
                          <a:spcPts val="1890"/>
                        </a:lnSpc>
                        <a:buNone/>
                      </a:pPr>
                      <a:r>
                        <a:rPr lang="en-US" sz="1350" dirty="0">
                          <a:solidFill>
                            <a:srgbClr val="17140F"/>
                          </a:solidFill>
                          <a:latin typeface="Arial" pitchFamily="34" charset="0"/>
                          <a:ea typeface="Arial" pitchFamily="34" charset="-122"/>
                          <a:cs typeface="Arial" pitchFamily="34" charset="-120"/>
                        </a:rPr>
                        <a:t>Lithic</a:t>
                      </a:r>
                      <a:endParaRPr lang="en-US" sz="1350" dirty="0">
                        <a:latin typeface="Arial" charset="0"/>
                        <a:ea typeface="Arial" charset="0"/>
                        <a:cs typeface="Arial" charset="0"/>
                      </a:endParaRPr>
                    </a:p>
                  </a:txBody>
                  <a:tcPr marL="60007" marR="60007" marT="60007" marB="60007">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890"/>
                        </a:lnSpc>
                        <a:buNone/>
                      </a:pPr>
                      <a:r>
                        <a:rPr lang="en-US" sz="1350" dirty="0">
                          <a:solidFill>
                            <a:srgbClr val="17140F"/>
                          </a:solidFill>
                          <a:latin typeface="Arial" pitchFamily="34" charset="0"/>
                          <a:ea typeface="Arial" pitchFamily="34" charset="-122"/>
                          <a:cs typeface="Arial" pitchFamily="34" charset="-120"/>
                        </a:rPr>
                        <a:t>₹5,460</a:t>
                      </a:r>
                      <a:endParaRPr lang="en-US" sz="1350" dirty="0">
                        <a:latin typeface="Arial" charset="0"/>
                        <a:ea typeface="Arial" charset="0"/>
                        <a:cs typeface="Arial" charset="0"/>
                      </a:endParaRPr>
                    </a:p>
                  </a:txBody>
                  <a:tcPr marL="60007" marR="60007" marT="60007" marB="60007">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890"/>
                        </a:lnSpc>
                        <a:buNone/>
                      </a:pPr>
                      <a:r>
                        <a:rPr lang="en-US" sz="1350" dirty="0">
                          <a:solidFill>
                            <a:srgbClr val="17140F"/>
                          </a:solidFill>
                          <a:latin typeface="Arial" pitchFamily="34" charset="0"/>
                          <a:ea typeface="Arial" pitchFamily="34" charset="-122"/>
                          <a:cs typeface="Arial" pitchFamily="34" charset="-120"/>
                        </a:rPr>
                        <a:t>₹5,880</a:t>
                      </a:r>
                      <a:endParaRPr lang="en-US" sz="1350" dirty="0">
                        <a:latin typeface="Arial" charset="0"/>
                        <a:ea typeface="Arial" charset="0"/>
                        <a:cs typeface="Arial" charset="0"/>
                      </a:endParaRPr>
                    </a:p>
                  </a:txBody>
                  <a:tcPr marL="60007" marR="60007" marT="60007" marB="60007">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890"/>
                        </a:lnSpc>
                        <a:buNone/>
                      </a:pPr>
                      <a:r>
                        <a:rPr lang="en-US" sz="1350" dirty="0">
                          <a:solidFill>
                            <a:srgbClr val="17140F"/>
                          </a:solidFill>
                          <a:latin typeface="Arial" pitchFamily="34" charset="0"/>
                          <a:ea typeface="Arial" pitchFamily="34" charset="-122"/>
                          <a:cs typeface="Arial" pitchFamily="34" charset="-120"/>
                        </a:rPr>
                        <a:t>₹8,400</a:t>
                      </a:r>
                      <a:endParaRPr lang="en-US" sz="1350" dirty="0">
                        <a:latin typeface="Arial" charset="0"/>
                        <a:ea typeface="Arial" charset="0"/>
                        <a:cs typeface="Arial" charset="0"/>
                      </a:endParaRPr>
                    </a:p>
                  </a:txBody>
                  <a:tcPr marL="60007" marR="60007" marT="60007" marB="60007">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extLst>
                  <a:ext uri="{0D108BD9-81ED-4DB2-BD59-A6C34878D82A}">
                    <a16:rowId xmlns:a16="http://schemas.microsoft.com/office/drawing/2014/main" val="10002"/>
                  </a:ext>
                </a:extLst>
              </a:tr>
              <a:tr h="370205">
                <a:tc>
                  <a:txBody>
                    <a:bodyPr/>
                    <a:lstStyle/>
                    <a:p>
                      <a:pPr marL="0" indent="0">
                        <a:lnSpc>
                          <a:spcPts val="1890"/>
                        </a:lnSpc>
                        <a:buNone/>
                      </a:pPr>
                      <a:r>
                        <a:rPr lang="en-US" sz="1350" dirty="0">
                          <a:solidFill>
                            <a:srgbClr val="17140F"/>
                          </a:solidFill>
                          <a:latin typeface="Arial" pitchFamily="34" charset="0"/>
                          <a:ea typeface="Arial" pitchFamily="34" charset="-122"/>
                          <a:cs typeface="Arial" pitchFamily="34" charset="-120"/>
                        </a:rPr>
                        <a:t>Glamp House</a:t>
                      </a:r>
                      <a:endParaRPr lang="en-US" sz="1350" dirty="0">
                        <a:latin typeface="Arial" charset="0"/>
                        <a:ea typeface="Arial" charset="0"/>
                        <a:cs typeface="Arial" charset="0"/>
                      </a:endParaRPr>
                    </a:p>
                  </a:txBody>
                  <a:tcPr marL="60007" marR="60007" marT="60007" marB="60007">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890"/>
                        </a:lnSpc>
                        <a:buNone/>
                      </a:pPr>
                      <a:r>
                        <a:rPr lang="en-US" sz="1350" dirty="0">
                          <a:solidFill>
                            <a:srgbClr val="17140F"/>
                          </a:solidFill>
                          <a:latin typeface="Arial" pitchFamily="34" charset="0"/>
                          <a:ea typeface="Arial" pitchFamily="34" charset="-122"/>
                          <a:cs typeface="Arial" pitchFamily="34" charset="-120"/>
                        </a:rPr>
                        <a:t>₹3,360</a:t>
                      </a:r>
                      <a:endParaRPr lang="en-US" sz="1350" dirty="0">
                        <a:latin typeface="Arial" charset="0"/>
                        <a:ea typeface="Arial" charset="0"/>
                        <a:cs typeface="Arial" charset="0"/>
                      </a:endParaRPr>
                    </a:p>
                  </a:txBody>
                  <a:tcPr marL="60007" marR="60007" marT="60007" marB="60007">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890"/>
                        </a:lnSpc>
                        <a:buNone/>
                      </a:pPr>
                      <a:r>
                        <a:rPr lang="en-US" sz="1350" dirty="0">
                          <a:solidFill>
                            <a:srgbClr val="17140F"/>
                          </a:solidFill>
                          <a:latin typeface="Arial" pitchFamily="34" charset="0"/>
                          <a:ea typeface="Arial" pitchFamily="34" charset="-122"/>
                          <a:cs typeface="Arial" pitchFamily="34" charset="-120"/>
                        </a:rPr>
                        <a:t>₹3,780</a:t>
                      </a:r>
                      <a:endParaRPr lang="en-US" sz="1350" dirty="0">
                        <a:latin typeface="Arial" charset="0"/>
                        <a:ea typeface="Arial" charset="0"/>
                        <a:cs typeface="Arial" charset="0"/>
                      </a:endParaRPr>
                    </a:p>
                  </a:txBody>
                  <a:tcPr marL="60007" marR="60007" marT="60007" marB="60007">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890"/>
                        </a:lnSpc>
                        <a:buNone/>
                      </a:pPr>
                      <a:r>
                        <a:rPr lang="en-US" sz="1350" dirty="0">
                          <a:solidFill>
                            <a:srgbClr val="17140F"/>
                          </a:solidFill>
                          <a:latin typeface="Arial" pitchFamily="34" charset="0"/>
                          <a:ea typeface="Arial" pitchFamily="34" charset="-122"/>
                          <a:cs typeface="Arial" pitchFamily="34" charset="-120"/>
                        </a:rPr>
                        <a:t>₹6,300</a:t>
                      </a:r>
                      <a:endParaRPr lang="en-US" sz="1350" dirty="0">
                        <a:latin typeface="Arial" charset="0"/>
                        <a:ea typeface="Arial" charset="0"/>
                        <a:cs typeface="Arial" charset="0"/>
                      </a:endParaRPr>
                    </a:p>
                  </a:txBody>
                  <a:tcPr marL="60007" marR="60007" marT="60007" marB="60007">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Text 2"/>
          <p:cNvSpPr/>
          <p:nvPr/>
        </p:nvSpPr>
        <p:spPr>
          <a:xfrm>
            <a:off x="812800" y="4665514"/>
            <a:ext cx="562483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8A8071"/>
                </a:solidFill>
                <a:latin typeface="Arial" pitchFamily="34" charset="0"/>
                <a:ea typeface="Arial" pitchFamily="34" charset="-122"/>
                <a:cs typeface="Arial" pitchFamily="34" charset="-120"/>
              </a:rPr>
              <a:t>Per night, one adult, taxes included, weekday 20% offer applied.</a:t>
            </a:r>
            <a:endParaRPr lang="en-US" sz="1300" dirty="0"/>
          </a:p>
        </p:txBody>
      </p:sp>
      <p:sp>
        <p:nvSpPr>
          <p:cNvPr id="6" name="Shape 3"/>
          <p:cNvSpPr/>
          <p:nvPr/>
        </p:nvSpPr>
        <p:spPr>
          <a:xfrm>
            <a:off x="6556375" y="2039789"/>
            <a:ext cx="4819650" cy="1435418"/>
          </a:xfrm>
          <a:prstGeom prst="roundRect">
            <a:avLst>
              <a:gd name="adj" fmla="val 6857"/>
            </a:avLst>
          </a:prstGeom>
          <a:solidFill>
            <a:srgbClr val="FFFFFF"/>
          </a:solidFill>
          <a:ln w="6350">
            <a:solidFill>
              <a:srgbClr val="DDD5C5"/>
            </a:solidFill>
            <a:prstDash val="solid"/>
          </a:ln>
        </p:spPr>
      </p:sp>
      <p:sp>
        <p:nvSpPr>
          <p:cNvPr id="7" name="Text 4"/>
          <p:cNvSpPr/>
          <p:nvPr/>
        </p:nvSpPr>
        <p:spPr>
          <a:xfrm>
            <a:off x="6786880" y="2270299"/>
            <a:ext cx="448939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B54A28"/>
                </a:solidFill>
                <a:latin typeface="Arial" pitchFamily="34" charset="0"/>
                <a:ea typeface="Arial" pitchFamily="34" charset="-122"/>
                <a:cs typeface="Arial" pitchFamily="34" charset="-120"/>
              </a:rPr>
              <a:t>Not all rooms are caves</a:t>
            </a:r>
            <a:endParaRPr lang="en-US" sz="1500" dirty="0"/>
          </a:p>
        </p:txBody>
      </p:sp>
      <p:sp>
        <p:nvSpPr>
          <p:cNvPr id="8" name="Text 5"/>
          <p:cNvSpPr/>
          <p:nvPr/>
        </p:nvSpPr>
        <p:spPr>
          <a:xfrm>
            <a:off x="6786880" y="2498899"/>
            <a:ext cx="4489399" cy="771208"/>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5C5344"/>
                </a:solidFill>
                <a:latin typeface="Arial" pitchFamily="34" charset="0"/>
                <a:ea typeface="Arial" pitchFamily="34" charset="-122"/>
                <a:cs typeface="Arial" pitchFamily="34" charset="-120"/>
              </a:rPr>
              <a:t>Glamp House is a wooden cabin above ground. The cave story covers some rooms, not all — and the site never says which.</a:t>
            </a:r>
            <a:endParaRPr lang="en-US" sz="1350" dirty="0"/>
          </a:p>
        </p:txBody>
      </p:sp>
      <p:sp>
        <p:nvSpPr>
          <p:cNvPr id="9" name="Shape 6"/>
          <p:cNvSpPr/>
          <p:nvPr/>
        </p:nvSpPr>
        <p:spPr>
          <a:xfrm>
            <a:off x="6556375" y="3621261"/>
            <a:ext cx="4819650" cy="1435418"/>
          </a:xfrm>
          <a:prstGeom prst="roundRect">
            <a:avLst>
              <a:gd name="adj" fmla="val 6857"/>
            </a:avLst>
          </a:prstGeom>
          <a:solidFill>
            <a:srgbClr val="FFFFFF"/>
          </a:solidFill>
          <a:ln w="6350">
            <a:solidFill>
              <a:srgbClr val="DDD5C5"/>
            </a:solidFill>
            <a:prstDash val="solid"/>
          </a:ln>
        </p:spPr>
      </p:sp>
      <p:sp>
        <p:nvSpPr>
          <p:cNvPr id="10" name="Text 7"/>
          <p:cNvSpPr/>
          <p:nvPr/>
        </p:nvSpPr>
        <p:spPr>
          <a:xfrm>
            <a:off x="6786880" y="3851746"/>
            <a:ext cx="448939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B54A28"/>
                </a:solidFill>
                <a:latin typeface="Arial" pitchFamily="34" charset="0"/>
                <a:ea typeface="Arial" pitchFamily="34" charset="-122"/>
                <a:cs typeface="Arial" pitchFamily="34" charset="-120"/>
              </a:rPr>
              <a:t>"7–8 people looking"</a:t>
            </a:r>
            <a:endParaRPr lang="en-US" sz="1500" dirty="0"/>
          </a:p>
        </p:txBody>
      </p:sp>
      <p:sp>
        <p:nvSpPr>
          <p:cNvPr id="11" name="Text 8"/>
          <p:cNvSpPr/>
          <p:nvPr/>
        </p:nvSpPr>
        <p:spPr>
          <a:xfrm>
            <a:off x="6786880" y="4080346"/>
            <a:ext cx="4489399" cy="771208"/>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5C5344"/>
                </a:solidFill>
                <a:latin typeface="Arial" pitchFamily="34" charset="0"/>
                <a:ea typeface="Arial" pitchFamily="34" charset="-122"/>
                <a:cs typeface="Arial" pitchFamily="34" charset="-120"/>
              </a:rPr>
              <a:t>Urgency labels sit on every room. If they are real, they help. If generated, they are a trust risk on a page whose reviews already need support.</a:t>
            </a:r>
            <a:endParaRPr lang="en-US" sz="1350" dirty="0"/>
          </a:p>
        </p:txBody>
      </p:sp>
      <p:sp>
        <p:nvSpPr>
          <p:cNvPr id="12" name="Shape 9"/>
          <p:cNvSpPr/>
          <p:nvPr/>
        </p:nvSpPr>
        <p:spPr>
          <a:xfrm>
            <a:off x="6556375" y="5202709"/>
            <a:ext cx="4819650" cy="1435418"/>
          </a:xfrm>
          <a:prstGeom prst="roundRect">
            <a:avLst>
              <a:gd name="adj" fmla="val 6857"/>
            </a:avLst>
          </a:prstGeom>
          <a:solidFill>
            <a:srgbClr val="FFFFFF"/>
          </a:solidFill>
          <a:ln w="6350">
            <a:solidFill>
              <a:srgbClr val="DDD5C5"/>
            </a:solidFill>
            <a:prstDash val="solid"/>
          </a:ln>
        </p:spPr>
      </p:sp>
      <p:sp>
        <p:nvSpPr>
          <p:cNvPr id="13" name="Text 10"/>
          <p:cNvSpPr/>
          <p:nvPr/>
        </p:nvSpPr>
        <p:spPr>
          <a:xfrm>
            <a:off x="6786880" y="5433219"/>
            <a:ext cx="448939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B54A28"/>
                </a:solidFill>
                <a:latin typeface="Arial" pitchFamily="34" charset="0"/>
                <a:ea typeface="Arial" pitchFamily="34" charset="-122"/>
                <a:cs typeface="Arial" pitchFamily="34" charset="-120"/>
              </a:rPr>
              <a:t>The top rooms are invisible</a:t>
            </a:r>
            <a:endParaRPr lang="en-US" sz="1500" dirty="0"/>
          </a:p>
        </p:txBody>
      </p:sp>
      <p:sp>
        <p:nvSpPr>
          <p:cNvPr id="14" name="Text 11"/>
          <p:cNvSpPr/>
          <p:nvPr/>
        </p:nvSpPr>
        <p:spPr>
          <a:xfrm>
            <a:off x="6786880" y="5661819"/>
            <a:ext cx="4489399" cy="771208"/>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5C5344"/>
                </a:solidFill>
                <a:latin typeface="Arial" pitchFamily="34" charset="0"/>
                <a:ea typeface="Arial" pitchFamily="34" charset="-122"/>
                <a:cs typeface="Arial" pitchFamily="34" charset="-120"/>
              </a:rPr>
              <a:t>Lithic Suite and Cave Suite — the rooms the cave story sells hardest — are not surfaced anywhere a buyer would look.</a:t>
            </a:r>
            <a:endParaRPr lang="en-US" sz="1350" dirty="0"/>
          </a:p>
        </p:txBody>
      </p:sp>
      <p:sp>
        <p:nvSpPr>
          <p:cNvPr id="15" name="Text 12"/>
          <p:cNvSpPr/>
          <p:nvPr/>
        </p:nvSpPr>
        <p:spPr>
          <a:xfrm>
            <a:off x="812800" y="6238255"/>
            <a:ext cx="375253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071"/>
                </a:solidFill>
                <a:latin typeface="Arial" pitchFamily="34" charset="0"/>
                <a:ea typeface="Arial" pitchFamily="34" charset="-122"/>
                <a:cs typeface="Arial" pitchFamily="34" charset="-120"/>
              </a:rPr>
              <a:t>Source: Djubo booking engine, read September 2026.</a:t>
            </a:r>
            <a:endParaRPr lang="en-US" sz="12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0">
    <p:bg>
      <p:bgPr>
        <a:solidFill>
          <a:srgbClr val="17140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03304"/>
          </a:xfrm>
          <a:prstGeom prst="rect">
            <a:avLst/>
          </a:prstGeom>
          <a:noFill/>
          <a:ln/>
        </p:spPr>
        <p:txBody>
          <a:bodyPr wrap="square" lIns="0" tIns="0" rIns="0" bIns="0" rtlCol="0" anchor="t">
            <a:normAutofit/>
          </a:bodyPr>
          <a:lstStyle/>
          <a:p>
            <a:pPr marL="0" indent="0" algn="l">
              <a:lnSpc>
                <a:spcPts val="3017"/>
              </a:lnSpc>
              <a:buNone/>
            </a:pPr>
            <a:r>
              <a:rPr lang="en-US" sz="2874" dirty="0">
                <a:solidFill>
                  <a:srgbClr val="C9A63C"/>
                </a:solidFill>
                <a:latin typeface="Georgia" pitchFamily="34" charset="0"/>
                <a:ea typeface="Georgia" pitchFamily="34" charset="-122"/>
                <a:cs typeface="Georgia" pitchFamily="34" charset="-120"/>
              </a:rPr>
              <a:t>Four landing pages, one for each buyer</a:t>
            </a:r>
            <a:endParaRPr lang="en-US" sz="2874" dirty="0"/>
          </a:p>
        </p:txBody>
      </p:sp>
      <p:sp>
        <p:nvSpPr>
          <p:cNvPr id="3" name="Shape 1"/>
          <p:cNvSpPr/>
          <p:nvPr/>
        </p:nvSpPr>
        <p:spPr>
          <a:xfrm>
            <a:off x="815975" y="1447874"/>
            <a:ext cx="2520950" cy="1682750"/>
          </a:xfrm>
          <a:prstGeom prst="roundRect">
            <a:avLst>
              <a:gd name="adj" fmla="val 5849"/>
            </a:avLst>
          </a:prstGeom>
          <a:solidFill>
            <a:srgbClr val="221E18"/>
          </a:solidFill>
          <a:ln w="6350">
            <a:solidFill>
              <a:srgbClr val="3A342A"/>
            </a:solidFill>
            <a:prstDash val="solid"/>
          </a:ln>
        </p:spPr>
      </p:sp>
      <p:sp>
        <p:nvSpPr>
          <p:cNvPr id="4" name="Text 2"/>
          <p:cNvSpPr/>
          <p:nvPr/>
        </p:nvSpPr>
        <p:spPr>
          <a:xfrm>
            <a:off x="1071880" y="1703784"/>
            <a:ext cx="2069414" cy="203121"/>
          </a:xfrm>
          <a:prstGeom prst="rect">
            <a:avLst/>
          </a:prstGeom>
          <a:noFill/>
          <a:ln/>
        </p:spPr>
        <p:txBody>
          <a:bodyPr wrap="square" lIns="0" tIns="0" rIns="0" bIns="0" rtlCol="0" anchor="t">
            <a:normAutofit/>
          </a:bodyPr>
          <a:lstStyle/>
          <a:p>
            <a:pPr marL="0" indent="0" algn="l">
              <a:lnSpc>
                <a:spcPts val="1422"/>
              </a:lnSpc>
              <a:buNone/>
            </a:pPr>
            <a:r>
              <a:rPr lang="en-US" sz="1185" b="1" dirty="0">
                <a:solidFill>
                  <a:srgbClr val="F7F3EA"/>
                </a:solidFill>
                <a:latin typeface="Arial" pitchFamily="34" charset="0"/>
                <a:ea typeface="Arial" pitchFamily="34" charset="-122"/>
                <a:cs typeface="Arial" pitchFamily="34" charset="-120"/>
              </a:rPr>
              <a:t>Day-out</a:t>
            </a:r>
            <a:endParaRPr lang="en-US" sz="1185" dirty="0"/>
          </a:p>
        </p:txBody>
      </p:sp>
      <p:sp>
        <p:nvSpPr>
          <p:cNvPr id="5" name="Text 3"/>
          <p:cNvSpPr/>
          <p:nvPr/>
        </p:nvSpPr>
        <p:spPr>
          <a:xfrm>
            <a:off x="1071880" y="1970410"/>
            <a:ext cx="2069414" cy="682228"/>
          </a:xfrm>
          <a:prstGeom prst="rect">
            <a:avLst/>
          </a:prstGeom>
          <a:noFill/>
          <a:ln/>
        </p:spPr>
        <p:txBody>
          <a:bodyPr wrap="square" lIns="0" tIns="0" rIns="0" bIns="0" rtlCol="0" anchor="t">
            <a:normAutofit/>
          </a:bodyPr>
          <a:lstStyle/>
          <a:p>
            <a:pPr marL="0" indent="0" algn="l">
              <a:lnSpc>
                <a:spcPts val="1508"/>
              </a:lnSpc>
              <a:buNone/>
            </a:pPr>
            <a:r>
              <a:rPr lang="en-US" sz="1040" dirty="0">
                <a:solidFill>
                  <a:srgbClr val="A79C89"/>
                </a:solidFill>
                <a:latin typeface="Arial" pitchFamily="34" charset="0"/>
                <a:ea typeface="Arial" pitchFamily="34" charset="-122"/>
                <a:cs typeface="Arial" pitchFamily="34" charset="-120"/>
              </a:rPr>
              <a:t>Price per head, timings, activity list, drive time, what children get. Book or WhatsApp above the fold.</a:t>
            </a:r>
            <a:endParaRPr lang="en-US" sz="1040" dirty="0"/>
          </a:p>
        </p:txBody>
      </p:sp>
      <p:sp>
        <p:nvSpPr>
          <p:cNvPr id="6" name="Text 4"/>
          <p:cNvSpPr/>
          <p:nvPr/>
        </p:nvSpPr>
        <p:spPr>
          <a:xfrm>
            <a:off x="1071880" y="2716138"/>
            <a:ext cx="2069414" cy="183991"/>
          </a:xfrm>
          <a:prstGeom prst="rect">
            <a:avLst/>
          </a:prstGeom>
          <a:noFill/>
          <a:ln/>
        </p:spPr>
        <p:txBody>
          <a:bodyPr wrap="square" lIns="0" tIns="0" rIns="0" bIns="0" rtlCol="0" anchor="t">
            <a:normAutofit/>
          </a:bodyPr>
          <a:lstStyle/>
          <a:p>
            <a:pPr marL="0" indent="0" algn="l">
              <a:lnSpc>
                <a:spcPts val="1274"/>
              </a:lnSpc>
              <a:buNone/>
            </a:pPr>
            <a:r>
              <a:rPr lang="en-US" sz="910" dirty="0">
                <a:solidFill>
                  <a:srgbClr val="C9A63C"/>
                </a:solidFill>
                <a:latin typeface="Arial" pitchFamily="34" charset="0"/>
                <a:ea typeface="Arial" pitchFamily="34" charset="-122"/>
                <a:cs typeface="Arial" pitchFamily="34" charset="-120"/>
              </a:rPr>
              <a:t>Highest volume · fix first</a:t>
            </a:r>
            <a:endParaRPr lang="en-US" sz="910" dirty="0"/>
          </a:p>
        </p:txBody>
      </p:sp>
      <p:sp>
        <p:nvSpPr>
          <p:cNvPr id="7" name="Shape 5"/>
          <p:cNvSpPr/>
          <p:nvPr/>
        </p:nvSpPr>
        <p:spPr>
          <a:xfrm>
            <a:off x="3495675" y="1447874"/>
            <a:ext cx="2520950" cy="1682750"/>
          </a:xfrm>
          <a:prstGeom prst="roundRect">
            <a:avLst>
              <a:gd name="adj" fmla="val 5849"/>
            </a:avLst>
          </a:prstGeom>
          <a:solidFill>
            <a:srgbClr val="221E18"/>
          </a:solidFill>
          <a:ln w="6350">
            <a:solidFill>
              <a:srgbClr val="3A342A"/>
            </a:solidFill>
            <a:prstDash val="solid"/>
          </a:ln>
        </p:spPr>
      </p:sp>
      <p:sp>
        <p:nvSpPr>
          <p:cNvPr id="8" name="Text 6"/>
          <p:cNvSpPr/>
          <p:nvPr/>
        </p:nvSpPr>
        <p:spPr>
          <a:xfrm>
            <a:off x="3751580" y="1703784"/>
            <a:ext cx="2069414" cy="158988"/>
          </a:xfrm>
          <a:prstGeom prst="rect">
            <a:avLst/>
          </a:prstGeom>
          <a:noFill/>
          <a:ln/>
        </p:spPr>
        <p:txBody>
          <a:bodyPr wrap="square" lIns="0" tIns="0" rIns="0" bIns="0" rtlCol="0" anchor="t">
            <a:normAutofit/>
          </a:bodyPr>
          <a:lstStyle/>
          <a:p>
            <a:pPr marL="0" indent="0" algn="l">
              <a:lnSpc>
                <a:spcPts val="1224"/>
              </a:lnSpc>
              <a:buNone/>
            </a:pPr>
            <a:r>
              <a:rPr lang="en-US" sz="1020" b="1" dirty="0">
                <a:solidFill>
                  <a:srgbClr val="F7F3EA"/>
                </a:solidFill>
                <a:latin typeface="Arial" pitchFamily="34" charset="0"/>
                <a:ea typeface="Arial" pitchFamily="34" charset="-122"/>
                <a:cs typeface="Arial" pitchFamily="34" charset="-120"/>
              </a:rPr>
              <a:t>Stay</a:t>
            </a:r>
            <a:endParaRPr lang="en-US" sz="1020" dirty="0"/>
          </a:p>
        </p:txBody>
      </p:sp>
      <p:sp>
        <p:nvSpPr>
          <p:cNvPr id="9" name="Text 7"/>
          <p:cNvSpPr/>
          <p:nvPr/>
        </p:nvSpPr>
        <p:spPr>
          <a:xfrm>
            <a:off x="3751580" y="1926282"/>
            <a:ext cx="2069414" cy="765810"/>
          </a:xfrm>
          <a:prstGeom prst="rect">
            <a:avLst/>
          </a:prstGeom>
          <a:noFill/>
          <a:ln/>
        </p:spPr>
        <p:txBody>
          <a:bodyPr wrap="square" lIns="0" tIns="0" rIns="0" bIns="0" rtlCol="0" anchor="t">
            <a:normAutofit/>
          </a:bodyPr>
          <a:lstStyle/>
          <a:p>
            <a:pPr marL="0" indent="0" algn="l">
              <a:lnSpc>
                <a:spcPts val="1467"/>
              </a:lnSpc>
              <a:buNone/>
            </a:pPr>
            <a:r>
              <a:rPr lang="en-US" sz="1012" dirty="0">
                <a:solidFill>
                  <a:srgbClr val="A79C89"/>
                </a:solidFill>
                <a:latin typeface="Arial" pitchFamily="34" charset="0"/>
                <a:ea typeface="Arial" pitchFamily="34" charset="-122"/>
                <a:cs typeface="Arial" pitchFamily="34" charset="-120"/>
              </a:rPr>
              <a:t>Room types with real interior photographs, rates, which rooms are underground and which are not, the descent as the hero.</a:t>
            </a:r>
            <a:endParaRPr lang="en-US" sz="1012" dirty="0"/>
          </a:p>
        </p:txBody>
      </p:sp>
      <p:sp>
        <p:nvSpPr>
          <p:cNvPr id="10" name="Text 8"/>
          <p:cNvSpPr/>
          <p:nvPr/>
        </p:nvSpPr>
        <p:spPr>
          <a:xfrm>
            <a:off x="3751580" y="2755578"/>
            <a:ext cx="2069414" cy="144542"/>
          </a:xfrm>
          <a:prstGeom prst="rect">
            <a:avLst/>
          </a:prstGeom>
          <a:noFill/>
          <a:ln/>
        </p:spPr>
        <p:txBody>
          <a:bodyPr wrap="square" lIns="0" tIns="0" rIns="0" bIns="0" rtlCol="0" anchor="t">
            <a:normAutofit/>
          </a:bodyPr>
          <a:lstStyle/>
          <a:p>
            <a:pPr marL="0" indent="0" algn="l">
              <a:lnSpc>
                <a:spcPts val="1092"/>
              </a:lnSpc>
              <a:buNone/>
            </a:pPr>
            <a:r>
              <a:rPr lang="en-US" sz="780" dirty="0">
                <a:solidFill>
                  <a:srgbClr val="C9A63C"/>
                </a:solidFill>
                <a:latin typeface="Arial" pitchFamily="34" charset="0"/>
                <a:ea typeface="Arial" pitchFamily="34" charset="-122"/>
                <a:cs typeface="Arial" pitchFamily="34" charset="-120"/>
              </a:rPr>
              <a:t>Highest value per booking</a:t>
            </a:r>
            <a:endParaRPr lang="en-US" sz="780" dirty="0"/>
          </a:p>
        </p:txBody>
      </p:sp>
      <p:sp>
        <p:nvSpPr>
          <p:cNvPr id="11" name="Shape 9"/>
          <p:cNvSpPr/>
          <p:nvPr/>
        </p:nvSpPr>
        <p:spPr>
          <a:xfrm>
            <a:off x="6175375" y="1447874"/>
            <a:ext cx="2520950" cy="1682750"/>
          </a:xfrm>
          <a:prstGeom prst="roundRect">
            <a:avLst>
              <a:gd name="adj" fmla="val 5849"/>
            </a:avLst>
          </a:prstGeom>
          <a:solidFill>
            <a:srgbClr val="221E18"/>
          </a:solidFill>
          <a:ln w="6350">
            <a:solidFill>
              <a:srgbClr val="3A342A"/>
            </a:solidFill>
            <a:prstDash val="solid"/>
          </a:ln>
        </p:spPr>
      </p:sp>
      <p:sp>
        <p:nvSpPr>
          <p:cNvPr id="12" name="Text 10"/>
          <p:cNvSpPr/>
          <p:nvPr/>
        </p:nvSpPr>
        <p:spPr>
          <a:xfrm>
            <a:off x="6431280" y="1703784"/>
            <a:ext cx="2069414" cy="158988"/>
          </a:xfrm>
          <a:prstGeom prst="rect">
            <a:avLst/>
          </a:prstGeom>
          <a:noFill/>
          <a:ln/>
        </p:spPr>
        <p:txBody>
          <a:bodyPr wrap="square" lIns="0" tIns="0" rIns="0" bIns="0" rtlCol="0" anchor="t">
            <a:normAutofit/>
          </a:bodyPr>
          <a:lstStyle/>
          <a:p>
            <a:pPr marL="0" indent="0" algn="l">
              <a:lnSpc>
                <a:spcPts val="1224"/>
              </a:lnSpc>
              <a:buNone/>
            </a:pPr>
            <a:r>
              <a:rPr lang="en-US" sz="1020" b="1" dirty="0">
                <a:solidFill>
                  <a:srgbClr val="F7F3EA"/>
                </a:solidFill>
                <a:latin typeface="Arial" pitchFamily="34" charset="0"/>
                <a:ea typeface="Arial" pitchFamily="34" charset="-122"/>
                <a:cs typeface="Arial" pitchFamily="34" charset="-120"/>
              </a:rPr>
              <a:t>Corporate offsite</a:t>
            </a:r>
            <a:endParaRPr lang="en-US" sz="1020" dirty="0"/>
          </a:p>
        </p:txBody>
      </p:sp>
      <p:sp>
        <p:nvSpPr>
          <p:cNvPr id="13" name="Text 11"/>
          <p:cNvSpPr/>
          <p:nvPr/>
        </p:nvSpPr>
        <p:spPr>
          <a:xfrm>
            <a:off x="6431280" y="1926282"/>
            <a:ext cx="2069414" cy="765810"/>
          </a:xfrm>
          <a:prstGeom prst="rect">
            <a:avLst/>
          </a:prstGeom>
          <a:noFill/>
          <a:ln/>
        </p:spPr>
        <p:txBody>
          <a:bodyPr wrap="square" lIns="0" tIns="0" rIns="0" bIns="0" rtlCol="0" anchor="t">
            <a:normAutofit/>
          </a:bodyPr>
          <a:lstStyle/>
          <a:p>
            <a:pPr marL="0" indent="0" algn="l">
              <a:lnSpc>
                <a:spcPts val="1467"/>
              </a:lnSpc>
              <a:buNone/>
            </a:pPr>
            <a:r>
              <a:rPr lang="en-US" sz="1012" dirty="0">
                <a:solidFill>
                  <a:srgbClr val="A79C89"/>
                </a:solidFill>
                <a:latin typeface="Arial" pitchFamily="34" charset="0"/>
                <a:ea typeface="Arial" pitchFamily="34" charset="-122"/>
                <a:cs typeface="Arial" pitchFamily="34" charset="-120"/>
              </a:rPr>
              <a:t>700-seat amphitheatre, conference space, sample day plan, per-head range, downloadable proposal, short brief form into the CRM.</a:t>
            </a:r>
            <a:endParaRPr lang="en-US" sz="1012" dirty="0"/>
          </a:p>
        </p:txBody>
      </p:sp>
      <p:sp>
        <p:nvSpPr>
          <p:cNvPr id="14" name="Text 12"/>
          <p:cNvSpPr/>
          <p:nvPr/>
        </p:nvSpPr>
        <p:spPr>
          <a:xfrm>
            <a:off x="6431280" y="2755578"/>
            <a:ext cx="2069414" cy="144542"/>
          </a:xfrm>
          <a:prstGeom prst="rect">
            <a:avLst/>
          </a:prstGeom>
          <a:noFill/>
          <a:ln/>
        </p:spPr>
        <p:txBody>
          <a:bodyPr wrap="square" lIns="0" tIns="0" rIns="0" bIns="0" rtlCol="0" anchor="t">
            <a:normAutofit/>
          </a:bodyPr>
          <a:lstStyle/>
          <a:p>
            <a:pPr marL="0" indent="0" algn="l">
              <a:lnSpc>
                <a:spcPts val="1092"/>
              </a:lnSpc>
              <a:buNone/>
            </a:pPr>
            <a:r>
              <a:rPr lang="en-US" sz="780" dirty="0">
                <a:solidFill>
                  <a:srgbClr val="C9A63C"/>
                </a:solidFill>
                <a:latin typeface="Arial" pitchFamily="34" charset="0"/>
                <a:ea typeface="Arial" pitchFamily="34" charset="-122"/>
                <a:cs typeface="Arial" pitchFamily="34" charset="-120"/>
              </a:rPr>
              <a:t>Fills weekdays</a:t>
            </a:r>
            <a:endParaRPr lang="en-US" sz="780" dirty="0"/>
          </a:p>
        </p:txBody>
      </p:sp>
      <p:sp>
        <p:nvSpPr>
          <p:cNvPr id="15" name="Shape 13"/>
          <p:cNvSpPr/>
          <p:nvPr/>
        </p:nvSpPr>
        <p:spPr>
          <a:xfrm>
            <a:off x="8855075" y="1447874"/>
            <a:ext cx="2520950" cy="1682750"/>
          </a:xfrm>
          <a:prstGeom prst="roundRect">
            <a:avLst>
              <a:gd name="adj" fmla="val 5849"/>
            </a:avLst>
          </a:prstGeom>
          <a:solidFill>
            <a:srgbClr val="221E18"/>
          </a:solidFill>
          <a:ln w="6350">
            <a:solidFill>
              <a:srgbClr val="3A342A"/>
            </a:solidFill>
            <a:prstDash val="solid"/>
          </a:ln>
        </p:spPr>
      </p:sp>
      <p:sp>
        <p:nvSpPr>
          <p:cNvPr id="16" name="Text 14"/>
          <p:cNvSpPr/>
          <p:nvPr/>
        </p:nvSpPr>
        <p:spPr>
          <a:xfrm>
            <a:off x="9110980" y="1703784"/>
            <a:ext cx="2069414" cy="203121"/>
          </a:xfrm>
          <a:prstGeom prst="rect">
            <a:avLst/>
          </a:prstGeom>
          <a:noFill/>
          <a:ln/>
        </p:spPr>
        <p:txBody>
          <a:bodyPr wrap="square" lIns="0" tIns="0" rIns="0" bIns="0" rtlCol="0" anchor="t">
            <a:normAutofit/>
          </a:bodyPr>
          <a:lstStyle/>
          <a:p>
            <a:pPr marL="0" indent="0" algn="l">
              <a:lnSpc>
                <a:spcPts val="1422"/>
              </a:lnSpc>
              <a:buNone/>
            </a:pPr>
            <a:r>
              <a:rPr lang="en-US" sz="1185" b="1" dirty="0">
                <a:solidFill>
                  <a:srgbClr val="F7F3EA"/>
                </a:solidFill>
                <a:latin typeface="Arial" pitchFamily="34" charset="0"/>
                <a:ea typeface="Arial" pitchFamily="34" charset="-122"/>
                <a:cs typeface="Arial" pitchFamily="34" charset="-120"/>
              </a:rPr>
              <a:t>Weddings &amp; events</a:t>
            </a:r>
            <a:endParaRPr lang="en-US" sz="1185" dirty="0"/>
          </a:p>
        </p:txBody>
      </p:sp>
      <p:sp>
        <p:nvSpPr>
          <p:cNvPr id="17" name="Text 15"/>
          <p:cNvSpPr/>
          <p:nvPr/>
        </p:nvSpPr>
        <p:spPr>
          <a:xfrm>
            <a:off x="9110980" y="1970410"/>
            <a:ext cx="2069414" cy="682228"/>
          </a:xfrm>
          <a:prstGeom prst="rect">
            <a:avLst/>
          </a:prstGeom>
          <a:noFill/>
          <a:ln/>
        </p:spPr>
        <p:txBody>
          <a:bodyPr wrap="square" lIns="0" tIns="0" rIns="0" bIns="0" rtlCol="0" anchor="t">
            <a:normAutofit/>
          </a:bodyPr>
          <a:lstStyle/>
          <a:p>
            <a:pPr marL="0" indent="0" algn="l">
              <a:lnSpc>
                <a:spcPts val="1408"/>
              </a:lnSpc>
              <a:buNone/>
            </a:pPr>
            <a:r>
              <a:rPr lang="en-US" sz="971" dirty="0">
                <a:solidFill>
                  <a:srgbClr val="A79C89"/>
                </a:solidFill>
                <a:latin typeface="Arial" pitchFamily="34" charset="0"/>
                <a:ea typeface="Arial" pitchFamily="34" charset="-122"/>
                <a:cs typeface="Arial" pitchFamily="34" charset="-120"/>
              </a:rPr>
              <a:t>Capacity, per-plate rates, the venues by name, real event photography, enquiry form into the CRM.</a:t>
            </a:r>
            <a:endParaRPr lang="en-US" sz="971" dirty="0"/>
          </a:p>
        </p:txBody>
      </p:sp>
      <p:sp>
        <p:nvSpPr>
          <p:cNvPr id="18" name="Text 16"/>
          <p:cNvSpPr/>
          <p:nvPr/>
        </p:nvSpPr>
        <p:spPr>
          <a:xfrm>
            <a:off x="9110980" y="2716138"/>
            <a:ext cx="2069414" cy="183991"/>
          </a:xfrm>
          <a:prstGeom prst="rect">
            <a:avLst/>
          </a:prstGeom>
          <a:noFill/>
          <a:ln/>
        </p:spPr>
        <p:txBody>
          <a:bodyPr wrap="square" lIns="0" tIns="0" rIns="0" bIns="0" rtlCol="0" anchor="t">
            <a:normAutofit/>
          </a:bodyPr>
          <a:lstStyle/>
          <a:p>
            <a:pPr marL="0" indent="0" algn="l">
              <a:lnSpc>
                <a:spcPts val="1274"/>
              </a:lnSpc>
              <a:buNone/>
            </a:pPr>
            <a:r>
              <a:rPr lang="en-US" sz="910" dirty="0">
                <a:solidFill>
                  <a:srgbClr val="C9A63C"/>
                </a:solidFill>
                <a:latin typeface="Arial" pitchFamily="34" charset="0"/>
                <a:ea typeface="Arial" pitchFamily="34" charset="-122"/>
                <a:cs typeface="Arial" pitchFamily="34" charset="-120"/>
              </a:rPr>
              <a:t>Highest ticket</a:t>
            </a:r>
            <a:endParaRPr lang="en-US" sz="91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822960" y="3397959"/>
          <a:ext cx="10556240" cy="2444036"/>
        </p:xfrm>
        <a:graphic>
          <a:graphicData uri="http://schemas.openxmlformats.org/drawingml/2006/table">
            <a:tbl>
              <a:tblPr/>
              <a:tblGrid>
                <a:gridCol w="2744622">
                  <a:extLst>
                    <a:ext uri="{9D8B030D-6E8A-4147-A177-3AD203B41FA5}">
                      <a16:colId xmlns:a16="http://schemas.microsoft.com/office/drawing/2014/main" val="20000"/>
                    </a:ext>
                  </a:extLst>
                </a:gridCol>
                <a:gridCol w="7811618">
                  <a:extLst>
                    <a:ext uri="{9D8B030D-6E8A-4147-A177-3AD203B41FA5}">
                      <a16:colId xmlns:a16="http://schemas.microsoft.com/office/drawing/2014/main" val="20001"/>
                    </a:ext>
                  </a:extLst>
                </a:gridCol>
              </a:tblGrid>
              <a:tr h="308134">
                <a:tc>
                  <a:txBody>
                    <a:bodyPr/>
                    <a:lstStyle/>
                    <a:p>
                      <a:pPr marL="0" indent="0">
                        <a:lnSpc>
                          <a:spcPts val="1562"/>
                        </a:lnSpc>
                        <a:buNone/>
                      </a:pPr>
                      <a:r>
                        <a:rPr lang="en-US" sz="1116" b="1" dirty="0">
                          <a:solidFill>
                            <a:srgbClr val="F7F3EA"/>
                          </a:solidFill>
                          <a:latin typeface="Arial" pitchFamily="34" charset="0"/>
                          <a:ea typeface="Arial" pitchFamily="34" charset="-122"/>
                          <a:cs typeface="Arial" pitchFamily="34" charset="-120"/>
                        </a:rPr>
                        <a:t>Every page carries</a:t>
                      </a:r>
                      <a:endParaRPr lang="en-US" sz="1116" dirty="0">
                        <a:latin typeface="Arial" charset="0"/>
                        <a:ea typeface="Arial" charset="0"/>
                        <a:cs typeface="Arial" charset="0"/>
                      </a:endParaRPr>
                    </a:p>
                  </a:txBody>
                  <a:tcPr marL="49590" marR="49590" marT="49590" marB="49590">
                    <a:lnL w="12700" cap="flat" cmpd="sng" algn="ctr">
                      <a:solidFill>
                        <a:srgbClr val="494642"/>
                      </a:solidFill>
                      <a:prstDash val="solid"/>
                      <a:round/>
                      <a:headEnd type="none" w="med" len="med"/>
                      <a:tailEnd type="none" w="med" len="med"/>
                    </a:lnL>
                    <a:lnR w="12700" cap="flat" cmpd="sng" algn="ctr">
                      <a:solidFill>
                        <a:srgbClr val="645F57"/>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645F57"/>
                      </a:solidFill>
                      <a:prstDash val="solid"/>
                      <a:round/>
                      <a:headEnd type="none" w="med" len="med"/>
                      <a:tailEnd type="none" w="med" len="med"/>
                    </a:lnB>
                    <a:solidFill>
                      <a:srgbClr val="3A342A"/>
                    </a:solidFill>
                  </a:tcPr>
                </a:tc>
                <a:tc>
                  <a:txBody>
                    <a:bodyPr/>
                    <a:lstStyle/>
                    <a:p>
                      <a:pPr marL="0" indent="0">
                        <a:lnSpc>
                          <a:spcPts val="1562"/>
                        </a:lnSpc>
                        <a:buNone/>
                      </a:pPr>
                      <a:r>
                        <a:rPr lang="en-US" sz="1116" b="1" dirty="0">
                          <a:solidFill>
                            <a:srgbClr val="F7F3EA"/>
                          </a:solidFill>
                          <a:latin typeface="Arial" pitchFamily="34" charset="0"/>
                          <a:ea typeface="Arial" pitchFamily="34" charset="-122"/>
                          <a:cs typeface="Arial" pitchFamily="34" charset="-120"/>
                        </a:rPr>
                        <a:t>Why</a:t>
                      </a:r>
                      <a:endParaRPr lang="en-US" sz="1116" dirty="0">
                        <a:latin typeface="Arial" charset="0"/>
                        <a:ea typeface="Arial" charset="0"/>
                        <a:cs typeface="Arial" charset="0"/>
                      </a:endParaRPr>
                    </a:p>
                  </a:txBody>
                  <a:tcPr marL="49590" marR="49590" marT="49590" marB="49590">
                    <a:lnL w="12700" cap="flat" cmpd="sng" algn="ctr">
                      <a:solidFill>
                        <a:srgbClr val="645F57"/>
                      </a:solidFill>
                      <a:prstDash val="solid"/>
                      <a:round/>
                      <a:headEnd type="none" w="med" len="med"/>
                      <a:tailEnd type="none" w="med" len="med"/>
                    </a:lnL>
                    <a:lnR w="12700" cap="flat" cmpd="sng" algn="ctr">
                      <a:solidFill>
                        <a:srgbClr val="645F57"/>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645F57"/>
                      </a:solidFill>
                      <a:prstDash val="solid"/>
                      <a:round/>
                      <a:headEnd type="none" w="med" len="med"/>
                      <a:tailEnd type="none" w="med" len="med"/>
                    </a:lnB>
                    <a:solidFill>
                      <a:srgbClr val="3A342A"/>
                    </a:solidFill>
                  </a:tcPr>
                </a:tc>
                <a:extLst>
                  <a:ext uri="{0D108BD9-81ED-4DB2-BD59-A6C34878D82A}">
                    <a16:rowId xmlns:a16="http://schemas.microsoft.com/office/drawing/2014/main" val="10000"/>
                  </a:ext>
                </a:extLst>
              </a:tr>
              <a:tr h="308134">
                <a:tc>
                  <a:txBody>
                    <a:bodyPr/>
                    <a:lstStyle/>
                    <a:p>
                      <a:pPr marL="0" indent="0">
                        <a:lnSpc>
                          <a:spcPts val="1562"/>
                        </a:lnSpc>
                        <a:buNone/>
                      </a:pPr>
                      <a:r>
                        <a:rPr lang="en-US" sz="1116" dirty="0">
                          <a:solidFill>
                            <a:srgbClr val="F7F3EA"/>
                          </a:solidFill>
                          <a:latin typeface="Arial" pitchFamily="34" charset="0"/>
                          <a:ea typeface="Arial" pitchFamily="34" charset="-122"/>
                          <a:cs typeface="Arial" pitchFamily="34" charset="-120"/>
                        </a:rPr>
                        <a:t>Its own URL and event</a:t>
                      </a:r>
                      <a:endParaRPr lang="en-US" sz="1116" dirty="0">
                        <a:latin typeface="Arial" charset="0"/>
                        <a:ea typeface="Arial" charset="0"/>
                        <a:cs typeface="Arial" charset="0"/>
                      </a:endParaRPr>
                    </a:p>
                  </a:txBody>
                  <a:tcPr marL="49590" marR="49590" marT="49590" marB="49590">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645F57"/>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562"/>
                        </a:lnSpc>
                        <a:buNone/>
                      </a:pPr>
                      <a:r>
                        <a:rPr lang="en-US" sz="1116" dirty="0">
                          <a:solidFill>
                            <a:srgbClr val="A79C89"/>
                          </a:solidFill>
                          <a:latin typeface="Arial" pitchFamily="34" charset="0"/>
                          <a:ea typeface="Arial" pitchFamily="34" charset="-122"/>
                          <a:cs typeface="Arial" pitchFamily="34" charset="-120"/>
                        </a:rPr>
                        <a:t>Product-level measurement becomes possible for the first time</a:t>
                      </a:r>
                      <a:endParaRPr lang="en-US" sz="1116" dirty="0">
                        <a:latin typeface="Arial" charset="0"/>
                        <a:ea typeface="Arial" charset="0"/>
                        <a:cs typeface="Arial" charset="0"/>
                      </a:endParaRPr>
                    </a:p>
                  </a:txBody>
                  <a:tcPr marL="49590" marR="49590" marT="49590" marB="49590">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645F57"/>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extLst>
                  <a:ext uri="{0D108BD9-81ED-4DB2-BD59-A6C34878D82A}">
                    <a16:rowId xmlns:a16="http://schemas.microsoft.com/office/drawing/2014/main" val="10001"/>
                  </a:ext>
                </a:extLst>
              </a:tr>
              <a:tr h="506492">
                <a:tc>
                  <a:txBody>
                    <a:bodyPr/>
                    <a:lstStyle/>
                    <a:p>
                      <a:pPr marL="0" indent="0">
                        <a:lnSpc>
                          <a:spcPts val="1562"/>
                        </a:lnSpc>
                        <a:buNone/>
                      </a:pPr>
                      <a:r>
                        <a:rPr lang="en-US" sz="1116" dirty="0">
                          <a:solidFill>
                            <a:srgbClr val="F7F3EA"/>
                          </a:solidFill>
                          <a:latin typeface="Arial" pitchFamily="34" charset="0"/>
                          <a:ea typeface="Arial" pitchFamily="34" charset="-122"/>
                          <a:cs typeface="Arial" pitchFamily="34" charset="-120"/>
                        </a:rPr>
                        <a:t>Click-to-WhatsApp with the page pre-filled, beside Book Now</a:t>
                      </a:r>
                      <a:endParaRPr lang="en-US" sz="1116" dirty="0">
                        <a:latin typeface="Arial" charset="0"/>
                        <a:ea typeface="Arial" charset="0"/>
                        <a:cs typeface="Arial" charset="0"/>
                      </a:endParaRPr>
                    </a:p>
                  </a:txBody>
                  <a:tcPr marL="49590" marR="49590" marT="49590" marB="49590">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562"/>
                        </a:lnSpc>
                        <a:buNone/>
                      </a:pPr>
                      <a:r>
                        <a:rPr lang="en-US" sz="1116" dirty="0">
                          <a:solidFill>
                            <a:srgbClr val="A79C89"/>
                          </a:solidFill>
                          <a:latin typeface="Arial" pitchFamily="34" charset="0"/>
                          <a:ea typeface="Arial" pitchFamily="34" charset="-122"/>
                          <a:cs typeface="Arial" pitchFamily="34" charset="-120"/>
                        </a:rPr>
                        <a:t>WhatsApp is how enquiries already arrive, and it can be tracked</a:t>
                      </a:r>
                      <a:endParaRPr lang="en-US" sz="1116" dirty="0">
                        <a:latin typeface="Arial" charset="0"/>
                        <a:ea typeface="Arial" charset="0"/>
                        <a:cs typeface="Arial" charset="0"/>
                      </a:endParaRPr>
                    </a:p>
                  </a:txBody>
                  <a:tcPr marL="49590" marR="49590" marT="49590" marB="49590">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extLst>
                  <a:ext uri="{0D108BD9-81ED-4DB2-BD59-A6C34878D82A}">
                    <a16:rowId xmlns:a16="http://schemas.microsoft.com/office/drawing/2014/main" val="10002"/>
                  </a:ext>
                </a:extLst>
              </a:tr>
              <a:tr h="506492">
                <a:tc>
                  <a:txBody>
                    <a:bodyPr/>
                    <a:lstStyle/>
                    <a:p>
                      <a:pPr marL="0" indent="0">
                        <a:lnSpc>
                          <a:spcPts val="1562"/>
                        </a:lnSpc>
                        <a:buNone/>
                      </a:pPr>
                      <a:r>
                        <a:rPr lang="en-US" sz="1116" dirty="0">
                          <a:solidFill>
                            <a:srgbClr val="F7F3EA"/>
                          </a:solidFill>
                          <a:latin typeface="Arial" pitchFamily="34" charset="0"/>
                          <a:ea typeface="Arial" pitchFamily="34" charset="-122"/>
                          <a:cs typeface="Arial" pitchFamily="34" charset="-120"/>
                        </a:rPr>
                        <a:t>Honest recent reviews, weekdays framed as the quiet time</a:t>
                      </a:r>
                      <a:endParaRPr lang="en-US" sz="1116" dirty="0">
                        <a:latin typeface="Arial" charset="0"/>
                        <a:ea typeface="Arial" charset="0"/>
                        <a:cs typeface="Arial" charset="0"/>
                      </a:endParaRPr>
                    </a:p>
                  </a:txBody>
                  <a:tcPr marL="49590" marR="49590" marT="49590" marB="49590">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562"/>
                        </a:lnSpc>
                        <a:buNone/>
                      </a:pPr>
                      <a:r>
                        <a:rPr lang="en-US" sz="1116" dirty="0">
                          <a:solidFill>
                            <a:srgbClr val="A79C89"/>
                          </a:solidFill>
                          <a:latin typeface="Arial" pitchFamily="34" charset="0"/>
                          <a:ea typeface="Arial" pitchFamily="34" charset="-122"/>
                          <a:cs typeface="Arial" pitchFamily="34" charset="-120"/>
                        </a:rPr>
                        <a:t>A 3.7 rating costs conversions; hiding it costs more</a:t>
                      </a:r>
                      <a:endParaRPr lang="en-US" sz="1116" dirty="0">
                        <a:latin typeface="Arial" charset="0"/>
                        <a:ea typeface="Arial" charset="0"/>
                        <a:cs typeface="Arial" charset="0"/>
                      </a:endParaRPr>
                    </a:p>
                  </a:txBody>
                  <a:tcPr marL="49590" marR="49590" marT="49590" marB="49590">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extLst>
                  <a:ext uri="{0D108BD9-81ED-4DB2-BD59-A6C34878D82A}">
                    <a16:rowId xmlns:a16="http://schemas.microsoft.com/office/drawing/2014/main" val="10003"/>
                  </a:ext>
                </a:extLst>
              </a:tr>
              <a:tr h="308213">
                <a:tc>
                  <a:txBody>
                    <a:bodyPr/>
                    <a:lstStyle/>
                    <a:p>
                      <a:pPr marL="0" indent="0">
                        <a:lnSpc>
                          <a:spcPts val="1562"/>
                        </a:lnSpc>
                        <a:buNone/>
                      </a:pPr>
                      <a:r>
                        <a:rPr lang="en-US" sz="1116" dirty="0">
                          <a:solidFill>
                            <a:srgbClr val="F7F3EA"/>
                          </a:solidFill>
                          <a:latin typeface="Arial" pitchFamily="34" charset="0"/>
                          <a:ea typeface="Arial" pitchFamily="34" charset="-122"/>
                          <a:cs typeface="Arial" pitchFamily="34" charset="-120"/>
                        </a:rPr>
                        <a:t>An FAQ answering the real hesitations</a:t>
                      </a:r>
                      <a:endParaRPr lang="en-US" sz="1116" dirty="0">
                        <a:latin typeface="Arial" charset="0"/>
                        <a:ea typeface="Arial" charset="0"/>
                        <a:cs typeface="Arial" charset="0"/>
                      </a:endParaRPr>
                    </a:p>
                  </a:txBody>
                  <a:tcPr marL="49590" marR="49590" marT="49590" marB="49590">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562"/>
                        </a:lnSpc>
                        <a:buNone/>
                      </a:pPr>
                      <a:r>
                        <a:rPr lang="en-US" sz="1116" dirty="0">
                          <a:solidFill>
                            <a:srgbClr val="A79C89"/>
                          </a:solidFill>
                          <a:latin typeface="Arial" pitchFamily="34" charset="0"/>
                          <a:ea typeface="Arial" pitchFamily="34" charset="-122"/>
                          <a:cs typeface="Arial" pitchFamily="34" charset="-120"/>
                        </a:rPr>
                        <a:t>Is it claustrophobic, is it safe, children, older guests, drive time</a:t>
                      </a:r>
                      <a:endParaRPr lang="en-US" sz="1116" dirty="0">
                        <a:latin typeface="Arial" charset="0"/>
                        <a:ea typeface="Arial" charset="0"/>
                        <a:cs typeface="Arial" charset="0"/>
                      </a:endParaRPr>
                    </a:p>
                  </a:txBody>
                  <a:tcPr marL="49590" marR="49590" marT="49590" marB="49590">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extLst>
                  <a:ext uri="{0D108BD9-81ED-4DB2-BD59-A6C34878D82A}">
                    <a16:rowId xmlns:a16="http://schemas.microsoft.com/office/drawing/2014/main" val="10004"/>
                  </a:ext>
                </a:extLst>
              </a:tr>
              <a:tr h="506571">
                <a:tc>
                  <a:txBody>
                    <a:bodyPr/>
                    <a:lstStyle/>
                    <a:p>
                      <a:pPr marL="0" indent="0">
                        <a:lnSpc>
                          <a:spcPts val="1562"/>
                        </a:lnSpc>
                        <a:buNone/>
                      </a:pPr>
                      <a:r>
                        <a:rPr lang="en-US" sz="1116" dirty="0">
                          <a:solidFill>
                            <a:srgbClr val="F7F3EA"/>
                          </a:solidFill>
                          <a:latin typeface="Arial" pitchFamily="34" charset="0"/>
                          <a:ea typeface="Arial" pitchFamily="34" charset="-122"/>
                          <a:cs typeface="Arial" pitchFamily="34" charset="-120"/>
                        </a:rPr>
                        <a:t>Campaign tags carried into the booking engine</a:t>
                      </a:r>
                      <a:endParaRPr lang="en-US" sz="1116" dirty="0">
                        <a:latin typeface="Arial" charset="0"/>
                        <a:ea typeface="Arial" charset="0"/>
                        <a:cs typeface="Arial" charset="0"/>
                      </a:endParaRPr>
                    </a:p>
                  </a:txBody>
                  <a:tcPr marL="49590" marR="49590" marT="49590" marB="49590">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562"/>
                        </a:lnSpc>
                        <a:buNone/>
                      </a:pPr>
                      <a:r>
                        <a:rPr lang="en-US" sz="1116" dirty="0">
                          <a:solidFill>
                            <a:srgbClr val="A79C89"/>
                          </a:solidFill>
                          <a:latin typeface="Arial" pitchFamily="34" charset="0"/>
                          <a:ea typeface="Arial" pitchFamily="34" charset="-122"/>
                          <a:cs typeface="Arial" pitchFamily="34" charset="-120"/>
                        </a:rPr>
                        <a:t>Without this the loop still breaks at the domain boundary</a:t>
                      </a:r>
                      <a:endParaRPr lang="en-US" sz="1116" dirty="0">
                        <a:latin typeface="Arial" charset="0"/>
                        <a:ea typeface="Arial" charset="0"/>
                        <a:cs typeface="Arial" charset="0"/>
                      </a:endParaRPr>
                    </a:p>
                  </a:txBody>
                  <a:tcPr marL="49590" marR="49590" marT="49590" marB="49590">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20" name="Text 17"/>
          <p:cNvSpPr/>
          <p:nvPr/>
        </p:nvSpPr>
        <p:spPr>
          <a:xfrm>
            <a:off x="812800" y="6238255"/>
            <a:ext cx="712244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071"/>
                </a:solidFill>
                <a:latin typeface="Arial" pitchFamily="34" charset="0"/>
                <a:ea typeface="Arial" pitchFamily="34" charset="-122"/>
                <a:cs typeface="Arial" pitchFamily="34" charset="-120"/>
              </a:rPr>
              <a:t>Most Reels traffic arrives on a phone: compress the hero video, load it lazily, keep the first screen light.</a:t>
            </a:r>
            <a:endParaRPr lang="en-US" sz="12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1">
    <p:bg>
      <p:bgPr>
        <a:solidFill>
          <a:srgbClr val="F7F3EA"/>
        </a:solidFill>
        <a:effectLst/>
      </p:bgPr>
    </p:bg>
    <p:spTree>
      <p:nvGrpSpPr>
        <p:cNvPr id="1" name=""/>
        <p:cNvGrpSpPr/>
        <p:nvPr/>
      </p:nvGrpSpPr>
      <p:grpSpPr>
        <a:xfrm>
          <a:off x="0" y="0"/>
          <a:ext cx="0" cy="0"/>
          <a:chOff x="0" y="0"/>
          <a:chExt cx="0" cy="0"/>
        </a:xfrm>
      </p:grpSpPr>
      <p:sp>
        <p:nvSpPr>
          <p:cNvPr id="2" name="Text 0"/>
          <p:cNvSpPr/>
          <p:nvPr/>
        </p:nvSpPr>
        <p:spPr>
          <a:xfrm>
            <a:off x="812800" y="271929"/>
            <a:ext cx="10883392" cy="396002"/>
          </a:xfrm>
          <a:prstGeom prst="rect">
            <a:avLst/>
          </a:prstGeom>
          <a:noFill/>
          <a:ln/>
        </p:spPr>
        <p:txBody>
          <a:bodyPr wrap="square" lIns="0" tIns="0" rIns="0" bIns="0" rtlCol="0" anchor="t">
            <a:normAutofit/>
          </a:bodyPr>
          <a:lstStyle/>
          <a:p>
            <a:pPr marL="0" indent="0" algn="l">
              <a:lnSpc>
                <a:spcPts val="2918"/>
              </a:lnSpc>
              <a:buNone/>
            </a:pPr>
            <a:r>
              <a:rPr lang="en-US" sz="2779" dirty="0">
                <a:solidFill>
                  <a:srgbClr val="17140F"/>
                </a:solidFill>
                <a:latin typeface="Georgia" pitchFamily="34" charset="0"/>
                <a:ea typeface="Georgia" pitchFamily="34" charset="-122"/>
                <a:cs typeface="Georgia" pitchFamily="34" charset="-120"/>
              </a:rPr>
              <a:t>The stay page, top to bottom</a:t>
            </a:r>
            <a:endParaRPr lang="en-US" sz="2779" dirty="0"/>
          </a:p>
        </p:txBody>
      </p:sp>
      <p:sp>
        <p:nvSpPr>
          <p:cNvPr id="3" name="Shape 1"/>
          <p:cNvSpPr/>
          <p:nvPr/>
        </p:nvSpPr>
        <p:spPr>
          <a:xfrm>
            <a:off x="812800" y="800913"/>
            <a:ext cx="3302000" cy="1333500"/>
          </a:xfrm>
          <a:custGeom>
            <a:avLst/>
            <a:gdLst/>
            <a:ahLst/>
            <a:cxnLst/>
            <a:rect l="l" t="t" r="r" b="b"/>
            <a:pathLst>
              <a:path w="3302000" h="1333500">
                <a:moveTo>
                  <a:pt x="76200" y="0"/>
                </a:moveTo>
                <a:lnTo>
                  <a:pt x="3225800" y="0"/>
                </a:lnTo>
                <a:arcTo wR="76200" hR="76200" stAng="16200000" swAng="5400000"/>
                <a:lnTo>
                  <a:pt x="3302000" y="1333500"/>
                </a:lnTo>
                <a:lnTo>
                  <a:pt x="0" y="1333500"/>
                </a:lnTo>
                <a:lnTo>
                  <a:pt x="0" y="76200"/>
                </a:lnTo>
                <a:arcTo wR="76200" hR="76200" stAng="10800000" swAng="5400000"/>
                <a:close/>
              </a:path>
            </a:pathLst>
          </a:custGeom>
          <a:solidFill>
            <a:srgbClr val="17140F"/>
          </a:solidFill>
          <a:ln/>
        </p:spPr>
      </p:sp>
      <p:sp>
        <p:nvSpPr>
          <p:cNvPr id="4" name="Text 2"/>
          <p:cNvSpPr/>
          <p:nvPr/>
        </p:nvSpPr>
        <p:spPr>
          <a:xfrm>
            <a:off x="990600" y="924919"/>
            <a:ext cx="3034792"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9A63C"/>
                </a:solidFill>
                <a:latin typeface="Arial" pitchFamily="34" charset="0"/>
                <a:ea typeface="Arial" pitchFamily="34" charset="-122"/>
                <a:cs typeface="Arial" pitchFamily="34" charset="-120"/>
              </a:rPr>
              <a:t>Above the fold</a:t>
            </a:r>
            <a:endParaRPr lang="en-US" sz="1300" dirty="0"/>
          </a:p>
        </p:txBody>
      </p:sp>
      <p:sp>
        <p:nvSpPr>
          <p:cNvPr id="5" name="Text 3"/>
          <p:cNvSpPr/>
          <p:nvPr/>
        </p:nvSpPr>
        <p:spPr>
          <a:xfrm>
            <a:off x="990600" y="1236735"/>
            <a:ext cx="3034792"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3EA"/>
                </a:solidFill>
                <a:latin typeface="Arial" pitchFamily="34" charset="0"/>
                <a:ea typeface="Arial" pitchFamily="34" charset="-122"/>
                <a:cs typeface="Arial" pitchFamily="34" charset="-120"/>
              </a:rPr>
              <a:t>Hero video of the descent. One line. Book Now and WhatsApp side by side.</a:t>
            </a:r>
            <a:endParaRPr lang="en-US" sz="1400" dirty="0"/>
          </a:p>
        </p:txBody>
      </p:sp>
      <p:sp>
        <p:nvSpPr>
          <p:cNvPr id="6" name="Shape 4"/>
          <p:cNvSpPr/>
          <p:nvPr/>
        </p:nvSpPr>
        <p:spPr>
          <a:xfrm>
            <a:off x="812800" y="2318186"/>
            <a:ext cx="3302000" cy="1102360"/>
          </a:xfrm>
          <a:prstGeom prst="rect">
            <a:avLst/>
          </a:prstGeom>
          <a:solidFill>
            <a:srgbClr val="E8E1D3"/>
          </a:solidFill>
          <a:ln/>
        </p:spPr>
      </p:sp>
      <p:sp>
        <p:nvSpPr>
          <p:cNvPr id="7" name="Shape 5"/>
          <p:cNvSpPr/>
          <p:nvPr/>
        </p:nvSpPr>
        <p:spPr>
          <a:xfrm>
            <a:off x="4111625" y="2291296"/>
            <a:ext cx="0" cy="1102360"/>
          </a:xfrm>
          <a:prstGeom prst="line">
            <a:avLst/>
          </a:prstGeom>
          <a:noFill/>
          <a:ln w="6350">
            <a:solidFill>
              <a:srgbClr val="B9AF9B"/>
            </a:solidFill>
            <a:prstDash val="solid"/>
          </a:ln>
        </p:spPr>
      </p:sp>
      <p:sp>
        <p:nvSpPr>
          <p:cNvPr id="8" name="Shape 6"/>
          <p:cNvSpPr/>
          <p:nvPr/>
        </p:nvSpPr>
        <p:spPr>
          <a:xfrm>
            <a:off x="815975" y="2354046"/>
            <a:ext cx="0" cy="1102360"/>
          </a:xfrm>
          <a:prstGeom prst="line">
            <a:avLst/>
          </a:prstGeom>
          <a:noFill/>
          <a:ln w="6350">
            <a:solidFill>
              <a:srgbClr val="B9AF9B"/>
            </a:solidFill>
            <a:prstDash val="solid"/>
          </a:ln>
        </p:spPr>
      </p:sp>
      <p:sp>
        <p:nvSpPr>
          <p:cNvPr id="9" name="Text 7"/>
          <p:cNvSpPr/>
          <p:nvPr/>
        </p:nvSpPr>
        <p:spPr>
          <a:xfrm>
            <a:off x="995680" y="2424275"/>
            <a:ext cx="3024327" cy="77216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7140F"/>
                </a:solidFill>
                <a:latin typeface="Arial" pitchFamily="34" charset="0"/>
                <a:ea typeface="Arial" pitchFamily="34" charset="-122"/>
                <a:cs typeface="Arial" pitchFamily="34" charset="-120"/>
              </a:rPr>
              <a:t>The rooms</a:t>
            </a:r>
            <a:r>
              <a:rPr lang="en-US" sz="1400" dirty="0">
                <a:solidFill>
                  <a:srgbClr val="17140F"/>
                </a:solidFill>
                <a:latin typeface="Arial" pitchFamily="34" charset="0"/>
                <a:ea typeface="Arial" pitchFamily="34" charset="-122"/>
                <a:cs typeface="Arial" pitchFamily="34" charset="-120"/>
              </a:rPr>
              <a:t> — real interiors, rates, underground or above ground, marked clearly</a:t>
            </a:r>
            <a:endParaRPr lang="en-US" sz="1400" dirty="0"/>
          </a:p>
        </p:txBody>
      </p:sp>
      <p:sp>
        <p:nvSpPr>
          <p:cNvPr id="10" name="Shape 8"/>
          <p:cNvSpPr/>
          <p:nvPr/>
        </p:nvSpPr>
        <p:spPr>
          <a:xfrm>
            <a:off x="809625" y="3630361"/>
            <a:ext cx="3302000" cy="853440"/>
          </a:xfrm>
          <a:prstGeom prst="rect">
            <a:avLst/>
          </a:prstGeom>
          <a:solidFill>
            <a:srgbClr val="FFFFFF"/>
          </a:solidFill>
          <a:ln/>
        </p:spPr>
        <p:txBody>
          <a:bodyPr/>
          <a:lstStyle/>
          <a:p>
            <a:endParaRPr lang="en-IN" dirty="0"/>
          </a:p>
        </p:txBody>
      </p:sp>
      <p:sp>
        <p:nvSpPr>
          <p:cNvPr id="13" name="Text 11"/>
          <p:cNvSpPr/>
          <p:nvPr/>
        </p:nvSpPr>
        <p:spPr>
          <a:xfrm>
            <a:off x="959820" y="3782136"/>
            <a:ext cx="3024327" cy="52324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7140F"/>
                </a:solidFill>
                <a:latin typeface="Arial" pitchFamily="34" charset="0"/>
                <a:ea typeface="Arial" pitchFamily="34" charset="-122"/>
                <a:cs typeface="Arial" pitchFamily="34" charset="-120"/>
              </a:rPr>
              <a:t>What a night is like</a:t>
            </a:r>
            <a:r>
              <a:rPr lang="en-US" sz="1400" dirty="0">
                <a:solidFill>
                  <a:srgbClr val="17140F"/>
                </a:solidFill>
                <a:latin typeface="Arial" pitchFamily="34" charset="0"/>
                <a:ea typeface="Arial" pitchFamily="34" charset="-122"/>
                <a:cs typeface="Arial" pitchFamily="34" charset="-120"/>
              </a:rPr>
              <a:t> — the tunnel, the amphitheatre, the spa, the quiet</a:t>
            </a:r>
            <a:endParaRPr lang="en-US" sz="1400" dirty="0"/>
          </a:p>
        </p:txBody>
      </p:sp>
      <p:sp>
        <p:nvSpPr>
          <p:cNvPr id="14" name="Shape 12"/>
          <p:cNvSpPr/>
          <p:nvPr/>
        </p:nvSpPr>
        <p:spPr>
          <a:xfrm>
            <a:off x="812800" y="4587754"/>
            <a:ext cx="3302000" cy="853440"/>
          </a:xfrm>
          <a:prstGeom prst="rect">
            <a:avLst/>
          </a:prstGeom>
          <a:solidFill>
            <a:srgbClr val="E8E1D3"/>
          </a:solidFill>
          <a:ln/>
        </p:spPr>
      </p:sp>
      <p:sp>
        <p:nvSpPr>
          <p:cNvPr id="17" name="Text 15"/>
          <p:cNvSpPr/>
          <p:nvPr/>
        </p:nvSpPr>
        <p:spPr>
          <a:xfrm>
            <a:off x="959820" y="4729695"/>
            <a:ext cx="3024327" cy="52324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7140F"/>
                </a:solidFill>
                <a:latin typeface="Arial" pitchFamily="34" charset="0"/>
                <a:ea typeface="Arial" pitchFamily="34" charset="-122"/>
                <a:cs typeface="Arial" pitchFamily="34" charset="-120"/>
              </a:rPr>
              <a:t>Reviews</a:t>
            </a:r>
            <a:r>
              <a:rPr lang="en-US" sz="1400" dirty="0">
                <a:solidFill>
                  <a:srgbClr val="17140F"/>
                </a:solidFill>
                <a:latin typeface="Arial" pitchFamily="34" charset="0"/>
                <a:ea typeface="Arial" pitchFamily="34" charset="-122"/>
                <a:cs typeface="Arial" pitchFamily="34" charset="-120"/>
              </a:rPr>
              <a:t> — recent, honest, weekdays framed as the quiet time</a:t>
            </a:r>
            <a:endParaRPr lang="en-US" sz="1400" dirty="0"/>
          </a:p>
        </p:txBody>
      </p:sp>
      <p:sp>
        <p:nvSpPr>
          <p:cNvPr id="18" name="Shape 16"/>
          <p:cNvSpPr/>
          <p:nvPr/>
        </p:nvSpPr>
        <p:spPr>
          <a:xfrm>
            <a:off x="812800" y="5526349"/>
            <a:ext cx="3302000" cy="853440"/>
          </a:xfrm>
          <a:prstGeom prst="rect">
            <a:avLst/>
          </a:prstGeom>
          <a:solidFill>
            <a:srgbClr val="FFFFFF"/>
          </a:solidFill>
          <a:ln/>
        </p:spPr>
      </p:sp>
      <p:sp>
        <p:nvSpPr>
          <p:cNvPr id="19" name="Shape 17"/>
          <p:cNvSpPr/>
          <p:nvPr/>
        </p:nvSpPr>
        <p:spPr>
          <a:xfrm>
            <a:off x="4111625" y="5732537"/>
            <a:ext cx="0" cy="853440"/>
          </a:xfrm>
          <a:prstGeom prst="line">
            <a:avLst/>
          </a:prstGeom>
          <a:noFill/>
          <a:ln w="6350">
            <a:solidFill>
              <a:srgbClr val="B9AF9B"/>
            </a:solidFill>
            <a:prstDash val="solid"/>
          </a:ln>
        </p:spPr>
      </p:sp>
      <p:sp>
        <p:nvSpPr>
          <p:cNvPr id="20" name="Shape 18"/>
          <p:cNvSpPr/>
          <p:nvPr/>
        </p:nvSpPr>
        <p:spPr>
          <a:xfrm>
            <a:off x="815975" y="5732537"/>
            <a:ext cx="0" cy="853440"/>
          </a:xfrm>
          <a:prstGeom prst="line">
            <a:avLst/>
          </a:prstGeom>
          <a:noFill/>
          <a:ln w="6350">
            <a:solidFill>
              <a:srgbClr val="B9AF9B"/>
            </a:solidFill>
            <a:prstDash val="solid"/>
          </a:ln>
        </p:spPr>
      </p:sp>
      <p:sp>
        <p:nvSpPr>
          <p:cNvPr id="21" name="Text 19"/>
          <p:cNvSpPr/>
          <p:nvPr/>
        </p:nvSpPr>
        <p:spPr>
          <a:xfrm>
            <a:off x="995680" y="5641395"/>
            <a:ext cx="3024327" cy="52324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7140F"/>
                </a:solidFill>
                <a:latin typeface="Arial" pitchFamily="34" charset="0"/>
                <a:ea typeface="Arial" pitchFamily="34" charset="-122"/>
                <a:cs typeface="Arial" pitchFamily="34" charset="-120"/>
              </a:rPr>
              <a:t>FAQ</a:t>
            </a:r>
            <a:r>
              <a:rPr lang="en-US" sz="1400" dirty="0">
                <a:solidFill>
                  <a:srgbClr val="17140F"/>
                </a:solidFill>
                <a:latin typeface="Arial" pitchFamily="34" charset="0"/>
                <a:ea typeface="Arial" pitchFamily="34" charset="-122"/>
                <a:cs typeface="Arial" pitchFamily="34" charset="-120"/>
              </a:rPr>
              <a:t> — claustrophobia, safety, children, older guests, drive time</a:t>
            </a:r>
            <a:endParaRPr lang="en-US" sz="1400" dirty="0"/>
          </a:p>
        </p:txBody>
      </p:sp>
      <p:sp>
        <p:nvSpPr>
          <p:cNvPr id="22" name="Shape 20"/>
          <p:cNvSpPr/>
          <p:nvPr/>
        </p:nvSpPr>
        <p:spPr>
          <a:xfrm>
            <a:off x="812800" y="6285673"/>
            <a:ext cx="3302000" cy="853440"/>
          </a:xfrm>
          <a:custGeom>
            <a:avLst/>
            <a:gdLst/>
            <a:ahLst/>
            <a:cxnLst/>
            <a:rect l="l" t="t" r="r" b="b"/>
            <a:pathLst>
              <a:path w="3302000" h="853440">
                <a:moveTo>
                  <a:pt x="0" y="0"/>
                </a:moveTo>
                <a:lnTo>
                  <a:pt x="3302000" y="0"/>
                </a:lnTo>
                <a:lnTo>
                  <a:pt x="3302000" y="777240"/>
                </a:lnTo>
                <a:arcTo wR="76200" hR="76200" stAng="0" swAng="5400000"/>
                <a:lnTo>
                  <a:pt x="76200" y="853440"/>
                </a:lnTo>
                <a:arcTo wR="76200" hR="76200" stAng="5400000" swAng="5400000"/>
                <a:lnTo>
                  <a:pt x="0" y="0"/>
                </a:lnTo>
                <a:close/>
              </a:path>
            </a:pathLst>
          </a:custGeom>
          <a:solidFill>
            <a:srgbClr val="C9A63C"/>
          </a:solidFill>
          <a:ln/>
        </p:spPr>
      </p:sp>
      <p:sp>
        <p:nvSpPr>
          <p:cNvPr id="23" name="Text 21"/>
          <p:cNvSpPr/>
          <p:nvPr/>
        </p:nvSpPr>
        <p:spPr>
          <a:xfrm>
            <a:off x="990600" y="6463471"/>
            <a:ext cx="3034792" cy="52324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7140F"/>
                </a:solidFill>
                <a:latin typeface="Arial" pitchFamily="34" charset="0"/>
                <a:ea typeface="Arial" pitchFamily="34" charset="-122"/>
                <a:cs typeface="Arial" pitchFamily="34" charset="-120"/>
              </a:rPr>
              <a:t>Booking</a:t>
            </a:r>
            <a:r>
              <a:rPr lang="en-US" sz="1400" dirty="0">
                <a:solidFill>
                  <a:srgbClr val="17140F"/>
                </a:solidFill>
                <a:latin typeface="Arial" pitchFamily="34" charset="0"/>
                <a:ea typeface="Arial" pitchFamily="34" charset="-122"/>
                <a:cs typeface="Arial" pitchFamily="34" charset="-120"/>
              </a:rPr>
              <a:t> — embedded, on the page, never a redirect</a:t>
            </a:r>
            <a:endParaRPr lang="en-US" sz="1400" dirty="0"/>
          </a:p>
        </p:txBody>
      </p:sp>
      <p:sp>
        <p:nvSpPr>
          <p:cNvPr id="24" name="Shape 22"/>
          <p:cNvSpPr/>
          <p:nvPr/>
        </p:nvSpPr>
        <p:spPr>
          <a:xfrm>
            <a:off x="4321175" y="1288182"/>
            <a:ext cx="7054850" cy="1478280"/>
          </a:xfrm>
          <a:prstGeom prst="roundRect">
            <a:avLst>
              <a:gd name="adj" fmla="val 6658"/>
            </a:avLst>
          </a:prstGeom>
          <a:solidFill>
            <a:srgbClr val="FFFFFF"/>
          </a:solidFill>
          <a:ln w="6350">
            <a:solidFill>
              <a:srgbClr val="DDD5C5"/>
            </a:solidFill>
            <a:prstDash val="solid"/>
          </a:ln>
        </p:spPr>
      </p:sp>
      <p:sp>
        <p:nvSpPr>
          <p:cNvPr id="25" name="Text 23"/>
          <p:cNvSpPr/>
          <p:nvPr/>
        </p:nvSpPr>
        <p:spPr>
          <a:xfrm>
            <a:off x="4551680" y="1518692"/>
            <a:ext cx="6791655"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140F"/>
                </a:solidFill>
                <a:latin typeface="Arial" pitchFamily="34" charset="0"/>
                <a:ea typeface="Arial" pitchFamily="34" charset="-122"/>
                <a:cs typeface="Arial" pitchFamily="34" charset="-120"/>
              </a:rPr>
              <a:t>Lead with the descent, not the pool</a:t>
            </a:r>
            <a:endParaRPr lang="en-US" sz="1600" dirty="0"/>
          </a:p>
        </p:txBody>
      </p:sp>
      <p:sp>
        <p:nvSpPr>
          <p:cNvPr id="26" name="Text 24"/>
          <p:cNvSpPr/>
          <p:nvPr/>
        </p:nvSpPr>
        <p:spPr>
          <a:xfrm>
            <a:off x="4551680" y="1762522"/>
            <a:ext cx="6791655" cy="798830"/>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5C5344"/>
                </a:solidFill>
                <a:latin typeface="Arial" pitchFamily="34" charset="0"/>
                <a:ea typeface="Arial" pitchFamily="34" charset="-122"/>
                <a:cs typeface="Arial" pitchFamily="34" charset="-120"/>
              </a:rPr>
              <a:t>Going underground is the only thing on this property that photographs unlike anywhere else near Bangalore. It should be the first thing a visitor sees and the last thing they remember.</a:t>
            </a:r>
            <a:endParaRPr lang="en-US" sz="1400" dirty="0"/>
          </a:p>
        </p:txBody>
      </p:sp>
      <p:sp>
        <p:nvSpPr>
          <p:cNvPr id="27" name="Shape 25"/>
          <p:cNvSpPr/>
          <p:nvPr/>
        </p:nvSpPr>
        <p:spPr>
          <a:xfrm>
            <a:off x="4321175" y="2912517"/>
            <a:ext cx="7054850" cy="1220470"/>
          </a:xfrm>
          <a:prstGeom prst="roundRect">
            <a:avLst>
              <a:gd name="adj" fmla="val 8065"/>
            </a:avLst>
          </a:prstGeom>
          <a:solidFill>
            <a:srgbClr val="FFFFFF"/>
          </a:solidFill>
          <a:ln w="6350">
            <a:solidFill>
              <a:srgbClr val="DDD5C5"/>
            </a:solidFill>
            <a:prstDash val="solid"/>
          </a:ln>
        </p:spPr>
      </p:sp>
      <p:sp>
        <p:nvSpPr>
          <p:cNvPr id="28" name="Text 26"/>
          <p:cNvSpPr/>
          <p:nvPr/>
        </p:nvSpPr>
        <p:spPr>
          <a:xfrm>
            <a:off x="4551680" y="3143027"/>
            <a:ext cx="6791655"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140F"/>
                </a:solidFill>
                <a:latin typeface="Arial" pitchFamily="34" charset="0"/>
                <a:ea typeface="Arial" pitchFamily="34" charset="-122"/>
                <a:cs typeface="Arial" pitchFamily="34" charset="-120"/>
              </a:rPr>
              <a:t>Show the price, drop the strike-through</a:t>
            </a:r>
            <a:endParaRPr lang="en-US" sz="1600" dirty="0"/>
          </a:p>
        </p:txBody>
      </p:sp>
      <p:sp>
        <p:nvSpPr>
          <p:cNvPr id="29" name="Text 27"/>
          <p:cNvSpPr/>
          <p:nvPr/>
        </p:nvSpPr>
        <p:spPr>
          <a:xfrm>
            <a:off x="4551680" y="3386857"/>
            <a:ext cx="6791655" cy="541020"/>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5C5344"/>
                </a:solidFill>
                <a:latin typeface="Arial" pitchFamily="34" charset="0"/>
                <a:ea typeface="Arial" pitchFamily="34" charset="-122"/>
                <a:cs typeface="Arial" pitchFamily="34" charset="-120"/>
              </a:rPr>
              <a:t>Replace the percentage with something the weekend crowd cannot get. A discount signals a crowd; the buyer for a cave room is escaping one.</a:t>
            </a:r>
            <a:endParaRPr lang="en-US" sz="1400" dirty="0"/>
          </a:p>
        </p:txBody>
      </p:sp>
      <p:sp>
        <p:nvSpPr>
          <p:cNvPr id="30" name="Shape 28"/>
          <p:cNvSpPr/>
          <p:nvPr/>
        </p:nvSpPr>
        <p:spPr>
          <a:xfrm>
            <a:off x="4321175" y="4279032"/>
            <a:ext cx="7054850" cy="1220470"/>
          </a:xfrm>
          <a:prstGeom prst="roundRect">
            <a:avLst>
              <a:gd name="adj" fmla="val 8065"/>
            </a:avLst>
          </a:prstGeom>
          <a:solidFill>
            <a:srgbClr val="FFFFFF"/>
          </a:solidFill>
          <a:ln w="6350">
            <a:solidFill>
              <a:srgbClr val="DDD5C5"/>
            </a:solidFill>
            <a:prstDash val="solid"/>
          </a:ln>
        </p:spPr>
      </p:sp>
      <p:sp>
        <p:nvSpPr>
          <p:cNvPr id="31" name="Text 29"/>
          <p:cNvSpPr/>
          <p:nvPr/>
        </p:nvSpPr>
        <p:spPr>
          <a:xfrm>
            <a:off x="4551680" y="4509542"/>
            <a:ext cx="6791655"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140F"/>
                </a:solidFill>
                <a:latin typeface="Arial" pitchFamily="34" charset="0"/>
                <a:ea typeface="Arial" pitchFamily="34" charset="-122"/>
                <a:cs typeface="Arial" pitchFamily="34" charset="-120"/>
              </a:rPr>
              <a:t>Answer the fear before the sell</a:t>
            </a:r>
            <a:endParaRPr lang="en-US" sz="1600" dirty="0"/>
          </a:p>
        </p:txBody>
      </p:sp>
      <p:sp>
        <p:nvSpPr>
          <p:cNvPr id="32" name="Text 30"/>
          <p:cNvSpPr/>
          <p:nvPr/>
        </p:nvSpPr>
        <p:spPr>
          <a:xfrm>
            <a:off x="4551680" y="4753372"/>
            <a:ext cx="6791655" cy="541020"/>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5C5344"/>
                </a:solidFill>
                <a:latin typeface="Arial" pitchFamily="34" charset="0"/>
                <a:ea typeface="Arial" pitchFamily="34" charset="-122"/>
                <a:cs typeface="Arial" pitchFamily="34" charset="-120"/>
              </a:rPr>
              <a:t>"Is it claustrophobic" is the question that stops a first-time booking. Answering it plainly converts better than any offer.</a:t>
            </a:r>
            <a:endParaRPr lang="en-US" sz="1400" dirty="0"/>
          </a:p>
        </p:txBody>
      </p:sp>
      <p:sp>
        <p:nvSpPr>
          <p:cNvPr id="33" name="Text 31"/>
          <p:cNvSpPr/>
          <p:nvPr/>
        </p:nvSpPr>
        <p:spPr>
          <a:xfrm>
            <a:off x="812800" y="6238255"/>
            <a:ext cx="4996860" cy="238760"/>
          </a:xfrm>
          <a:prstGeom prst="rect">
            <a:avLst/>
          </a:prstGeom>
          <a:noFill/>
          <a:ln/>
        </p:spPr>
        <p:txBody>
          <a:bodyPr wrap="square" lIns="0" tIns="0" rIns="0" bIns="0" rtlCol="0" anchor="t">
            <a:normAutofit/>
          </a:bodyPr>
          <a:lstStyle/>
          <a:p>
            <a:pPr marL="0" indent="0" algn="l">
              <a:lnSpc>
                <a:spcPts val="1680"/>
              </a:lnSpc>
              <a:buNone/>
            </a:pPr>
            <a:endParaRPr lang="en-US" sz="12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2">
    <p:bg>
      <p:bgPr>
        <a:solidFill>
          <a:srgbClr val="F7F3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798195"/>
          </a:xfrm>
          <a:prstGeom prst="rect">
            <a:avLst/>
          </a:prstGeom>
          <a:noFill/>
          <a:ln/>
        </p:spPr>
        <p:txBody>
          <a:bodyPr wrap="square" lIns="0" tIns="0" rIns="0" bIns="0" rtlCol="0" anchor="t">
            <a:normAutofit/>
          </a:bodyPr>
          <a:lstStyle/>
          <a:p>
            <a:pPr marL="0" indent="0" algn="l">
              <a:lnSpc>
                <a:spcPts val="3682"/>
              </a:lnSpc>
              <a:buNone/>
            </a:pPr>
            <a:r>
              <a:rPr lang="en-US" sz="3506" dirty="0">
                <a:solidFill>
                  <a:srgbClr val="17140F"/>
                </a:solidFill>
                <a:latin typeface="Georgia" pitchFamily="34" charset="0"/>
                <a:ea typeface="Georgia" pitchFamily="34" charset="-122"/>
                <a:cs typeface="Georgia" pitchFamily="34" charset="-120"/>
              </a:rPr>
              <a:t>Nothing has ever been tested. That is the opportunity.</a:t>
            </a:r>
            <a:endParaRPr lang="en-US" sz="3506" dirty="0"/>
          </a:p>
        </p:txBody>
      </p:sp>
      <p:sp>
        <p:nvSpPr>
          <p:cNvPr id="3" name="Shape 1"/>
          <p:cNvSpPr/>
          <p:nvPr/>
        </p:nvSpPr>
        <p:spPr>
          <a:xfrm>
            <a:off x="812800" y="1864990"/>
            <a:ext cx="3386614" cy="1440180"/>
          </a:xfrm>
          <a:prstGeom prst="roundRect">
            <a:avLst>
              <a:gd name="adj" fmla="val 7055"/>
            </a:avLst>
          </a:prstGeom>
          <a:solidFill>
            <a:srgbClr val="17140F"/>
          </a:solidFill>
          <a:ln/>
        </p:spPr>
      </p:sp>
      <p:sp>
        <p:nvSpPr>
          <p:cNvPr id="4" name="Text 2"/>
          <p:cNvSpPr/>
          <p:nvPr/>
        </p:nvSpPr>
        <p:spPr>
          <a:xfrm>
            <a:off x="1092200" y="2144390"/>
            <a:ext cx="2912648" cy="139541"/>
          </a:xfrm>
          <a:prstGeom prst="rect">
            <a:avLst/>
          </a:prstGeom>
          <a:noFill/>
          <a:ln/>
        </p:spPr>
        <p:txBody>
          <a:bodyPr wrap="square" lIns="0" tIns="0" rIns="0" bIns="0" rtlCol="0" anchor="t">
            <a:normAutofit/>
          </a:bodyPr>
          <a:lstStyle/>
          <a:p>
            <a:pPr marL="0" indent="0" algn="l">
              <a:lnSpc>
                <a:spcPts val="1092"/>
              </a:lnSpc>
              <a:buNone/>
            </a:pPr>
            <a:r>
              <a:rPr lang="en-US" sz="780" dirty="0">
                <a:solidFill>
                  <a:srgbClr val="A79C89"/>
                </a:solidFill>
                <a:latin typeface="Arial" pitchFamily="34" charset="0"/>
                <a:ea typeface="Arial" pitchFamily="34" charset="-122"/>
                <a:cs typeface="Arial" pitchFamily="34" charset="-120"/>
              </a:rPr>
              <a:t>Landing pages in use</a:t>
            </a:r>
            <a:endParaRPr lang="en-US" sz="780" dirty="0"/>
          </a:p>
        </p:txBody>
      </p:sp>
      <p:sp>
        <p:nvSpPr>
          <p:cNvPr id="5" name="Text 3"/>
          <p:cNvSpPr/>
          <p:nvPr/>
        </p:nvSpPr>
        <p:spPr>
          <a:xfrm>
            <a:off x="1092200" y="2334741"/>
            <a:ext cx="2912648" cy="411877"/>
          </a:xfrm>
          <a:prstGeom prst="rect">
            <a:avLst/>
          </a:prstGeom>
          <a:noFill/>
          <a:ln/>
        </p:spPr>
        <p:txBody>
          <a:bodyPr wrap="square" lIns="0" tIns="0" rIns="0" bIns="0" rtlCol="0" anchor="t">
            <a:normAutofit fontScale="55000" lnSpcReduction="20000"/>
          </a:bodyPr>
          <a:lstStyle/>
          <a:p>
            <a:pPr marL="0" indent="0" algn="l">
              <a:lnSpc>
                <a:spcPts val="3696"/>
              </a:lnSpc>
              <a:buNone/>
            </a:pPr>
            <a:r>
              <a:rPr lang="en-US" sz="3360" dirty="0">
                <a:solidFill>
                  <a:srgbClr val="C9A63C"/>
                </a:solidFill>
                <a:latin typeface="Georgia" pitchFamily="34" charset="0"/>
                <a:ea typeface="Georgia" pitchFamily="34" charset="-122"/>
                <a:cs typeface="Georgia" pitchFamily="34" charset="-120"/>
              </a:rPr>
              <a:t>1</a:t>
            </a:r>
            <a:endParaRPr lang="en-US" sz="3360" dirty="0"/>
          </a:p>
        </p:txBody>
      </p:sp>
      <p:sp>
        <p:nvSpPr>
          <p:cNvPr id="6" name="Text 4"/>
          <p:cNvSpPr/>
          <p:nvPr/>
        </p:nvSpPr>
        <p:spPr>
          <a:xfrm>
            <a:off x="1092200" y="2797423"/>
            <a:ext cx="2912648" cy="253762"/>
          </a:xfrm>
          <a:prstGeom prst="rect">
            <a:avLst/>
          </a:prstGeom>
          <a:noFill/>
          <a:ln/>
        </p:spPr>
        <p:txBody>
          <a:bodyPr wrap="square" lIns="0" tIns="0" rIns="0" bIns="0" rtlCol="0" anchor="t">
            <a:normAutofit/>
          </a:bodyPr>
          <a:lstStyle/>
          <a:p>
            <a:pPr marL="0" indent="0" algn="l">
              <a:lnSpc>
                <a:spcPts val="1365"/>
              </a:lnSpc>
              <a:buNone/>
            </a:pPr>
            <a:r>
              <a:rPr lang="en-US" sz="975" dirty="0">
                <a:solidFill>
                  <a:srgbClr val="A79C89"/>
                </a:solidFill>
                <a:latin typeface="Arial" pitchFamily="34" charset="0"/>
                <a:ea typeface="Arial" pitchFamily="34" charset="-122"/>
                <a:cs typeface="Arial" pitchFamily="34" charset="-120"/>
              </a:rPr>
              <a:t>For every campaign, every product, every audience</a:t>
            </a:r>
            <a:endParaRPr lang="en-US" sz="975" dirty="0"/>
          </a:p>
        </p:txBody>
      </p:sp>
      <p:sp>
        <p:nvSpPr>
          <p:cNvPr id="7" name="Shape 5"/>
          <p:cNvSpPr/>
          <p:nvPr/>
        </p:nvSpPr>
        <p:spPr>
          <a:xfrm>
            <a:off x="4402614" y="1864990"/>
            <a:ext cx="3386693" cy="1440180"/>
          </a:xfrm>
          <a:prstGeom prst="roundRect">
            <a:avLst>
              <a:gd name="adj" fmla="val 7055"/>
            </a:avLst>
          </a:prstGeom>
          <a:solidFill>
            <a:srgbClr val="17140F"/>
          </a:solidFill>
          <a:ln/>
        </p:spPr>
      </p:sp>
      <p:sp>
        <p:nvSpPr>
          <p:cNvPr id="8" name="Text 6"/>
          <p:cNvSpPr/>
          <p:nvPr/>
        </p:nvSpPr>
        <p:spPr>
          <a:xfrm>
            <a:off x="4682014" y="2144390"/>
            <a:ext cx="2912730" cy="160814"/>
          </a:xfrm>
          <a:prstGeom prst="rect">
            <a:avLst/>
          </a:prstGeom>
          <a:noFill/>
          <a:ln/>
        </p:spPr>
        <p:txBody>
          <a:bodyPr wrap="square" lIns="0" tIns="0" rIns="0" bIns="0" rtlCol="0" anchor="t">
            <a:normAutofit/>
          </a:bodyPr>
          <a:lstStyle/>
          <a:p>
            <a:pPr marL="0" indent="0" algn="l">
              <a:lnSpc>
                <a:spcPts val="1092"/>
              </a:lnSpc>
              <a:buNone/>
            </a:pPr>
            <a:r>
              <a:rPr lang="en-US" sz="780" dirty="0">
                <a:solidFill>
                  <a:srgbClr val="A79C89"/>
                </a:solidFill>
                <a:latin typeface="Arial" pitchFamily="34" charset="0"/>
                <a:ea typeface="Arial" pitchFamily="34" charset="-122"/>
                <a:cs typeface="Arial" pitchFamily="34" charset="-120"/>
              </a:rPr>
              <a:t>Tests run in 21 months</a:t>
            </a:r>
            <a:endParaRPr lang="en-US" sz="780" dirty="0"/>
          </a:p>
        </p:txBody>
      </p:sp>
      <p:sp>
        <p:nvSpPr>
          <p:cNvPr id="9" name="Text 7"/>
          <p:cNvSpPr/>
          <p:nvPr/>
        </p:nvSpPr>
        <p:spPr>
          <a:xfrm>
            <a:off x="4682014" y="2356024"/>
            <a:ext cx="2912730" cy="483553"/>
          </a:xfrm>
          <a:prstGeom prst="rect">
            <a:avLst/>
          </a:prstGeom>
          <a:noFill/>
          <a:ln/>
        </p:spPr>
        <p:txBody>
          <a:bodyPr wrap="square" lIns="0" tIns="0" rIns="0" bIns="0" rtlCol="0" anchor="t">
            <a:normAutofit/>
          </a:bodyPr>
          <a:lstStyle/>
          <a:p>
            <a:pPr marL="0" indent="0" algn="l">
              <a:lnSpc>
                <a:spcPts val="3696"/>
              </a:lnSpc>
              <a:buNone/>
            </a:pPr>
            <a:r>
              <a:rPr lang="en-US" sz="3360" dirty="0">
                <a:solidFill>
                  <a:srgbClr val="B54A28"/>
                </a:solidFill>
                <a:latin typeface="Georgia" pitchFamily="34" charset="0"/>
                <a:ea typeface="Georgia" pitchFamily="34" charset="-122"/>
                <a:cs typeface="Georgia" pitchFamily="34" charset="-120"/>
              </a:rPr>
              <a:t>0</a:t>
            </a:r>
            <a:endParaRPr lang="en-US" sz="3360" dirty="0"/>
          </a:p>
        </p:txBody>
      </p:sp>
      <p:sp>
        <p:nvSpPr>
          <p:cNvPr id="10" name="Text 8"/>
          <p:cNvSpPr/>
          <p:nvPr/>
        </p:nvSpPr>
        <p:spPr>
          <a:xfrm>
            <a:off x="4682014" y="2890366"/>
            <a:ext cx="2912730" cy="160814"/>
          </a:xfrm>
          <a:prstGeom prst="rect">
            <a:avLst/>
          </a:prstGeom>
          <a:noFill/>
          <a:ln/>
        </p:spPr>
        <p:txBody>
          <a:bodyPr wrap="square" lIns="0" tIns="0" rIns="0" bIns="0" rtlCol="0" anchor="t">
            <a:normAutofit/>
          </a:bodyPr>
          <a:lstStyle/>
          <a:p>
            <a:pPr marL="0" indent="0" algn="l">
              <a:lnSpc>
                <a:spcPts val="1092"/>
              </a:lnSpc>
              <a:buNone/>
            </a:pPr>
            <a:r>
              <a:rPr lang="en-US" sz="780" dirty="0">
                <a:solidFill>
                  <a:srgbClr val="A79C89"/>
                </a:solidFill>
                <a:latin typeface="Arial" pitchFamily="34" charset="0"/>
                <a:ea typeface="Arial" pitchFamily="34" charset="-122"/>
                <a:cs typeface="Arial" pitchFamily="34" charset="-120"/>
              </a:rPr>
              <a:t>No variant, no split, no learning</a:t>
            </a:r>
            <a:endParaRPr lang="en-US" sz="780" dirty="0"/>
          </a:p>
        </p:txBody>
      </p:sp>
      <p:sp>
        <p:nvSpPr>
          <p:cNvPr id="11" name="Shape 9"/>
          <p:cNvSpPr/>
          <p:nvPr/>
        </p:nvSpPr>
        <p:spPr>
          <a:xfrm>
            <a:off x="7992507" y="1864990"/>
            <a:ext cx="3386693" cy="1440180"/>
          </a:xfrm>
          <a:prstGeom prst="roundRect">
            <a:avLst>
              <a:gd name="adj" fmla="val 7055"/>
            </a:avLst>
          </a:prstGeom>
          <a:solidFill>
            <a:srgbClr val="C9A63C"/>
          </a:solidFill>
          <a:ln/>
        </p:spPr>
      </p:sp>
      <p:sp>
        <p:nvSpPr>
          <p:cNvPr id="12" name="Text 10"/>
          <p:cNvSpPr/>
          <p:nvPr/>
        </p:nvSpPr>
        <p:spPr>
          <a:xfrm>
            <a:off x="8271907" y="2144390"/>
            <a:ext cx="2912730" cy="160814"/>
          </a:xfrm>
          <a:prstGeom prst="rect">
            <a:avLst/>
          </a:prstGeom>
          <a:noFill/>
          <a:ln/>
        </p:spPr>
        <p:txBody>
          <a:bodyPr wrap="square" lIns="0" tIns="0" rIns="0" bIns="0" rtlCol="0" anchor="t">
            <a:normAutofit/>
          </a:bodyPr>
          <a:lstStyle/>
          <a:p>
            <a:pPr marL="0" indent="0" algn="l">
              <a:lnSpc>
                <a:spcPts val="1092"/>
              </a:lnSpc>
              <a:buNone/>
            </a:pPr>
            <a:r>
              <a:rPr lang="en-US" sz="780" dirty="0">
                <a:solidFill>
                  <a:srgbClr val="3A342A"/>
                </a:solidFill>
                <a:latin typeface="Arial" pitchFamily="34" charset="0"/>
                <a:ea typeface="Arial" pitchFamily="34" charset="-122"/>
                <a:cs typeface="Arial" pitchFamily="34" charset="-120"/>
              </a:rPr>
              <a:t>Current landing rate</a:t>
            </a:r>
            <a:endParaRPr lang="en-US" sz="780" dirty="0"/>
          </a:p>
        </p:txBody>
      </p:sp>
      <p:sp>
        <p:nvSpPr>
          <p:cNvPr id="13" name="Text 11"/>
          <p:cNvSpPr/>
          <p:nvPr/>
        </p:nvSpPr>
        <p:spPr>
          <a:xfrm>
            <a:off x="8271907" y="2356024"/>
            <a:ext cx="2912730" cy="483553"/>
          </a:xfrm>
          <a:prstGeom prst="rect">
            <a:avLst/>
          </a:prstGeom>
          <a:noFill/>
          <a:ln/>
        </p:spPr>
        <p:txBody>
          <a:bodyPr wrap="square" lIns="0" tIns="0" rIns="0" bIns="0" rtlCol="0" anchor="t">
            <a:normAutofit/>
          </a:bodyPr>
          <a:lstStyle/>
          <a:p>
            <a:pPr marL="0" indent="0" algn="l">
              <a:lnSpc>
                <a:spcPts val="3696"/>
              </a:lnSpc>
              <a:buNone/>
            </a:pPr>
            <a:r>
              <a:rPr lang="en-US" sz="3360" dirty="0">
                <a:solidFill>
                  <a:srgbClr val="17140F"/>
                </a:solidFill>
                <a:latin typeface="Georgia" pitchFamily="34" charset="0"/>
                <a:ea typeface="Georgia" pitchFamily="34" charset="-122"/>
                <a:cs typeface="Georgia" pitchFamily="34" charset="-120"/>
              </a:rPr>
              <a:t>33.7%</a:t>
            </a:r>
            <a:endParaRPr lang="en-US" sz="3360" dirty="0"/>
          </a:p>
        </p:txBody>
      </p:sp>
      <p:sp>
        <p:nvSpPr>
          <p:cNvPr id="14" name="Text 12"/>
          <p:cNvSpPr/>
          <p:nvPr/>
        </p:nvSpPr>
        <p:spPr>
          <a:xfrm>
            <a:off x="8271907" y="2890366"/>
            <a:ext cx="2912730" cy="160814"/>
          </a:xfrm>
          <a:prstGeom prst="rect">
            <a:avLst/>
          </a:prstGeom>
          <a:noFill/>
          <a:ln/>
        </p:spPr>
        <p:txBody>
          <a:bodyPr wrap="square" lIns="0" tIns="0" rIns="0" bIns="0" rtlCol="0" anchor="t">
            <a:normAutofit/>
          </a:bodyPr>
          <a:lstStyle/>
          <a:p>
            <a:pPr marL="0" indent="0" algn="l">
              <a:lnSpc>
                <a:spcPts val="1092"/>
              </a:lnSpc>
              <a:buNone/>
            </a:pPr>
            <a:r>
              <a:rPr lang="en-US" sz="780" dirty="0">
                <a:solidFill>
                  <a:srgbClr val="3A342A"/>
                </a:solidFill>
                <a:latin typeface="Arial" pitchFamily="34" charset="0"/>
                <a:ea typeface="Arial" pitchFamily="34" charset="-122"/>
                <a:cs typeface="Arial" pitchFamily="34" charset="-120"/>
              </a:rPr>
              <a:t>Against a 60–70% floor</a:t>
            </a:r>
            <a:endParaRPr lang="en-US" sz="78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822960" y="3594735"/>
          <a:ext cx="10556241" cy="2247268"/>
        </p:xfrm>
        <a:graphic>
          <a:graphicData uri="http://schemas.openxmlformats.org/drawingml/2006/table">
            <a:tbl>
              <a:tblPr/>
              <a:tblGrid>
                <a:gridCol w="2322373">
                  <a:extLst>
                    <a:ext uri="{9D8B030D-6E8A-4147-A177-3AD203B41FA5}">
                      <a16:colId xmlns:a16="http://schemas.microsoft.com/office/drawing/2014/main" val="20000"/>
                    </a:ext>
                  </a:extLst>
                </a:gridCol>
                <a:gridCol w="4644746">
                  <a:extLst>
                    <a:ext uri="{9D8B030D-6E8A-4147-A177-3AD203B41FA5}">
                      <a16:colId xmlns:a16="http://schemas.microsoft.com/office/drawing/2014/main" val="20001"/>
                    </a:ext>
                  </a:extLst>
                </a:gridCol>
                <a:gridCol w="3589122">
                  <a:extLst>
                    <a:ext uri="{9D8B030D-6E8A-4147-A177-3AD203B41FA5}">
                      <a16:colId xmlns:a16="http://schemas.microsoft.com/office/drawing/2014/main" val="20002"/>
                    </a:ext>
                  </a:extLst>
                </a:gridCol>
              </a:tblGrid>
              <a:tr h="338773">
                <a:tc>
                  <a:txBody>
                    <a:bodyPr/>
                    <a:lstStyle/>
                    <a:p>
                      <a:pPr marL="0" indent="0">
                        <a:lnSpc>
                          <a:spcPts val="1726"/>
                        </a:lnSpc>
                        <a:buNone/>
                      </a:pPr>
                      <a:r>
                        <a:rPr lang="en-US" sz="1233" b="1" dirty="0">
                          <a:solidFill>
                            <a:srgbClr val="F7F3EA"/>
                          </a:solidFill>
                          <a:latin typeface="Arial" pitchFamily="34" charset="0"/>
                          <a:ea typeface="Arial" pitchFamily="34" charset="-122"/>
                          <a:cs typeface="Arial" pitchFamily="34" charset="-120"/>
                        </a:rPr>
                        <a:t>Test</a:t>
                      </a:r>
                      <a:endParaRPr lang="en-US" sz="1233" dirty="0">
                        <a:latin typeface="Arial" charset="0"/>
                        <a:ea typeface="Arial" charset="0"/>
                        <a:cs typeface="Arial" charset="0"/>
                      </a:endParaRPr>
                    </a:p>
                  </a:txBody>
                  <a:tcPr marL="54785" marR="54785" marT="54785" marB="54785">
                    <a:lnL w="12700" cap="flat" cmpd="sng" algn="ctr">
                      <a:solidFill>
                        <a:srgbClr val="C5C2BB"/>
                      </a:solidFill>
                      <a:prstDash val="solid"/>
                      <a:round/>
                      <a:headEnd type="none" w="med" len="med"/>
                      <a:tailEnd type="none" w="med" len="med"/>
                    </a:lnL>
                    <a:lnR w="12700" cap="flat" cmpd="sng" algn="ctr">
                      <a:solidFill>
                        <a:srgbClr val="161410"/>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161410"/>
                      </a:solidFill>
                      <a:prstDash val="solid"/>
                      <a:round/>
                      <a:headEnd type="none" w="med" len="med"/>
                      <a:tailEnd type="none" w="med" len="med"/>
                    </a:lnB>
                    <a:solidFill>
                      <a:srgbClr val="17140F"/>
                    </a:solidFill>
                  </a:tcPr>
                </a:tc>
                <a:tc>
                  <a:txBody>
                    <a:bodyPr/>
                    <a:lstStyle/>
                    <a:p>
                      <a:pPr marL="0" indent="0">
                        <a:lnSpc>
                          <a:spcPts val="1726"/>
                        </a:lnSpc>
                        <a:buNone/>
                      </a:pPr>
                      <a:r>
                        <a:rPr lang="en-US" sz="1233" b="1" dirty="0">
                          <a:solidFill>
                            <a:srgbClr val="F7F3EA"/>
                          </a:solidFill>
                          <a:latin typeface="Arial" pitchFamily="34" charset="0"/>
                          <a:ea typeface="Arial" pitchFamily="34" charset="-122"/>
                          <a:cs typeface="Arial" pitchFamily="34" charset="-120"/>
                        </a:rPr>
                        <a:t>What we vary</a:t>
                      </a:r>
                      <a:endParaRPr lang="en-US" sz="1233" dirty="0">
                        <a:latin typeface="Arial" charset="0"/>
                        <a:ea typeface="Arial" charset="0"/>
                        <a:cs typeface="Arial" charset="0"/>
                      </a:endParaRPr>
                    </a:p>
                  </a:txBody>
                  <a:tcPr marL="54785" marR="54785" marT="54785" marB="54785">
                    <a:lnL w="12700" cap="flat" cmpd="sng" algn="ctr">
                      <a:solidFill>
                        <a:srgbClr val="161410"/>
                      </a:solidFill>
                      <a:prstDash val="solid"/>
                      <a:round/>
                      <a:headEnd type="none" w="med" len="med"/>
                      <a:tailEnd type="none" w="med" len="med"/>
                    </a:lnL>
                    <a:lnR w="12700" cap="flat" cmpd="sng" algn="ctr">
                      <a:solidFill>
                        <a:srgbClr val="161410"/>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161410"/>
                      </a:solidFill>
                      <a:prstDash val="solid"/>
                      <a:round/>
                      <a:headEnd type="none" w="med" len="med"/>
                      <a:tailEnd type="none" w="med" len="med"/>
                    </a:lnB>
                    <a:solidFill>
                      <a:srgbClr val="17140F"/>
                    </a:solidFill>
                  </a:tcPr>
                </a:tc>
                <a:tc>
                  <a:txBody>
                    <a:bodyPr/>
                    <a:lstStyle/>
                    <a:p>
                      <a:pPr marL="0" indent="0">
                        <a:lnSpc>
                          <a:spcPts val="1726"/>
                        </a:lnSpc>
                        <a:buNone/>
                      </a:pPr>
                      <a:r>
                        <a:rPr lang="en-US" sz="1233" b="1" dirty="0">
                          <a:solidFill>
                            <a:srgbClr val="F7F3EA"/>
                          </a:solidFill>
                          <a:latin typeface="Arial" pitchFamily="34" charset="0"/>
                          <a:ea typeface="Arial" pitchFamily="34" charset="-122"/>
                          <a:cs typeface="Arial" pitchFamily="34" charset="-120"/>
                        </a:rPr>
                        <a:t>What it tells us</a:t>
                      </a:r>
                      <a:endParaRPr lang="en-US" sz="1233" dirty="0">
                        <a:latin typeface="Arial" charset="0"/>
                        <a:ea typeface="Arial" charset="0"/>
                        <a:cs typeface="Arial" charset="0"/>
                      </a:endParaRPr>
                    </a:p>
                  </a:txBody>
                  <a:tcPr marL="54785" marR="54785" marT="54785" marB="54785">
                    <a:lnL w="12700" cap="flat" cmpd="sng" algn="ctr">
                      <a:solidFill>
                        <a:srgbClr val="161410"/>
                      </a:solidFill>
                      <a:prstDash val="solid"/>
                      <a:round/>
                      <a:headEnd type="none" w="med" len="med"/>
                      <a:tailEnd type="none" w="med" len="med"/>
                    </a:lnL>
                    <a:lnR w="12700" cap="flat" cmpd="sng" algn="ctr">
                      <a:solidFill>
                        <a:srgbClr val="161410"/>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161410"/>
                      </a:solidFill>
                      <a:prstDash val="solid"/>
                      <a:round/>
                      <a:headEnd type="none" w="med" len="med"/>
                      <a:tailEnd type="none" w="med" len="med"/>
                    </a:lnB>
                    <a:solidFill>
                      <a:srgbClr val="17140F"/>
                    </a:solidFill>
                  </a:tcPr>
                </a:tc>
                <a:extLst>
                  <a:ext uri="{0D108BD9-81ED-4DB2-BD59-A6C34878D82A}">
                    <a16:rowId xmlns:a16="http://schemas.microsoft.com/office/drawing/2014/main" val="10000"/>
                  </a:ext>
                </a:extLst>
              </a:tr>
              <a:tr h="553403">
                <a:tc>
                  <a:txBody>
                    <a:bodyPr/>
                    <a:lstStyle/>
                    <a:p>
                      <a:pPr marL="0" indent="0">
                        <a:lnSpc>
                          <a:spcPts val="1726"/>
                        </a:lnSpc>
                        <a:buNone/>
                      </a:pPr>
                      <a:r>
                        <a:rPr lang="en-US" sz="1233" dirty="0">
                          <a:solidFill>
                            <a:srgbClr val="17140F"/>
                          </a:solidFill>
                          <a:latin typeface="Arial" pitchFamily="34" charset="0"/>
                          <a:ea typeface="Arial" pitchFamily="34" charset="-122"/>
                          <a:cs typeface="Arial" pitchFamily="34" charset="-120"/>
                        </a:rPr>
                        <a:t>Hero</a:t>
                      </a:r>
                      <a:endParaRPr lang="en-US" sz="1233" dirty="0">
                        <a:latin typeface="Arial" charset="0"/>
                        <a:ea typeface="Arial" charset="0"/>
                        <a:cs typeface="Arial" charset="0"/>
                      </a:endParaRPr>
                    </a:p>
                  </a:txBody>
                  <a:tcPr marL="54785" marR="54785" marT="54785" marB="54785">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161410"/>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726"/>
                        </a:lnSpc>
                        <a:buNone/>
                      </a:pPr>
                      <a:r>
                        <a:rPr lang="en-US" sz="1233" dirty="0">
                          <a:solidFill>
                            <a:srgbClr val="17140F"/>
                          </a:solidFill>
                          <a:latin typeface="Arial" pitchFamily="34" charset="0"/>
                          <a:ea typeface="Arial" pitchFamily="34" charset="-122"/>
                          <a:cs typeface="Arial" pitchFamily="34" charset="-120"/>
                        </a:rPr>
                        <a:t>Descent video against the current promotional banner</a:t>
                      </a:r>
                      <a:endParaRPr lang="en-US" sz="1233" dirty="0">
                        <a:latin typeface="Arial" charset="0"/>
                        <a:ea typeface="Arial" charset="0"/>
                        <a:cs typeface="Arial" charset="0"/>
                      </a:endParaRPr>
                    </a:p>
                  </a:txBody>
                  <a:tcPr marL="54785" marR="54785" marT="54785" marB="54785">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161410"/>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726"/>
                        </a:lnSpc>
                        <a:buNone/>
                      </a:pPr>
                      <a:r>
                        <a:rPr lang="en-US" sz="1233" dirty="0">
                          <a:solidFill>
                            <a:srgbClr val="5C5344"/>
                          </a:solidFill>
                          <a:latin typeface="Arial" pitchFamily="34" charset="0"/>
                          <a:ea typeface="Arial" pitchFamily="34" charset="-122"/>
                          <a:cs typeface="Arial" pitchFamily="34" charset="-120"/>
                        </a:rPr>
                        <a:t>Whether the cave story sells better than the discount</a:t>
                      </a:r>
                      <a:endParaRPr lang="en-US" sz="1233" dirty="0">
                        <a:latin typeface="Arial" charset="0"/>
                        <a:ea typeface="Arial" charset="0"/>
                        <a:cs typeface="Arial" charset="0"/>
                      </a:endParaRPr>
                    </a:p>
                  </a:txBody>
                  <a:tcPr marL="54785" marR="54785" marT="54785" marB="54785">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161410"/>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extLst>
                  <a:ext uri="{0D108BD9-81ED-4DB2-BD59-A6C34878D82A}">
                    <a16:rowId xmlns:a16="http://schemas.microsoft.com/office/drawing/2014/main" val="10001"/>
                  </a:ext>
                </a:extLst>
              </a:tr>
              <a:tr h="338773">
                <a:tc>
                  <a:txBody>
                    <a:bodyPr/>
                    <a:lstStyle/>
                    <a:p>
                      <a:pPr marL="0" indent="0">
                        <a:lnSpc>
                          <a:spcPts val="1726"/>
                        </a:lnSpc>
                        <a:buNone/>
                      </a:pPr>
                      <a:r>
                        <a:rPr lang="en-US" sz="1233" dirty="0">
                          <a:solidFill>
                            <a:srgbClr val="17140F"/>
                          </a:solidFill>
                          <a:latin typeface="Arial" pitchFamily="34" charset="0"/>
                          <a:ea typeface="Arial" pitchFamily="34" charset="-122"/>
                          <a:cs typeface="Arial" pitchFamily="34" charset="-120"/>
                        </a:rPr>
                        <a:t>Offer</a:t>
                      </a:r>
                      <a:endParaRPr lang="en-US" sz="1233" dirty="0">
                        <a:latin typeface="Arial" charset="0"/>
                        <a:ea typeface="Arial" charset="0"/>
                        <a:cs typeface="Arial" charset="0"/>
                      </a:endParaRPr>
                    </a:p>
                  </a:txBody>
                  <a:tcPr marL="54785" marR="54785" marT="54785" marB="54785">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726"/>
                        </a:lnSpc>
                        <a:buNone/>
                      </a:pPr>
                      <a:r>
                        <a:rPr lang="en-US" sz="1233" dirty="0">
                          <a:solidFill>
                            <a:srgbClr val="17140F"/>
                          </a:solidFill>
                          <a:latin typeface="Arial" pitchFamily="34" charset="0"/>
                          <a:ea typeface="Arial" pitchFamily="34" charset="-122"/>
                          <a:cs typeface="Arial" pitchFamily="34" charset="-120"/>
                        </a:rPr>
                        <a:t>Percentage off against a value-add of equal cost</a:t>
                      </a:r>
                      <a:endParaRPr lang="en-US" sz="1233" dirty="0">
                        <a:latin typeface="Arial" charset="0"/>
                        <a:ea typeface="Arial" charset="0"/>
                        <a:cs typeface="Arial" charset="0"/>
                      </a:endParaRPr>
                    </a:p>
                  </a:txBody>
                  <a:tcPr marL="54785" marR="54785" marT="54785" marB="54785">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726"/>
                        </a:lnSpc>
                        <a:buNone/>
                      </a:pPr>
                      <a:r>
                        <a:rPr lang="en-US" sz="1233" dirty="0">
                          <a:solidFill>
                            <a:srgbClr val="5C5344"/>
                          </a:solidFill>
                          <a:latin typeface="Arial" pitchFamily="34" charset="0"/>
                          <a:ea typeface="Arial" pitchFamily="34" charset="-122"/>
                          <a:cs typeface="Arial" pitchFamily="34" charset="-120"/>
                        </a:rPr>
                        <a:t>Whether we can protect the rate</a:t>
                      </a:r>
                      <a:endParaRPr lang="en-US" sz="1233" dirty="0">
                        <a:latin typeface="Arial" charset="0"/>
                        <a:ea typeface="Arial" charset="0"/>
                        <a:cs typeface="Arial" charset="0"/>
                      </a:endParaRPr>
                    </a:p>
                  </a:txBody>
                  <a:tcPr marL="54785" marR="54785" marT="54785" marB="54785">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extLst>
                  <a:ext uri="{0D108BD9-81ED-4DB2-BD59-A6C34878D82A}">
                    <a16:rowId xmlns:a16="http://schemas.microsoft.com/office/drawing/2014/main" val="10002"/>
                  </a:ext>
                </a:extLst>
              </a:tr>
              <a:tr h="338773">
                <a:tc>
                  <a:txBody>
                    <a:bodyPr/>
                    <a:lstStyle/>
                    <a:p>
                      <a:pPr marL="0" indent="0">
                        <a:lnSpc>
                          <a:spcPts val="1726"/>
                        </a:lnSpc>
                        <a:buNone/>
                      </a:pPr>
                      <a:r>
                        <a:rPr lang="en-US" sz="1233" dirty="0">
                          <a:solidFill>
                            <a:srgbClr val="17140F"/>
                          </a:solidFill>
                          <a:latin typeface="Arial" pitchFamily="34" charset="0"/>
                          <a:ea typeface="Arial" pitchFamily="34" charset="-122"/>
                          <a:cs typeface="Arial" pitchFamily="34" charset="-120"/>
                        </a:rPr>
                        <a:t>Action</a:t>
                      </a:r>
                      <a:endParaRPr lang="en-US" sz="1233" dirty="0">
                        <a:latin typeface="Arial" charset="0"/>
                        <a:ea typeface="Arial" charset="0"/>
                        <a:cs typeface="Arial" charset="0"/>
                      </a:endParaRPr>
                    </a:p>
                  </a:txBody>
                  <a:tcPr marL="54785" marR="54785" marT="54785" marB="54785">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726"/>
                        </a:lnSpc>
                        <a:buNone/>
                      </a:pPr>
                      <a:r>
                        <a:rPr lang="en-US" sz="1233" dirty="0">
                          <a:solidFill>
                            <a:srgbClr val="17140F"/>
                          </a:solidFill>
                          <a:latin typeface="Arial" pitchFamily="34" charset="0"/>
                          <a:ea typeface="Arial" pitchFamily="34" charset="-122"/>
                          <a:cs typeface="Arial" pitchFamily="34" charset="-120"/>
                        </a:rPr>
                        <a:t>WhatsApp-first against Book Now-first</a:t>
                      </a:r>
                      <a:endParaRPr lang="en-US" sz="1233" dirty="0">
                        <a:latin typeface="Arial" charset="0"/>
                        <a:ea typeface="Arial" charset="0"/>
                        <a:cs typeface="Arial" charset="0"/>
                      </a:endParaRPr>
                    </a:p>
                  </a:txBody>
                  <a:tcPr marL="54785" marR="54785" marT="54785" marB="54785">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726"/>
                        </a:lnSpc>
                        <a:buNone/>
                      </a:pPr>
                      <a:r>
                        <a:rPr lang="en-US" sz="1233" dirty="0">
                          <a:solidFill>
                            <a:srgbClr val="5C5344"/>
                          </a:solidFill>
                          <a:latin typeface="Arial" pitchFamily="34" charset="0"/>
                          <a:ea typeface="Arial" pitchFamily="34" charset="-122"/>
                          <a:cs typeface="Arial" pitchFamily="34" charset="-120"/>
                        </a:rPr>
                        <a:t>Which route this audience actually prefers</a:t>
                      </a:r>
                      <a:endParaRPr lang="en-US" sz="1233" dirty="0">
                        <a:latin typeface="Arial" charset="0"/>
                        <a:ea typeface="Arial" charset="0"/>
                        <a:cs typeface="Arial" charset="0"/>
                      </a:endParaRPr>
                    </a:p>
                  </a:txBody>
                  <a:tcPr marL="54785" marR="54785" marT="54785" marB="54785">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extLst>
                  <a:ext uri="{0D108BD9-81ED-4DB2-BD59-A6C34878D82A}">
                    <a16:rowId xmlns:a16="http://schemas.microsoft.com/office/drawing/2014/main" val="10003"/>
                  </a:ext>
                </a:extLst>
              </a:tr>
              <a:tr h="338773">
                <a:tc>
                  <a:txBody>
                    <a:bodyPr/>
                    <a:lstStyle/>
                    <a:p>
                      <a:pPr marL="0" indent="0">
                        <a:lnSpc>
                          <a:spcPts val="1726"/>
                        </a:lnSpc>
                        <a:buNone/>
                      </a:pPr>
                      <a:r>
                        <a:rPr lang="en-US" sz="1233" dirty="0">
                          <a:solidFill>
                            <a:srgbClr val="17140F"/>
                          </a:solidFill>
                          <a:latin typeface="Arial" pitchFamily="34" charset="0"/>
                          <a:ea typeface="Arial" pitchFamily="34" charset="-122"/>
                          <a:cs typeface="Arial" pitchFamily="34" charset="-120"/>
                        </a:rPr>
                        <a:t>Proof</a:t>
                      </a:r>
                      <a:endParaRPr lang="en-US" sz="1233" dirty="0">
                        <a:latin typeface="Arial" charset="0"/>
                        <a:ea typeface="Arial" charset="0"/>
                        <a:cs typeface="Arial" charset="0"/>
                      </a:endParaRPr>
                    </a:p>
                  </a:txBody>
                  <a:tcPr marL="54785" marR="54785" marT="54785" marB="54785">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726"/>
                        </a:lnSpc>
                        <a:buNone/>
                      </a:pPr>
                      <a:r>
                        <a:rPr lang="en-US" sz="1233" dirty="0">
                          <a:solidFill>
                            <a:srgbClr val="17140F"/>
                          </a:solidFill>
                          <a:latin typeface="Arial" pitchFamily="34" charset="0"/>
                          <a:ea typeface="Arial" pitchFamily="34" charset="-122"/>
                          <a:cs typeface="Arial" pitchFamily="34" charset="-120"/>
                        </a:rPr>
                        <a:t>Reviews shown against reviews hidden</a:t>
                      </a:r>
                      <a:endParaRPr lang="en-US" sz="1233" dirty="0">
                        <a:latin typeface="Arial" charset="0"/>
                        <a:ea typeface="Arial" charset="0"/>
                        <a:cs typeface="Arial" charset="0"/>
                      </a:endParaRPr>
                    </a:p>
                  </a:txBody>
                  <a:tcPr marL="54785" marR="54785" marT="54785" marB="54785">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726"/>
                        </a:lnSpc>
                        <a:buNone/>
                      </a:pPr>
                      <a:r>
                        <a:rPr lang="en-US" sz="1233" dirty="0">
                          <a:solidFill>
                            <a:srgbClr val="5C5344"/>
                          </a:solidFill>
                          <a:latin typeface="Arial" pitchFamily="34" charset="0"/>
                          <a:ea typeface="Arial" pitchFamily="34" charset="-122"/>
                          <a:cs typeface="Arial" pitchFamily="34" charset="-120"/>
                        </a:rPr>
                        <a:t>Whether honesty about the rating helps or hurts</a:t>
                      </a:r>
                      <a:endParaRPr lang="en-US" sz="1233" dirty="0">
                        <a:latin typeface="Arial" charset="0"/>
                        <a:ea typeface="Arial" charset="0"/>
                        <a:cs typeface="Arial" charset="0"/>
                      </a:endParaRPr>
                    </a:p>
                  </a:txBody>
                  <a:tcPr marL="54785" marR="54785" marT="54785" marB="54785">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extLst>
                  <a:ext uri="{0D108BD9-81ED-4DB2-BD59-A6C34878D82A}">
                    <a16:rowId xmlns:a16="http://schemas.microsoft.com/office/drawing/2014/main" val="10004"/>
                  </a:ext>
                </a:extLst>
              </a:tr>
              <a:tr h="338773">
                <a:tc>
                  <a:txBody>
                    <a:bodyPr/>
                    <a:lstStyle/>
                    <a:p>
                      <a:pPr marL="0" indent="0">
                        <a:lnSpc>
                          <a:spcPts val="1726"/>
                        </a:lnSpc>
                        <a:buNone/>
                      </a:pPr>
                      <a:r>
                        <a:rPr lang="en-US" sz="1233" dirty="0">
                          <a:solidFill>
                            <a:srgbClr val="17140F"/>
                          </a:solidFill>
                          <a:latin typeface="Arial" pitchFamily="34" charset="0"/>
                          <a:ea typeface="Arial" pitchFamily="34" charset="-122"/>
                          <a:cs typeface="Arial" pitchFamily="34" charset="-120"/>
                        </a:rPr>
                        <a:t>Length</a:t>
                      </a:r>
                      <a:endParaRPr lang="en-US" sz="1233" dirty="0">
                        <a:latin typeface="Arial" charset="0"/>
                        <a:ea typeface="Arial" charset="0"/>
                        <a:cs typeface="Arial" charset="0"/>
                      </a:endParaRPr>
                    </a:p>
                  </a:txBody>
                  <a:tcPr marL="54785" marR="54785" marT="54785" marB="54785">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726"/>
                        </a:lnSpc>
                        <a:buNone/>
                      </a:pPr>
                      <a:r>
                        <a:rPr lang="en-US" sz="1233" dirty="0">
                          <a:solidFill>
                            <a:srgbClr val="17140F"/>
                          </a:solidFill>
                          <a:latin typeface="Arial" pitchFamily="34" charset="0"/>
                          <a:ea typeface="Arial" pitchFamily="34" charset="-122"/>
                          <a:cs typeface="Arial" pitchFamily="34" charset="-120"/>
                        </a:rPr>
                        <a:t>Short page against a full story page</a:t>
                      </a:r>
                      <a:endParaRPr lang="en-US" sz="1233" dirty="0">
                        <a:latin typeface="Arial" charset="0"/>
                        <a:ea typeface="Arial" charset="0"/>
                        <a:cs typeface="Arial" charset="0"/>
                      </a:endParaRPr>
                    </a:p>
                  </a:txBody>
                  <a:tcPr marL="54785" marR="54785" marT="54785" marB="54785">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726"/>
                        </a:lnSpc>
                        <a:buNone/>
                      </a:pPr>
                      <a:r>
                        <a:rPr lang="en-US" sz="1233" dirty="0">
                          <a:solidFill>
                            <a:srgbClr val="5C5344"/>
                          </a:solidFill>
                          <a:latin typeface="Arial" pitchFamily="34" charset="0"/>
                          <a:ea typeface="Arial" pitchFamily="34" charset="-122"/>
                          <a:cs typeface="Arial" pitchFamily="34" charset="-120"/>
                        </a:rPr>
                        <a:t>How much convincing the stay product needs</a:t>
                      </a:r>
                      <a:endParaRPr lang="en-US" sz="1233" dirty="0">
                        <a:latin typeface="Arial" charset="0"/>
                        <a:ea typeface="Arial" charset="0"/>
                        <a:cs typeface="Arial" charset="0"/>
                      </a:endParaRPr>
                    </a:p>
                  </a:txBody>
                  <a:tcPr marL="54785" marR="54785" marT="54785" marB="54785">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6" name="Text 13"/>
          <p:cNvSpPr/>
          <p:nvPr/>
        </p:nvSpPr>
        <p:spPr>
          <a:xfrm>
            <a:off x="812800" y="6238255"/>
            <a:ext cx="567780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071"/>
                </a:solidFill>
                <a:latin typeface="Arial" pitchFamily="34" charset="0"/>
                <a:ea typeface="Arial" pitchFamily="34" charset="-122"/>
                <a:cs typeface="Arial" pitchFamily="34" charset="-120"/>
              </a:rPr>
              <a:t>One test at a time, each to a decision. Testing five things at once teaches nothing.</a:t>
            </a:r>
            <a:endParaRPr lang="en-US" sz="1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3">
    <p:bg>
      <p:bgPr>
        <a:solidFill>
          <a:srgbClr val="17140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kern="0" spc="200" dirty="0">
                <a:solidFill>
                  <a:srgbClr val="C9A63C"/>
                </a:solidFill>
                <a:latin typeface="Arial" pitchFamily="34" charset="0"/>
                <a:ea typeface="Arial" pitchFamily="34" charset="-122"/>
                <a:cs typeface="Arial" pitchFamily="34" charset="-120"/>
              </a:rPr>
              <a:t>SECTION SIX</a:t>
            </a:r>
            <a:endParaRPr lang="en-US" sz="1300" dirty="0"/>
          </a:p>
        </p:txBody>
      </p:sp>
      <p:sp>
        <p:nvSpPr>
          <p:cNvPr id="3" name="Text 1"/>
          <p:cNvSpPr/>
          <p:nvPr/>
        </p:nvSpPr>
        <p:spPr>
          <a:xfrm>
            <a:off x="812800" y="1120155"/>
            <a:ext cx="10883392" cy="665480"/>
          </a:xfrm>
          <a:prstGeom prst="rect">
            <a:avLst/>
          </a:prstGeom>
          <a:noFill/>
          <a:ln/>
        </p:spPr>
        <p:txBody>
          <a:bodyPr wrap="square" lIns="0" tIns="0" rIns="0" bIns="0" rtlCol="0" anchor="t">
            <a:normAutofit/>
          </a:bodyPr>
          <a:lstStyle/>
          <a:p>
            <a:pPr marL="0" indent="0" algn="l">
              <a:lnSpc>
                <a:spcPts val="5040"/>
              </a:lnSpc>
              <a:buNone/>
            </a:pPr>
            <a:r>
              <a:rPr lang="en-US" sz="4800" dirty="0">
                <a:solidFill>
                  <a:srgbClr val="F7F3EA"/>
                </a:solidFill>
                <a:latin typeface="Georgia" pitchFamily="34" charset="0"/>
                <a:ea typeface="Georgia" pitchFamily="34" charset="-122"/>
                <a:cs typeface="Georgia" pitchFamily="34" charset="-120"/>
              </a:rPr>
              <a:t>The creative is not bad. It is tired.</a:t>
            </a:r>
            <a:endParaRPr lang="en-US" sz="4800" dirty="0"/>
          </a:p>
        </p:txBody>
      </p:sp>
      <p:sp>
        <p:nvSpPr>
          <p:cNvPr id="4" name="Shape 2"/>
          <p:cNvSpPr/>
          <p:nvPr/>
        </p:nvSpPr>
        <p:spPr>
          <a:xfrm>
            <a:off x="815975" y="2068190"/>
            <a:ext cx="3380264" cy="2457450"/>
          </a:xfrm>
          <a:prstGeom prst="roundRect">
            <a:avLst>
              <a:gd name="adj" fmla="val 4005"/>
            </a:avLst>
          </a:prstGeom>
          <a:solidFill>
            <a:srgbClr val="221E18"/>
          </a:solidFill>
          <a:ln w="6350">
            <a:solidFill>
              <a:srgbClr val="3A342A"/>
            </a:solidFill>
            <a:prstDash val="solid"/>
          </a:ln>
        </p:spPr>
      </p:sp>
      <p:sp>
        <p:nvSpPr>
          <p:cNvPr id="5" name="Text 3"/>
          <p:cNvSpPr/>
          <p:nvPr/>
        </p:nvSpPr>
        <p:spPr>
          <a:xfrm>
            <a:off x="1097280" y="2349500"/>
            <a:ext cx="2902183"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C9A63C"/>
                </a:solidFill>
                <a:latin typeface="Arial" pitchFamily="34" charset="0"/>
                <a:ea typeface="Arial" pitchFamily="34" charset="-122"/>
                <a:cs typeface="Arial" pitchFamily="34" charset="-120"/>
              </a:rPr>
              <a:t>What we found</a:t>
            </a:r>
            <a:endParaRPr lang="en-US" sz="1700" dirty="0"/>
          </a:p>
        </p:txBody>
      </p:sp>
      <p:sp>
        <p:nvSpPr>
          <p:cNvPr id="6" name="Text 4"/>
          <p:cNvSpPr/>
          <p:nvPr/>
        </p:nvSpPr>
        <p:spPr>
          <a:xfrm>
            <a:off x="1097280" y="2697485"/>
            <a:ext cx="2902183" cy="1572260"/>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A79C89"/>
                </a:solidFill>
                <a:latin typeface="Arial" pitchFamily="34" charset="0"/>
                <a:ea typeface="Arial" pitchFamily="34" charset="-122"/>
                <a:cs typeface="Arial" pitchFamily="34" charset="-120"/>
              </a:rPr>
              <a:t>Creatives first launched in July are still running unrotated. Image and video quality is inconsistent across the set, and the messaging is built around the offer rather than around the person being shown it.</a:t>
            </a:r>
            <a:endParaRPr lang="en-US" sz="1400" dirty="0"/>
          </a:p>
        </p:txBody>
      </p:sp>
      <p:sp>
        <p:nvSpPr>
          <p:cNvPr id="7" name="Shape 5"/>
          <p:cNvSpPr/>
          <p:nvPr/>
        </p:nvSpPr>
        <p:spPr>
          <a:xfrm>
            <a:off x="4405789" y="2068190"/>
            <a:ext cx="3380343" cy="2457450"/>
          </a:xfrm>
          <a:prstGeom prst="roundRect">
            <a:avLst>
              <a:gd name="adj" fmla="val 4005"/>
            </a:avLst>
          </a:prstGeom>
          <a:solidFill>
            <a:srgbClr val="221E18"/>
          </a:solidFill>
          <a:ln w="6350">
            <a:solidFill>
              <a:srgbClr val="3A342A"/>
            </a:solidFill>
            <a:prstDash val="solid"/>
          </a:ln>
        </p:spPr>
      </p:sp>
      <p:sp>
        <p:nvSpPr>
          <p:cNvPr id="8" name="Text 6"/>
          <p:cNvSpPr/>
          <p:nvPr/>
        </p:nvSpPr>
        <p:spPr>
          <a:xfrm>
            <a:off x="4687094" y="2349500"/>
            <a:ext cx="2902265"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C9A63C"/>
                </a:solidFill>
                <a:latin typeface="Arial" pitchFamily="34" charset="0"/>
                <a:ea typeface="Arial" pitchFamily="34" charset="-122"/>
                <a:cs typeface="Arial" pitchFamily="34" charset="-120"/>
              </a:rPr>
              <a:t>What it costs</a:t>
            </a:r>
            <a:endParaRPr lang="en-US" sz="1700" dirty="0"/>
          </a:p>
        </p:txBody>
      </p:sp>
      <p:sp>
        <p:nvSpPr>
          <p:cNvPr id="9" name="Text 7"/>
          <p:cNvSpPr/>
          <p:nvPr/>
        </p:nvSpPr>
        <p:spPr>
          <a:xfrm>
            <a:off x="4687094" y="2697485"/>
            <a:ext cx="2902265" cy="1314450"/>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A79C89"/>
                </a:solidFill>
                <a:latin typeface="Arial" pitchFamily="34" charset="0"/>
                <a:ea typeface="Arial" pitchFamily="34" charset="-122"/>
                <a:cs typeface="Arial" pitchFamily="34" charset="-120"/>
              </a:rPr>
              <a:t>Frequency climbs, click-through falls, cost per lead drifts up. It is a credible part of why cost per lead moved from ₹236 in January to ₹698 by September.</a:t>
            </a:r>
            <a:endParaRPr lang="en-US" sz="1400" dirty="0"/>
          </a:p>
        </p:txBody>
      </p:sp>
      <p:sp>
        <p:nvSpPr>
          <p:cNvPr id="10" name="Shape 8"/>
          <p:cNvSpPr/>
          <p:nvPr/>
        </p:nvSpPr>
        <p:spPr>
          <a:xfrm>
            <a:off x="7995682" y="2068190"/>
            <a:ext cx="3380343" cy="2457450"/>
          </a:xfrm>
          <a:prstGeom prst="roundRect">
            <a:avLst>
              <a:gd name="adj" fmla="val 4005"/>
            </a:avLst>
          </a:prstGeom>
          <a:solidFill>
            <a:srgbClr val="221E18"/>
          </a:solidFill>
          <a:ln w="6350">
            <a:solidFill>
              <a:srgbClr val="3A342A"/>
            </a:solidFill>
            <a:prstDash val="solid"/>
          </a:ln>
        </p:spPr>
      </p:sp>
      <p:sp>
        <p:nvSpPr>
          <p:cNvPr id="11" name="Text 9"/>
          <p:cNvSpPr/>
          <p:nvPr/>
        </p:nvSpPr>
        <p:spPr>
          <a:xfrm>
            <a:off x="8276987" y="2349500"/>
            <a:ext cx="2902265"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C9A63C"/>
                </a:solidFill>
                <a:latin typeface="Arial" pitchFamily="34" charset="0"/>
                <a:ea typeface="Arial" pitchFamily="34" charset="-122"/>
                <a:cs typeface="Arial" pitchFamily="34" charset="-120"/>
              </a:rPr>
              <a:t>What is missing</a:t>
            </a:r>
            <a:endParaRPr lang="en-US" sz="1700" dirty="0"/>
          </a:p>
        </p:txBody>
      </p:sp>
      <p:sp>
        <p:nvSpPr>
          <p:cNvPr id="12" name="Text 10"/>
          <p:cNvSpPr/>
          <p:nvPr/>
        </p:nvSpPr>
        <p:spPr>
          <a:xfrm>
            <a:off x="8276987" y="2697485"/>
            <a:ext cx="2902265" cy="1314450"/>
          </a:xfrm>
          <a:prstGeom prst="rect">
            <a:avLst/>
          </a:prstGeom>
          <a:noFill/>
          <a:ln/>
        </p:spPr>
        <p:txBody>
          <a:bodyPr wrap="square" lIns="0" tIns="0" rIns="0" bIns="0" rtlCol="0" anchor="t">
            <a:normAutofit fontScale="77500" lnSpcReduction="20000"/>
          </a:bodyPr>
          <a:lstStyle/>
          <a:p>
            <a:pPr marL="0" indent="0" algn="l">
              <a:lnSpc>
                <a:spcPts val="2030"/>
              </a:lnSpc>
              <a:buNone/>
            </a:pPr>
            <a:r>
              <a:rPr lang="en-US" sz="1400" dirty="0">
                <a:solidFill>
                  <a:srgbClr val="A79C89"/>
                </a:solidFill>
                <a:latin typeface="Arial" pitchFamily="34" charset="0"/>
                <a:ea typeface="Arial" pitchFamily="34" charset="-122"/>
                <a:cs typeface="Arial" pitchFamily="34" charset="-120"/>
              </a:rPr>
              <a:t>Volume and test frequency are far below what this spend needs. No variant structure, no audience-specific messaging, no budget set aside for creative that might fail. Winners are never found because losers are never run.</a:t>
            </a:r>
            <a:endParaRPr lang="en-US" sz="1400" dirty="0"/>
          </a:p>
        </p:txBody>
      </p:sp>
      <p:sp>
        <p:nvSpPr>
          <p:cNvPr id="13" name="Text 11"/>
          <p:cNvSpPr/>
          <p:nvPr/>
        </p:nvSpPr>
        <p:spPr>
          <a:xfrm>
            <a:off x="812800" y="4833615"/>
            <a:ext cx="10333990" cy="651510"/>
          </a:xfrm>
          <a:prstGeom prst="rect">
            <a:avLst/>
          </a:prstGeom>
          <a:noFill/>
          <a:ln/>
        </p:spPr>
        <p:txBody>
          <a:bodyPr wrap="square" lIns="0" tIns="0" rIns="0" bIns="0" rtlCol="0" anchor="t">
            <a:normAutofit fontScale="85000" lnSpcReduction="10000"/>
          </a:bodyPr>
          <a:lstStyle/>
          <a:p>
            <a:pPr marL="0" indent="0" algn="l">
              <a:lnSpc>
                <a:spcPts val="2465"/>
              </a:lnSpc>
              <a:buNone/>
            </a:pPr>
            <a:r>
              <a:rPr lang="en-US" sz="1700" dirty="0">
                <a:solidFill>
                  <a:srgbClr val="A79C89"/>
                </a:solidFill>
                <a:latin typeface="Arial" pitchFamily="34" charset="0"/>
                <a:ea typeface="Arial" pitchFamily="34" charset="-122"/>
                <a:cs typeface="Arial" pitchFamily="34" charset="-120"/>
              </a:rPr>
              <a:t>Three fixes, in order: raise production quality on the cave itself, rewrite the messaging per audience against what each one actually responds to, and increase the number of creatives in market and the rate at which they are tested.</a:t>
            </a:r>
            <a:endParaRPr lang="en-US" sz="1700" dirty="0"/>
          </a:p>
        </p:txBody>
      </p:sp>
      <p:sp>
        <p:nvSpPr>
          <p:cNvPr id="14" name="Text 12"/>
          <p:cNvSpPr/>
          <p:nvPr/>
        </p:nvSpPr>
        <p:spPr>
          <a:xfrm>
            <a:off x="812800" y="6238255"/>
            <a:ext cx="796117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071"/>
                </a:solidFill>
                <a:latin typeface="Arial" pitchFamily="34" charset="0"/>
                <a:ea typeface="Arial" pitchFamily="34" charset="-122"/>
                <a:cs typeface="Arial" pitchFamily="34" charset="-120"/>
              </a:rPr>
              <a:t>Creative-level export was not in scope for this audit; observations are from the account and the client's own review.</a:t>
            </a:r>
            <a:endParaRPr lang="en-US" sz="12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4">
    <p:bg>
      <p:bgPr>
        <a:solidFill>
          <a:srgbClr val="F7F3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81647"/>
          </a:xfrm>
          <a:prstGeom prst="rect">
            <a:avLst/>
          </a:prstGeom>
          <a:noFill/>
          <a:ln/>
        </p:spPr>
        <p:txBody>
          <a:bodyPr wrap="square" lIns="0" tIns="0" rIns="0" bIns="0" rtlCol="0" anchor="t">
            <a:normAutofit/>
          </a:bodyPr>
          <a:lstStyle/>
          <a:p>
            <a:pPr marL="0" indent="0" algn="l">
              <a:lnSpc>
                <a:spcPts val="3624"/>
              </a:lnSpc>
              <a:buNone/>
            </a:pPr>
            <a:r>
              <a:rPr lang="en-US" sz="3451" dirty="0">
                <a:solidFill>
                  <a:srgbClr val="17140F"/>
                </a:solidFill>
                <a:latin typeface="Georgia" pitchFamily="34" charset="0"/>
                <a:ea typeface="Georgia" pitchFamily="34" charset="-122"/>
                <a:cs typeface="Georgia" pitchFamily="34" charset="-120"/>
              </a:rPr>
              <a:t>A creative cadence, not a creative opinion</a:t>
            </a:r>
            <a:endParaRPr lang="en-US" sz="3451"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1533217"/>
          <a:ext cx="10556240" cy="2653348"/>
        </p:xfrm>
        <a:graphic>
          <a:graphicData uri="http://schemas.openxmlformats.org/drawingml/2006/table">
            <a:tbl>
              <a:tblPr/>
              <a:tblGrid>
                <a:gridCol w="2533498">
                  <a:extLst>
                    <a:ext uri="{9D8B030D-6E8A-4147-A177-3AD203B41FA5}">
                      <a16:colId xmlns:a16="http://schemas.microsoft.com/office/drawing/2014/main" val="20000"/>
                    </a:ext>
                  </a:extLst>
                </a:gridCol>
                <a:gridCol w="4222496">
                  <a:extLst>
                    <a:ext uri="{9D8B030D-6E8A-4147-A177-3AD203B41FA5}">
                      <a16:colId xmlns:a16="http://schemas.microsoft.com/office/drawing/2014/main" val="20001"/>
                    </a:ext>
                  </a:extLst>
                </a:gridCol>
                <a:gridCol w="3800246">
                  <a:extLst>
                    <a:ext uri="{9D8B030D-6E8A-4147-A177-3AD203B41FA5}">
                      <a16:colId xmlns:a16="http://schemas.microsoft.com/office/drawing/2014/main" val="20002"/>
                    </a:ext>
                  </a:extLst>
                </a:gridCol>
              </a:tblGrid>
              <a:tr h="363776">
                <a:tc>
                  <a:txBody>
                    <a:bodyPr/>
                    <a:lstStyle/>
                    <a:p>
                      <a:pPr marL="0" indent="0">
                        <a:lnSpc>
                          <a:spcPts val="1852"/>
                        </a:lnSpc>
                        <a:buNone/>
                      </a:pPr>
                      <a:r>
                        <a:rPr lang="en-US" sz="1323" b="1" dirty="0">
                          <a:solidFill>
                            <a:srgbClr val="F7F3EA"/>
                          </a:solidFill>
                          <a:latin typeface="Arial" pitchFamily="34" charset="0"/>
                          <a:ea typeface="Arial" pitchFamily="34" charset="-122"/>
                          <a:cs typeface="Arial" pitchFamily="34" charset="-120"/>
                        </a:rPr>
                        <a:t>Every month</a:t>
                      </a:r>
                      <a:endParaRPr lang="en-US" sz="1323" dirty="0">
                        <a:latin typeface="Arial" charset="0"/>
                        <a:ea typeface="Arial" charset="0"/>
                        <a:cs typeface="Arial" charset="0"/>
                      </a:endParaRPr>
                    </a:p>
                  </a:txBody>
                  <a:tcPr marL="58813" marR="58813" marT="58813" marB="58813">
                    <a:lnL w="12700" cap="flat" cmpd="sng" algn="ctr">
                      <a:solidFill>
                        <a:srgbClr val="C5C2BB"/>
                      </a:solidFill>
                      <a:prstDash val="solid"/>
                      <a:round/>
                      <a:headEnd type="none" w="med" len="med"/>
                      <a:tailEnd type="none" w="med" len="med"/>
                    </a:lnL>
                    <a:lnR w="12700" cap="flat" cmpd="sng" algn="ctr">
                      <a:solidFill>
                        <a:srgbClr val="161410"/>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161410"/>
                      </a:solidFill>
                      <a:prstDash val="solid"/>
                      <a:round/>
                      <a:headEnd type="none" w="med" len="med"/>
                      <a:tailEnd type="none" w="med" len="med"/>
                    </a:lnB>
                    <a:solidFill>
                      <a:srgbClr val="17140F"/>
                    </a:solidFill>
                  </a:tcPr>
                </a:tc>
                <a:tc>
                  <a:txBody>
                    <a:bodyPr/>
                    <a:lstStyle/>
                    <a:p>
                      <a:pPr marL="0" indent="0">
                        <a:lnSpc>
                          <a:spcPts val="1852"/>
                        </a:lnSpc>
                        <a:buNone/>
                      </a:pPr>
                      <a:r>
                        <a:rPr lang="en-US" sz="1323" b="1" dirty="0">
                          <a:solidFill>
                            <a:srgbClr val="F7F3EA"/>
                          </a:solidFill>
                          <a:latin typeface="Arial" pitchFamily="34" charset="0"/>
                          <a:ea typeface="Arial" pitchFamily="34" charset="-122"/>
                          <a:cs typeface="Arial" pitchFamily="34" charset="-120"/>
                        </a:rPr>
                        <a:t>What ships</a:t>
                      </a:r>
                      <a:endParaRPr lang="en-US" sz="1323" dirty="0">
                        <a:latin typeface="Arial" charset="0"/>
                        <a:ea typeface="Arial" charset="0"/>
                        <a:cs typeface="Arial" charset="0"/>
                      </a:endParaRPr>
                    </a:p>
                  </a:txBody>
                  <a:tcPr marL="58813" marR="58813" marT="58813" marB="58813">
                    <a:lnL w="12700" cap="flat" cmpd="sng" algn="ctr">
                      <a:solidFill>
                        <a:srgbClr val="161410"/>
                      </a:solidFill>
                      <a:prstDash val="solid"/>
                      <a:round/>
                      <a:headEnd type="none" w="med" len="med"/>
                      <a:tailEnd type="none" w="med" len="med"/>
                    </a:lnL>
                    <a:lnR w="12700" cap="flat" cmpd="sng" algn="ctr">
                      <a:solidFill>
                        <a:srgbClr val="161410"/>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161410"/>
                      </a:solidFill>
                      <a:prstDash val="solid"/>
                      <a:round/>
                      <a:headEnd type="none" w="med" len="med"/>
                      <a:tailEnd type="none" w="med" len="med"/>
                    </a:lnB>
                    <a:solidFill>
                      <a:srgbClr val="17140F"/>
                    </a:solidFill>
                  </a:tcPr>
                </a:tc>
                <a:tc>
                  <a:txBody>
                    <a:bodyPr/>
                    <a:lstStyle/>
                    <a:p>
                      <a:pPr marL="0" indent="0">
                        <a:lnSpc>
                          <a:spcPts val="1852"/>
                        </a:lnSpc>
                        <a:buNone/>
                      </a:pPr>
                      <a:r>
                        <a:rPr lang="en-US" sz="1323" b="1" dirty="0">
                          <a:solidFill>
                            <a:srgbClr val="F7F3EA"/>
                          </a:solidFill>
                          <a:latin typeface="Arial" pitchFamily="34" charset="0"/>
                          <a:ea typeface="Arial" pitchFamily="34" charset="-122"/>
                          <a:cs typeface="Arial" pitchFamily="34" charset="-120"/>
                        </a:rPr>
                        <a:t>Rule</a:t>
                      </a:r>
                      <a:endParaRPr lang="en-US" sz="1323" dirty="0">
                        <a:latin typeface="Arial" charset="0"/>
                        <a:ea typeface="Arial" charset="0"/>
                        <a:cs typeface="Arial" charset="0"/>
                      </a:endParaRPr>
                    </a:p>
                  </a:txBody>
                  <a:tcPr marL="58813" marR="58813" marT="58813" marB="58813">
                    <a:lnL w="12700" cap="flat" cmpd="sng" algn="ctr">
                      <a:solidFill>
                        <a:srgbClr val="161410"/>
                      </a:solidFill>
                      <a:prstDash val="solid"/>
                      <a:round/>
                      <a:headEnd type="none" w="med" len="med"/>
                      <a:tailEnd type="none" w="med" len="med"/>
                    </a:lnL>
                    <a:lnR w="12700" cap="flat" cmpd="sng" algn="ctr">
                      <a:solidFill>
                        <a:srgbClr val="161410"/>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161410"/>
                      </a:solidFill>
                      <a:prstDash val="solid"/>
                      <a:round/>
                      <a:headEnd type="none" w="med" len="med"/>
                      <a:tailEnd type="none" w="med" len="med"/>
                    </a:lnB>
                    <a:solidFill>
                      <a:srgbClr val="17140F"/>
                    </a:solidFill>
                  </a:tcPr>
                </a:tc>
                <a:extLst>
                  <a:ext uri="{0D108BD9-81ED-4DB2-BD59-A6C34878D82A}">
                    <a16:rowId xmlns:a16="http://schemas.microsoft.com/office/drawing/2014/main" val="10000"/>
                  </a:ext>
                </a:extLst>
              </a:tr>
              <a:tr h="363776">
                <a:tc>
                  <a:txBody>
                    <a:bodyPr/>
                    <a:lstStyle/>
                    <a:p>
                      <a:pPr marL="0" indent="0">
                        <a:lnSpc>
                          <a:spcPts val="1852"/>
                        </a:lnSpc>
                        <a:buNone/>
                      </a:pPr>
                      <a:r>
                        <a:rPr lang="en-US" sz="1323" dirty="0">
                          <a:solidFill>
                            <a:srgbClr val="17140F"/>
                          </a:solidFill>
                          <a:latin typeface="Arial" pitchFamily="34" charset="0"/>
                          <a:ea typeface="Arial" pitchFamily="34" charset="-122"/>
                          <a:cs typeface="Arial" pitchFamily="34" charset="-120"/>
                        </a:rPr>
                        <a:t>Hero concepts</a:t>
                      </a:r>
                      <a:endParaRPr lang="en-US" sz="1323" dirty="0">
                        <a:latin typeface="Arial" charset="0"/>
                        <a:ea typeface="Arial" charset="0"/>
                        <a:cs typeface="Arial" charset="0"/>
                      </a:endParaRPr>
                    </a:p>
                  </a:txBody>
                  <a:tcPr marL="58813" marR="58813" marT="58813" marB="58813">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161410"/>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852"/>
                        </a:lnSpc>
                        <a:buNone/>
                      </a:pPr>
                      <a:r>
                        <a:rPr lang="en-US" sz="1323" dirty="0">
                          <a:solidFill>
                            <a:srgbClr val="17140F"/>
                          </a:solidFill>
                          <a:latin typeface="Arial" pitchFamily="34" charset="0"/>
                          <a:ea typeface="Arial" pitchFamily="34" charset="-122"/>
                          <a:cs typeface="Arial" pitchFamily="34" charset="-120"/>
                        </a:rPr>
                        <a:t>2 new ideas, properly produced</a:t>
                      </a:r>
                      <a:endParaRPr lang="en-US" sz="1323" dirty="0">
                        <a:latin typeface="Arial" charset="0"/>
                        <a:ea typeface="Arial" charset="0"/>
                        <a:cs typeface="Arial" charset="0"/>
                      </a:endParaRPr>
                    </a:p>
                  </a:txBody>
                  <a:tcPr marL="58813" marR="58813" marT="58813" marB="58813">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161410"/>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852"/>
                        </a:lnSpc>
                        <a:buNone/>
                      </a:pPr>
                      <a:r>
                        <a:rPr lang="en-US" sz="1323" dirty="0">
                          <a:solidFill>
                            <a:srgbClr val="5C5344"/>
                          </a:solidFill>
                          <a:latin typeface="Arial" pitchFamily="34" charset="0"/>
                          <a:ea typeface="Arial" pitchFamily="34" charset="-122"/>
                          <a:cs typeface="Arial" pitchFamily="34" charset="-120"/>
                        </a:rPr>
                        <a:t>Built on the brand territory, not the offer</a:t>
                      </a:r>
                      <a:endParaRPr lang="en-US" sz="1323" dirty="0">
                        <a:latin typeface="Arial" charset="0"/>
                        <a:ea typeface="Arial" charset="0"/>
                        <a:cs typeface="Arial" charset="0"/>
                      </a:endParaRPr>
                    </a:p>
                  </a:txBody>
                  <a:tcPr marL="58813" marR="58813" marT="58813" marB="58813">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161410"/>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extLst>
                  <a:ext uri="{0D108BD9-81ED-4DB2-BD59-A6C34878D82A}">
                    <a16:rowId xmlns:a16="http://schemas.microsoft.com/office/drawing/2014/main" val="10001"/>
                  </a:ext>
                </a:extLst>
              </a:tr>
              <a:tr h="363855">
                <a:tc>
                  <a:txBody>
                    <a:bodyPr/>
                    <a:lstStyle/>
                    <a:p>
                      <a:pPr marL="0" indent="0">
                        <a:lnSpc>
                          <a:spcPts val="1852"/>
                        </a:lnSpc>
                        <a:buNone/>
                      </a:pPr>
                      <a:r>
                        <a:rPr lang="en-US" sz="1323" dirty="0">
                          <a:solidFill>
                            <a:srgbClr val="17140F"/>
                          </a:solidFill>
                          <a:latin typeface="Arial" pitchFamily="34" charset="0"/>
                          <a:ea typeface="Arial" pitchFamily="34" charset="-122"/>
                          <a:cs typeface="Arial" pitchFamily="34" charset="-120"/>
                        </a:rPr>
                        <a:t>Iterations</a:t>
                      </a:r>
                      <a:endParaRPr lang="en-US" sz="1323" dirty="0">
                        <a:latin typeface="Arial" charset="0"/>
                        <a:ea typeface="Arial" charset="0"/>
                        <a:cs typeface="Arial" charset="0"/>
                      </a:endParaRPr>
                    </a:p>
                  </a:txBody>
                  <a:tcPr marL="58813" marR="58813" marT="58813" marB="58813">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852"/>
                        </a:lnSpc>
                        <a:buNone/>
                      </a:pPr>
                      <a:r>
                        <a:rPr lang="en-US" sz="1323" dirty="0">
                          <a:solidFill>
                            <a:srgbClr val="17140F"/>
                          </a:solidFill>
                          <a:latin typeface="Arial" pitchFamily="34" charset="0"/>
                          <a:ea typeface="Arial" pitchFamily="34" charset="-122"/>
                          <a:cs typeface="Arial" pitchFamily="34" charset="-120"/>
                        </a:rPr>
                        <a:t>4–6 variants of whatever is winning</a:t>
                      </a:r>
                      <a:endParaRPr lang="en-US" sz="1323" dirty="0">
                        <a:latin typeface="Arial" charset="0"/>
                        <a:ea typeface="Arial" charset="0"/>
                        <a:cs typeface="Arial" charset="0"/>
                      </a:endParaRPr>
                    </a:p>
                  </a:txBody>
                  <a:tcPr marL="58813" marR="58813" marT="58813" marB="58813">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852"/>
                        </a:lnSpc>
                        <a:buNone/>
                      </a:pPr>
                      <a:r>
                        <a:rPr lang="en-US" sz="1323" dirty="0">
                          <a:solidFill>
                            <a:srgbClr val="5C5344"/>
                          </a:solidFill>
                          <a:latin typeface="Arial" pitchFamily="34" charset="0"/>
                          <a:ea typeface="Arial" pitchFamily="34" charset="-122"/>
                          <a:cs typeface="Arial" pitchFamily="34" charset="-120"/>
                        </a:rPr>
                        <a:t>Change one thing: hook, first frame, or caption</a:t>
                      </a:r>
                      <a:endParaRPr lang="en-US" sz="1323" dirty="0">
                        <a:latin typeface="Arial" charset="0"/>
                        <a:ea typeface="Arial" charset="0"/>
                        <a:cs typeface="Arial" charset="0"/>
                      </a:endParaRPr>
                    </a:p>
                  </a:txBody>
                  <a:tcPr marL="58813" marR="58813" marT="58813" marB="58813">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extLst>
                  <a:ext uri="{0D108BD9-81ED-4DB2-BD59-A6C34878D82A}">
                    <a16:rowId xmlns:a16="http://schemas.microsoft.com/office/drawing/2014/main" val="10002"/>
                  </a:ext>
                </a:extLst>
              </a:tr>
              <a:tr h="363855">
                <a:tc>
                  <a:txBody>
                    <a:bodyPr/>
                    <a:lstStyle/>
                    <a:p>
                      <a:pPr marL="0" indent="0">
                        <a:lnSpc>
                          <a:spcPts val="1852"/>
                        </a:lnSpc>
                        <a:buNone/>
                      </a:pPr>
                      <a:r>
                        <a:rPr lang="en-US" sz="1323" dirty="0">
                          <a:solidFill>
                            <a:srgbClr val="17140F"/>
                          </a:solidFill>
                          <a:latin typeface="Arial" pitchFamily="34" charset="0"/>
                          <a:ea typeface="Arial" pitchFamily="34" charset="-122"/>
                          <a:cs typeface="Arial" pitchFamily="34" charset="-120"/>
                        </a:rPr>
                        <a:t>Guest and creator content</a:t>
                      </a:r>
                      <a:endParaRPr lang="en-US" sz="1323" dirty="0">
                        <a:latin typeface="Arial" charset="0"/>
                        <a:ea typeface="Arial" charset="0"/>
                        <a:cs typeface="Arial" charset="0"/>
                      </a:endParaRPr>
                    </a:p>
                  </a:txBody>
                  <a:tcPr marL="58813" marR="58813" marT="58813" marB="58813">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852"/>
                        </a:lnSpc>
                        <a:buNone/>
                      </a:pPr>
                      <a:r>
                        <a:rPr lang="en-US" sz="1323" dirty="0">
                          <a:solidFill>
                            <a:srgbClr val="17140F"/>
                          </a:solidFill>
                          <a:latin typeface="Arial" pitchFamily="34" charset="0"/>
                          <a:ea typeface="Arial" pitchFamily="34" charset="-122"/>
                          <a:cs typeface="Arial" pitchFamily="34" charset="-120"/>
                        </a:rPr>
                        <a:t>4–8 pieces, lightly produced</a:t>
                      </a:r>
                      <a:endParaRPr lang="en-US" sz="1323" dirty="0">
                        <a:latin typeface="Arial" charset="0"/>
                        <a:ea typeface="Arial" charset="0"/>
                        <a:cs typeface="Arial" charset="0"/>
                      </a:endParaRPr>
                    </a:p>
                  </a:txBody>
                  <a:tcPr marL="58813" marR="58813" marT="58813" marB="58813">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852"/>
                        </a:lnSpc>
                        <a:buNone/>
                      </a:pPr>
                      <a:r>
                        <a:rPr lang="en-US" sz="1323" dirty="0">
                          <a:solidFill>
                            <a:srgbClr val="5C5344"/>
                          </a:solidFill>
                          <a:latin typeface="Arial" pitchFamily="34" charset="0"/>
                          <a:ea typeface="Arial" pitchFamily="34" charset="-122"/>
                          <a:cs typeface="Arial" pitchFamily="34" charset="-120"/>
                        </a:rPr>
                        <a:t>Cheapest way to find an unexpected winner</a:t>
                      </a:r>
                      <a:endParaRPr lang="en-US" sz="1323" dirty="0">
                        <a:latin typeface="Arial" charset="0"/>
                        <a:ea typeface="Arial" charset="0"/>
                        <a:cs typeface="Arial" charset="0"/>
                      </a:endParaRPr>
                    </a:p>
                  </a:txBody>
                  <a:tcPr marL="58813" marR="58813" marT="58813" marB="58813">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extLst>
                  <a:ext uri="{0D108BD9-81ED-4DB2-BD59-A6C34878D82A}">
                    <a16:rowId xmlns:a16="http://schemas.microsoft.com/office/drawing/2014/main" val="10003"/>
                  </a:ext>
                </a:extLst>
              </a:tr>
              <a:tr h="599043">
                <a:tc>
                  <a:txBody>
                    <a:bodyPr/>
                    <a:lstStyle/>
                    <a:p>
                      <a:pPr marL="0" indent="0">
                        <a:lnSpc>
                          <a:spcPts val="1852"/>
                        </a:lnSpc>
                        <a:buNone/>
                      </a:pPr>
                      <a:r>
                        <a:rPr lang="en-US" sz="1323" dirty="0">
                          <a:solidFill>
                            <a:srgbClr val="17140F"/>
                          </a:solidFill>
                          <a:latin typeface="Arial" pitchFamily="34" charset="0"/>
                          <a:ea typeface="Arial" pitchFamily="34" charset="-122"/>
                          <a:cs typeface="Arial" pitchFamily="34" charset="-120"/>
                        </a:rPr>
                        <a:t>Retirement</a:t>
                      </a:r>
                      <a:endParaRPr lang="en-US" sz="1323" dirty="0">
                        <a:latin typeface="Arial" charset="0"/>
                        <a:ea typeface="Arial" charset="0"/>
                        <a:cs typeface="Arial" charset="0"/>
                      </a:endParaRPr>
                    </a:p>
                  </a:txBody>
                  <a:tcPr marL="58813" marR="58813" marT="58813" marB="58813">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852"/>
                        </a:lnSpc>
                        <a:buNone/>
                      </a:pPr>
                      <a:r>
                        <a:rPr lang="en-US" sz="1323" dirty="0">
                          <a:solidFill>
                            <a:srgbClr val="17140F"/>
                          </a:solidFill>
                          <a:latin typeface="Arial" pitchFamily="34" charset="0"/>
                          <a:ea typeface="Arial" pitchFamily="34" charset="-122"/>
                          <a:cs typeface="Arial" pitchFamily="34" charset="-120"/>
                        </a:rPr>
                        <a:t>Anything past 6 weeks or with rising frequency comes off</a:t>
                      </a:r>
                      <a:endParaRPr lang="en-US" sz="1323" dirty="0">
                        <a:latin typeface="Arial" charset="0"/>
                        <a:ea typeface="Arial" charset="0"/>
                        <a:cs typeface="Arial" charset="0"/>
                      </a:endParaRPr>
                    </a:p>
                  </a:txBody>
                  <a:tcPr marL="58813" marR="58813" marT="58813" marB="58813">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852"/>
                        </a:lnSpc>
                        <a:buNone/>
                      </a:pPr>
                      <a:r>
                        <a:rPr lang="en-US" sz="1323" dirty="0">
                          <a:solidFill>
                            <a:srgbClr val="5C5344"/>
                          </a:solidFill>
                          <a:latin typeface="Arial" pitchFamily="34" charset="0"/>
                          <a:ea typeface="Arial" pitchFamily="34" charset="-122"/>
                          <a:cs typeface="Arial" pitchFamily="34" charset="-120"/>
                        </a:rPr>
                        <a:t>No creative runs indefinitely because it once worked</a:t>
                      </a:r>
                      <a:endParaRPr lang="en-US" sz="1323" dirty="0">
                        <a:latin typeface="Arial" charset="0"/>
                        <a:ea typeface="Arial" charset="0"/>
                        <a:cs typeface="Arial" charset="0"/>
                      </a:endParaRPr>
                    </a:p>
                  </a:txBody>
                  <a:tcPr marL="58813" marR="58813" marT="58813" marB="58813">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extLst>
                  <a:ext uri="{0D108BD9-81ED-4DB2-BD59-A6C34878D82A}">
                    <a16:rowId xmlns:a16="http://schemas.microsoft.com/office/drawing/2014/main" val="10004"/>
                  </a:ext>
                </a:extLst>
              </a:tr>
              <a:tr h="599043">
                <a:tc>
                  <a:txBody>
                    <a:bodyPr/>
                    <a:lstStyle/>
                    <a:p>
                      <a:pPr marL="0" indent="0">
                        <a:lnSpc>
                          <a:spcPts val="1852"/>
                        </a:lnSpc>
                        <a:buNone/>
                      </a:pPr>
                      <a:r>
                        <a:rPr lang="en-US" sz="1323" dirty="0">
                          <a:solidFill>
                            <a:srgbClr val="17140F"/>
                          </a:solidFill>
                          <a:latin typeface="Arial" pitchFamily="34" charset="0"/>
                          <a:ea typeface="Arial" pitchFamily="34" charset="-122"/>
                          <a:cs typeface="Arial" pitchFamily="34" charset="-120"/>
                        </a:rPr>
                        <a:t>Test budget</a:t>
                      </a:r>
                      <a:endParaRPr lang="en-US" sz="1323" dirty="0">
                        <a:latin typeface="Arial" charset="0"/>
                        <a:ea typeface="Arial" charset="0"/>
                        <a:cs typeface="Arial" charset="0"/>
                      </a:endParaRPr>
                    </a:p>
                  </a:txBody>
                  <a:tcPr marL="58813" marR="58813" marT="58813" marB="58813">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852"/>
                        </a:lnSpc>
                        <a:buNone/>
                      </a:pPr>
                      <a:r>
                        <a:rPr lang="en-US" sz="1323" dirty="0">
                          <a:solidFill>
                            <a:srgbClr val="17140F"/>
                          </a:solidFill>
                          <a:latin typeface="Arial" pitchFamily="34" charset="0"/>
                          <a:ea typeface="Arial" pitchFamily="34" charset="-122"/>
                          <a:cs typeface="Arial" pitchFamily="34" charset="-120"/>
                        </a:rPr>
                        <a:t>A fixed slice, ring-fenced, allowed to fail</a:t>
                      </a:r>
                      <a:endParaRPr lang="en-US" sz="1323" dirty="0">
                        <a:latin typeface="Arial" charset="0"/>
                        <a:ea typeface="Arial" charset="0"/>
                        <a:cs typeface="Arial" charset="0"/>
                      </a:endParaRPr>
                    </a:p>
                  </a:txBody>
                  <a:tcPr marL="58813" marR="58813" marT="58813" marB="58813">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852"/>
                        </a:lnSpc>
                        <a:buNone/>
                      </a:pPr>
                      <a:r>
                        <a:rPr lang="en-US" sz="1323" dirty="0">
                          <a:solidFill>
                            <a:srgbClr val="5C5344"/>
                          </a:solidFill>
                          <a:latin typeface="Arial" pitchFamily="34" charset="0"/>
                          <a:ea typeface="Arial" pitchFamily="34" charset="-122"/>
                          <a:cs typeface="Arial" pitchFamily="34" charset="-120"/>
                        </a:rPr>
                        <a:t>If nothing is allowed to lose, nothing new can win</a:t>
                      </a:r>
                      <a:endParaRPr lang="en-US" sz="1323" dirty="0">
                        <a:latin typeface="Arial" charset="0"/>
                        <a:ea typeface="Arial" charset="0"/>
                        <a:cs typeface="Arial" charset="0"/>
                      </a:endParaRPr>
                    </a:p>
                  </a:txBody>
                  <a:tcPr marL="58813" marR="58813" marT="58813" marB="58813">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4" name="Shape 1"/>
          <p:cNvSpPr/>
          <p:nvPr/>
        </p:nvSpPr>
        <p:spPr>
          <a:xfrm>
            <a:off x="815975" y="4443735"/>
            <a:ext cx="3380264" cy="1395095"/>
          </a:xfrm>
          <a:prstGeom prst="roundRect">
            <a:avLst>
              <a:gd name="adj" fmla="val 7055"/>
            </a:avLst>
          </a:prstGeom>
          <a:solidFill>
            <a:srgbClr val="FFFFFF"/>
          </a:solidFill>
          <a:ln w="6350">
            <a:solidFill>
              <a:srgbClr val="DDD5C5"/>
            </a:solidFill>
            <a:prstDash val="solid"/>
          </a:ln>
        </p:spPr>
      </p:sp>
      <p:sp>
        <p:nvSpPr>
          <p:cNvPr id="5" name="Text 2"/>
          <p:cNvSpPr/>
          <p:nvPr/>
        </p:nvSpPr>
        <p:spPr>
          <a:xfrm>
            <a:off x="1046480" y="4674245"/>
            <a:ext cx="3006831" cy="959485"/>
          </a:xfrm>
          <a:prstGeom prst="rect">
            <a:avLst/>
          </a:prstGeom>
          <a:noFill/>
          <a:ln/>
        </p:spPr>
        <p:txBody>
          <a:bodyPr wrap="square" lIns="0" tIns="0" rIns="0" bIns="0" rtlCol="0" anchor="t">
            <a:normAutofit/>
          </a:bodyPr>
          <a:lstStyle/>
          <a:p>
            <a:pPr marL="0" indent="0" algn="l">
              <a:lnSpc>
                <a:spcPts val="1840"/>
              </a:lnSpc>
              <a:buNone/>
            </a:pPr>
            <a:r>
              <a:rPr lang="en-US" sz="1269" dirty="0">
                <a:solidFill>
                  <a:srgbClr val="5C5344"/>
                </a:solidFill>
                <a:latin typeface="Arial" pitchFamily="34" charset="0"/>
                <a:ea typeface="Arial" pitchFamily="34" charset="-122"/>
                <a:cs typeface="Arial" pitchFamily="34" charset="-120"/>
              </a:rPr>
              <a:t>Reels out-engage static posts by roughly </a:t>
            </a:r>
            <a:r>
              <a:rPr lang="en-US" sz="1269" b="1" dirty="0">
                <a:solidFill>
                  <a:srgbClr val="5C5344"/>
                </a:solidFill>
                <a:latin typeface="Arial" pitchFamily="34" charset="0"/>
                <a:ea typeface="Arial" pitchFamily="34" charset="-122"/>
                <a:cs typeface="Arial" pitchFamily="34" charset="-120"/>
              </a:rPr>
              <a:t>2.5×</a:t>
            </a:r>
            <a:r>
              <a:rPr lang="en-US" sz="1269" dirty="0">
                <a:solidFill>
                  <a:srgbClr val="5C5344"/>
                </a:solidFill>
                <a:latin typeface="Arial" pitchFamily="34" charset="0"/>
                <a:ea typeface="Arial" pitchFamily="34" charset="-122"/>
                <a:cs typeface="Arial" pitchFamily="34" charset="-120"/>
              </a:rPr>
              <a:t> in hospitality — 0.38% against 0.15%. The format split should follow that, not habit.</a:t>
            </a:r>
            <a:endParaRPr lang="en-US" sz="1269" dirty="0"/>
          </a:p>
        </p:txBody>
      </p:sp>
      <p:sp>
        <p:nvSpPr>
          <p:cNvPr id="6" name="Shape 3"/>
          <p:cNvSpPr/>
          <p:nvPr/>
        </p:nvSpPr>
        <p:spPr>
          <a:xfrm>
            <a:off x="4405789" y="4443735"/>
            <a:ext cx="3380343" cy="1395095"/>
          </a:xfrm>
          <a:prstGeom prst="roundRect">
            <a:avLst>
              <a:gd name="adj" fmla="val 7055"/>
            </a:avLst>
          </a:prstGeom>
          <a:solidFill>
            <a:srgbClr val="FFFFFF"/>
          </a:solidFill>
          <a:ln w="6350">
            <a:solidFill>
              <a:srgbClr val="DDD5C5"/>
            </a:solidFill>
            <a:prstDash val="solid"/>
          </a:ln>
        </p:spPr>
      </p:sp>
      <p:sp>
        <p:nvSpPr>
          <p:cNvPr id="7" name="Text 4"/>
          <p:cNvSpPr/>
          <p:nvPr/>
        </p:nvSpPr>
        <p:spPr>
          <a:xfrm>
            <a:off x="4636294" y="4674245"/>
            <a:ext cx="3006913" cy="959485"/>
          </a:xfrm>
          <a:prstGeom prst="rect">
            <a:avLst/>
          </a:prstGeom>
          <a:noFill/>
          <a:ln/>
        </p:spPr>
        <p:txBody>
          <a:bodyPr wrap="square" lIns="0" tIns="0" rIns="0" bIns="0" rtlCol="0" anchor="t">
            <a:normAutofit/>
          </a:bodyPr>
          <a:lstStyle/>
          <a:p>
            <a:pPr marL="0" indent="0" algn="l">
              <a:lnSpc>
                <a:spcPts val="1892"/>
              </a:lnSpc>
              <a:buNone/>
            </a:pPr>
            <a:r>
              <a:rPr lang="en-US" sz="1305" dirty="0">
                <a:solidFill>
                  <a:srgbClr val="5C5344"/>
                </a:solidFill>
                <a:latin typeface="Arial" pitchFamily="34" charset="0"/>
                <a:ea typeface="Arial" pitchFamily="34" charset="-122"/>
                <a:cs typeface="Arial" pitchFamily="34" charset="-120"/>
              </a:rPr>
              <a:t>30–60 seconds reaches best, at </a:t>
            </a:r>
            <a:r>
              <a:rPr lang="en-US" sz="1305" b="1" dirty="0">
                <a:solidFill>
                  <a:srgbClr val="5C5344"/>
                </a:solidFill>
                <a:latin typeface="Arial" pitchFamily="34" charset="0"/>
                <a:ea typeface="Arial" pitchFamily="34" charset="-122"/>
                <a:cs typeface="Arial" pitchFamily="34" charset="-120"/>
              </a:rPr>
              <a:t>5.60%</a:t>
            </a:r>
            <a:r>
              <a:rPr lang="en-US" sz="1305" dirty="0">
                <a:solidFill>
                  <a:srgbClr val="5C5344"/>
                </a:solidFill>
                <a:latin typeface="Arial" pitchFamily="34" charset="0"/>
                <a:ea typeface="Arial" pitchFamily="34" charset="-122"/>
                <a:cs typeface="Arial" pitchFamily="34" charset="-120"/>
              </a:rPr>
              <a:t>. Past 90 seconds performance falls off sharply. Build the spec around that.</a:t>
            </a:r>
            <a:endParaRPr lang="en-US" sz="1305" dirty="0"/>
          </a:p>
        </p:txBody>
      </p:sp>
      <p:sp>
        <p:nvSpPr>
          <p:cNvPr id="8" name="Shape 5"/>
          <p:cNvSpPr/>
          <p:nvPr/>
        </p:nvSpPr>
        <p:spPr>
          <a:xfrm>
            <a:off x="7995682" y="4443735"/>
            <a:ext cx="3380343" cy="1395095"/>
          </a:xfrm>
          <a:prstGeom prst="roundRect">
            <a:avLst>
              <a:gd name="adj" fmla="val 7055"/>
            </a:avLst>
          </a:prstGeom>
          <a:solidFill>
            <a:srgbClr val="FFFFFF"/>
          </a:solidFill>
          <a:ln w="6350">
            <a:solidFill>
              <a:srgbClr val="DDD5C5"/>
            </a:solidFill>
            <a:prstDash val="solid"/>
          </a:ln>
        </p:spPr>
      </p:sp>
      <p:sp>
        <p:nvSpPr>
          <p:cNvPr id="9" name="Text 6"/>
          <p:cNvSpPr/>
          <p:nvPr/>
        </p:nvSpPr>
        <p:spPr>
          <a:xfrm>
            <a:off x="8226187" y="4674245"/>
            <a:ext cx="3006913" cy="959485"/>
          </a:xfrm>
          <a:prstGeom prst="rect">
            <a:avLst/>
          </a:prstGeom>
          <a:noFill/>
          <a:ln/>
        </p:spPr>
        <p:txBody>
          <a:bodyPr wrap="square" lIns="0" tIns="0" rIns="0" bIns="0" rtlCol="0" anchor="t">
            <a:normAutofit/>
          </a:bodyPr>
          <a:lstStyle/>
          <a:p>
            <a:pPr marL="0" indent="0" algn="l">
              <a:lnSpc>
                <a:spcPts val="1807"/>
              </a:lnSpc>
              <a:buNone/>
            </a:pPr>
            <a:r>
              <a:rPr lang="en-US" sz="1246" b="1" dirty="0">
                <a:solidFill>
                  <a:srgbClr val="5C5344"/>
                </a:solidFill>
                <a:latin typeface="Arial" pitchFamily="34" charset="0"/>
                <a:ea typeface="Arial" pitchFamily="34" charset="-122"/>
                <a:cs typeface="Arial" pitchFamily="34" charset="-120"/>
              </a:rPr>
              <a:t>72%</a:t>
            </a:r>
            <a:r>
              <a:rPr lang="en-US" sz="1246" dirty="0">
                <a:solidFill>
                  <a:srgbClr val="5C5344"/>
                </a:solidFill>
                <a:latin typeface="Arial" pitchFamily="34" charset="0"/>
                <a:ea typeface="Arial" pitchFamily="34" charset="-122"/>
                <a:cs typeface="Arial" pitchFamily="34" charset="-120"/>
              </a:rPr>
              <a:t> of Indians discover offbeat destinations through Reels, but </a:t>
            </a:r>
            <a:r>
              <a:rPr lang="en-US" sz="1246" b="1" dirty="0">
                <a:solidFill>
                  <a:srgbClr val="5C5344"/>
                </a:solidFill>
                <a:latin typeface="Arial" pitchFamily="34" charset="0"/>
                <a:ea typeface="Arial" pitchFamily="34" charset="-122"/>
                <a:cs typeface="Arial" pitchFamily="34" charset="-120"/>
              </a:rPr>
              <a:t>52%</a:t>
            </a:r>
            <a:r>
              <a:rPr lang="en-US" sz="1246" dirty="0">
                <a:solidFill>
                  <a:srgbClr val="5C5344"/>
                </a:solidFill>
                <a:latin typeface="Arial" pitchFamily="34" charset="0"/>
                <a:ea typeface="Arial" pitchFamily="34" charset="-122"/>
                <a:cs typeface="Arial" pitchFamily="34" charset="-120"/>
              </a:rPr>
              <a:t> need good reviews before booking. Reels fill the top; the rating decides the bottom.</a:t>
            </a:r>
            <a:endParaRPr lang="en-US" sz="1246" dirty="0"/>
          </a:p>
        </p:txBody>
      </p:sp>
      <p:sp>
        <p:nvSpPr>
          <p:cNvPr id="10" name="Text 7"/>
          <p:cNvSpPr/>
          <p:nvPr/>
        </p:nvSpPr>
        <p:spPr>
          <a:xfrm>
            <a:off x="812800" y="6238255"/>
            <a:ext cx="560300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071"/>
                </a:solidFill>
                <a:latin typeface="Arial" pitchFamily="34" charset="0"/>
                <a:ea typeface="Arial" pitchFamily="34" charset="-122"/>
                <a:cs typeface="Arial" pitchFamily="34" charset="-120"/>
              </a:rPr>
              <a:t>Sources: Socialinsider Instagram Reels statistics 2026; zingbus survey, n=2,371.</a:t>
            </a:r>
            <a:endParaRPr lang="en-US" sz="12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5">
    <p:bg>
      <p:bgPr>
        <a:solidFill>
          <a:srgbClr val="C9A63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9398"/>
          </a:xfrm>
          <a:prstGeom prst="rect">
            <a:avLst/>
          </a:prstGeom>
          <a:noFill/>
          <a:ln/>
        </p:spPr>
        <p:txBody>
          <a:bodyPr wrap="square" lIns="0" tIns="0" rIns="0" bIns="0" rtlCol="0" anchor="t">
            <a:normAutofit/>
          </a:bodyPr>
          <a:lstStyle/>
          <a:p>
            <a:pPr marL="0" indent="0" algn="l">
              <a:lnSpc>
                <a:spcPts val="1874"/>
              </a:lnSpc>
              <a:buNone/>
            </a:pPr>
            <a:r>
              <a:rPr lang="en-US" sz="1339" kern="0" spc="200" dirty="0">
                <a:solidFill>
                  <a:srgbClr val="17140F"/>
                </a:solidFill>
                <a:latin typeface="Arial" pitchFamily="34" charset="0"/>
                <a:ea typeface="Arial" pitchFamily="34" charset="-122"/>
                <a:cs typeface="Arial" pitchFamily="34" charset="-120"/>
              </a:rPr>
              <a:t>THE ONE THING THAT IS CLEARLY WORKING</a:t>
            </a:r>
            <a:endParaRPr lang="en-US" sz="1339" dirty="0"/>
          </a:p>
        </p:txBody>
      </p:sp>
      <p:sp>
        <p:nvSpPr>
          <p:cNvPr id="3" name="Text 1"/>
          <p:cNvSpPr/>
          <p:nvPr/>
        </p:nvSpPr>
        <p:spPr>
          <a:xfrm>
            <a:off x="812800" y="1300807"/>
            <a:ext cx="10883392" cy="627142"/>
          </a:xfrm>
          <a:prstGeom prst="rect">
            <a:avLst/>
          </a:prstGeom>
          <a:noFill/>
          <a:ln/>
        </p:spPr>
        <p:txBody>
          <a:bodyPr wrap="square" lIns="0" tIns="0" rIns="0" bIns="0" rtlCol="0" anchor="t">
            <a:normAutofit/>
          </a:bodyPr>
          <a:lstStyle/>
          <a:p>
            <a:pPr marL="0" indent="0" algn="l">
              <a:lnSpc>
                <a:spcPts val="4772"/>
              </a:lnSpc>
              <a:buNone/>
            </a:pPr>
            <a:r>
              <a:rPr lang="en-US" sz="4545" dirty="0">
                <a:solidFill>
                  <a:srgbClr val="17140F"/>
                </a:solidFill>
                <a:latin typeface="Georgia" pitchFamily="34" charset="0"/>
                <a:ea typeface="Georgia" pitchFamily="34" charset="-122"/>
                <a:cs typeface="Georgia" pitchFamily="34" charset="-120"/>
              </a:rPr>
              <a:t>Corporate video, in the 25–44 bracket</a:t>
            </a:r>
            <a:endParaRPr lang="en-US" sz="4545" dirty="0"/>
          </a:p>
        </p:txBody>
      </p:sp>
      <p:sp>
        <p:nvSpPr>
          <p:cNvPr id="4" name="Shape 2"/>
          <p:cNvSpPr/>
          <p:nvPr/>
        </p:nvSpPr>
        <p:spPr>
          <a:xfrm>
            <a:off x="812800" y="2156544"/>
            <a:ext cx="3386614" cy="1915160"/>
          </a:xfrm>
          <a:prstGeom prst="roundRect">
            <a:avLst>
              <a:gd name="adj" fmla="val 5305"/>
            </a:avLst>
          </a:prstGeom>
          <a:solidFill>
            <a:srgbClr val="F7F3EA"/>
          </a:solidFill>
          <a:ln/>
        </p:spPr>
      </p:sp>
      <p:sp>
        <p:nvSpPr>
          <p:cNvPr id="5" name="Text 3"/>
          <p:cNvSpPr/>
          <p:nvPr/>
        </p:nvSpPr>
        <p:spPr>
          <a:xfrm>
            <a:off x="1092200" y="2435944"/>
            <a:ext cx="2912648"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C5344"/>
                </a:solidFill>
                <a:latin typeface="Arial" pitchFamily="34" charset="0"/>
                <a:ea typeface="Arial" pitchFamily="34" charset="-122"/>
                <a:cs typeface="Arial" pitchFamily="34" charset="-120"/>
              </a:rPr>
              <a:t>25–34</a:t>
            </a:r>
            <a:endParaRPr lang="en-US" sz="1400" dirty="0"/>
          </a:p>
        </p:txBody>
      </p:sp>
      <p:sp>
        <p:nvSpPr>
          <p:cNvPr id="6" name="Text 4"/>
          <p:cNvSpPr/>
          <p:nvPr/>
        </p:nvSpPr>
        <p:spPr>
          <a:xfrm>
            <a:off x="1092200" y="2761059"/>
            <a:ext cx="2912648" cy="640080"/>
          </a:xfrm>
          <a:prstGeom prst="rect">
            <a:avLst/>
          </a:prstGeom>
          <a:noFill/>
          <a:ln/>
        </p:spPr>
        <p:txBody>
          <a:bodyPr wrap="square" lIns="0" tIns="0" rIns="0" bIns="0" rtlCol="0" anchor="t">
            <a:normAutofit/>
          </a:bodyPr>
          <a:lstStyle/>
          <a:p>
            <a:pPr marL="0" indent="0" algn="l">
              <a:lnSpc>
                <a:spcPts val="4840"/>
              </a:lnSpc>
              <a:buNone/>
            </a:pPr>
            <a:r>
              <a:rPr lang="en-US" sz="4400" dirty="0">
                <a:solidFill>
                  <a:srgbClr val="17140F"/>
                </a:solidFill>
                <a:latin typeface="Georgia" pitchFamily="34" charset="0"/>
                <a:ea typeface="Georgia" pitchFamily="34" charset="-122"/>
                <a:cs typeface="Georgia" pitchFamily="34" charset="-120"/>
              </a:rPr>
              <a:t>₹1,127</a:t>
            </a:r>
            <a:endParaRPr lang="en-US" sz="4400" dirty="0"/>
          </a:p>
        </p:txBody>
      </p:sp>
      <p:sp>
        <p:nvSpPr>
          <p:cNvPr id="7" name="Text 5"/>
          <p:cNvSpPr/>
          <p:nvPr/>
        </p:nvSpPr>
        <p:spPr>
          <a:xfrm>
            <a:off x="1092200" y="3451944"/>
            <a:ext cx="2912648"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C5344"/>
                </a:solidFill>
                <a:latin typeface="Arial" pitchFamily="34" charset="0"/>
                <a:ea typeface="Arial" pitchFamily="34" charset="-122"/>
                <a:cs typeface="Arial" pitchFamily="34" charset="-120"/>
              </a:rPr>
              <a:t>561 leads · 42.3% of spend · the core</a:t>
            </a:r>
            <a:endParaRPr lang="en-US" sz="1300" dirty="0"/>
          </a:p>
        </p:txBody>
      </p:sp>
      <p:sp>
        <p:nvSpPr>
          <p:cNvPr id="8" name="Shape 6"/>
          <p:cNvSpPr/>
          <p:nvPr/>
        </p:nvSpPr>
        <p:spPr>
          <a:xfrm>
            <a:off x="4402614" y="2156544"/>
            <a:ext cx="3386693" cy="1915160"/>
          </a:xfrm>
          <a:prstGeom prst="roundRect">
            <a:avLst>
              <a:gd name="adj" fmla="val 5305"/>
            </a:avLst>
          </a:prstGeom>
          <a:solidFill>
            <a:srgbClr val="17140F"/>
          </a:solidFill>
          <a:ln/>
        </p:spPr>
      </p:sp>
      <p:sp>
        <p:nvSpPr>
          <p:cNvPr id="9" name="Text 7"/>
          <p:cNvSpPr/>
          <p:nvPr/>
        </p:nvSpPr>
        <p:spPr>
          <a:xfrm>
            <a:off x="4682014" y="2435944"/>
            <a:ext cx="2912730" cy="251460"/>
          </a:xfrm>
          <a:prstGeom prst="rect">
            <a:avLst/>
          </a:prstGeom>
          <a:noFill/>
          <a:ln/>
        </p:spPr>
        <p:txBody>
          <a:bodyPr wrap="square" lIns="0" tIns="0" rIns="0" bIns="0" rtlCol="0" anchor="t">
            <a:normAutofit/>
          </a:bodyPr>
          <a:lstStyle/>
          <a:p>
            <a:pPr marL="0" indent="0" algn="l">
              <a:lnSpc>
                <a:spcPts val="1819"/>
              </a:lnSpc>
              <a:buNone/>
            </a:pPr>
            <a:r>
              <a:rPr lang="en-US" sz="1299" dirty="0">
                <a:solidFill>
                  <a:srgbClr val="A79C89"/>
                </a:solidFill>
                <a:latin typeface="Arial" pitchFamily="34" charset="0"/>
                <a:ea typeface="Arial" pitchFamily="34" charset="-122"/>
                <a:cs typeface="Arial" pitchFamily="34" charset="-120"/>
              </a:rPr>
              <a:t>35–44</a:t>
            </a:r>
            <a:endParaRPr lang="en-US" sz="1299" dirty="0"/>
          </a:p>
        </p:txBody>
      </p:sp>
      <p:sp>
        <p:nvSpPr>
          <p:cNvPr id="10" name="Text 8"/>
          <p:cNvSpPr/>
          <p:nvPr/>
        </p:nvSpPr>
        <p:spPr>
          <a:xfrm>
            <a:off x="4682014" y="2738214"/>
            <a:ext cx="2912730" cy="583565"/>
          </a:xfrm>
          <a:prstGeom prst="rect">
            <a:avLst/>
          </a:prstGeom>
          <a:noFill/>
          <a:ln/>
        </p:spPr>
        <p:txBody>
          <a:bodyPr wrap="square" lIns="0" tIns="0" rIns="0" bIns="0" rtlCol="0" anchor="t">
            <a:normAutofit/>
          </a:bodyPr>
          <a:lstStyle/>
          <a:p>
            <a:pPr marL="0" indent="0" algn="l">
              <a:lnSpc>
                <a:spcPts val="4417"/>
              </a:lnSpc>
              <a:buNone/>
            </a:pPr>
            <a:r>
              <a:rPr lang="en-US" sz="4015" dirty="0">
                <a:solidFill>
                  <a:srgbClr val="C9A63C"/>
                </a:solidFill>
                <a:latin typeface="Georgia" pitchFamily="34" charset="0"/>
                <a:ea typeface="Georgia" pitchFamily="34" charset="-122"/>
                <a:cs typeface="Georgia" pitchFamily="34" charset="-120"/>
              </a:rPr>
              <a:t>₹957</a:t>
            </a:r>
            <a:endParaRPr lang="en-US" sz="4015" dirty="0"/>
          </a:p>
        </p:txBody>
      </p:sp>
      <p:sp>
        <p:nvSpPr>
          <p:cNvPr id="11" name="Text 9"/>
          <p:cNvSpPr/>
          <p:nvPr/>
        </p:nvSpPr>
        <p:spPr>
          <a:xfrm>
            <a:off x="4682014" y="3372569"/>
            <a:ext cx="2912730" cy="445135"/>
          </a:xfrm>
          <a:prstGeom prst="rect">
            <a:avLst/>
          </a:prstGeom>
          <a:noFill/>
          <a:ln/>
        </p:spPr>
        <p:txBody>
          <a:bodyPr wrap="square" lIns="0" tIns="0" rIns="0" bIns="0" rtlCol="0" anchor="t">
            <a:normAutofit/>
          </a:bodyPr>
          <a:lstStyle/>
          <a:p>
            <a:pPr marL="0" indent="0" algn="l">
              <a:lnSpc>
                <a:spcPts val="1803"/>
              </a:lnSpc>
              <a:buNone/>
            </a:pPr>
            <a:r>
              <a:rPr lang="en-US" sz="1288" dirty="0">
                <a:solidFill>
                  <a:srgbClr val="A79C89"/>
                </a:solidFill>
                <a:latin typeface="Arial" pitchFamily="34" charset="0"/>
                <a:ea typeface="Arial" pitchFamily="34" charset="-122"/>
                <a:cs typeface="Arial" pitchFamily="34" charset="-120"/>
              </a:rPr>
              <a:t>440 leads · the best rate in the account</a:t>
            </a:r>
            <a:endParaRPr lang="en-US" sz="1288" dirty="0"/>
          </a:p>
        </p:txBody>
      </p:sp>
      <p:sp>
        <p:nvSpPr>
          <p:cNvPr id="12" name="Shape 10"/>
          <p:cNvSpPr/>
          <p:nvPr/>
        </p:nvSpPr>
        <p:spPr>
          <a:xfrm>
            <a:off x="7992507" y="2156544"/>
            <a:ext cx="3386693" cy="1915160"/>
          </a:xfrm>
          <a:prstGeom prst="roundRect">
            <a:avLst>
              <a:gd name="adj" fmla="val 5305"/>
            </a:avLst>
          </a:prstGeom>
          <a:solidFill>
            <a:srgbClr val="F7F3EA"/>
          </a:solidFill>
          <a:ln/>
        </p:spPr>
      </p:sp>
      <p:sp>
        <p:nvSpPr>
          <p:cNvPr id="13" name="Text 11"/>
          <p:cNvSpPr/>
          <p:nvPr/>
        </p:nvSpPr>
        <p:spPr>
          <a:xfrm>
            <a:off x="8271907" y="2435944"/>
            <a:ext cx="2912730" cy="251460"/>
          </a:xfrm>
          <a:prstGeom prst="rect">
            <a:avLst/>
          </a:prstGeom>
          <a:noFill/>
          <a:ln/>
        </p:spPr>
        <p:txBody>
          <a:bodyPr wrap="square" lIns="0" tIns="0" rIns="0" bIns="0" rtlCol="0" anchor="t">
            <a:normAutofit/>
          </a:bodyPr>
          <a:lstStyle/>
          <a:p>
            <a:pPr marL="0" indent="0" algn="l">
              <a:lnSpc>
                <a:spcPts val="1819"/>
              </a:lnSpc>
              <a:buNone/>
            </a:pPr>
            <a:r>
              <a:rPr lang="en-US" sz="1299" dirty="0">
                <a:solidFill>
                  <a:srgbClr val="5C5344"/>
                </a:solidFill>
                <a:latin typeface="Arial" pitchFamily="34" charset="0"/>
                <a:ea typeface="Arial" pitchFamily="34" charset="-122"/>
                <a:cs typeface="Arial" pitchFamily="34" charset="-120"/>
              </a:rPr>
              <a:t>18–24</a:t>
            </a:r>
            <a:endParaRPr lang="en-US" sz="1299" dirty="0"/>
          </a:p>
        </p:txBody>
      </p:sp>
      <p:sp>
        <p:nvSpPr>
          <p:cNvPr id="14" name="Text 12"/>
          <p:cNvSpPr/>
          <p:nvPr/>
        </p:nvSpPr>
        <p:spPr>
          <a:xfrm>
            <a:off x="8271907" y="2738214"/>
            <a:ext cx="2912730" cy="583565"/>
          </a:xfrm>
          <a:prstGeom prst="rect">
            <a:avLst/>
          </a:prstGeom>
          <a:noFill/>
          <a:ln/>
        </p:spPr>
        <p:txBody>
          <a:bodyPr wrap="square" lIns="0" tIns="0" rIns="0" bIns="0" rtlCol="0" anchor="t">
            <a:normAutofit/>
          </a:bodyPr>
          <a:lstStyle/>
          <a:p>
            <a:pPr marL="0" indent="0" algn="l">
              <a:lnSpc>
                <a:spcPts val="4417"/>
              </a:lnSpc>
              <a:buNone/>
            </a:pPr>
            <a:r>
              <a:rPr lang="en-US" sz="4015" dirty="0">
                <a:solidFill>
                  <a:srgbClr val="B54A28"/>
                </a:solidFill>
                <a:latin typeface="Georgia" pitchFamily="34" charset="0"/>
                <a:ea typeface="Georgia" pitchFamily="34" charset="-122"/>
                <a:cs typeface="Georgia" pitchFamily="34" charset="-120"/>
              </a:rPr>
              <a:t>₹1,857</a:t>
            </a:r>
            <a:endParaRPr lang="en-US" sz="4015" dirty="0"/>
          </a:p>
        </p:txBody>
      </p:sp>
      <p:sp>
        <p:nvSpPr>
          <p:cNvPr id="15" name="Text 13"/>
          <p:cNvSpPr/>
          <p:nvPr/>
        </p:nvSpPr>
        <p:spPr>
          <a:xfrm>
            <a:off x="8271907" y="3372569"/>
            <a:ext cx="2912730" cy="445135"/>
          </a:xfrm>
          <a:prstGeom prst="rect">
            <a:avLst/>
          </a:prstGeom>
          <a:noFill/>
          <a:ln/>
        </p:spPr>
        <p:txBody>
          <a:bodyPr wrap="square" lIns="0" tIns="0" rIns="0" bIns="0" rtlCol="0" anchor="t">
            <a:normAutofit/>
          </a:bodyPr>
          <a:lstStyle/>
          <a:p>
            <a:pPr marL="0" indent="0" algn="l">
              <a:lnSpc>
                <a:spcPts val="1684"/>
              </a:lnSpc>
              <a:buNone/>
            </a:pPr>
            <a:r>
              <a:rPr lang="en-US" sz="1203" dirty="0">
                <a:solidFill>
                  <a:srgbClr val="5C5344"/>
                </a:solidFill>
                <a:latin typeface="Arial" pitchFamily="34" charset="0"/>
                <a:ea typeface="Arial" pitchFamily="34" charset="-122"/>
                <a:cs typeface="Arial" pitchFamily="34" charset="-120"/>
              </a:rPr>
              <a:t>123 leads · browses, shares, rarely books</a:t>
            </a:r>
            <a:endParaRPr lang="en-US" sz="1203" dirty="0"/>
          </a:p>
        </p:txBody>
      </p:sp>
      <p:sp>
        <p:nvSpPr>
          <p:cNvPr id="16" name="Shape 14"/>
          <p:cNvSpPr/>
          <p:nvPr/>
        </p:nvSpPr>
        <p:spPr>
          <a:xfrm>
            <a:off x="812800" y="4325714"/>
            <a:ext cx="5181600" cy="1516301"/>
          </a:xfrm>
          <a:prstGeom prst="roundRect">
            <a:avLst>
              <a:gd name="adj" fmla="val 6701"/>
            </a:avLst>
          </a:prstGeom>
          <a:solidFill>
            <a:srgbClr val="17140F"/>
          </a:solidFill>
          <a:ln/>
        </p:spPr>
      </p:sp>
      <p:sp>
        <p:nvSpPr>
          <p:cNvPr id="17" name="Text 15"/>
          <p:cNvSpPr/>
          <p:nvPr/>
        </p:nvSpPr>
        <p:spPr>
          <a:xfrm>
            <a:off x="1066800" y="4579714"/>
            <a:ext cx="4813808" cy="1033701"/>
          </a:xfrm>
          <a:prstGeom prst="rect">
            <a:avLst/>
          </a:prstGeom>
          <a:noFill/>
          <a:ln/>
        </p:spPr>
        <p:txBody>
          <a:bodyPr wrap="square" lIns="0" tIns="0" rIns="0" bIns="0" rtlCol="0" anchor="t">
            <a:normAutofit/>
          </a:bodyPr>
          <a:lstStyle/>
          <a:p>
            <a:pPr marL="0" indent="0" algn="l">
              <a:lnSpc>
                <a:spcPts val="2073"/>
              </a:lnSpc>
              <a:buNone/>
            </a:pPr>
            <a:r>
              <a:rPr lang="en-US" sz="1430" b="1" dirty="0">
                <a:solidFill>
                  <a:srgbClr val="F7F3EA"/>
                </a:solidFill>
                <a:latin typeface="Arial" pitchFamily="34" charset="0"/>
                <a:ea typeface="Arial" pitchFamily="34" charset="-122"/>
                <a:cs typeface="Arial" pitchFamily="34" charset="-120"/>
              </a:rPr>
              <a:t>Scale it.</a:t>
            </a:r>
            <a:r>
              <a:rPr lang="en-US" sz="1430" dirty="0">
                <a:solidFill>
                  <a:srgbClr val="F7F3EA"/>
                </a:solidFill>
                <a:latin typeface="Arial" pitchFamily="34" charset="0"/>
                <a:ea typeface="Arial" pitchFamily="34" charset="-122"/>
                <a:cs typeface="Arial" pitchFamily="34" charset="-120"/>
              </a:rPr>
              <a:t> Corporate video should get its own campaign, its own landing page and its own budget line — targeted at 25–44, which is where offsite decisions are actually made.</a:t>
            </a:r>
            <a:endParaRPr lang="en-US" sz="1430" dirty="0"/>
          </a:p>
        </p:txBody>
      </p:sp>
      <p:sp>
        <p:nvSpPr>
          <p:cNvPr id="18" name="Shape 16"/>
          <p:cNvSpPr/>
          <p:nvPr/>
        </p:nvSpPr>
        <p:spPr>
          <a:xfrm>
            <a:off x="6197600" y="4325714"/>
            <a:ext cx="5181600" cy="1516301"/>
          </a:xfrm>
          <a:prstGeom prst="roundRect">
            <a:avLst>
              <a:gd name="adj" fmla="val 6701"/>
            </a:avLst>
          </a:prstGeom>
          <a:solidFill>
            <a:srgbClr val="17140F"/>
          </a:solidFill>
          <a:ln/>
        </p:spPr>
      </p:sp>
      <p:sp>
        <p:nvSpPr>
          <p:cNvPr id="19" name="Text 17"/>
          <p:cNvSpPr/>
          <p:nvPr/>
        </p:nvSpPr>
        <p:spPr>
          <a:xfrm>
            <a:off x="6451600" y="4579714"/>
            <a:ext cx="4813808" cy="1033701"/>
          </a:xfrm>
          <a:prstGeom prst="rect">
            <a:avLst/>
          </a:prstGeom>
          <a:noFill/>
          <a:ln/>
        </p:spPr>
        <p:txBody>
          <a:bodyPr wrap="square" lIns="0" tIns="0" rIns="0" bIns="0" rtlCol="0" anchor="t">
            <a:normAutofit/>
          </a:bodyPr>
          <a:lstStyle/>
          <a:p>
            <a:pPr marL="0" indent="0" algn="l">
              <a:lnSpc>
                <a:spcPts val="2155"/>
              </a:lnSpc>
              <a:buNone/>
            </a:pPr>
            <a:r>
              <a:rPr lang="en-US" sz="1486" b="1" dirty="0">
                <a:solidFill>
                  <a:srgbClr val="F7F3EA"/>
                </a:solidFill>
                <a:latin typeface="Arial" pitchFamily="34" charset="0"/>
                <a:ea typeface="Arial" pitchFamily="34" charset="-122"/>
                <a:cs typeface="Arial" pitchFamily="34" charset="-120"/>
              </a:rPr>
              <a:t>Split 18–24 out.</a:t>
            </a:r>
            <a:r>
              <a:rPr lang="en-US" sz="1486" dirty="0">
                <a:solidFill>
                  <a:srgbClr val="F7F3EA"/>
                </a:solidFill>
                <a:latin typeface="Arial" pitchFamily="34" charset="0"/>
                <a:ea typeface="Arial" pitchFamily="34" charset="-122"/>
                <a:cs typeface="Arial" pitchFamily="34" charset="-120"/>
              </a:rPr>
              <a:t> They are the audience that films and shares. Fund them as reach and UGC, judged on saves and shares — not as a lead source they will never be.</a:t>
            </a:r>
            <a:endParaRPr lang="en-US" sz="1486" dirty="0"/>
          </a:p>
        </p:txBody>
      </p:sp>
      <p:sp>
        <p:nvSpPr>
          <p:cNvPr id="20" name="Text 18"/>
          <p:cNvSpPr/>
          <p:nvPr/>
        </p:nvSpPr>
        <p:spPr>
          <a:xfrm>
            <a:off x="812800" y="6238255"/>
            <a:ext cx="801383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5A1F"/>
                </a:solidFill>
                <a:latin typeface="Arial" pitchFamily="34" charset="0"/>
                <a:ea typeface="Arial" pitchFamily="34" charset="-122"/>
                <a:cs typeface="Arial" pitchFamily="34" charset="-120"/>
              </a:rPr>
              <a:t>Source: Meta Ads Manager age breakdown, plus the client's own read on which creative drives corporate enquiries.</a:t>
            </a:r>
            <a:endParaRPr lang="en-US" sz="12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6">
    <p:bg>
      <p:bgPr>
        <a:solidFill>
          <a:srgbClr val="F7F3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550228"/>
          </a:xfrm>
          <a:prstGeom prst="rect">
            <a:avLst/>
          </a:prstGeom>
          <a:noFill/>
          <a:ln/>
        </p:spPr>
        <p:txBody>
          <a:bodyPr wrap="square" lIns="0" tIns="0" rIns="0" bIns="0" rtlCol="0" anchor="t">
            <a:normAutofit/>
          </a:bodyPr>
          <a:lstStyle/>
          <a:p>
            <a:pPr marL="0" indent="0" algn="l">
              <a:lnSpc>
                <a:spcPts val="4172"/>
              </a:lnSpc>
              <a:buNone/>
            </a:pPr>
            <a:r>
              <a:rPr lang="en-US" sz="3974" dirty="0">
                <a:solidFill>
                  <a:srgbClr val="17140F"/>
                </a:solidFill>
                <a:latin typeface="Georgia" pitchFamily="34" charset="0"/>
                <a:ea typeface="Georgia" pitchFamily="34" charset="-122"/>
                <a:cs typeface="Georgia" pitchFamily="34" charset="-120"/>
              </a:rPr>
              <a:t>The rain dance is outselling the cave</a:t>
            </a:r>
            <a:endParaRPr lang="en-US" sz="3974" dirty="0"/>
          </a:p>
        </p:txBody>
      </p:sp>
      <p:sp>
        <p:nvSpPr>
          <p:cNvPr id="3" name="Shape 1"/>
          <p:cNvSpPr/>
          <p:nvPr/>
        </p:nvSpPr>
        <p:spPr>
          <a:xfrm>
            <a:off x="812800" y="1617042"/>
            <a:ext cx="4826000" cy="4224973"/>
          </a:xfrm>
          <a:prstGeom prst="roundRect">
            <a:avLst>
              <a:gd name="adj" fmla="val 2405"/>
            </a:avLst>
          </a:prstGeom>
          <a:solidFill>
            <a:srgbClr val="17140F"/>
          </a:solidFill>
          <a:ln/>
        </p:spPr>
      </p:sp>
      <p:sp>
        <p:nvSpPr>
          <p:cNvPr id="4" name="Text 2"/>
          <p:cNvSpPr/>
          <p:nvPr/>
        </p:nvSpPr>
        <p:spPr>
          <a:xfrm>
            <a:off x="1117600" y="1921842"/>
            <a:ext cx="4342892"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C9A63C"/>
                </a:solidFill>
                <a:latin typeface="Arial" pitchFamily="34" charset="0"/>
                <a:ea typeface="Arial" pitchFamily="34" charset="-122"/>
                <a:cs typeface="Arial" pitchFamily="34" charset="-120"/>
              </a:rPr>
              <a:t>What the reviews suggest</a:t>
            </a:r>
            <a:endParaRPr lang="en-US" sz="1800" dirty="0"/>
          </a:p>
        </p:txBody>
      </p:sp>
      <p:sp>
        <p:nvSpPr>
          <p:cNvPr id="5" name="Text 3"/>
          <p:cNvSpPr/>
          <p:nvPr/>
        </p:nvSpPr>
        <p:spPr>
          <a:xfrm>
            <a:off x="1117600" y="2323157"/>
            <a:ext cx="4342892" cy="1130300"/>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F7F3EA"/>
                </a:solidFill>
                <a:latin typeface="Arial" pitchFamily="34" charset="0"/>
                <a:ea typeface="Arial" pitchFamily="34" charset="-122"/>
                <a:cs typeface="Arial" pitchFamily="34" charset="-120"/>
              </a:rPr>
              <a:t>Across thousands of reviews, the rain dance and the pool are cited more often than the cave. Guests are booking a water park that happens to be underground.</a:t>
            </a:r>
            <a:endParaRPr lang="en-US" sz="1500" dirty="0"/>
          </a:p>
        </p:txBody>
      </p:sp>
      <p:sp>
        <p:nvSpPr>
          <p:cNvPr id="6" name="Text 4"/>
          <p:cNvSpPr/>
          <p:nvPr/>
        </p:nvSpPr>
        <p:spPr>
          <a:xfrm>
            <a:off x="1117600" y="3555057"/>
            <a:ext cx="4342892" cy="1130300"/>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A79C89"/>
                </a:solidFill>
                <a:latin typeface="Arial" pitchFamily="34" charset="0"/>
                <a:ea typeface="Arial" pitchFamily="34" charset="-122"/>
                <a:cs typeface="Arial" pitchFamily="34" charset="-120"/>
              </a:rPr>
              <a:t>Thrillophilia even lists the property as "underground location 10 m below ground, </a:t>
            </a:r>
            <a:r>
              <a:rPr lang="en-US" sz="1500" b="1" dirty="0">
                <a:solidFill>
                  <a:srgbClr val="A79C89"/>
                </a:solidFill>
                <a:latin typeface="Arial" pitchFamily="34" charset="0"/>
                <a:ea typeface="Arial" pitchFamily="34" charset="-122"/>
                <a:cs typeface="Arial" pitchFamily="34" charset="-120"/>
              </a:rPr>
              <a:t>with water park</a:t>
            </a:r>
            <a:r>
              <a:rPr lang="en-US" sz="1500" dirty="0">
                <a:solidFill>
                  <a:srgbClr val="A79C89"/>
                </a:solidFill>
                <a:latin typeface="Arial" pitchFamily="34" charset="0"/>
                <a:ea typeface="Arial" pitchFamily="34" charset="-122"/>
                <a:cs typeface="Arial" pitchFamily="34" charset="-120"/>
              </a:rPr>
              <a:t>" — the cave has become the adjective.</a:t>
            </a:r>
            <a:endParaRPr lang="en-US" sz="1500" dirty="0"/>
          </a:p>
        </p:txBody>
      </p:sp>
      <p:sp>
        <p:nvSpPr>
          <p:cNvPr id="7" name="Shape 5"/>
          <p:cNvSpPr/>
          <p:nvPr/>
        </p:nvSpPr>
        <p:spPr>
          <a:xfrm>
            <a:off x="5895975" y="1620217"/>
            <a:ext cx="5480050" cy="1312228"/>
          </a:xfrm>
          <a:prstGeom prst="roundRect">
            <a:avLst>
              <a:gd name="adj" fmla="val 7501"/>
            </a:avLst>
          </a:prstGeom>
          <a:solidFill>
            <a:srgbClr val="FFFFFF"/>
          </a:solidFill>
          <a:ln w="6350">
            <a:solidFill>
              <a:srgbClr val="DDD5C5"/>
            </a:solidFill>
            <a:prstDash val="solid"/>
          </a:ln>
        </p:spPr>
      </p:sp>
      <p:sp>
        <p:nvSpPr>
          <p:cNvPr id="8" name="Text 6"/>
          <p:cNvSpPr/>
          <p:nvPr/>
        </p:nvSpPr>
        <p:spPr>
          <a:xfrm>
            <a:off x="6126480" y="1850703"/>
            <a:ext cx="5169611" cy="229473"/>
          </a:xfrm>
          <a:prstGeom prst="rect">
            <a:avLst/>
          </a:prstGeom>
          <a:noFill/>
          <a:ln/>
        </p:spPr>
        <p:txBody>
          <a:bodyPr wrap="square" lIns="0" tIns="0" rIns="0" bIns="0" rtlCol="0" anchor="t">
            <a:normAutofit/>
          </a:bodyPr>
          <a:lstStyle/>
          <a:p>
            <a:pPr marL="0" indent="0" algn="l">
              <a:lnSpc>
                <a:spcPts val="1620"/>
              </a:lnSpc>
              <a:buNone/>
            </a:pPr>
            <a:r>
              <a:rPr lang="en-US" sz="1350" b="1" dirty="0">
                <a:solidFill>
                  <a:srgbClr val="B54A28"/>
                </a:solidFill>
                <a:latin typeface="Arial" pitchFamily="34" charset="0"/>
                <a:ea typeface="Arial" pitchFamily="34" charset="-122"/>
                <a:cs typeface="Arial" pitchFamily="34" charset="-120"/>
              </a:rPr>
              <a:t>Why it matters commercially</a:t>
            </a:r>
            <a:endParaRPr lang="en-US" sz="1350" dirty="0"/>
          </a:p>
        </p:txBody>
      </p:sp>
      <p:sp>
        <p:nvSpPr>
          <p:cNvPr id="9" name="Text 7"/>
          <p:cNvSpPr/>
          <p:nvPr/>
        </p:nvSpPr>
        <p:spPr>
          <a:xfrm>
            <a:off x="6126480" y="2054796"/>
            <a:ext cx="5169611" cy="672544"/>
          </a:xfrm>
          <a:prstGeom prst="rect">
            <a:avLst/>
          </a:prstGeom>
          <a:noFill/>
          <a:ln/>
        </p:spPr>
        <p:txBody>
          <a:bodyPr wrap="square" lIns="0" tIns="0" rIns="0" bIns="0" rtlCol="0" anchor="t">
            <a:normAutofit/>
          </a:bodyPr>
          <a:lstStyle/>
          <a:p>
            <a:pPr marL="0" indent="0" algn="l">
              <a:lnSpc>
                <a:spcPts val="1706"/>
              </a:lnSpc>
              <a:buNone/>
            </a:pPr>
            <a:r>
              <a:rPr lang="en-US" sz="1177" dirty="0">
                <a:solidFill>
                  <a:srgbClr val="5C5344"/>
                </a:solidFill>
                <a:latin typeface="Arial" pitchFamily="34" charset="0"/>
                <a:ea typeface="Arial" pitchFamily="34" charset="-122"/>
                <a:cs typeface="Arial" pitchFamily="34" charset="-120"/>
              </a:rPr>
              <a:t>A rain dance is a ₹1,499 day ticket sold to a crowd. A cave is an ₹11,300 room, a ₹1,500-a-plate wedding and a corporate booking of the whole property.</a:t>
            </a:r>
            <a:endParaRPr lang="en-US" sz="1177" dirty="0"/>
          </a:p>
        </p:txBody>
      </p:sp>
      <p:sp>
        <p:nvSpPr>
          <p:cNvPr id="10" name="Shape 8"/>
          <p:cNvSpPr/>
          <p:nvPr/>
        </p:nvSpPr>
        <p:spPr>
          <a:xfrm>
            <a:off x="5895975" y="3078485"/>
            <a:ext cx="5480050" cy="1312228"/>
          </a:xfrm>
          <a:prstGeom prst="roundRect">
            <a:avLst>
              <a:gd name="adj" fmla="val 7501"/>
            </a:avLst>
          </a:prstGeom>
          <a:solidFill>
            <a:srgbClr val="FFFFFF"/>
          </a:solidFill>
          <a:ln w="6350">
            <a:solidFill>
              <a:srgbClr val="DDD5C5"/>
            </a:solidFill>
            <a:prstDash val="solid"/>
          </a:ln>
        </p:spPr>
      </p:sp>
      <p:sp>
        <p:nvSpPr>
          <p:cNvPr id="11" name="Text 9"/>
          <p:cNvSpPr/>
          <p:nvPr/>
        </p:nvSpPr>
        <p:spPr>
          <a:xfrm>
            <a:off x="6126480" y="3308995"/>
            <a:ext cx="5169611" cy="229473"/>
          </a:xfrm>
          <a:prstGeom prst="rect">
            <a:avLst/>
          </a:prstGeom>
          <a:noFill/>
          <a:ln/>
        </p:spPr>
        <p:txBody>
          <a:bodyPr wrap="square" lIns="0" tIns="0" rIns="0" bIns="0" rtlCol="0" anchor="t">
            <a:normAutofit/>
          </a:bodyPr>
          <a:lstStyle/>
          <a:p>
            <a:pPr marL="0" indent="0" algn="l">
              <a:lnSpc>
                <a:spcPts val="1620"/>
              </a:lnSpc>
              <a:buNone/>
            </a:pPr>
            <a:r>
              <a:rPr lang="en-US" sz="1350" b="1" dirty="0">
                <a:solidFill>
                  <a:srgbClr val="B54A28"/>
                </a:solidFill>
                <a:latin typeface="Arial" pitchFamily="34" charset="0"/>
                <a:ea typeface="Arial" pitchFamily="34" charset="-122"/>
                <a:cs typeface="Arial" pitchFamily="34" charset="-120"/>
              </a:rPr>
              <a:t>Why it happened</a:t>
            </a:r>
            <a:endParaRPr lang="en-US" sz="1350" dirty="0"/>
          </a:p>
        </p:txBody>
      </p:sp>
      <p:sp>
        <p:nvSpPr>
          <p:cNvPr id="12" name="Text 10"/>
          <p:cNvSpPr/>
          <p:nvPr/>
        </p:nvSpPr>
        <p:spPr>
          <a:xfrm>
            <a:off x="6126480" y="3513063"/>
            <a:ext cx="5169611" cy="672544"/>
          </a:xfrm>
          <a:prstGeom prst="rect">
            <a:avLst/>
          </a:prstGeom>
          <a:noFill/>
          <a:ln/>
        </p:spPr>
        <p:txBody>
          <a:bodyPr wrap="square" lIns="0" tIns="0" rIns="0" bIns="0" rtlCol="0" anchor="t">
            <a:normAutofit/>
          </a:bodyPr>
          <a:lstStyle/>
          <a:p>
            <a:pPr marL="0" indent="0" algn="l">
              <a:lnSpc>
                <a:spcPts val="1821"/>
              </a:lnSpc>
              <a:buNone/>
            </a:pPr>
            <a:r>
              <a:rPr lang="en-US" sz="1256" dirty="0">
                <a:solidFill>
                  <a:srgbClr val="5C5344"/>
                </a:solidFill>
                <a:latin typeface="Arial" pitchFamily="34" charset="0"/>
                <a:ea typeface="Arial" pitchFamily="34" charset="-122"/>
                <a:cs typeface="Arial" pitchFamily="34" charset="-120"/>
              </a:rPr>
              <a:t>The advertising, the website and the booking engine all lead with activities and discounts. Guests are simply buying what they were sold.</a:t>
            </a:r>
            <a:endParaRPr lang="en-US" sz="1256" dirty="0"/>
          </a:p>
        </p:txBody>
      </p:sp>
      <p:sp>
        <p:nvSpPr>
          <p:cNvPr id="13" name="Shape 11"/>
          <p:cNvSpPr/>
          <p:nvPr/>
        </p:nvSpPr>
        <p:spPr>
          <a:xfrm>
            <a:off x="5892800" y="4533578"/>
            <a:ext cx="5486400" cy="1308418"/>
          </a:xfrm>
          <a:prstGeom prst="roundRect">
            <a:avLst>
              <a:gd name="adj" fmla="val 7765"/>
            </a:avLst>
          </a:prstGeom>
          <a:solidFill>
            <a:srgbClr val="E8E1D3"/>
          </a:solidFill>
          <a:ln/>
        </p:spPr>
      </p:sp>
      <p:sp>
        <p:nvSpPr>
          <p:cNvPr id="14" name="Text 12"/>
          <p:cNvSpPr/>
          <p:nvPr/>
        </p:nvSpPr>
        <p:spPr>
          <a:xfrm>
            <a:off x="6121400" y="4762178"/>
            <a:ext cx="5180076" cy="229473"/>
          </a:xfrm>
          <a:prstGeom prst="rect">
            <a:avLst/>
          </a:prstGeom>
          <a:noFill/>
          <a:ln/>
        </p:spPr>
        <p:txBody>
          <a:bodyPr wrap="square" lIns="0" tIns="0" rIns="0" bIns="0" rtlCol="0" anchor="t">
            <a:normAutofit/>
          </a:bodyPr>
          <a:lstStyle/>
          <a:p>
            <a:pPr marL="0" indent="0" algn="l">
              <a:lnSpc>
                <a:spcPts val="1620"/>
              </a:lnSpc>
              <a:buNone/>
            </a:pPr>
            <a:r>
              <a:rPr lang="en-US" sz="1350" b="1" dirty="0">
                <a:solidFill>
                  <a:srgbClr val="17140F"/>
                </a:solidFill>
                <a:latin typeface="Arial" pitchFamily="34" charset="0"/>
                <a:ea typeface="Arial" pitchFamily="34" charset="-122"/>
                <a:cs typeface="Arial" pitchFamily="34" charset="-120"/>
              </a:rPr>
              <a:t>What to verify</a:t>
            </a:r>
            <a:endParaRPr lang="en-US" sz="1350" dirty="0"/>
          </a:p>
        </p:txBody>
      </p:sp>
      <p:sp>
        <p:nvSpPr>
          <p:cNvPr id="15" name="Text 13"/>
          <p:cNvSpPr/>
          <p:nvPr/>
        </p:nvSpPr>
        <p:spPr>
          <a:xfrm>
            <a:off x="6121400" y="4966271"/>
            <a:ext cx="5180076" cy="672544"/>
          </a:xfrm>
          <a:prstGeom prst="rect">
            <a:avLst/>
          </a:prstGeom>
          <a:noFill/>
          <a:ln/>
        </p:spPr>
        <p:txBody>
          <a:bodyPr wrap="square" lIns="0" tIns="0" rIns="0" bIns="0" rtlCol="0" anchor="t">
            <a:normAutofit/>
          </a:bodyPr>
          <a:lstStyle/>
          <a:p>
            <a:pPr marL="0" indent="0" algn="l">
              <a:lnSpc>
                <a:spcPts val="1865"/>
              </a:lnSpc>
              <a:buNone/>
            </a:pPr>
            <a:r>
              <a:rPr lang="en-US" sz="1286" dirty="0">
                <a:solidFill>
                  <a:srgbClr val="5C5344"/>
                </a:solidFill>
                <a:latin typeface="Arial" pitchFamily="34" charset="0"/>
                <a:ea typeface="Arial" pitchFamily="34" charset="-122"/>
                <a:cs typeface="Arial" pitchFamily="34" charset="-120"/>
              </a:rPr>
              <a:t>Booking mix by product — which the client can pull from the booking engine and we cannot. It confirms or kills this reading in an afternoon.</a:t>
            </a:r>
            <a:endParaRPr lang="en-US" sz="1286" dirty="0"/>
          </a:p>
        </p:txBody>
      </p:sp>
      <p:sp>
        <p:nvSpPr>
          <p:cNvPr id="16" name="Text 14"/>
          <p:cNvSpPr/>
          <p:nvPr/>
        </p:nvSpPr>
        <p:spPr>
          <a:xfrm>
            <a:off x="812800" y="6238255"/>
            <a:ext cx="660533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071"/>
                </a:solidFill>
                <a:latin typeface="Arial" pitchFamily="34" charset="0"/>
                <a:ea typeface="Arial" pitchFamily="34" charset="-122"/>
                <a:cs typeface="Arial" pitchFamily="34" charset="-120"/>
              </a:rPr>
              <a:t>A reading of review themes, not a measured split. Flagged for verification against booking data.</a:t>
            </a:r>
            <a:endParaRPr lang="en-US" sz="12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57">
    <p:bg>
      <p:bgPr>
        <a:solidFill>
          <a:srgbClr val="17140F"/>
        </a:solidFill>
        <a:effectLst/>
      </p:bgPr>
    </p:bg>
    <p:spTree>
      <p:nvGrpSpPr>
        <p:cNvPr id="1" name=""/>
        <p:cNvGrpSpPr/>
        <p:nvPr/>
      </p:nvGrpSpPr>
      <p:grpSpPr>
        <a:xfrm>
          <a:off x="0" y="0"/>
          <a:ext cx="0" cy="0"/>
          <a:chOff x="0" y="0"/>
          <a:chExt cx="0" cy="0"/>
        </a:xfrm>
      </p:grpSpPr>
      <p:sp>
        <p:nvSpPr>
          <p:cNvPr id="2" name="Text 0"/>
          <p:cNvSpPr/>
          <p:nvPr/>
        </p:nvSpPr>
        <p:spPr>
          <a:xfrm>
            <a:off x="812800" y="812800"/>
            <a:ext cx="10464800" cy="2699385"/>
          </a:xfrm>
          <a:prstGeom prst="rect">
            <a:avLst/>
          </a:prstGeom>
          <a:noFill/>
          <a:ln/>
        </p:spPr>
        <p:txBody>
          <a:bodyPr wrap="square" lIns="0" tIns="0" rIns="0" bIns="0" rtlCol="0" anchor="t">
            <a:normAutofit/>
          </a:bodyPr>
          <a:lstStyle/>
          <a:p>
            <a:pPr marL="0" indent="0" algn="l">
              <a:lnSpc>
                <a:spcPts val="5265"/>
              </a:lnSpc>
              <a:buNone/>
            </a:pPr>
            <a:r>
              <a:rPr lang="en-US" sz="4875" dirty="0">
                <a:solidFill>
                  <a:srgbClr val="F7F3EA"/>
                </a:solidFill>
                <a:latin typeface="Georgia" pitchFamily="34" charset="0"/>
                <a:ea typeface="Georgia" pitchFamily="34" charset="-122"/>
                <a:cs typeface="Georgia" pitchFamily="34" charset="-120"/>
              </a:rPr>
              <a:t>Every fault in this deck has the same shape: Guhantara is selling its amenities and giving away its architecture.</a:t>
            </a:r>
            <a:endParaRPr lang="en-US" sz="4875" dirty="0"/>
          </a:p>
        </p:txBody>
      </p:sp>
      <p:sp>
        <p:nvSpPr>
          <p:cNvPr id="3" name="Shape 1"/>
          <p:cNvSpPr/>
          <p:nvPr/>
        </p:nvSpPr>
        <p:spPr>
          <a:xfrm>
            <a:off x="815975" y="3769370"/>
            <a:ext cx="2501900" cy="1156732"/>
          </a:xfrm>
          <a:prstGeom prst="roundRect">
            <a:avLst>
              <a:gd name="adj" fmla="val 8509"/>
            </a:avLst>
          </a:prstGeom>
          <a:solidFill>
            <a:srgbClr val="221E18"/>
          </a:solidFill>
          <a:ln w="6350">
            <a:solidFill>
              <a:srgbClr val="3A342A"/>
            </a:solidFill>
            <a:prstDash val="solid"/>
          </a:ln>
        </p:spPr>
      </p:sp>
      <p:sp>
        <p:nvSpPr>
          <p:cNvPr id="4" name="Text 2"/>
          <p:cNvSpPr/>
          <p:nvPr/>
        </p:nvSpPr>
        <p:spPr>
          <a:xfrm>
            <a:off x="1046480" y="3999880"/>
            <a:ext cx="2102117" cy="541020"/>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A79C89"/>
                </a:solidFill>
                <a:latin typeface="Arial" pitchFamily="34" charset="0"/>
                <a:ea typeface="Arial" pitchFamily="34" charset="-122"/>
                <a:cs typeface="Arial" pitchFamily="34" charset="-120"/>
              </a:rPr>
              <a:t>The </a:t>
            </a:r>
            <a:r>
              <a:rPr lang="en-US" sz="1400" b="1" dirty="0">
                <a:solidFill>
                  <a:srgbClr val="A79C89"/>
                </a:solidFill>
                <a:latin typeface="Arial" pitchFamily="34" charset="0"/>
                <a:ea typeface="Arial" pitchFamily="34" charset="-122"/>
                <a:cs typeface="Arial" pitchFamily="34" charset="-120"/>
              </a:rPr>
              <a:t>ads</a:t>
            </a:r>
            <a:r>
              <a:rPr lang="en-US" sz="1400" dirty="0">
                <a:solidFill>
                  <a:srgbClr val="A79C89"/>
                </a:solidFill>
                <a:latin typeface="Arial" pitchFamily="34" charset="0"/>
                <a:ea typeface="Arial" pitchFamily="34" charset="-122"/>
                <a:cs typeface="Arial" pitchFamily="34" charset="-120"/>
              </a:rPr>
              <a:t> lead with price and activity count</a:t>
            </a:r>
            <a:endParaRPr lang="en-US" sz="1400" dirty="0"/>
          </a:p>
        </p:txBody>
      </p:sp>
      <p:sp>
        <p:nvSpPr>
          <p:cNvPr id="5" name="Shape 3"/>
          <p:cNvSpPr/>
          <p:nvPr/>
        </p:nvSpPr>
        <p:spPr>
          <a:xfrm>
            <a:off x="3502025" y="3769370"/>
            <a:ext cx="2501900" cy="1156732"/>
          </a:xfrm>
          <a:prstGeom prst="roundRect">
            <a:avLst>
              <a:gd name="adj" fmla="val 8509"/>
            </a:avLst>
          </a:prstGeom>
          <a:solidFill>
            <a:srgbClr val="221E18"/>
          </a:solidFill>
          <a:ln w="6350">
            <a:solidFill>
              <a:srgbClr val="3A342A"/>
            </a:solidFill>
            <a:prstDash val="solid"/>
          </a:ln>
        </p:spPr>
      </p:sp>
      <p:sp>
        <p:nvSpPr>
          <p:cNvPr id="6" name="Text 4"/>
          <p:cNvSpPr/>
          <p:nvPr/>
        </p:nvSpPr>
        <p:spPr>
          <a:xfrm>
            <a:off x="3732530" y="3999880"/>
            <a:ext cx="2102117" cy="541020"/>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A79C89"/>
                </a:solidFill>
                <a:latin typeface="Arial" pitchFamily="34" charset="0"/>
                <a:ea typeface="Arial" pitchFamily="34" charset="-122"/>
                <a:cs typeface="Arial" pitchFamily="34" charset="-120"/>
              </a:rPr>
              <a:t>The </a:t>
            </a:r>
            <a:r>
              <a:rPr lang="en-US" sz="1400" b="1" dirty="0">
                <a:solidFill>
                  <a:srgbClr val="A79C89"/>
                </a:solidFill>
                <a:latin typeface="Arial" pitchFamily="34" charset="0"/>
                <a:ea typeface="Arial" pitchFamily="34" charset="-122"/>
                <a:cs typeface="Arial" pitchFamily="34" charset="-120"/>
              </a:rPr>
              <a:t>website</a:t>
            </a:r>
            <a:r>
              <a:rPr lang="en-US" sz="1400" dirty="0">
                <a:solidFill>
                  <a:srgbClr val="A79C89"/>
                </a:solidFill>
                <a:latin typeface="Arial" pitchFamily="34" charset="0"/>
                <a:ea typeface="Arial" pitchFamily="34" charset="-122"/>
                <a:cs typeface="Arial" pitchFamily="34" charset="-120"/>
              </a:rPr>
              <a:t> leads with a discount code</a:t>
            </a:r>
            <a:endParaRPr lang="en-US" sz="1400" dirty="0"/>
          </a:p>
        </p:txBody>
      </p:sp>
      <p:sp>
        <p:nvSpPr>
          <p:cNvPr id="7" name="Shape 5"/>
          <p:cNvSpPr/>
          <p:nvPr/>
        </p:nvSpPr>
        <p:spPr>
          <a:xfrm>
            <a:off x="6188075" y="3769370"/>
            <a:ext cx="2501900" cy="1156732"/>
          </a:xfrm>
          <a:prstGeom prst="roundRect">
            <a:avLst>
              <a:gd name="adj" fmla="val 8509"/>
            </a:avLst>
          </a:prstGeom>
          <a:solidFill>
            <a:srgbClr val="221E18"/>
          </a:solidFill>
          <a:ln w="6350">
            <a:solidFill>
              <a:srgbClr val="3A342A"/>
            </a:solidFill>
            <a:prstDash val="solid"/>
          </a:ln>
        </p:spPr>
      </p:sp>
      <p:sp>
        <p:nvSpPr>
          <p:cNvPr id="8" name="Text 6"/>
          <p:cNvSpPr/>
          <p:nvPr/>
        </p:nvSpPr>
        <p:spPr>
          <a:xfrm>
            <a:off x="6418580" y="3999880"/>
            <a:ext cx="2102117" cy="721122"/>
          </a:xfrm>
          <a:prstGeom prst="rect">
            <a:avLst/>
          </a:prstGeom>
          <a:noFill/>
          <a:ln/>
        </p:spPr>
        <p:txBody>
          <a:bodyPr wrap="square" lIns="0" tIns="0" rIns="0" bIns="0" rtlCol="0" anchor="t">
            <a:normAutofit/>
          </a:bodyPr>
          <a:lstStyle/>
          <a:p>
            <a:pPr marL="0" indent="0" algn="l">
              <a:lnSpc>
                <a:spcPts val="1840"/>
              </a:lnSpc>
              <a:buNone/>
            </a:pPr>
            <a:r>
              <a:rPr lang="en-US" sz="1269" dirty="0">
                <a:solidFill>
                  <a:srgbClr val="A79C89"/>
                </a:solidFill>
                <a:latin typeface="Arial" pitchFamily="34" charset="0"/>
                <a:ea typeface="Arial" pitchFamily="34" charset="-122"/>
                <a:cs typeface="Arial" pitchFamily="34" charset="-120"/>
              </a:rPr>
              <a:t>The </a:t>
            </a:r>
            <a:r>
              <a:rPr lang="en-US" sz="1269" b="1" dirty="0">
                <a:solidFill>
                  <a:srgbClr val="A79C89"/>
                </a:solidFill>
                <a:latin typeface="Arial" pitchFamily="34" charset="0"/>
                <a:ea typeface="Arial" pitchFamily="34" charset="-122"/>
                <a:cs typeface="Arial" pitchFamily="34" charset="-120"/>
              </a:rPr>
              <a:t>booking engine</a:t>
            </a:r>
            <a:r>
              <a:rPr lang="en-US" sz="1269" dirty="0">
                <a:solidFill>
                  <a:srgbClr val="A79C89"/>
                </a:solidFill>
                <a:latin typeface="Arial" pitchFamily="34" charset="0"/>
                <a:ea typeface="Arial" pitchFamily="34" charset="-122"/>
                <a:cs typeface="Arial" pitchFamily="34" charset="-120"/>
              </a:rPr>
              <a:t> discounts before a room is chosen</a:t>
            </a:r>
            <a:endParaRPr lang="en-US" sz="1269" dirty="0"/>
          </a:p>
        </p:txBody>
      </p:sp>
      <p:sp>
        <p:nvSpPr>
          <p:cNvPr id="9" name="Shape 7"/>
          <p:cNvSpPr/>
          <p:nvPr/>
        </p:nvSpPr>
        <p:spPr>
          <a:xfrm>
            <a:off x="8874125" y="3769370"/>
            <a:ext cx="2501900" cy="1156732"/>
          </a:xfrm>
          <a:prstGeom prst="roundRect">
            <a:avLst>
              <a:gd name="adj" fmla="val 8509"/>
            </a:avLst>
          </a:prstGeom>
          <a:solidFill>
            <a:srgbClr val="221E18"/>
          </a:solidFill>
          <a:ln w="6350">
            <a:solidFill>
              <a:srgbClr val="3A342A"/>
            </a:solidFill>
            <a:prstDash val="solid"/>
          </a:ln>
        </p:spPr>
      </p:sp>
      <p:sp>
        <p:nvSpPr>
          <p:cNvPr id="10" name="Text 8"/>
          <p:cNvSpPr/>
          <p:nvPr/>
        </p:nvSpPr>
        <p:spPr>
          <a:xfrm>
            <a:off x="9104630" y="3999880"/>
            <a:ext cx="2102117" cy="541020"/>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A79C89"/>
                </a:solidFill>
                <a:latin typeface="Arial" pitchFamily="34" charset="0"/>
                <a:ea typeface="Arial" pitchFamily="34" charset="-122"/>
                <a:cs typeface="Arial" pitchFamily="34" charset="-120"/>
              </a:rPr>
              <a:t>The </a:t>
            </a:r>
            <a:r>
              <a:rPr lang="en-US" sz="1400" b="1" dirty="0">
                <a:solidFill>
                  <a:srgbClr val="A79C89"/>
                </a:solidFill>
                <a:latin typeface="Arial" pitchFamily="34" charset="0"/>
                <a:ea typeface="Arial" pitchFamily="34" charset="-122"/>
                <a:cs typeface="Arial" pitchFamily="34" charset="-120"/>
              </a:rPr>
              <a:t>guests</a:t>
            </a:r>
            <a:r>
              <a:rPr lang="en-US" sz="1400" dirty="0">
                <a:solidFill>
                  <a:srgbClr val="A79C89"/>
                </a:solidFill>
                <a:latin typeface="Arial" pitchFamily="34" charset="0"/>
                <a:ea typeface="Arial" pitchFamily="34" charset="-122"/>
                <a:cs typeface="Arial" pitchFamily="34" charset="-120"/>
              </a:rPr>
              <a:t> come for the rain dance</a:t>
            </a:r>
            <a:endParaRPr lang="en-US" sz="1400" dirty="0"/>
          </a:p>
        </p:txBody>
      </p:sp>
      <p:sp>
        <p:nvSpPr>
          <p:cNvPr id="11" name="Text 9"/>
          <p:cNvSpPr/>
          <p:nvPr/>
        </p:nvSpPr>
        <p:spPr>
          <a:xfrm>
            <a:off x="812800" y="5208662"/>
            <a:ext cx="10333990" cy="658733"/>
          </a:xfrm>
          <a:prstGeom prst="rect">
            <a:avLst/>
          </a:prstGeom>
          <a:noFill/>
          <a:ln/>
        </p:spPr>
        <p:txBody>
          <a:bodyPr wrap="square" lIns="0" tIns="0" rIns="0" bIns="0" rtlCol="0" anchor="t">
            <a:normAutofit/>
          </a:bodyPr>
          <a:lstStyle/>
          <a:p>
            <a:pPr marL="0" indent="0" algn="l">
              <a:lnSpc>
                <a:spcPts val="2510"/>
              </a:lnSpc>
              <a:buNone/>
            </a:pPr>
            <a:r>
              <a:rPr lang="en-US" sz="1793" dirty="0">
                <a:solidFill>
                  <a:srgbClr val="C9A63C"/>
                </a:solidFill>
                <a:latin typeface="Arial" pitchFamily="34" charset="0"/>
                <a:ea typeface="Arial" pitchFamily="34" charset="-122"/>
                <a:cs typeface="Arial" pitchFamily="34" charset="-120"/>
              </a:rPr>
              <a:t>Nobody in that chain is doing anything wrong. They are all following the same instruction, which was set years ago and has never been revisited.</a:t>
            </a:r>
            <a:endParaRPr lang="en-US" sz="1793" dirty="0"/>
          </a:p>
        </p:txBody>
      </p:sp>
      <p:sp>
        <p:nvSpPr>
          <p:cNvPr id="12" name="Text 10"/>
          <p:cNvSpPr/>
          <p:nvPr/>
        </p:nvSpPr>
        <p:spPr>
          <a:xfrm>
            <a:off x="812800" y="6238255"/>
            <a:ext cx="407505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071"/>
                </a:solidFill>
                <a:latin typeface="Arial" pitchFamily="34" charset="0"/>
                <a:ea typeface="Arial" pitchFamily="34" charset="-122"/>
                <a:cs typeface="Arial" pitchFamily="34" charset="-120"/>
              </a:rPr>
              <a:t>The next slide is the decision that changes all four at once.</a:t>
            </a:r>
            <a:endParaRPr lang="en-US" sz="12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58">
    <p:bg>
      <p:bgPr>
        <a:solidFill>
          <a:srgbClr val="F7F3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546656"/>
          </a:xfrm>
          <a:prstGeom prst="rect">
            <a:avLst/>
          </a:prstGeom>
          <a:noFill/>
          <a:ln/>
        </p:spPr>
        <p:txBody>
          <a:bodyPr wrap="square" lIns="0" tIns="0" rIns="0" bIns="0" rtlCol="0" anchor="t">
            <a:normAutofit/>
          </a:bodyPr>
          <a:lstStyle/>
          <a:p>
            <a:pPr marL="0" indent="0" algn="l">
              <a:lnSpc>
                <a:spcPts val="4115"/>
              </a:lnSpc>
              <a:buNone/>
            </a:pPr>
            <a:r>
              <a:rPr lang="en-US" sz="3919" dirty="0">
                <a:solidFill>
                  <a:srgbClr val="17140F"/>
                </a:solidFill>
                <a:latin typeface="Georgia" pitchFamily="34" charset="0"/>
                <a:ea typeface="Georgia" pitchFamily="34" charset="-122"/>
                <a:cs typeface="Georgia" pitchFamily="34" charset="-120"/>
              </a:rPr>
              <a:t>Three territories. One decision.</a:t>
            </a:r>
            <a:endParaRPr lang="en-US" sz="3919" dirty="0"/>
          </a:p>
        </p:txBody>
      </p:sp>
      <p:sp>
        <p:nvSpPr>
          <p:cNvPr id="3" name="Shape 1"/>
          <p:cNvSpPr/>
          <p:nvPr/>
        </p:nvSpPr>
        <p:spPr>
          <a:xfrm>
            <a:off x="815975" y="1591246"/>
            <a:ext cx="3400584" cy="2700417"/>
          </a:xfrm>
          <a:prstGeom prst="roundRect">
            <a:avLst>
              <a:gd name="adj" fmla="val 3645"/>
            </a:avLst>
          </a:prstGeom>
          <a:solidFill>
            <a:srgbClr val="FFFFFF"/>
          </a:solidFill>
          <a:ln w="6350">
            <a:solidFill>
              <a:srgbClr val="DDD5C5"/>
            </a:solidFill>
            <a:prstDash val="solid"/>
          </a:ln>
        </p:spPr>
      </p:sp>
      <p:sp>
        <p:nvSpPr>
          <p:cNvPr id="4" name="Text 2"/>
          <p:cNvSpPr/>
          <p:nvPr/>
        </p:nvSpPr>
        <p:spPr>
          <a:xfrm>
            <a:off x="1071880" y="1847131"/>
            <a:ext cx="2975437" cy="242570"/>
          </a:xfrm>
          <a:prstGeom prst="rect">
            <a:avLst/>
          </a:prstGeom>
          <a:noFill/>
          <a:ln/>
        </p:spPr>
        <p:txBody>
          <a:bodyPr wrap="square" lIns="0" tIns="0" rIns="0" bIns="0" rtlCol="0" anchor="t">
            <a:normAutofit/>
          </a:bodyPr>
          <a:lstStyle/>
          <a:p>
            <a:pPr marL="0" indent="0" algn="l">
              <a:lnSpc>
                <a:spcPts val="1723"/>
              </a:lnSpc>
              <a:buNone/>
            </a:pPr>
            <a:r>
              <a:rPr lang="en-US" sz="1231" dirty="0">
                <a:solidFill>
                  <a:srgbClr val="8A8071"/>
                </a:solidFill>
                <a:latin typeface="Arial" pitchFamily="34" charset="0"/>
                <a:ea typeface="Arial" pitchFamily="34" charset="-122"/>
                <a:cs typeface="Arial" pitchFamily="34" charset="-120"/>
              </a:rPr>
              <a:t>One</a:t>
            </a:r>
            <a:endParaRPr lang="en-US" sz="1231" dirty="0"/>
          </a:p>
        </p:txBody>
      </p:sp>
      <p:sp>
        <p:nvSpPr>
          <p:cNvPr id="5" name="Text 3"/>
          <p:cNvSpPr/>
          <p:nvPr/>
        </p:nvSpPr>
        <p:spPr>
          <a:xfrm>
            <a:off x="1071880" y="2153221"/>
            <a:ext cx="2975437" cy="297418"/>
          </a:xfrm>
          <a:prstGeom prst="rect">
            <a:avLst/>
          </a:prstGeom>
          <a:noFill/>
          <a:ln/>
        </p:spPr>
        <p:txBody>
          <a:bodyPr wrap="square" lIns="0" tIns="0" rIns="0" bIns="0" rtlCol="0" anchor="t">
            <a:normAutofit/>
          </a:bodyPr>
          <a:lstStyle/>
          <a:p>
            <a:pPr marL="0" indent="0" algn="l">
              <a:lnSpc>
                <a:spcPts val="2173"/>
              </a:lnSpc>
              <a:buNone/>
            </a:pPr>
            <a:r>
              <a:rPr lang="en-US" sz="1811" b="1" dirty="0">
                <a:solidFill>
                  <a:srgbClr val="17140F"/>
                </a:solidFill>
                <a:latin typeface="Arial" pitchFamily="34" charset="0"/>
                <a:ea typeface="Arial" pitchFamily="34" charset="-122"/>
                <a:cs typeface="Arial" pitchFamily="34" charset="-120"/>
              </a:rPr>
              <a:t>The Other Bangalore</a:t>
            </a:r>
            <a:endParaRPr lang="en-US" sz="1811" dirty="0"/>
          </a:p>
        </p:txBody>
      </p:sp>
      <p:sp>
        <p:nvSpPr>
          <p:cNvPr id="6" name="Text 4"/>
          <p:cNvSpPr/>
          <p:nvPr/>
        </p:nvSpPr>
        <p:spPr>
          <a:xfrm>
            <a:off x="1071880" y="2514129"/>
            <a:ext cx="2975437" cy="726122"/>
          </a:xfrm>
          <a:prstGeom prst="rect">
            <a:avLst/>
          </a:prstGeom>
          <a:noFill/>
          <a:ln/>
        </p:spPr>
        <p:txBody>
          <a:bodyPr wrap="square" lIns="0" tIns="0" rIns="0" bIns="0" rtlCol="0" anchor="t">
            <a:normAutofit/>
          </a:bodyPr>
          <a:lstStyle/>
          <a:p>
            <a:pPr marL="0" indent="0" algn="l">
              <a:lnSpc>
                <a:spcPts val="1841"/>
              </a:lnSpc>
              <a:buNone/>
            </a:pPr>
            <a:r>
              <a:rPr lang="en-US" sz="1270" dirty="0">
                <a:solidFill>
                  <a:srgbClr val="5C5344"/>
                </a:solidFill>
                <a:latin typeface="Arial" pitchFamily="34" charset="0"/>
                <a:ea typeface="Arial" pitchFamily="34" charset="-122"/>
                <a:cs typeface="Arial" pitchFamily="34" charset="-120"/>
              </a:rPr>
              <a:t>The city's opposite, 35 km away. Cool, dark, quiet. The cave as relief, not novelty.</a:t>
            </a:r>
            <a:endParaRPr lang="en-US" sz="1270" dirty="0"/>
          </a:p>
        </p:txBody>
      </p:sp>
      <p:sp>
        <p:nvSpPr>
          <p:cNvPr id="7" name="Text 5"/>
          <p:cNvSpPr/>
          <p:nvPr/>
        </p:nvSpPr>
        <p:spPr>
          <a:xfrm>
            <a:off x="1071880" y="3303761"/>
            <a:ext cx="2975437" cy="250904"/>
          </a:xfrm>
          <a:prstGeom prst="rect">
            <a:avLst/>
          </a:prstGeom>
          <a:noFill/>
          <a:ln/>
        </p:spPr>
        <p:txBody>
          <a:bodyPr wrap="square" lIns="0" tIns="0" rIns="0" bIns="0" rtlCol="0" anchor="t">
            <a:normAutofit/>
          </a:bodyPr>
          <a:lstStyle/>
          <a:p>
            <a:pPr marL="0" indent="0" algn="l">
              <a:lnSpc>
                <a:spcPts val="1819"/>
              </a:lnSpc>
              <a:buNone/>
            </a:pPr>
            <a:r>
              <a:rPr lang="en-US" sz="1299" i="1" dirty="0">
                <a:solidFill>
                  <a:srgbClr val="17140F"/>
                </a:solidFill>
                <a:latin typeface="Arial" pitchFamily="34" charset="0"/>
                <a:ea typeface="Arial" pitchFamily="34" charset="-122"/>
                <a:cs typeface="Arial" pitchFamily="34" charset="-120"/>
              </a:rPr>
              <a:t>"Bangalore, but underground."</a:t>
            </a:r>
            <a:endParaRPr lang="en-US" sz="1299" dirty="0"/>
          </a:p>
        </p:txBody>
      </p:sp>
      <p:sp>
        <p:nvSpPr>
          <p:cNvPr id="8" name="Text 6"/>
          <p:cNvSpPr/>
          <p:nvPr/>
        </p:nvSpPr>
        <p:spPr>
          <a:xfrm>
            <a:off x="1071880" y="3618161"/>
            <a:ext cx="2975437" cy="442992"/>
          </a:xfrm>
          <a:prstGeom prst="rect">
            <a:avLst/>
          </a:prstGeom>
          <a:noFill/>
          <a:ln/>
        </p:spPr>
        <p:txBody>
          <a:bodyPr wrap="square" lIns="0" tIns="0" rIns="0" bIns="0" rtlCol="0" anchor="t">
            <a:normAutofit/>
          </a:bodyPr>
          <a:lstStyle/>
          <a:p>
            <a:pPr marL="0" indent="0" algn="l">
              <a:lnSpc>
                <a:spcPts val="1657"/>
              </a:lnSpc>
              <a:buNone/>
            </a:pPr>
            <a:r>
              <a:rPr lang="en-US" sz="1184" dirty="0">
                <a:solidFill>
                  <a:srgbClr val="8A8071"/>
                </a:solidFill>
                <a:latin typeface="Arial" pitchFamily="34" charset="0"/>
                <a:ea typeface="Arial" pitchFamily="34" charset="-122"/>
                <a:cs typeface="Arial" pitchFamily="34" charset="-120"/>
              </a:rPr>
              <a:t>Safest. Argues against the day-out crowd that currently pays the bills.</a:t>
            </a:r>
            <a:endParaRPr lang="en-US" sz="1184" dirty="0"/>
          </a:p>
        </p:txBody>
      </p:sp>
      <p:sp>
        <p:nvSpPr>
          <p:cNvPr id="9" name="Shape 7"/>
          <p:cNvSpPr/>
          <p:nvPr/>
        </p:nvSpPr>
        <p:spPr>
          <a:xfrm>
            <a:off x="4400709" y="1591246"/>
            <a:ext cx="3400663" cy="2700417"/>
          </a:xfrm>
          <a:prstGeom prst="roundRect">
            <a:avLst>
              <a:gd name="adj" fmla="val 3645"/>
            </a:avLst>
          </a:prstGeom>
          <a:solidFill>
            <a:srgbClr val="FFFFFF"/>
          </a:solidFill>
          <a:ln w="6350">
            <a:solidFill>
              <a:srgbClr val="DDD5C5"/>
            </a:solidFill>
            <a:prstDash val="solid"/>
          </a:ln>
        </p:spPr>
      </p:sp>
      <p:sp>
        <p:nvSpPr>
          <p:cNvPr id="10" name="Text 8"/>
          <p:cNvSpPr/>
          <p:nvPr/>
        </p:nvSpPr>
        <p:spPr>
          <a:xfrm>
            <a:off x="4656614" y="1847131"/>
            <a:ext cx="2975519" cy="220345"/>
          </a:xfrm>
          <a:prstGeom prst="rect">
            <a:avLst/>
          </a:prstGeom>
          <a:noFill/>
          <a:ln/>
        </p:spPr>
        <p:txBody>
          <a:bodyPr wrap="square" lIns="0" tIns="0" rIns="0" bIns="0" rtlCol="0" anchor="t">
            <a:normAutofit/>
          </a:bodyPr>
          <a:lstStyle/>
          <a:p>
            <a:pPr marL="0" indent="0" algn="l">
              <a:lnSpc>
                <a:spcPts val="1570"/>
              </a:lnSpc>
              <a:buNone/>
            </a:pPr>
            <a:r>
              <a:rPr lang="en-US" sz="1121" dirty="0">
                <a:solidFill>
                  <a:srgbClr val="8A8071"/>
                </a:solidFill>
                <a:latin typeface="Arial" pitchFamily="34" charset="0"/>
                <a:ea typeface="Arial" pitchFamily="34" charset="-122"/>
                <a:cs typeface="Arial" pitchFamily="34" charset="-120"/>
              </a:rPr>
              <a:t>Two</a:t>
            </a:r>
            <a:endParaRPr lang="en-US" sz="1121" dirty="0"/>
          </a:p>
        </p:txBody>
      </p:sp>
      <p:sp>
        <p:nvSpPr>
          <p:cNvPr id="11" name="Text 9"/>
          <p:cNvSpPr/>
          <p:nvPr/>
        </p:nvSpPr>
        <p:spPr>
          <a:xfrm>
            <a:off x="4656614" y="2130996"/>
            <a:ext cx="2975519" cy="269637"/>
          </a:xfrm>
          <a:prstGeom prst="rect">
            <a:avLst/>
          </a:prstGeom>
          <a:noFill/>
          <a:ln/>
        </p:spPr>
        <p:txBody>
          <a:bodyPr wrap="square" lIns="0" tIns="0" rIns="0" bIns="0" rtlCol="0" anchor="t">
            <a:normAutofit/>
          </a:bodyPr>
          <a:lstStyle/>
          <a:p>
            <a:pPr marL="0" indent="0" algn="l">
              <a:lnSpc>
                <a:spcPts val="1924"/>
              </a:lnSpc>
              <a:buNone/>
            </a:pPr>
            <a:r>
              <a:rPr lang="en-US" sz="1603" b="1" dirty="0">
                <a:solidFill>
                  <a:srgbClr val="17140F"/>
                </a:solidFill>
                <a:latin typeface="Arial" pitchFamily="34" charset="0"/>
                <a:ea typeface="Arial" pitchFamily="34" charset="-122"/>
                <a:cs typeface="Arial" pitchFamily="34" charset="-120"/>
              </a:rPr>
              <a:t>India's First</a:t>
            </a:r>
            <a:endParaRPr lang="en-US" sz="1603" dirty="0"/>
          </a:p>
        </p:txBody>
      </p:sp>
      <p:sp>
        <p:nvSpPr>
          <p:cNvPr id="12" name="Text 10"/>
          <p:cNvSpPr/>
          <p:nvPr/>
        </p:nvSpPr>
        <p:spPr>
          <a:xfrm>
            <a:off x="4656614" y="2464122"/>
            <a:ext cx="2975519" cy="654447"/>
          </a:xfrm>
          <a:prstGeom prst="rect">
            <a:avLst/>
          </a:prstGeom>
          <a:noFill/>
          <a:ln/>
        </p:spPr>
        <p:txBody>
          <a:bodyPr wrap="square" lIns="0" tIns="0" rIns="0" bIns="0" rtlCol="0" anchor="t">
            <a:normAutofit/>
          </a:bodyPr>
          <a:lstStyle/>
          <a:p>
            <a:pPr marL="0" indent="0" algn="l">
              <a:lnSpc>
                <a:spcPts val="1658"/>
              </a:lnSpc>
              <a:buNone/>
            </a:pPr>
            <a:r>
              <a:rPr lang="en-US" sz="1143" dirty="0">
                <a:solidFill>
                  <a:srgbClr val="5C5344"/>
                </a:solidFill>
                <a:latin typeface="Arial" pitchFamily="34" charset="0"/>
                <a:ea typeface="Arial" pitchFamily="34" charset="-122"/>
                <a:cs typeface="Arial" pitchFamily="34" charset="-120"/>
              </a:rPr>
              <a:t>Own the history. A piece of Karnataka engineering nobody has repeated in over a decade.</a:t>
            </a:r>
            <a:endParaRPr lang="en-US" sz="1143" dirty="0"/>
          </a:p>
        </p:txBody>
      </p:sp>
      <p:sp>
        <p:nvSpPr>
          <p:cNvPr id="13" name="Text 11"/>
          <p:cNvSpPr/>
          <p:nvPr/>
        </p:nvSpPr>
        <p:spPr>
          <a:xfrm>
            <a:off x="4656614" y="3182069"/>
            <a:ext cx="2975519" cy="227806"/>
          </a:xfrm>
          <a:prstGeom prst="rect">
            <a:avLst/>
          </a:prstGeom>
          <a:noFill/>
          <a:ln/>
        </p:spPr>
        <p:txBody>
          <a:bodyPr wrap="square" lIns="0" tIns="0" rIns="0" bIns="0" rtlCol="0" anchor="t">
            <a:normAutofit/>
          </a:bodyPr>
          <a:lstStyle/>
          <a:p>
            <a:pPr marL="0" indent="0" algn="l">
              <a:lnSpc>
                <a:spcPts val="1624"/>
              </a:lnSpc>
              <a:buNone/>
            </a:pPr>
            <a:r>
              <a:rPr lang="en-US" sz="1160" i="1" dirty="0">
                <a:solidFill>
                  <a:srgbClr val="17140F"/>
                </a:solidFill>
                <a:latin typeface="Arial" pitchFamily="34" charset="0"/>
                <a:ea typeface="Arial" pitchFamily="34" charset="-122"/>
                <a:cs typeface="Arial" pitchFamily="34" charset="-120"/>
              </a:rPr>
              <a:t>"There is only one."</a:t>
            </a:r>
            <a:endParaRPr lang="en-US" sz="1160" dirty="0"/>
          </a:p>
        </p:txBody>
      </p:sp>
      <p:sp>
        <p:nvSpPr>
          <p:cNvPr id="14" name="Text 12"/>
          <p:cNvSpPr/>
          <p:nvPr/>
        </p:nvSpPr>
        <p:spPr>
          <a:xfrm>
            <a:off x="4656614" y="3473376"/>
            <a:ext cx="2975519" cy="587772"/>
          </a:xfrm>
          <a:prstGeom prst="rect">
            <a:avLst/>
          </a:prstGeom>
          <a:noFill/>
          <a:ln/>
        </p:spPr>
        <p:txBody>
          <a:bodyPr wrap="square" lIns="0" tIns="0" rIns="0" bIns="0" rtlCol="0" anchor="t">
            <a:normAutofit/>
          </a:bodyPr>
          <a:lstStyle/>
          <a:p>
            <a:pPr marL="0" indent="0" algn="l">
              <a:lnSpc>
                <a:spcPts val="1734"/>
              </a:lnSpc>
              <a:buNone/>
            </a:pPr>
            <a:r>
              <a:rPr lang="en-US" sz="1238" dirty="0">
                <a:solidFill>
                  <a:srgbClr val="8A8071"/>
                </a:solidFill>
                <a:latin typeface="Arial" pitchFamily="34" charset="0"/>
                <a:ea typeface="Arial" pitchFamily="34" charset="-122"/>
                <a:cs typeface="Arial" pitchFamily="34" charset="-120"/>
              </a:rPr>
              <a:t>Best for corporates and weddings. Needs an origin story nobody has documented.</a:t>
            </a:r>
            <a:endParaRPr lang="en-US" sz="1238" dirty="0"/>
          </a:p>
        </p:txBody>
      </p:sp>
      <p:sp>
        <p:nvSpPr>
          <p:cNvPr id="15" name="Shape 13"/>
          <p:cNvSpPr/>
          <p:nvPr/>
        </p:nvSpPr>
        <p:spPr>
          <a:xfrm>
            <a:off x="7982347" y="1588071"/>
            <a:ext cx="3396853" cy="2706767"/>
          </a:xfrm>
          <a:prstGeom prst="roundRect">
            <a:avLst>
              <a:gd name="adj" fmla="val 3754"/>
            </a:avLst>
          </a:prstGeom>
          <a:solidFill>
            <a:srgbClr val="17140F"/>
          </a:solidFill>
          <a:ln/>
        </p:spPr>
      </p:sp>
      <p:sp>
        <p:nvSpPr>
          <p:cNvPr id="16" name="Text 14"/>
          <p:cNvSpPr/>
          <p:nvPr/>
        </p:nvSpPr>
        <p:spPr>
          <a:xfrm>
            <a:off x="8236347" y="1842071"/>
            <a:ext cx="2975519" cy="221377"/>
          </a:xfrm>
          <a:prstGeom prst="rect">
            <a:avLst/>
          </a:prstGeom>
          <a:noFill/>
          <a:ln/>
        </p:spPr>
        <p:txBody>
          <a:bodyPr wrap="square" lIns="0" tIns="0" rIns="0" bIns="0" rtlCol="0" anchor="t">
            <a:normAutofit/>
          </a:bodyPr>
          <a:lstStyle/>
          <a:p>
            <a:pPr marL="0" indent="0" algn="l">
              <a:lnSpc>
                <a:spcPts val="1570"/>
              </a:lnSpc>
              <a:buNone/>
            </a:pPr>
            <a:r>
              <a:rPr lang="en-US" sz="1121" dirty="0">
                <a:solidFill>
                  <a:srgbClr val="C9A63C"/>
                </a:solidFill>
                <a:latin typeface="Arial" pitchFamily="34" charset="0"/>
                <a:ea typeface="Arial" pitchFamily="34" charset="-122"/>
                <a:cs typeface="Arial" pitchFamily="34" charset="-120"/>
              </a:rPr>
              <a:t>Three · recommended</a:t>
            </a:r>
            <a:endParaRPr lang="en-US" sz="1121" dirty="0"/>
          </a:p>
        </p:txBody>
      </p:sp>
      <p:sp>
        <p:nvSpPr>
          <p:cNvPr id="17" name="Text 15"/>
          <p:cNvSpPr/>
          <p:nvPr/>
        </p:nvSpPr>
        <p:spPr>
          <a:xfrm>
            <a:off x="8236347" y="2126928"/>
            <a:ext cx="2975519" cy="270986"/>
          </a:xfrm>
          <a:prstGeom prst="rect">
            <a:avLst/>
          </a:prstGeom>
          <a:noFill/>
          <a:ln/>
        </p:spPr>
        <p:txBody>
          <a:bodyPr wrap="square" lIns="0" tIns="0" rIns="0" bIns="0" rtlCol="0" anchor="t">
            <a:normAutofit/>
          </a:bodyPr>
          <a:lstStyle/>
          <a:p>
            <a:pPr marL="0" indent="0" algn="l">
              <a:lnSpc>
                <a:spcPts val="1974"/>
              </a:lnSpc>
              <a:buNone/>
            </a:pPr>
            <a:r>
              <a:rPr lang="en-US" sz="1645" b="1" dirty="0">
                <a:solidFill>
                  <a:srgbClr val="F7F3EA"/>
                </a:solidFill>
                <a:latin typeface="Arial" pitchFamily="34" charset="0"/>
                <a:ea typeface="Arial" pitchFamily="34" charset="-122"/>
                <a:cs typeface="Arial" pitchFamily="34" charset="-120"/>
              </a:rPr>
              <a:t>Descend</a:t>
            </a:r>
            <a:endParaRPr lang="en-US" sz="1645" dirty="0"/>
          </a:p>
        </p:txBody>
      </p:sp>
      <p:sp>
        <p:nvSpPr>
          <p:cNvPr id="18" name="Text 16"/>
          <p:cNvSpPr/>
          <p:nvPr/>
        </p:nvSpPr>
        <p:spPr>
          <a:xfrm>
            <a:off x="8236347" y="2461419"/>
            <a:ext cx="2975519" cy="657939"/>
          </a:xfrm>
          <a:prstGeom prst="rect">
            <a:avLst/>
          </a:prstGeom>
          <a:noFill/>
          <a:ln/>
        </p:spPr>
        <p:txBody>
          <a:bodyPr wrap="square" lIns="0" tIns="0" rIns="0" bIns="0" rtlCol="0" anchor="t">
            <a:normAutofit/>
          </a:bodyPr>
          <a:lstStyle/>
          <a:p>
            <a:pPr marL="0" indent="0" algn="l">
              <a:lnSpc>
                <a:spcPts val="1670"/>
              </a:lnSpc>
              <a:buNone/>
            </a:pPr>
            <a:r>
              <a:rPr lang="en-US" sz="1152" dirty="0">
                <a:solidFill>
                  <a:srgbClr val="A79C89"/>
                </a:solidFill>
                <a:latin typeface="Arial" pitchFamily="34" charset="0"/>
                <a:ea typeface="Arial" pitchFamily="34" charset="-122"/>
                <a:cs typeface="Arial" pitchFamily="34" charset="-120"/>
              </a:rPr>
              <a:t>The going-under is the experience. The threshold, the temperature drop, the tunnel, the amphitheatre.</a:t>
            </a:r>
            <a:endParaRPr lang="en-US" sz="1152" dirty="0"/>
          </a:p>
        </p:txBody>
      </p:sp>
      <p:sp>
        <p:nvSpPr>
          <p:cNvPr id="19" name="Text 17"/>
          <p:cNvSpPr/>
          <p:nvPr/>
        </p:nvSpPr>
        <p:spPr>
          <a:xfrm>
            <a:off x="8236347" y="3182863"/>
            <a:ext cx="2975519" cy="228997"/>
          </a:xfrm>
          <a:prstGeom prst="rect">
            <a:avLst/>
          </a:prstGeom>
          <a:noFill/>
          <a:ln/>
        </p:spPr>
        <p:txBody>
          <a:bodyPr wrap="square" lIns="0" tIns="0" rIns="0" bIns="0" rtlCol="0" anchor="t">
            <a:normAutofit/>
          </a:bodyPr>
          <a:lstStyle/>
          <a:p>
            <a:pPr marL="0" indent="0" algn="l">
              <a:lnSpc>
                <a:spcPts val="1624"/>
              </a:lnSpc>
              <a:buNone/>
            </a:pPr>
            <a:r>
              <a:rPr lang="en-US" sz="1160" i="1" dirty="0">
                <a:solidFill>
                  <a:srgbClr val="C9A63C"/>
                </a:solidFill>
                <a:latin typeface="Arial" pitchFamily="34" charset="0"/>
                <a:ea typeface="Arial" pitchFamily="34" charset="-122"/>
                <a:cs typeface="Arial" pitchFamily="34" charset="-120"/>
              </a:rPr>
              <a:t>"Go down."</a:t>
            </a:r>
            <a:endParaRPr lang="en-US" sz="1160" dirty="0"/>
          </a:p>
        </p:txBody>
      </p:sp>
      <p:sp>
        <p:nvSpPr>
          <p:cNvPr id="20" name="Text 18"/>
          <p:cNvSpPr/>
          <p:nvPr/>
        </p:nvSpPr>
        <p:spPr>
          <a:xfrm>
            <a:off x="8236347" y="3475360"/>
            <a:ext cx="2975519" cy="590868"/>
          </a:xfrm>
          <a:prstGeom prst="rect">
            <a:avLst/>
          </a:prstGeom>
          <a:noFill/>
          <a:ln/>
        </p:spPr>
        <p:txBody>
          <a:bodyPr wrap="square" lIns="0" tIns="0" rIns="0" bIns="0" rtlCol="0" anchor="t">
            <a:normAutofit/>
          </a:bodyPr>
          <a:lstStyle/>
          <a:p>
            <a:pPr marL="0" indent="0" algn="l">
              <a:lnSpc>
                <a:spcPts val="1706"/>
              </a:lnSpc>
              <a:buNone/>
            </a:pPr>
            <a:r>
              <a:rPr lang="en-US" sz="1219" dirty="0">
                <a:solidFill>
                  <a:srgbClr val="A79C89"/>
                </a:solidFill>
                <a:latin typeface="Arial" pitchFamily="34" charset="0"/>
                <a:ea typeface="Arial" pitchFamily="34" charset="-122"/>
                <a:cs typeface="Arial" pitchFamily="34" charset="-120"/>
              </a:rPr>
              <a:t>Every reel has a structure built in. A guest filming their first descent is making the ad.</a:t>
            </a:r>
            <a:endParaRPr lang="en-US" sz="1219" dirty="0"/>
          </a:p>
        </p:txBody>
      </p:sp>
      <p:sp>
        <p:nvSpPr>
          <p:cNvPr id="21" name="Shape 19"/>
          <p:cNvSpPr/>
          <p:nvPr/>
        </p:nvSpPr>
        <p:spPr>
          <a:xfrm>
            <a:off x="812800" y="4548832"/>
            <a:ext cx="10566400" cy="1293178"/>
          </a:xfrm>
          <a:prstGeom prst="roundRect">
            <a:avLst>
              <a:gd name="adj" fmla="val 7857"/>
            </a:avLst>
          </a:prstGeom>
          <a:solidFill>
            <a:srgbClr val="C9A63C"/>
          </a:solidFill>
          <a:ln/>
        </p:spPr>
      </p:sp>
      <p:sp>
        <p:nvSpPr>
          <p:cNvPr id="22" name="Text 20"/>
          <p:cNvSpPr/>
          <p:nvPr/>
        </p:nvSpPr>
        <p:spPr>
          <a:xfrm>
            <a:off x="1066800" y="4802832"/>
            <a:ext cx="10203180" cy="810578"/>
          </a:xfrm>
          <a:prstGeom prst="rect">
            <a:avLst/>
          </a:prstGeom>
          <a:noFill/>
          <a:ln/>
        </p:spPr>
        <p:txBody>
          <a:bodyPr wrap="square" lIns="0" tIns="0" rIns="0" bIns="0" rtlCol="0" anchor="t">
            <a:normAutofit/>
          </a:bodyPr>
          <a:lstStyle/>
          <a:p>
            <a:pPr marL="0" indent="0" algn="l">
              <a:lnSpc>
                <a:spcPts val="2074"/>
              </a:lnSpc>
              <a:buNone/>
            </a:pPr>
            <a:r>
              <a:rPr lang="en-US" sz="1430" b="1" dirty="0">
                <a:solidFill>
                  <a:srgbClr val="17140F"/>
                </a:solidFill>
                <a:latin typeface="Arial" pitchFamily="34" charset="0"/>
                <a:ea typeface="Arial" pitchFamily="34" charset="-122"/>
                <a:cs typeface="Arial" pitchFamily="34" charset="-120"/>
              </a:rPr>
              <a:t>Our recommendation: Three, with Two as the proof.</a:t>
            </a:r>
            <a:r>
              <a:rPr lang="en-US" sz="1430" dirty="0">
                <a:solidFill>
                  <a:srgbClr val="17140F"/>
                </a:solidFill>
                <a:latin typeface="Arial" pitchFamily="34" charset="0"/>
                <a:ea typeface="Arial" pitchFamily="34" charset="-122"/>
                <a:cs typeface="Arial" pitchFamily="34" charset="-120"/>
              </a:rPr>
              <a:t> Descend gives a content engine that works from day one and needs nothing the property does not already have. "India's first" sits underneath it as the credential that makes the claim defensible.</a:t>
            </a:r>
            <a:endParaRPr lang="en-US" sz="1430" dirty="0"/>
          </a:p>
        </p:txBody>
      </p:sp>
      <p:sp>
        <p:nvSpPr>
          <p:cNvPr id="23" name="Text 21"/>
          <p:cNvSpPr/>
          <p:nvPr/>
        </p:nvSpPr>
        <p:spPr>
          <a:xfrm>
            <a:off x="812800" y="6238255"/>
            <a:ext cx="525283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071"/>
                </a:solidFill>
                <a:latin typeface="Arial" pitchFamily="34" charset="0"/>
                <a:ea typeface="Arial" pitchFamily="34" charset="-122"/>
                <a:cs typeface="Arial" pitchFamily="34" charset="-120"/>
              </a:rPr>
              <a:t>This choice decides every slide of the branding and social decks that follow.</a:t>
            </a:r>
            <a:endParaRPr lang="en-US" sz="12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59">
    <p:bg>
      <p:bgPr>
        <a:solidFill>
          <a:srgbClr val="17140F"/>
        </a:solidFill>
        <a:effectLst/>
      </p:bgPr>
    </p:bg>
    <p:spTree>
      <p:nvGrpSpPr>
        <p:cNvPr id="1" name=""/>
        <p:cNvGrpSpPr/>
        <p:nvPr/>
      </p:nvGrpSpPr>
      <p:grpSpPr>
        <a:xfrm>
          <a:off x="0" y="0"/>
          <a:ext cx="0" cy="0"/>
          <a:chOff x="0" y="0"/>
          <a:chExt cx="0" cy="0"/>
        </a:xfrm>
      </p:grpSpPr>
      <p:sp>
        <p:nvSpPr>
          <p:cNvPr id="2" name="Text 0"/>
          <p:cNvSpPr/>
          <p:nvPr/>
        </p:nvSpPr>
        <p:spPr>
          <a:xfrm>
            <a:off x="812800" y="912416"/>
            <a:ext cx="10883392" cy="256540"/>
          </a:xfrm>
          <a:prstGeom prst="rect">
            <a:avLst/>
          </a:prstGeom>
          <a:noFill/>
          <a:ln/>
        </p:spPr>
        <p:txBody>
          <a:bodyPr wrap="square" lIns="0" tIns="0" rIns="0" bIns="0" rtlCol="0" anchor="t">
            <a:normAutofit/>
          </a:bodyPr>
          <a:lstStyle/>
          <a:p>
            <a:pPr marL="0" indent="0" algn="l">
              <a:lnSpc>
                <a:spcPts val="1820"/>
              </a:lnSpc>
              <a:buNone/>
            </a:pPr>
            <a:r>
              <a:rPr lang="en-US" sz="1300" kern="0" spc="200" dirty="0">
                <a:solidFill>
                  <a:srgbClr val="C9A63C"/>
                </a:solidFill>
                <a:latin typeface="Arial" pitchFamily="34" charset="0"/>
                <a:ea typeface="Arial" pitchFamily="34" charset="-122"/>
                <a:cs typeface="Arial" pitchFamily="34" charset="-120"/>
              </a:rPr>
              <a:t>SECTION SEVEN</a:t>
            </a:r>
            <a:endParaRPr lang="en-US" sz="1300" dirty="0"/>
          </a:p>
        </p:txBody>
      </p:sp>
      <p:sp>
        <p:nvSpPr>
          <p:cNvPr id="3" name="Text 1"/>
          <p:cNvSpPr/>
          <p:nvPr/>
        </p:nvSpPr>
        <p:spPr>
          <a:xfrm>
            <a:off x="812800" y="1422971"/>
            <a:ext cx="10333990" cy="1451769"/>
          </a:xfrm>
          <a:prstGeom prst="rect">
            <a:avLst/>
          </a:prstGeom>
          <a:noFill/>
          <a:ln/>
        </p:spPr>
        <p:txBody>
          <a:bodyPr wrap="square" lIns="0" tIns="0" rIns="0" bIns="0" rtlCol="0" anchor="t">
            <a:normAutofit/>
          </a:bodyPr>
          <a:lstStyle/>
          <a:p>
            <a:pPr marL="0" indent="0" algn="l">
              <a:lnSpc>
                <a:spcPts val="5616"/>
              </a:lnSpc>
              <a:buNone/>
            </a:pPr>
            <a:r>
              <a:rPr lang="en-US" sz="5200" dirty="0">
                <a:solidFill>
                  <a:srgbClr val="F7F3EA"/>
                </a:solidFill>
                <a:latin typeface="Georgia" pitchFamily="34" charset="0"/>
                <a:ea typeface="Georgia" pitchFamily="34" charset="-122"/>
                <a:cs typeface="Georgia" pitchFamily="34" charset="-120"/>
              </a:rPr>
              <a:t>Weekdays are empty because the current audience is at work.</a:t>
            </a:r>
            <a:endParaRPr lang="en-US" sz="5200" dirty="0"/>
          </a:p>
        </p:txBody>
      </p:sp>
      <p:sp>
        <p:nvSpPr>
          <p:cNvPr id="4" name="Text 2"/>
          <p:cNvSpPr/>
          <p:nvPr/>
        </p:nvSpPr>
        <p:spPr>
          <a:xfrm>
            <a:off x="812800" y="3128739"/>
            <a:ext cx="10203180" cy="736600"/>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A79C89"/>
                </a:solidFill>
                <a:latin typeface="Arial" pitchFamily="34" charset="0"/>
                <a:ea typeface="Arial" pitchFamily="34" charset="-122"/>
                <a:cs typeface="Arial" pitchFamily="34" charset="-120"/>
              </a:rPr>
              <a:t>Guhantara already discounts weekdays by 25% and weekends by 15%. It has not solved the problem, and it was never going to.</a:t>
            </a:r>
            <a:endParaRPr lang="en-US" sz="2000" dirty="0"/>
          </a:p>
        </p:txBody>
      </p:sp>
      <p:sp>
        <p:nvSpPr>
          <p:cNvPr id="5" name="Shape 3"/>
          <p:cNvSpPr/>
          <p:nvPr/>
        </p:nvSpPr>
        <p:spPr>
          <a:xfrm>
            <a:off x="815975" y="4122514"/>
            <a:ext cx="3383677" cy="1616710"/>
          </a:xfrm>
          <a:prstGeom prst="roundRect">
            <a:avLst>
              <a:gd name="adj" fmla="val 6088"/>
            </a:avLst>
          </a:prstGeom>
          <a:solidFill>
            <a:srgbClr val="221E18"/>
          </a:solidFill>
          <a:ln w="6350">
            <a:solidFill>
              <a:srgbClr val="3A342A"/>
            </a:solidFill>
            <a:prstDash val="solid"/>
          </a:ln>
        </p:spPr>
      </p:sp>
      <p:sp>
        <p:nvSpPr>
          <p:cNvPr id="6" name="Text 4"/>
          <p:cNvSpPr/>
          <p:nvPr/>
        </p:nvSpPr>
        <p:spPr>
          <a:xfrm>
            <a:off x="1071880" y="4378399"/>
            <a:ext cx="2958023" cy="1130300"/>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F7F3EA"/>
                </a:solidFill>
                <a:latin typeface="Arial" pitchFamily="34" charset="0"/>
                <a:ea typeface="Arial" pitchFamily="34" charset="-122"/>
                <a:cs typeface="Arial" pitchFamily="34" charset="-120"/>
              </a:rPr>
              <a:t>Discounting a </a:t>
            </a:r>
            <a:r>
              <a:rPr lang="en-US" sz="1500" b="1" dirty="0">
                <a:solidFill>
                  <a:srgbClr val="F7F3EA"/>
                </a:solidFill>
                <a:latin typeface="Arial" pitchFamily="34" charset="0"/>
                <a:ea typeface="Arial" pitchFamily="34" charset="-122"/>
                <a:cs typeface="Arial" pitchFamily="34" charset="-120"/>
              </a:rPr>
              <a:t>crowd product</a:t>
            </a:r>
            <a:r>
              <a:rPr lang="en-US" sz="1500" dirty="0">
                <a:solidFill>
                  <a:srgbClr val="F7F3EA"/>
                </a:solidFill>
                <a:latin typeface="Arial" pitchFamily="34" charset="0"/>
                <a:ea typeface="Arial" pitchFamily="34" charset="-122"/>
                <a:cs typeface="Arial" pitchFamily="34" charset="-120"/>
              </a:rPr>
              <a:t> to the </a:t>
            </a:r>
            <a:r>
              <a:rPr lang="en-US" sz="1500" b="1" dirty="0">
                <a:solidFill>
                  <a:srgbClr val="F7F3EA"/>
                </a:solidFill>
                <a:latin typeface="Arial" pitchFamily="34" charset="0"/>
                <a:ea typeface="Arial" pitchFamily="34" charset="-122"/>
                <a:cs typeface="Arial" pitchFamily="34" charset="-120"/>
              </a:rPr>
              <a:t>same crowd</a:t>
            </a:r>
            <a:r>
              <a:rPr lang="en-US" sz="1500" dirty="0">
                <a:solidFill>
                  <a:srgbClr val="F7F3EA"/>
                </a:solidFill>
                <a:latin typeface="Arial" pitchFamily="34" charset="0"/>
                <a:ea typeface="Arial" pitchFamily="34" charset="-122"/>
                <a:cs typeface="Arial" pitchFamily="34" charset="-120"/>
              </a:rPr>
              <a:t> on a day that crowd is unavailable moves very little.</a:t>
            </a:r>
            <a:endParaRPr lang="en-US" sz="1500" dirty="0"/>
          </a:p>
        </p:txBody>
      </p:sp>
      <p:sp>
        <p:nvSpPr>
          <p:cNvPr id="7" name="Shape 5"/>
          <p:cNvSpPr/>
          <p:nvPr/>
        </p:nvSpPr>
        <p:spPr>
          <a:xfrm>
            <a:off x="4409202" y="4122514"/>
            <a:ext cx="3383756" cy="1616710"/>
          </a:xfrm>
          <a:prstGeom prst="roundRect">
            <a:avLst>
              <a:gd name="adj" fmla="val 6088"/>
            </a:avLst>
          </a:prstGeom>
          <a:solidFill>
            <a:srgbClr val="221E18"/>
          </a:solidFill>
          <a:ln w="6350">
            <a:solidFill>
              <a:srgbClr val="3A342A"/>
            </a:solidFill>
            <a:prstDash val="solid"/>
          </a:ln>
        </p:spPr>
      </p:sp>
      <p:sp>
        <p:nvSpPr>
          <p:cNvPr id="8" name="Text 6"/>
          <p:cNvSpPr/>
          <p:nvPr/>
        </p:nvSpPr>
        <p:spPr>
          <a:xfrm>
            <a:off x="4665107" y="4378399"/>
            <a:ext cx="2958105" cy="854075"/>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F7F3EA"/>
                </a:solidFill>
                <a:latin typeface="Arial" pitchFamily="34" charset="0"/>
                <a:ea typeface="Arial" pitchFamily="34" charset="-122"/>
                <a:cs typeface="Arial" pitchFamily="34" charset="-120"/>
              </a:rPr>
              <a:t>It also teaches every guest to </a:t>
            </a:r>
            <a:r>
              <a:rPr lang="en-US" sz="1500" b="1" dirty="0">
                <a:solidFill>
                  <a:srgbClr val="F7F3EA"/>
                </a:solidFill>
                <a:latin typeface="Arial" pitchFamily="34" charset="0"/>
                <a:ea typeface="Arial" pitchFamily="34" charset="-122"/>
                <a:cs typeface="Arial" pitchFamily="34" charset="-120"/>
              </a:rPr>
              <a:t>wait for the code</a:t>
            </a:r>
            <a:r>
              <a:rPr lang="en-US" sz="1500" dirty="0">
                <a:solidFill>
                  <a:srgbClr val="F7F3EA"/>
                </a:solidFill>
                <a:latin typeface="Arial" pitchFamily="34" charset="0"/>
                <a:ea typeface="Arial" pitchFamily="34" charset="-122"/>
                <a:cs typeface="Arial" pitchFamily="34" charset="-120"/>
              </a:rPr>
              <a:t>, which depresses the weekend rate too.</a:t>
            </a:r>
            <a:endParaRPr lang="en-US" sz="1500" dirty="0"/>
          </a:p>
        </p:txBody>
      </p:sp>
      <p:sp>
        <p:nvSpPr>
          <p:cNvPr id="9" name="Shape 7"/>
          <p:cNvSpPr/>
          <p:nvPr/>
        </p:nvSpPr>
        <p:spPr>
          <a:xfrm>
            <a:off x="7999333" y="4119339"/>
            <a:ext cx="3379867" cy="1623060"/>
          </a:xfrm>
          <a:prstGeom prst="roundRect">
            <a:avLst>
              <a:gd name="adj" fmla="val 6260"/>
            </a:avLst>
          </a:prstGeom>
          <a:solidFill>
            <a:srgbClr val="B54A28"/>
          </a:solidFill>
          <a:ln/>
        </p:spPr>
      </p:sp>
      <p:sp>
        <p:nvSpPr>
          <p:cNvPr id="10" name="Text 8"/>
          <p:cNvSpPr/>
          <p:nvPr/>
        </p:nvSpPr>
        <p:spPr>
          <a:xfrm>
            <a:off x="8253333" y="4373339"/>
            <a:ext cx="2958023" cy="854075"/>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F7F3EA"/>
                </a:solidFill>
                <a:latin typeface="Arial" pitchFamily="34" charset="0"/>
                <a:ea typeface="Arial" pitchFamily="34" charset="-122"/>
                <a:cs typeface="Arial" pitchFamily="34" charset="-120"/>
              </a:rPr>
              <a:t>The answer is a </a:t>
            </a:r>
            <a:r>
              <a:rPr lang="en-US" sz="1500" b="1" dirty="0">
                <a:solidFill>
                  <a:srgbClr val="F7F3EA"/>
                </a:solidFill>
                <a:latin typeface="Arial" pitchFamily="34" charset="0"/>
                <a:ea typeface="Arial" pitchFamily="34" charset="-122"/>
                <a:cs typeface="Arial" pitchFamily="34" charset="-120"/>
              </a:rPr>
              <a:t>different buyer</a:t>
            </a:r>
            <a:r>
              <a:rPr lang="en-US" sz="1500" dirty="0">
                <a:solidFill>
                  <a:srgbClr val="F7F3EA"/>
                </a:solidFill>
                <a:latin typeface="Arial" pitchFamily="34" charset="0"/>
                <a:ea typeface="Arial" pitchFamily="34" charset="-122"/>
                <a:cs typeface="Arial" pitchFamily="34" charset="-120"/>
              </a:rPr>
              <a:t>, not a bigger discount. Five of them are free on a Tuesday.</a:t>
            </a:r>
            <a:endParaRPr lang="en-US" sz="1500" dirty="0"/>
          </a:p>
        </p:txBody>
      </p:sp>
      <p:sp>
        <p:nvSpPr>
          <p:cNvPr id="11" name="Text 9"/>
          <p:cNvSpPr/>
          <p:nvPr/>
        </p:nvSpPr>
        <p:spPr>
          <a:xfrm>
            <a:off x="812800" y="6238255"/>
            <a:ext cx="466828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071"/>
                </a:solidFill>
                <a:latin typeface="Arial" pitchFamily="34" charset="0"/>
                <a:ea typeface="Arial" pitchFamily="34" charset="-122"/>
                <a:cs typeface="Arial" pitchFamily="34" charset="-120"/>
              </a:rPr>
              <a:t>Current offers per the client: weekdays 25% off, weekends 15% off.</a:t>
            </a:r>
            <a:endParaRPr lang="en-US" sz="12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0">
    <p:bg>
      <p:bgPr>
        <a:solidFill>
          <a:srgbClr val="F7F3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503714"/>
          </a:xfrm>
          <a:prstGeom prst="rect">
            <a:avLst/>
          </a:prstGeom>
          <a:noFill/>
          <a:ln/>
        </p:spPr>
        <p:txBody>
          <a:bodyPr wrap="square" lIns="0" tIns="0" rIns="0" bIns="0" rtlCol="0" anchor="t">
            <a:normAutofit/>
          </a:bodyPr>
          <a:lstStyle/>
          <a:p>
            <a:pPr marL="0" indent="0" algn="l">
              <a:lnSpc>
                <a:spcPts val="3768"/>
              </a:lnSpc>
              <a:buNone/>
            </a:pPr>
            <a:r>
              <a:rPr lang="en-US" sz="3589" dirty="0">
                <a:solidFill>
                  <a:srgbClr val="17140F"/>
                </a:solidFill>
                <a:latin typeface="Georgia" pitchFamily="34" charset="0"/>
                <a:ea typeface="Georgia" pitchFamily="34" charset="-122"/>
                <a:cs typeface="Georgia" pitchFamily="34" charset="-120"/>
              </a:rPr>
              <a:t>Five buyers who are free on a Tuesday</a:t>
            </a:r>
            <a:endParaRPr lang="en-US" sz="3589"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1555269"/>
          <a:ext cx="10556240" cy="2789237"/>
        </p:xfrm>
        <a:graphic>
          <a:graphicData uri="http://schemas.openxmlformats.org/drawingml/2006/table">
            <a:tbl>
              <a:tblPr/>
              <a:tblGrid>
                <a:gridCol w="1900123">
                  <a:extLst>
                    <a:ext uri="{9D8B030D-6E8A-4147-A177-3AD203B41FA5}">
                      <a16:colId xmlns:a16="http://schemas.microsoft.com/office/drawing/2014/main" val="20000"/>
                    </a:ext>
                  </a:extLst>
                </a:gridCol>
                <a:gridCol w="2533498">
                  <a:extLst>
                    <a:ext uri="{9D8B030D-6E8A-4147-A177-3AD203B41FA5}">
                      <a16:colId xmlns:a16="http://schemas.microsoft.com/office/drawing/2014/main" val="20001"/>
                    </a:ext>
                  </a:extLst>
                </a:gridCol>
                <a:gridCol w="3377997">
                  <a:extLst>
                    <a:ext uri="{9D8B030D-6E8A-4147-A177-3AD203B41FA5}">
                      <a16:colId xmlns:a16="http://schemas.microsoft.com/office/drawing/2014/main" val="20002"/>
                    </a:ext>
                  </a:extLst>
                </a:gridCol>
                <a:gridCol w="2744622">
                  <a:extLst>
                    <a:ext uri="{9D8B030D-6E8A-4147-A177-3AD203B41FA5}">
                      <a16:colId xmlns:a16="http://schemas.microsoft.com/office/drawing/2014/main" val="20003"/>
                    </a:ext>
                  </a:extLst>
                </a:gridCol>
              </a:tblGrid>
              <a:tr h="302657">
                <a:tc>
                  <a:txBody>
                    <a:bodyPr/>
                    <a:lstStyle/>
                    <a:p>
                      <a:pPr marL="0" indent="0">
                        <a:lnSpc>
                          <a:spcPts val="1536"/>
                        </a:lnSpc>
                        <a:buNone/>
                      </a:pPr>
                      <a:r>
                        <a:rPr lang="en-US" sz="1097" b="1" dirty="0">
                          <a:solidFill>
                            <a:srgbClr val="F7F3EA"/>
                          </a:solidFill>
                          <a:latin typeface="Arial" pitchFamily="34" charset="0"/>
                          <a:ea typeface="Arial" pitchFamily="34" charset="-122"/>
                          <a:cs typeface="Arial" pitchFamily="34" charset="-120"/>
                        </a:rPr>
                        <a:t>Segment</a:t>
                      </a:r>
                      <a:endParaRPr lang="en-US" sz="1097" dirty="0">
                        <a:latin typeface="Arial" charset="0"/>
                        <a:ea typeface="Arial" charset="0"/>
                        <a:cs typeface="Arial" charset="0"/>
                      </a:endParaRPr>
                    </a:p>
                  </a:txBody>
                  <a:tcPr marL="48756" marR="48756" marT="48756" marB="48756">
                    <a:lnL w="12700" cap="flat" cmpd="sng" algn="ctr">
                      <a:solidFill>
                        <a:srgbClr val="C5C2BB"/>
                      </a:solidFill>
                      <a:prstDash val="solid"/>
                      <a:round/>
                      <a:headEnd type="none" w="med" len="med"/>
                      <a:tailEnd type="none" w="med" len="med"/>
                    </a:lnL>
                    <a:lnR w="12700" cap="flat" cmpd="sng" algn="ctr">
                      <a:solidFill>
                        <a:srgbClr val="161410"/>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161410"/>
                      </a:solidFill>
                      <a:prstDash val="solid"/>
                      <a:round/>
                      <a:headEnd type="none" w="med" len="med"/>
                      <a:tailEnd type="none" w="med" len="med"/>
                    </a:lnB>
                    <a:solidFill>
                      <a:srgbClr val="17140F"/>
                    </a:solidFill>
                  </a:tcPr>
                </a:tc>
                <a:tc>
                  <a:txBody>
                    <a:bodyPr/>
                    <a:lstStyle/>
                    <a:p>
                      <a:pPr marL="0" indent="0">
                        <a:lnSpc>
                          <a:spcPts val="1536"/>
                        </a:lnSpc>
                        <a:buNone/>
                      </a:pPr>
                      <a:r>
                        <a:rPr lang="en-US" sz="1097" b="1" dirty="0">
                          <a:solidFill>
                            <a:srgbClr val="F7F3EA"/>
                          </a:solidFill>
                          <a:latin typeface="Arial" pitchFamily="34" charset="0"/>
                          <a:ea typeface="Arial" pitchFamily="34" charset="-122"/>
                          <a:cs typeface="Arial" pitchFamily="34" charset="-120"/>
                        </a:rPr>
                        <a:t>Why they are free midweek</a:t>
                      </a:r>
                      <a:endParaRPr lang="en-US" sz="1097" dirty="0">
                        <a:latin typeface="Arial" charset="0"/>
                        <a:ea typeface="Arial" charset="0"/>
                        <a:cs typeface="Arial" charset="0"/>
                      </a:endParaRPr>
                    </a:p>
                  </a:txBody>
                  <a:tcPr marL="48756" marR="48756" marT="48756" marB="48756">
                    <a:lnL w="12700" cap="flat" cmpd="sng" algn="ctr">
                      <a:solidFill>
                        <a:srgbClr val="161410"/>
                      </a:solidFill>
                      <a:prstDash val="solid"/>
                      <a:round/>
                      <a:headEnd type="none" w="med" len="med"/>
                      <a:tailEnd type="none" w="med" len="med"/>
                    </a:lnL>
                    <a:lnR w="12700" cap="flat" cmpd="sng" algn="ctr">
                      <a:solidFill>
                        <a:srgbClr val="161410"/>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161410"/>
                      </a:solidFill>
                      <a:prstDash val="solid"/>
                      <a:round/>
                      <a:headEnd type="none" w="med" len="med"/>
                      <a:tailEnd type="none" w="med" len="med"/>
                    </a:lnB>
                    <a:solidFill>
                      <a:srgbClr val="17140F"/>
                    </a:solidFill>
                  </a:tcPr>
                </a:tc>
                <a:tc>
                  <a:txBody>
                    <a:bodyPr/>
                    <a:lstStyle/>
                    <a:p>
                      <a:pPr marL="0" indent="0">
                        <a:lnSpc>
                          <a:spcPts val="1536"/>
                        </a:lnSpc>
                        <a:buNone/>
                      </a:pPr>
                      <a:r>
                        <a:rPr lang="en-US" sz="1097" b="1" dirty="0">
                          <a:solidFill>
                            <a:srgbClr val="F7F3EA"/>
                          </a:solidFill>
                          <a:latin typeface="Arial" pitchFamily="34" charset="0"/>
                          <a:ea typeface="Arial" pitchFamily="34" charset="-122"/>
                          <a:cs typeface="Arial" pitchFamily="34" charset="-120"/>
                        </a:rPr>
                        <a:t>The offer to build</a:t>
                      </a:r>
                      <a:endParaRPr lang="en-US" sz="1097" dirty="0">
                        <a:latin typeface="Arial" charset="0"/>
                        <a:ea typeface="Arial" charset="0"/>
                        <a:cs typeface="Arial" charset="0"/>
                      </a:endParaRPr>
                    </a:p>
                  </a:txBody>
                  <a:tcPr marL="48756" marR="48756" marT="48756" marB="48756">
                    <a:lnL w="12700" cap="flat" cmpd="sng" algn="ctr">
                      <a:solidFill>
                        <a:srgbClr val="161410"/>
                      </a:solidFill>
                      <a:prstDash val="solid"/>
                      <a:round/>
                      <a:headEnd type="none" w="med" len="med"/>
                      <a:tailEnd type="none" w="med" len="med"/>
                    </a:lnL>
                    <a:lnR w="12700" cap="flat" cmpd="sng" algn="ctr">
                      <a:solidFill>
                        <a:srgbClr val="161410"/>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161410"/>
                      </a:solidFill>
                      <a:prstDash val="solid"/>
                      <a:round/>
                      <a:headEnd type="none" w="med" len="med"/>
                      <a:tailEnd type="none" w="med" len="med"/>
                    </a:lnB>
                    <a:solidFill>
                      <a:srgbClr val="17140F"/>
                    </a:solidFill>
                  </a:tcPr>
                </a:tc>
                <a:tc>
                  <a:txBody>
                    <a:bodyPr/>
                    <a:lstStyle/>
                    <a:p>
                      <a:pPr marL="0" indent="0">
                        <a:lnSpc>
                          <a:spcPts val="1536"/>
                        </a:lnSpc>
                        <a:buNone/>
                      </a:pPr>
                      <a:r>
                        <a:rPr lang="en-US" sz="1097" b="1" dirty="0">
                          <a:solidFill>
                            <a:srgbClr val="F7F3EA"/>
                          </a:solidFill>
                          <a:latin typeface="Arial" pitchFamily="34" charset="0"/>
                          <a:ea typeface="Arial" pitchFamily="34" charset="-122"/>
                          <a:cs typeface="Arial" pitchFamily="34" charset="-120"/>
                        </a:rPr>
                        <a:t>Where it runs</a:t>
                      </a:r>
                      <a:endParaRPr lang="en-US" sz="1097" dirty="0">
                        <a:latin typeface="Arial" charset="0"/>
                        <a:ea typeface="Arial" charset="0"/>
                        <a:cs typeface="Arial" charset="0"/>
                      </a:endParaRPr>
                    </a:p>
                  </a:txBody>
                  <a:tcPr marL="48756" marR="48756" marT="48756" marB="48756">
                    <a:lnL w="12700" cap="flat" cmpd="sng" algn="ctr">
                      <a:solidFill>
                        <a:srgbClr val="161410"/>
                      </a:solidFill>
                      <a:prstDash val="solid"/>
                      <a:round/>
                      <a:headEnd type="none" w="med" len="med"/>
                      <a:tailEnd type="none" w="med" len="med"/>
                    </a:lnL>
                    <a:lnR w="12700" cap="flat" cmpd="sng" algn="ctr">
                      <a:solidFill>
                        <a:srgbClr val="161410"/>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161410"/>
                      </a:solidFill>
                      <a:prstDash val="solid"/>
                      <a:round/>
                      <a:headEnd type="none" w="med" len="med"/>
                      <a:tailEnd type="none" w="med" len="med"/>
                    </a:lnB>
                    <a:solidFill>
                      <a:srgbClr val="17140F"/>
                    </a:solidFill>
                  </a:tcPr>
                </a:tc>
                <a:extLst>
                  <a:ext uri="{0D108BD9-81ED-4DB2-BD59-A6C34878D82A}">
                    <a16:rowId xmlns:a16="http://schemas.microsoft.com/office/drawing/2014/main" val="10000"/>
                  </a:ext>
                </a:extLst>
              </a:tr>
              <a:tr h="497284">
                <a:tc>
                  <a:txBody>
                    <a:bodyPr/>
                    <a:lstStyle/>
                    <a:p>
                      <a:pPr marL="0" indent="0">
                        <a:lnSpc>
                          <a:spcPts val="1536"/>
                        </a:lnSpc>
                        <a:buNone/>
                      </a:pPr>
                      <a:r>
                        <a:rPr lang="en-US" sz="1097" dirty="0">
                          <a:solidFill>
                            <a:srgbClr val="17140F"/>
                          </a:solidFill>
                          <a:latin typeface="Arial" pitchFamily="34" charset="0"/>
                          <a:ea typeface="Arial" pitchFamily="34" charset="-122"/>
                          <a:cs typeface="Arial" pitchFamily="34" charset="-120"/>
                        </a:rPr>
                        <a:t>Corporate teams</a:t>
                      </a:r>
                      <a:endParaRPr lang="en-US" sz="1097" dirty="0">
                        <a:latin typeface="Arial" charset="0"/>
                        <a:ea typeface="Arial" charset="0"/>
                        <a:cs typeface="Arial" charset="0"/>
                      </a:endParaRPr>
                    </a:p>
                  </a:txBody>
                  <a:tcPr marL="48756" marR="48756" marT="48756" marB="48756">
                    <a:lnL w="12700" cap="flat" cmpd="sng" algn="ctr">
                      <a:solidFill>
                        <a:srgbClr val="C5C2BB"/>
                      </a:solidFill>
                      <a:prstDash val="solid"/>
                      <a:round/>
                      <a:headEnd type="none" w="med" len="med"/>
                      <a:tailEnd type="none" w="med" len="med"/>
                    </a:lnL>
                    <a:lnR w="12700" cap="flat" cmpd="sng" algn="ctr">
                      <a:solidFill>
                        <a:srgbClr val="B9B4A9"/>
                      </a:solidFill>
                      <a:prstDash val="solid"/>
                      <a:round/>
                      <a:headEnd type="none" w="med" len="med"/>
                      <a:tailEnd type="none" w="med" len="med"/>
                    </a:lnR>
                    <a:lnT w="12700" cap="flat" cmpd="sng" algn="ctr">
                      <a:solidFill>
                        <a:srgbClr val="161410"/>
                      </a:solidFill>
                      <a:prstDash val="solid"/>
                      <a:round/>
                      <a:headEnd type="none" w="med" len="med"/>
                      <a:tailEnd type="none" w="med" len="med"/>
                    </a:lnT>
                    <a:lnB w="12700" cap="flat" cmpd="sng" algn="ctr">
                      <a:solidFill>
                        <a:srgbClr val="B9B4A9"/>
                      </a:solidFill>
                      <a:prstDash val="solid"/>
                      <a:round/>
                      <a:headEnd type="none" w="med" len="med"/>
                      <a:tailEnd type="none" w="med" len="med"/>
                    </a:lnB>
                    <a:solidFill>
                      <a:srgbClr val="E8E1D3"/>
                    </a:solidFill>
                  </a:tcPr>
                </a:tc>
                <a:tc>
                  <a:txBody>
                    <a:bodyPr/>
                    <a:lstStyle/>
                    <a:p>
                      <a:pPr marL="0" indent="0">
                        <a:lnSpc>
                          <a:spcPts val="1536"/>
                        </a:lnSpc>
                        <a:buNone/>
                      </a:pPr>
                      <a:r>
                        <a:rPr lang="en-US" sz="1097" dirty="0">
                          <a:solidFill>
                            <a:srgbClr val="17140F"/>
                          </a:solidFill>
                          <a:latin typeface="Arial" pitchFamily="34" charset="0"/>
                          <a:ea typeface="Arial" pitchFamily="34" charset="-122"/>
                          <a:cs typeface="Arial" pitchFamily="34" charset="-120"/>
                        </a:rPr>
                        <a:t>Offsites are booked in working hours</a:t>
                      </a:r>
                      <a:endParaRPr lang="en-US" sz="1097" dirty="0">
                        <a:latin typeface="Arial" charset="0"/>
                        <a:ea typeface="Arial" charset="0"/>
                        <a:cs typeface="Arial" charset="0"/>
                      </a:endParaRPr>
                    </a:p>
                  </a:txBody>
                  <a:tcPr marL="48756" marR="48756" marT="48756" marB="48756">
                    <a:lnL w="12700" cap="flat" cmpd="sng" algn="ctr">
                      <a:solidFill>
                        <a:srgbClr val="B9B4A9"/>
                      </a:solidFill>
                      <a:prstDash val="solid"/>
                      <a:round/>
                      <a:headEnd type="none" w="med" len="med"/>
                      <a:tailEnd type="none" w="med" len="med"/>
                    </a:lnL>
                    <a:lnR w="12700" cap="flat" cmpd="sng" algn="ctr">
                      <a:solidFill>
                        <a:srgbClr val="B9B4A9"/>
                      </a:solidFill>
                      <a:prstDash val="solid"/>
                      <a:round/>
                      <a:headEnd type="none" w="med" len="med"/>
                      <a:tailEnd type="none" w="med" len="med"/>
                    </a:lnR>
                    <a:lnT w="12700" cap="flat" cmpd="sng" algn="ctr">
                      <a:solidFill>
                        <a:srgbClr val="161410"/>
                      </a:solidFill>
                      <a:prstDash val="solid"/>
                      <a:round/>
                      <a:headEnd type="none" w="med" len="med"/>
                      <a:tailEnd type="none" w="med" len="med"/>
                    </a:lnT>
                    <a:lnB w="12700" cap="flat" cmpd="sng" algn="ctr">
                      <a:solidFill>
                        <a:srgbClr val="B9B4A9"/>
                      </a:solidFill>
                      <a:prstDash val="solid"/>
                      <a:round/>
                      <a:headEnd type="none" w="med" len="med"/>
                      <a:tailEnd type="none" w="med" len="med"/>
                    </a:lnB>
                    <a:solidFill>
                      <a:srgbClr val="E8E1D3"/>
                    </a:solidFill>
                  </a:tcPr>
                </a:tc>
                <a:tc>
                  <a:txBody>
                    <a:bodyPr/>
                    <a:lstStyle/>
                    <a:p>
                      <a:pPr marL="0" indent="0">
                        <a:lnSpc>
                          <a:spcPts val="1536"/>
                        </a:lnSpc>
                        <a:buNone/>
                      </a:pPr>
                      <a:r>
                        <a:rPr lang="en-US" sz="1097" dirty="0">
                          <a:solidFill>
                            <a:srgbClr val="17140F"/>
                          </a:solidFill>
                          <a:latin typeface="Arial" pitchFamily="34" charset="0"/>
                          <a:ea typeface="Arial" pitchFamily="34" charset="-122"/>
                          <a:cs typeface="Arial" pitchFamily="34" charset="-120"/>
                        </a:rPr>
                        <a:t>Weekday offsite package, per head, with venue, activities and a facilitator bundled</a:t>
                      </a:r>
                      <a:endParaRPr lang="en-US" sz="1097" dirty="0">
                        <a:latin typeface="Arial" charset="0"/>
                        <a:ea typeface="Arial" charset="0"/>
                        <a:cs typeface="Arial" charset="0"/>
                      </a:endParaRPr>
                    </a:p>
                  </a:txBody>
                  <a:tcPr marL="48756" marR="48756" marT="48756" marB="48756">
                    <a:lnL w="12700" cap="flat" cmpd="sng" algn="ctr">
                      <a:solidFill>
                        <a:srgbClr val="B9B4A9"/>
                      </a:solidFill>
                      <a:prstDash val="solid"/>
                      <a:round/>
                      <a:headEnd type="none" w="med" len="med"/>
                      <a:tailEnd type="none" w="med" len="med"/>
                    </a:lnL>
                    <a:lnR w="12700" cap="flat" cmpd="sng" algn="ctr">
                      <a:solidFill>
                        <a:srgbClr val="B9B4A9"/>
                      </a:solidFill>
                      <a:prstDash val="solid"/>
                      <a:round/>
                      <a:headEnd type="none" w="med" len="med"/>
                      <a:tailEnd type="none" w="med" len="med"/>
                    </a:lnR>
                    <a:lnT w="12700" cap="flat" cmpd="sng" algn="ctr">
                      <a:solidFill>
                        <a:srgbClr val="161410"/>
                      </a:solidFill>
                      <a:prstDash val="solid"/>
                      <a:round/>
                      <a:headEnd type="none" w="med" len="med"/>
                      <a:tailEnd type="none" w="med" len="med"/>
                    </a:lnT>
                    <a:lnB w="12700" cap="flat" cmpd="sng" algn="ctr">
                      <a:solidFill>
                        <a:srgbClr val="B9B4A9"/>
                      </a:solidFill>
                      <a:prstDash val="solid"/>
                      <a:round/>
                      <a:headEnd type="none" w="med" len="med"/>
                      <a:tailEnd type="none" w="med" len="med"/>
                    </a:lnB>
                    <a:solidFill>
                      <a:srgbClr val="E8E1D3"/>
                    </a:solidFill>
                  </a:tcPr>
                </a:tc>
                <a:tc>
                  <a:txBody>
                    <a:bodyPr/>
                    <a:lstStyle/>
                    <a:p>
                      <a:pPr marL="0" indent="0">
                        <a:lnSpc>
                          <a:spcPts val="1536"/>
                        </a:lnSpc>
                        <a:buNone/>
                      </a:pPr>
                      <a:r>
                        <a:rPr lang="en-US" sz="1097" dirty="0">
                          <a:solidFill>
                            <a:srgbClr val="17140F"/>
                          </a:solidFill>
                          <a:latin typeface="Arial" pitchFamily="34" charset="0"/>
                          <a:ea typeface="Arial" pitchFamily="34" charset="-122"/>
                          <a:cs typeface="Arial" pitchFamily="34" charset="-120"/>
                        </a:rPr>
                        <a:t>LinkedIn, direct HR outreach, Google search</a:t>
                      </a:r>
                      <a:endParaRPr lang="en-US" sz="1097" dirty="0">
                        <a:latin typeface="Arial" charset="0"/>
                        <a:ea typeface="Arial" charset="0"/>
                        <a:cs typeface="Arial" charset="0"/>
                      </a:endParaRPr>
                    </a:p>
                  </a:txBody>
                  <a:tcPr marL="48756" marR="48756" marT="48756" marB="48756">
                    <a:lnL w="12700" cap="flat" cmpd="sng" algn="ctr">
                      <a:solidFill>
                        <a:srgbClr val="B9B4A9"/>
                      </a:solidFill>
                      <a:prstDash val="solid"/>
                      <a:round/>
                      <a:headEnd type="none" w="med" len="med"/>
                      <a:tailEnd type="none" w="med" len="med"/>
                    </a:lnL>
                    <a:lnR w="12700" cap="flat" cmpd="sng" algn="ctr">
                      <a:solidFill>
                        <a:srgbClr val="B9B4A9"/>
                      </a:solidFill>
                      <a:prstDash val="solid"/>
                      <a:round/>
                      <a:headEnd type="none" w="med" len="med"/>
                      <a:tailEnd type="none" w="med" len="med"/>
                    </a:lnR>
                    <a:lnT w="12700" cap="flat" cmpd="sng" algn="ctr">
                      <a:solidFill>
                        <a:srgbClr val="161410"/>
                      </a:solidFill>
                      <a:prstDash val="solid"/>
                      <a:round/>
                      <a:headEnd type="none" w="med" len="med"/>
                      <a:tailEnd type="none" w="med" len="med"/>
                    </a:lnT>
                    <a:lnB w="12700" cap="flat" cmpd="sng" algn="ctr">
                      <a:solidFill>
                        <a:srgbClr val="B9B4A9"/>
                      </a:solidFill>
                      <a:prstDash val="solid"/>
                      <a:round/>
                      <a:headEnd type="none" w="med" len="med"/>
                      <a:tailEnd type="none" w="med" len="med"/>
                    </a:lnB>
                    <a:solidFill>
                      <a:srgbClr val="E8E1D3"/>
                    </a:solidFill>
                  </a:tcPr>
                </a:tc>
                <a:extLst>
                  <a:ext uri="{0D108BD9-81ED-4DB2-BD59-A6C34878D82A}">
                    <a16:rowId xmlns:a16="http://schemas.microsoft.com/office/drawing/2014/main" val="10001"/>
                  </a:ext>
                </a:extLst>
              </a:tr>
              <a:tr h="497284">
                <a:tc>
                  <a:txBody>
                    <a:bodyPr/>
                    <a:lstStyle/>
                    <a:p>
                      <a:pPr marL="0" indent="0">
                        <a:lnSpc>
                          <a:spcPts val="1536"/>
                        </a:lnSpc>
                        <a:buNone/>
                      </a:pPr>
                      <a:r>
                        <a:rPr lang="en-US" sz="1097" dirty="0">
                          <a:solidFill>
                            <a:srgbClr val="17140F"/>
                          </a:solidFill>
                          <a:latin typeface="Arial" pitchFamily="34" charset="0"/>
                          <a:ea typeface="Arial" pitchFamily="34" charset="-122"/>
                          <a:cs typeface="Arial" pitchFamily="34" charset="-120"/>
                        </a:rPr>
                        <a:t>Remote and hybrid workers</a:t>
                      </a:r>
                      <a:endParaRPr lang="en-US" sz="1097" dirty="0">
                        <a:latin typeface="Arial" charset="0"/>
                        <a:ea typeface="Arial" charset="0"/>
                        <a:cs typeface="Arial" charset="0"/>
                      </a:endParaRPr>
                    </a:p>
                  </a:txBody>
                  <a:tcPr marL="48756" marR="48756" marT="48756" marB="48756">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B9B4A9"/>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536"/>
                        </a:lnSpc>
                        <a:buNone/>
                      </a:pPr>
                      <a:r>
                        <a:rPr lang="en-US" sz="1097" dirty="0">
                          <a:solidFill>
                            <a:srgbClr val="17140F"/>
                          </a:solidFill>
                          <a:latin typeface="Arial" pitchFamily="34" charset="0"/>
                          <a:ea typeface="Arial" pitchFamily="34" charset="-122"/>
                          <a:cs typeface="Arial" pitchFamily="34" charset="-120"/>
                        </a:rPr>
                        <a:t>Their week is flexible</a:t>
                      </a:r>
                      <a:endParaRPr lang="en-US" sz="1097" dirty="0">
                        <a:latin typeface="Arial" charset="0"/>
                        <a:ea typeface="Arial" charset="0"/>
                        <a:cs typeface="Arial" charset="0"/>
                      </a:endParaRPr>
                    </a:p>
                  </a:txBody>
                  <a:tcPr marL="48756" marR="48756" marT="48756" marB="48756">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B9B4A9"/>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536"/>
                        </a:lnSpc>
                        <a:buNone/>
                      </a:pPr>
                      <a:r>
                        <a:rPr lang="en-US" sz="1097" dirty="0">
                          <a:solidFill>
                            <a:srgbClr val="17140F"/>
                          </a:solidFill>
                          <a:latin typeface="Arial" pitchFamily="34" charset="0"/>
                          <a:ea typeface="Arial" pitchFamily="34" charset="-122"/>
                          <a:cs typeface="Arial" pitchFamily="34" charset="-120"/>
                        </a:rPr>
                        <a:t>Work-from-the-cave day pass: quiet space, connectivity, lunch, spa slot after</a:t>
                      </a:r>
                      <a:endParaRPr lang="en-US" sz="1097" dirty="0">
                        <a:latin typeface="Arial" charset="0"/>
                        <a:ea typeface="Arial" charset="0"/>
                        <a:cs typeface="Arial" charset="0"/>
                      </a:endParaRPr>
                    </a:p>
                  </a:txBody>
                  <a:tcPr marL="48756" marR="48756" marT="48756" marB="48756">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B9B4A9"/>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536"/>
                        </a:lnSpc>
                        <a:buNone/>
                      </a:pPr>
                      <a:r>
                        <a:rPr lang="en-US" sz="1097" dirty="0">
                          <a:solidFill>
                            <a:srgbClr val="17140F"/>
                          </a:solidFill>
                          <a:latin typeface="Arial" pitchFamily="34" charset="0"/>
                          <a:ea typeface="Arial" pitchFamily="34" charset="-122"/>
                          <a:cs typeface="Arial" pitchFamily="34" charset="-120"/>
                        </a:rPr>
                        <a:t>Instagram Reels, creator content</a:t>
                      </a:r>
                      <a:endParaRPr lang="en-US" sz="1097" dirty="0">
                        <a:latin typeface="Arial" charset="0"/>
                        <a:ea typeface="Arial" charset="0"/>
                        <a:cs typeface="Arial" charset="0"/>
                      </a:endParaRPr>
                    </a:p>
                  </a:txBody>
                  <a:tcPr marL="48756" marR="48756" marT="48756" marB="48756">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B9B4A9"/>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extLst>
                  <a:ext uri="{0D108BD9-81ED-4DB2-BD59-A6C34878D82A}">
                    <a16:rowId xmlns:a16="http://schemas.microsoft.com/office/drawing/2014/main" val="10002"/>
                  </a:ext>
                </a:extLst>
              </a:tr>
              <a:tr h="497284">
                <a:tc>
                  <a:txBody>
                    <a:bodyPr/>
                    <a:lstStyle/>
                    <a:p>
                      <a:pPr marL="0" indent="0">
                        <a:lnSpc>
                          <a:spcPts val="1536"/>
                        </a:lnSpc>
                        <a:buNone/>
                      </a:pPr>
                      <a:r>
                        <a:rPr lang="en-US" sz="1097" dirty="0">
                          <a:solidFill>
                            <a:srgbClr val="17140F"/>
                          </a:solidFill>
                          <a:latin typeface="Arial" pitchFamily="34" charset="0"/>
                          <a:ea typeface="Arial" pitchFamily="34" charset="-122"/>
                          <a:cs typeface="Arial" pitchFamily="34" charset="-120"/>
                        </a:rPr>
                        <a:t>Couples on flexible leave</a:t>
                      </a:r>
                      <a:endParaRPr lang="en-US" sz="1097" dirty="0">
                        <a:latin typeface="Arial" charset="0"/>
                        <a:ea typeface="Arial" charset="0"/>
                        <a:cs typeface="Arial" charset="0"/>
                      </a:endParaRPr>
                    </a:p>
                  </a:txBody>
                  <a:tcPr marL="48756" marR="48756" marT="48756" marB="48756">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536"/>
                        </a:lnSpc>
                        <a:buNone/>
                      </a:pPr>
                      <a:r>
                        <a:rPr lang="en-US" sz="1097" dirty="0">
                          <a:solidFill>
                            <a:srgbClr val="17140F"/>
                          </a:solidFill>
                          <a:latin typeface="Arial" pitchFamily="34" charset="0"/>
                          <a:ea typeface="Arial" pitchFamily="34" charset="-122"/>
                          <a:cs typeface="Arial" pitchFamily="34" charset="-120"/>
                        </a:rPr>
                        <a:t>Weekday rooms are cheaper and quieter</a:t>
                      </a:r>
                      <a:endParaRPr lang="en-US" sz="1097" dirty="0">
                        <a:latin typeface="Arial" charset="0"/>
                        <a:ea typeface="Arial" charset="0"/>
                        <a:cs typeface="Arial" charset="0"/>
                      </a:endParaRPr>
                    </a:p>
                  </a:txBody>
                  <a:tcPr marL="48756" marR="48756" marT="48756" marB="48756">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536"/>
                        </a:lnSpc>
                        <a:buNone/>
                      </a:pPr>
                      <a:r>
                        <a:rPr lang="en-US" sz="1097" dirty="0">
                          <a:solidFill>
                            <a:srgbClr val="17140F"/>
                          </a:solidFill>
                          <a:latin typeface="Arial" pitchFamily="34" charset="0"/>
                          <a:ea typeface="Arial" pitchFamily="34" charset="-122"/>
                          <a:cs typeface="Arial" pitchFamily="34" charset="-120"/>
                        </a:rPr>
                        <a:t>A midweek stay framed as the quiet version, not the discounted one</a:t>
                      </a:r>
                      <a:endParaRPr lang="en-US" sz="1097" dirty="0">
                        <a:latin typeface="Arial" charset="0"/>
                        <a:ea typeface="Arial" charset="0"/>
                        <a:cs typeface="Arial" charset="0"/>
                      </a:endParaRPr>
                    </a:p>
                  </a:txBody>
                  <a:tcPr marL="48756" marR="48756" marT="48756" marB="48756">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536"/>
                        </a:lnSpc>
                        <a:buNone/>
                      </a:pPr>
                      <a:r>
                        <a:rPr lang="en-US" sz="1097" dirty="0">
                          <a:solidFill>
                            <a:srgbClr val="17140F"/>
                          </a:solidFill>
                          <a:latin typeface="Arial" pitchFamily="34" charset="0"/>
                          <a:ea typeface="Arial" pitchFamily="34" charset="-122"/>
                          <a:cs typeface="Arial" pitchFamily="34" charset="-120"/>
                        </a:rPr>
                        <a:t>Reels, saves, retargeting</a:t>
                      </a:r>
                      <a:endParaRPr lang="en-US" sz="1097" dirty="0">
                        <a:latin typeface="Arial" charset="0"/>
                        <a:ea typeface="Arial" charset="0"/>
                        <a:cs typeface="Arial" charset="0"/>
                      </a:endParaRPr>
                    </a:p>
                  </a:txBody>
                  <a:tcPr marL="48756" marR="48756" marT="48756" marB="48756">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extLst>
                  <a:ext uri="{0D108BD9-81ED-4DB2-BD59-A6C34878D82A}">
                    <a16:rowId xmlns:a16="http://schemas.microsoft.com/office/drawing/2014/main" val="10003"/>
                  </a:ext>
                </a:extLst>
              </a:tr>
              <a:tr h="497364">
                <a:tc>
                  <a:txBody>
                    <a:bodyPr/>
                    <a:lstStyle/>
                    <a:p>
                      <a:pPr marL="0" indent="0">
                        <a:lnSpc>
                          <a:spcPts val="1536"/>
                        </a:lnSpc>
                        <a:buNone/>
                      </a:pPr>
                      <a:r>
                        <a:rPr lang="en-US" sz="1097" dirty="0">
                          <a:solidFill>
                            <a:srgbClr val="17140F"/>
                          </a:solidFill>
                          <a:latin typeface="Arial" pitchFamily="34" charset="0"/>
                          <a:ea typeface="Arial" pitchFamily="34" charset="-122"/>
                          <a:cs typeface="Arial" pitchFamily="34" charset="-120"/>
                        </a:rPr>
                        <a:t>Retirees and wellness seekers</a:t>
                      </a:r>
                      <a:endParaRPr lang="en-US" sz="1097" dirty="0">
                        <a:latin typeface="Arial" charset="0"/>
                        <a:ea typeface="Arial" charset="0"/>
                        <a:cs typeface="Arial" charset="0"/>
                      </a:endParaRPr>
                    </a:p>
                  </a:txBody>
                  <a:tcPr marL="48756" marR="48756" marT="48756" marB="48756">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536"/>
                        </a:lnSpc>
                        <a:buNone/>
                      </a:pPr>
                      <a:r>
                        <a:rPr lang="en-US" sz="1097" dirty="0">
                          <a:solidFill>
                            <a:srgbClr val="17140F"/>
                          </a:solidFill>
                          <a:latin typeface="Arial" pitchFamily="34" charset="0"/>
                          <a:ea typeface="Arial" pitchFamily="34" charset="-122"/>
                          <a:cs typeface="Arial" pitchFamily="34" charset="-120"/>
                        </a:rPr>
                        <a:t>Time is not the constraint</a:t>
                      </a:r>
                      <a:endParaRPr lang="en-US" sz="1097" dirty="0">
                        <a:latin typeface="Arial" charset="0"/>
                        <a:ea typeface="Arial" charset="0"/>
                        <a:cs typeface="Arial" charset="0"/>
                      </a:endParaRPr>
                    </a:p>
                  </a:txBody>
                  <a:tcPr marL="48756" marR="48756" marT="48756" marB="48756">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536"/>
                        </a:lnSpc>
                        <a:buNone/>
                      </a:pPr>
                      <a:r>
                        <a:rPr lang="en-US" sz="1097" dirty="0">
                          <a:solidFill>
                            <a:srgbClr val="17140F"/>
                          </a:solidFill>
                          <a:latin typeface="Arial" pitchFamily="34" charset="0"/>
                          <a:ea typeface="Arial" pitchFamily="34" charset="-122"/>
                          <a:cs typeface="Arial" pitchFamily="34" charset="-120"/>
                        </a:rPr>
                        <a:t>Weekday spa-and-stay built around Agastya Kuteera</a:t>
                      </a:r>
                      <a:endParaRPr lang="en-US" sz="1097" dirty="0">
                        <a:latin typeface="Arial" charset="0"/>
                        <a:ea typeface="Arial" charset="0"/>
                        <a:cs typeface="Arial" charset="0"/>
                      </a:endParaRPr>
                    </a:p>
                  </a:txBody>
                  <a:tcPr marL="48756" marR="48756" marT="48756" marB="48756">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536"/>
                        </a:lnSpc>
                        <a:buNone/>
                      </a:pPr>
                      <a:r>
                        <a:rPr lang="en-US" sz="1097" dirty="0">
                          <a:solidFill>
                            <a:srgbClr val="17140F"/>
                          </a:solidFill>
                          <a:latin typeface="Arial" pitchFamily="34" charset="0"/>
                          <a:ea typeface="Arial" pitchFamily="34" charset="-122"/>
                          <a:cs typeface="Arial" pitchFamily="34" charset="-120"/>
                        </a:rPr>
                        <a:t>Facebook, WhatsApp, local search</a:t>
                      </a:r>
                      <a:endParaRPr lang="en-US" sz="1097" dirty="0">
                        <a:latin typeface="Arial" charset="0"/>
                        <a:ea typeface="Arial" charset="0"/>
                        <a:cs typeface="Arial" charset="0"/>
                      </a:endParaRPr>
                    </a:p>
                  </a:txBody>
                  <a:tcPr marL="48756" marR="48756" marT="48756" marB="48756">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extLst>
                  <a:ext uri="{0D108BD9-81ED-4DB2-BD59-A6C34878D82A}">
                    <a16:rowId xmlns:a16="http://schemas.microsoft.com/office/drawing/2014/main" val="10004"/>
                  </a:ext>
                </a:extLst>
              </a:tr>
              <a:tr h="497364">
                <a:tc>
                  <a:txBody>
                    <a:bodyPr/>
                    <a:lstStyle/>
                    <a:p>
                      <a:pPr marL="0" indent="0">
                        <a:lnSpc>
                          <a:spcPts val="1536"/>
                        </a:lnSpc>
                        <a:buNone/>
                      </a:pPr>
                      <a:r>
                        <a:rPr lang="en-US" sz="1097" dirty="0">
                          <a:solidFill>
                            <a:srgbClr val="17140F"/>
                          </a:solidFill>
                          <a:latin typeface="Arial" pitchFamily="34" charset="0"/>
                          <a:ea typeface="Arial" pitchFamily="34" charset="-122"/>
                          <a:cs typeface="Arial" pitchFamily="34" charset="-120"/>
                        </a:rPr>
                        <a:t>Event and wedding planners</a:t>
                      </a:r>
                      <a:endParaRPr lang="en-US" sz="1097" dirty="0">
                        <a:latin typeface="Arial" charset="0"/>
                        <a:ea typeface="Arial" charset="0"/>
                        <a:cs typeface="Arial" charset="0"/>
                      </a:endParaRPr>
                    </a:p>
                  </a:txBody>
                  <a:tcPr marL="48756" marR="48756" marT="48756" marB="48756">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536"/>
                        </a:lnSpc>
                        <a:buNone/>
                      </a:pPr>
                      <a:r>
                        <a:rPr lang="en-US" sz="1097" dirty="0">
                          <a:solidFill>
                            <a:srgbClr val="17140F"/>
                          </a:solidFill>
                          <a:latin typeface="Arial" pitchFamily="34" charset="0"/>
                          <a:ea typeface="Arial" pitchFamily="34" charset="-122"/>
                          <a:cs typeface="Arial" pitchFamily="34" charset="-120"/>
                        </a:rPr>
                        <a:t>Scouting and small functions happen midweek</a:t>
                      </a:r>
                      <a:endParaRPr lang="en-US" sz="1097" dirty="0">
                        <a:latin typeface="Arial" charset="0"/>
                        <a:ea typeface="Arial" charset="0"/>
                        <a:cs typeface="Arial" charset="0"/>
                      </a:endParaRPr>
                    </a:p>
                  </a:txBody>
                  <a:tcPr marL="48756" marR="48756" marT="48756" marB="48756">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536"/>
                        </a:lnSpc>
                        <a:buNone/>
                      </a:pPr>
                      <a:r>
                        <a:rPr lang="en-US" sz="1097" dirty="0">
                          <a:solidFill>
                            <a:srgbClr val="17140F"/>
                          </a:solidFill>
                          <a:latin typeface="Arial" pitchFamily="34" charset="0"/>
                          <a:ea typeface="Arial" pitchFamily="34" charset="-122"/>
                          <a:cs typeface="Arial" pitchFamily="34" charset="-120"/>
                        </a:rPr>
                        <a:t>Weekday site visit and a weekday function rate</a:t>
                      </a:r>
                      <a:endParaRPr lang="en-US" sz="1097" dirty="0">
                        <a:latin typeface="Arial" charset="0"/>
                        <a:ea typeface="Arial" charset="0"/>
                        <a:cs typeface="Arial" charset="0"/>
                      </a:endParaRPr>
                    </a:p>
                  </a:txBody>
                  <a:tcPr marL="48756" marR="48756" marT="48756" marB="48756">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536"/>
                        </a:lnSpc>
                        <a:buNone/>
                      </a:pPr>
                      <a:r>
                        <a:rPr lang="en-US" sz="1097" dirty="0">
                          <a:solidFill>
                            <a:srgbClr val="17140F"/>
                          </a:solidFill>
                          <a:latin typeface="Arial" pitchFamily="34" charset="0"/>
                          <a:ea typeface="Arial" pitchFamily="34" charset="-122"/>
                          <a:cs typeface="Arial" pitchFamily="34" charset="-120"/>
                        </a:rPr>
                        <a:t>Venue platforms, referral</a:t>
                      </a:r>
                      <a:endParaRPr lang="en-US" sz="1097" dirty="0">
                        <a:latin typeface="Arial" charset="0"/>
                        <a:ea typeface="Arial" charset="0"/>
                        <a:cs typeface="Arial" charset="0"/>
                      </a:endParaRPr>
                    </a:p>
                  </a:txBody>
                  <a:tcPr marL="48756" marR="48756" marT="48756" marB="48756">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4" name="Shape 1"/>
          <p:cNvSpPr/>
          <p:nvPr/>
        </p:nvSpPr>
        <p:spPr>
          <a:xfrm>
            <a:off x="812800" y="4598516"/>
            <a:ext cx="5181600" cy="1243489"/>
          </a:xfrm>
          <a:prstGeom prst="roundRect">
            <a:avLst>
              <a:gd name="adj" fmla="val 8171"/>
            </a:avLst>
          </a:prstGeom>
          <a:solidFill>
            <a:srgbClr val="17140F"/>
          </a:solidFill>
          <a:ln/>
        </p:spPr>
      </p:sp>
      <p:sp>
        <p:nvSpPr>
          <p:cNvPr id="5" name="Text 2"/>
          <p:cNvSpPr/>
          <p:nvPr/>
        </p:nvSpPr>
        <p:spPr>
          <a:xfrm>
            <a:off x="1041400" y="4827116"/>
            <a:ext cx="4866132" cy="811689"/>
          </a:xfrm>
          <a:prstGeom prst="rect">
            <a:avLst/>
          </a:prstGeom>
          <a:noFill/>
          <a:ln/>
        </p:spPr>
        <p:txBody>
          <a:bodyPr wrap="square" lIns="0" tIns="0" rIns="0" bIns="0" rtlCol="0" anchor="t">
            <a:normAutofit/>
          </a:bodyPr>
          <a:lstStyle/>
          <a:p>
            <a:pPr marL="0" indent="0" algn="l">
              <a:lnSpc>
                <a:spcPts val="1649"/>
              </a:lnSpc>
              <a:buNone/>
            </a:pPr>
            <a:r>
              <a:rPr lang="en-US" sz="1137" b="1" dirty="0">
                <a:solidFill>
                  <a:srgbClr val="F7F3EA"/>
                </a:solidFill>
                <a:latin typeface="Arial" pitchFamily="34" charset="0"/>
                <a:ea typeface="Arial" pitchFamily="34" charset="-122"/>
                <a:cs typeface="Arial" pitchFamily="34" charset="-120"/>
              </a:rPr>
              <a:t>Corporate is the biggest and the easiest.</a:t>
            </a:r>
            <a:r>
              <a:rPr lang="en-US" sz="1137" dirty="0">
                <a:solidFill>
                  <a:srgbClr val="F7F3EA"/>
                </a:solidFill>
                <a:latin typeface="Arial" pitchFamily="34" charset="0"/>
                <a:ea typeface="Arial" pitchFamily="34" charset="-122"/>
                <a:cs typeface="Arial" pitchFamily="34" charset="-120"/>
              </a:rPr>
              <a:t> One person with a budget and a deadline, rather than a crowd to persuade. Guhantara already has the amphitheatre, the conference space, 18 rooms and one enclosed site.</a:t>
            </a:r>
            <a:endParaRPr lang="en-US" sz="1137" dirty="0"/>
          </a:p>
        </p:txBody>
      </p:sp>
      <p:sp>
        <p:nvSpPr>
          <p:cNvPr id="6" name="Shape 3"/>
          <p:cNvSpPr/>
          <p:nvPr/>
        </p:nvSpPr>
        <p:spPr>
          <a:xfrm>
            <a:off x="6197600" y="4598516"/>
            <a:ext cx="5181600" cy="1243489"/>
          </a:xfrm>
          <a:prstGeom prst="roundRect">
            <a:avLst>
              <a:gd name="adj" fmla="val 8171"/>
            </a:avLst>
          </a:prstGeom>
          <a:solidFill>
            <a:srgbClr val="17140F"/>
          </a:solidFill>
          <a:ln/>
        </p:spPr>
      </p:sp>
      <p:sp>
        <p:nvSpPr>
          <p:cNvPr id="7" name="Text 4"/>
          <p:cNvSpPr/>
          <p:nvPr/>
        </p:nvSpPr>
        <p:spPr>
          <a:xfrm>
            <a:off x="6426200" y="4827116"/>
            <a:ext cx="4866132" cy="811689"/>
          </a:xfrm>
          <a:prstGeom prst="rect">
            <a:avLst/>
          </a:prstGeom>
          <a:noFill/>
          <a:ln/>
        </p:spPr>
        <p:txBody>
          <a:bodyPr wrap="square" lIns="0" tIns="0" rIns="0" bIns="0" rtlCol="0" anchor="t">
            <a:normAutofit/>
          </a:bodyPr>
          <a:lstStyle/>
          <a:p>
            <a:pPr marL="0" indent="0" algn="l">
              <a:lnSpc>
                <a:spcPts val="2070"/>
              </a:lnSpc>
              <a:buNone/>
            </a:pPr>
            <a:r>
              <a:rPr lang="en-US" sz="1427" b="1" dirty="0">
                <a:solidFill>
                  <a:srgbClr val="F7F3EA"/>
                </a:solidFill>
                <a:latin typeface="Arial" pitchFamily="34" charset="0"/>
                <a:ea typeface="Arial" pitchFamily="34" charset="-122"/>
                <a:cs typeface="Arial" pitchFamily="34" charset="-120"/>
              </a:rPr>
              <a:t>And it is a repeat purchase.</a:t>
            </a:r>
            <a:r>
              <a:rPr lang="en-US" sz="1427" dirty="0">
                <a:solidFill>
                  <a:srgbClr val="F7F3EA"/>
                </a:solidFill>
                <a:latin typeface="Arial" pitchFamily="34" charset="0"/>
                <a:ea typeface="Arial" pitchFamily="34" charset="-122"/>
                <a:cs typeface="Arial" pitchFamily="34" charset="-120"/>
              </a:rPr>
              <a:t> A good offsite books again next year — but only if the buyer is captured in a CRM. This is where the tracking work pays for itself.</a:t>
            </a:r>
            <a:endParaRPr lang="en-US" sz="1427" dirty="0"/>
          </a:p>
        </p:txBody>
      </p:sp>
      <p:sp>
        <p:nvSpPr>
          <p:cNvPr id="8" name="Text 5"/>
          <p:cNvSpPr/>
          <p:nvPr/>
        </p:nvSpPr>
        <p:spPr>
          <a:xfrm>
            <a:off x="812800" y="6238255"/>
            <a:ext cx="33507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071"/>
                </a:solidFill>
                <a:latin typeface="Arial" pitchFamily="34" charset="0"/>
                <a:ea typeface="Arial" pitchFamily="34" charset="-122"/>
                <a:cs typeface="Arial" pitchFamily="34" charset="-120"/>
              </a:rPr>
              <a:t>Proposed segments to test, not proven demand.</a:t>
            </a:r>
            <a:endParaRPr lang="en-US" sz="12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1">
    <p:bg>
      <p:bgPr>
        <a:solidFill>
          <a:srgbClr val="C9A63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1003062"/>
          </a:xfrm>
          <a:prstGeom prst="rect">
            <a:avLst/>
          </a:prstGeom>
          <a:noFill/>
          <a:ln/>
        </p:spPr>
        <p:txBody>
          <a:bodyPr wrap="square" lIns="0" tIns="0" rIns="0" bIns="0" rtlCol="0" anchor="t">
            <a:normAutofit/>
          </a:bodyPr>
          <a:lstStyle/>
          <a:p>
            <a:pPr marL="0" indent="0" algn="l">
              <a:lnSpc>
                <a:spcPts val="3855"/>
              </a:lnSpc>
              <a:buNone/>
            </a:pPr>
            <a:r>
              <a:rPr lang="en-US" sz="3671" dirty="0">
                <a:solidFill>
                  <a:srgbClr val="17140F"/>
                </a:solidFill>
                <a:latin typeface="Georgia" pitchFamily="34" charset="0"/>
                <a:ea typeface="Georgia" pitchFamily="34" charset="-122"/>
                <a:cs typeface="Georgia" pitchFamily="34" charset="-120"/>
              </a:rPr>
              <a:t>Two rules that stop this becoming another discount</a:t>
            </a:r>
            <a:endParaRPr lang="en-US" sz="3671" dirty="0"/>
          </a:p>
        </p:txBody>
      </p:sp>
      <p:sp>
        <p:nvSpPr>
          <p:cNvPr id="3" name="Shape 1"/>
          <p:cNvSpPr/>
          <p:nvPr/>
        </p:nvSpPr>
        <p:spPr>
          <a:xfrm>
            <a:off x="812800" y="2069877"/>
            <a:ext cx="5181600" cy="2412286"/>
          </a:xfrm>
          <a:prstGeom prst="roundRect">
            <a:avLst>
              <a:gd name="adj" fmla="val 4212"/>
            </a:avLst>
          </a:prstGeom>
          <a:solidFill>
            <a:srgbClr val="17140F"/>
          </a:solidFill>
          <a:ln/>
        </p:spPr>
      </p:sp>
      <p:sp>
        <p:nvSpPr>
          <p:cNvPr id="4" name="Text 2"/>
          <p:cNvSpPr/>
          <p:nvPr/>
        </p:nvSpPr>
        <p:spPr>
          <a:xfrm>
            <a:off x="1143000" y="2400077"/>
            <a:ext cx="4656836" cy="236061"/>
          </a:xfrm>
          <a:prstGeom prst="rect">
            <a:avLst/>
          </a:prstGeom>
          <a:noFill/>
          <a:ln/>
        </p:spPr>
        <p:txBody>
          <a:bodyPr wrap="square" lIns="0" tIns="0" rIns="0" bIns="0" rtlCol="0" anchor="t">
            <a:normAutofit/>
          </a:bodyPr>
          <a:lstStyle/>
          <a:p>
            <a:pPr marL="0" indent="0" algn="l">
              <a:lnSpc>
                <a:spcPts val="1672"/>
              </a:lnSpc>
              <a:buNone/>
            </a:pPr>
            <a:r>
              <a:rPr lang="en-US" sz="1194" dirty="0">
                <a:solidFill>
                  <a:srgbClr val="C9A63C"/>
                </a:solidFill>
                <a:latin typeface="Arial" pitchFamily="34" charset="0"/>
                <a:ea typeface="Arial" pitchFamily="34" charset="-122"/>
                <a:cs typeface="Arial" pitchFamily="34" charset="-120"/>
              </a:rPr>
              <a:t>Rule one</a:t>
            </a:r>
            <a:endParaRPr lang="en-US" sz="1194" dirty="0"/>
          </a:p>
        </p:txBody>
      </p:sp>
      <p:sp>
        <p:nvSpPr>
          <p:cNvPr id="5" name="Text 3"/>
          <p:cNvSpPr/>
          <p:nvPr/>
        </p:nvSpPr>
        <p:spPr>
          <a:xfrm>
            <a:off x="1143000" y="2725018"/>
            <a:ext cx="4656836" cy="330994"/>
          </a:xfrm>
          <a:prstGeom prst="rect">
            <a:avLst/>
          </a:prstGeom>
          <a:noFill/>
          <a:ln/>
        </p:spPr>
        <p:txBody>
          <a:bodyPr wrap="square" lIns="0" tIns="0" rIns="0" bIns="0" rtlCol="0" anchor="t">
            <a:normAutofit/>
          </a:bodyPr>
          <a:lstStyle/>
          <a:p>
            <a:pPr marL="0" indent="0" algn="l">
              <a:lnSpc>
                <a:spcPts val="2417"/>
              </a:lnSpc>
              <a:buNone/>
            </a:pPr>
            <a:r>
              <a:rPr lang="en-US" sz="2014" b="1" dirty="0">
                <a:solidFill>
                  <a:srgbClr val="F7F3EA"/>
                </a:solidFill>
                <a:latin typeface="Arial" pitchFamily="34" charset="0"/>
                <a:ea typeface="Arial" pitchFamily="34" charset="-122"/>
                <a:cs typeface="Arial" pitchFamily="34" charset="-120"/>
              </a:rPr>
              <a:t>Add value, do not cut price</a:t>
            </a:r>
            <a:endParaRPr lang="en-US" sz="2014" dirty="0"/>
          </a:p>
        </p:txBody>
      </p:sp>
      <p:sp>
        <p:nvSpPr>
          <p:cNvPr id="6" name="Text 4"/>
          <p:cNvSpPr/>
          <p:nvPr/>
        </p:nvSpPr>
        <p:spPr>
          <a:xfrm>
            <a:off x="1143000" y="3144912"/>
            <a:ext cx="4656836" cy="1032431"/>
          </a:xfrm>
          <a:prstGeom prst="rect">
            <a:avLst/>
          </a:prstGeom>
          <a:noFill/>
          <a:ln/>
        </p:spPr>
        <p:txBody>
          <a:bodyPr wrap="square" lIns="0" tIns="0" rIns="0" bIns="0" rtlCol="0" anchor="t">
            <a:normAutofit/>
          </a:bodyPr>
          <a:lstStyle/>
          <a:p>
            <a:pPr marL="0" indent="0" algn="l">
              <a:lnSpc>
                <a:spcPts val="1991"/>
              </a:lnSpc>
              <a:buNone/>
            </a:pPr>
            <a:r>
              <a:rPr lang="en-US" sz="1373" dirty="0">
                <a:solidFill>
                  <a:srgbClr val="A79C89"/>
                </a:solidFill>
                <a:latin typeface="Arial" pitchFamily="34" charset="0"/>
                <a:ea typeface="Arial" pitchFamily="34" charset="-122"/>
                <a:cs typeface="Arial" pitchFamily="34" charset="-120"/>
              </a:rPr>
              <a:t>A weekday offer that includes something the weekend crowd cannot get — a private amphitheatre slot, a guided tunnel trek, a facilitator, a spa credit — protects the rate and trains nobody to wait for a code.</a:t>
            </a:r>
            <a:endParaRPr lang="en-US" sz="1373" dirty="0"/>
          </a:p>
        </p:txBody>
      </p:sp>
      <p:sp>
        <p:nvSpPr>
          <p:cNvPr id="7" name="Shape 5"/>
          <p:cNvSpPr/>
          <p:nvPr/>
        </p:nvSpPr>
        <p:spPr>
          <a:xfrm>
            <a:off x="6197600" y="2069877"/>
            <a:ext cx="5181600" cy="2412286"/>
          </a:xfrm>
          <a:prstGeom prst="roundRect">
            <a:avLst>
              <a:gd name="adj" fmla="val 4212"/>
            </a:avLst>
          </a:prstGeom>
          <a:solidFill>
            <a:srgbClr val="17140F"/>
          </a:solidFill>
          <a:ln/>
        </p:spPr>
      </p:sp>
      <p:sp>
        <p:nvSpPr>
          <p:cNvPr id="8" name="Text 6"/>
          <p:cNvSpPr/>
          <p:nvPr/>
        </p:nvSpPr>
        <p:spPr>
          <a:xfrm>
            <a:off x="6527800" y="2400077"/>
            <a:ext cx="4656836" cy="200898"/>
          </a:xfrm>
          <a:prstGeom prst="rect">
            <a:avLst/>
          </a:prstGeom>
          <a:noFill/>
          <a:ln/>
        </p:spPr>
        <p:txBody>
          <a:bodyPr wrap="square" lIns="0" tIns="0" rIns="0" bIns="0" rtlCol="0" anchor="t">
            <a:normAutofit/>
          </a:bodyPr>
          <a:lstStyle/>
          <a:p>
            <a:pPr marL="0" indent="0" algn="l">
              <a:lnSpc>
                <a:spcPts val="1422"/>
              </a:lnSpc>
              <a:buNone/>
            </a:pPr>
            <a:r>
              <a:rPr lang="en-US" sz="1016" dirty="0">
                <a:solidFill>
                  <a:srgbClr val="C9A63C"/>
                </a:solidFill>
                <a:latin typeface="Arial" pitchFamily="34" charset="0"/>
                <a:ea typeface="Arial" pitchFamily="34" charset="-122"/>
                <a:cs typeface="Arial" pitchFamily="34" charset="-120"/>
              </a:rPr>
              <a:t>Rule two</a:t>
            </a:r>
            <a:endParaRPr lang="en-US" sz="1016" dirty="0"/>
          </a:p>
        </p:txBody>
      </p:sp>
      <p:sp>
        <p:nvSpPr>
          <p:cNvPr id="9" name="Text 7"/>
          <p:cNvSpPr/>
          <p:nvPr/>
        </p:nvSpPr>
        <p:spPr>
          <a:xfrm>
            <a:off x="6527800" y="2689870"/>
            <a:ext cx="4656836" cy="534432"/>
          </a:xfrm>
          <a:prstGeom prst="rect">
            <a:avLst/>
          </a:prstGeom>
          <a:noFill/>
          <a:ln/>
        </p:spPr>
        <p:txBody>
          <a:bodyPr wrap="square" lIns="0" tIns="0" rIns="0" bIns="0" rtlCol="0" anchor="t">
            <a:normAutofit/>
          </a:bodyPr>
          <a:lstStyle/>
          <a:p>
            <a:pPr marL="0" indent="0" algn="l">
              <a:lnSpc>
                <a:spcPts val="2104"/>
              </a:lnSpc>
              <a:buNone/>
            </a:pPr>
            <a:r>
              <a:rPr lang="en-US" sz="1753" b="1" dirty="0">
                <a:solidFill>
                  <a:srgbClr val="F7F3EA"/>
                </a:solidFill>
                <a:latin typeface="Arial" pitchFamily="34" charset="0"/>
                <a:ea typeface="Arial" pitchFamily="34" charset="-122"/>
                <a:cs typeface="Arial" pitchFamily="34" charset="-120"/>
              </a:rPr>
              <a:t>Measure weekday and weekend separately</a:t>
            </a:r>
            <a:endParaRPr lang="en-US" sz="1753" dirty="0"/>
          </a:p>
        </p:txBody>
      </p:sp>
      <p:sp>
        <p:nvSpPr>
          <p:cNvPr id="10" name="Text 8"/>
          <p:cNvSpPr/>
          <p:nvPr/>
        </p:nvSpPr>
        <p:spPr>
          <a:xfrm>
            <a:off x="6527800" y="3313187"/>
            <a:ext cx="4656836" cy="864156"/>
          </a:xfrm>
          <a:prstGeom prst="rect">
            <a:avLst/>
          </a:prstGeom>
          <a:noFill/>
          <a:ln/>
        </p:spPr>
        <p:txBody>
          <a:bodyPr wrap="square" lIns="0" tIns="0" rIns="0" bIns="0" rtlCol="0" anchor="t">
            <a:normAutofit/>
          </a:bodyPr>
          <a:lstStyle/>
          <a:p>
            <a:pPr marL="0" indent="0" algn="l">
              <a:lnSpc>
                <a:spcPts val="2005"/>
              </a:lnSpc>
              <a:buNone/>
            </a:pPr>
            <a:r>
              <a:rPr lang="en-US" sz="1383" dirty="0">
                <a:solidFill>
                  <a:srgbClr val="A79C89"/>
                </a:solidFill>
                <a:latin typeface="Arial" pitchFamily="34" charset="0"/>
                <a:ea typeface="Arial" pitchFamily="34" charset="-122"/>
                <a:cs typeface="Arial" pitchFamily="34" charset="-120"/>
              </a:rPr>
              <a:t>From day one, report the two as separate lines. Otherwise a good weekend hides a bad Tuesday, and neither the client nor we can tell whether any of this worked.</a:t>
            </a:r>
            <a:endParaRPr lang="en-US" sz="1383" dirty="0"/>
          </a:p>
        </p:txBody>
      </p:sp>
      <p:sp>
        <p:nvSpPr>
          <p:cNvPr id="11" name="Shape 9"/>
          <p:cNvSpPr/>
          <p:nvPr/>
        </p:nvSpPr>
        <p:spPr>
          <a:xfrm>
            <a:off x="812800" y="4761557"/>
            <a:ext cx="10566400" cy="1080453"/>
          </a:xfrm>
          <a:prstGeom prst="roundRect">
            <a:avLst>
              <a:gd name="adj" fmla="val 9403"/>
            </a:avLst>
          </a:prstGeom>
          <a:solidFill>
            <a:srgbClr val="F7F3EA"/>
          </a:solidFill>
          <a:ln/>
        </p:spPr>
      </p:sp>
      <p:sp>
        <p:nvSpPr>
          <p:cNvPr id="12" name="Text 10"/>
          <p:cNvSpPr/>
          <p:nvPr/>
        </p:nvSpPr>
        <p:spPr>
          <a:xfrm>
            <a:off x="1092200" y="5040957"/>
            <a:ext cx="10203180" cy="547053"/>
          </a:xfrm>
          <a:prstGeom prst="rect">
            <a:avLst/>
          </a:prstGeom>
          <a:noFill/>
          <a:ln/>
        </p:spPr>
        <p:txBody>
          <a:bodyPr wrap="square" lIns="0" tIns="0" rIns="0" bIns="0" rtlCol="0" anchor="t">
            <a:normAutofit/>
          </a:bodyPr>
          <a:lstStyle/>
          <a:p>
            <a:pPr marL="0" indent="0" algn="l">
              <a:lnSpc>
                <a:spcPts val="2057"/>
              </a:lnSpc>
              <a:buNone/>
            </a:pPr>
            <a:r>
              <a:rPr lang="en-US" sz="1418" dirty="0">
                <a:solidFill>
                  <a:srgbClr val="17140F"/>
                </a:solidFill>
                <a:latin typeface="Arial" pitchFamily="34" charset="0"/>
                <a:ea typeface="Arial" pitchFamily="34" charset="-122"/>
                <a:cs typeface="Arial" pitchFamily="34" charset="-120"/>
              </a:rPr>
              <a:t>Both rules depend on the CRM and the booking event. Without them, weekday occupancy is a number somebody reads off a spreadsheet once a month, not something a campaign can be steered by.</a:t>
            </a:r>
            <a:endParaRPr lang="en-US" sz="1418" dirty="0"/>
          </a:p>
        </p:txBody>
      </p:sp>
      <p:sp>
        <p:nvSpPr>
          <p:cNvPr id="13" name="Text 11"/>
          <p:cNvSpPr/>
          <p:nvPr/>
        </p:nvSpPr>
        <p:spPr>
          <a:xfrm>
            <a:off x="812800" y="6238230"/>
            <a:ext cx="422320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5A1F"/>
                </a:solidFill>
                <a:latin typeface="Arial" pitchFamily="34" charset="0"/>
                <a:ea typeface="Arial" pitchFamily="34" charset="-122"/>
                <a:cs typeface="Arial" pitchFamily="34" charset="-120"/>
              </a:rPr>
              <a:t>Everything in this deck eventually points back to section four.</a:t>
            </a:r>
            <a:endParaRPr lang="en-US" sz="12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2">
    <p:bg>
      <p:bgPr>
        <a:solidFill>
          <a:srgbClr val="17140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47333"/>
          </a:xfrm>
          <a:prstGeom prst="rect">
            <a:avLst/>
          </a:prstGeom>
          <a:noFill/>
          <a:ln/>
        </p:spPr>
        <p:txBody>
          <a:bodyPr wrap="square" lIns="0" tIns="0" rIns="0" bIns="0" rtlCol="0" anchor="t">
            <a:normAutofit/>
          </a:bodyPr>
          <a:lstStyle/>
          <a:p>
            <a:pPr marL="0" indent="0" algn="l">
              <a:lnSpc>
                <a:spcPts val="1774"/>
              </a:lnSpc>
              <a:buNone/>
            </a:pPr>
            <a:r>
              <a:rPr lang="en-US" sz="1268" kern="0" spc="200" dirty="0">
                <a:solidFill>
                  <a:srgbClr val="C9A63C"/>
                </a:solidFill>
                <a:latin typeface="Arial" pitchFamily="34" charset="0"/>
                <a:ea typeface="Arial" pitchFamily="34" charset="-122"/>
                <a:cs typeface="Arial" pitchFamily="34" charset="-120"/>
              </a:rPr>
              <a:t>SECTION EIGHT · CASE STUDY</a:t>
            </a:r>
            <a:endParaRPr lang="en-US" sz="1268" dirty="0"/>
          </a:p>
        </p:txBody>
      </p:sp>
      <p:sp>
        <p:nvSpPr>
          <p:cNvPr id="3" name="Text 1"/>
          <p:cNvSpPr/>
          <p:nvPr/>
        </p:nvSpPr>
        <p:spPr>
          <a:xfrm>
            <a:off x="812800" y="1110952"/>
            <a:ext cx="10883392" cy="640001"/>
          </a:xfrm>
          <a:prstGeom prst="rect">
            <a:avLst/>
          </a:prstGeom>
          <a:noFill/>
          <a:ln/>
        </p:spPr>
        <p:txBody>
          <a:bodyPr wrap="square" lIns="0" tIns="0" rIns="0" bIns="0" rtlCol="0" anchor="t">
            <a:normAutofit/>
          </a:bodyPr>
          <a:lstStyle/>
          <a:p>
            <a:pPr marL="0" indent="0" algn="l">
              <a:lnSpc>
                <a:spcPts val="4867"/>
              </a:lnSpc>
              <a:buNone/>
            </a:pPr>
            <a:r>
              <a:rPr lang="en-US" sz="4635" dirty="0">
                <a:solidFill>
                  <a:srgbClr val="F7F3EA"/>
                </a:solidFill>
                <a:latin typeface="Georgia" pitchFamily="34" charset="0"/>
                <a:ea typeface="Georgia" pitchFamily="34" charset="-122"/>
                <a:cs typeface="Georgia" pitchFamily="34" charset="-120"/>
              </a:rPr>
              <a:t>Supperclub</a:t>
            </a:r>
            <a:endParaRPr lang="en-US" sz="4635" dirty="0"/>
          </a:p>
        </p:txBody>
      </p:sp>
      <p:sp>
        <p:nvSpPr>
          <p:cNvPr id="4" name="Shape 2"/>
          <p:cNvSpPr/>
          <p:nvPr/>
        </p:nvSpPr>
        <p:spPr>
          <a:xfrm>
            <a:off x="812800" y="2004963"/>
            <a:ext cx="4445000" cy="3837067"/>
          </a:xfrm>
          <a:prstGeom prst="roundRect">
            <a:avLst>
              <a:gd name="adj" fmla="val 2648"/>
            </a:avLst>
          </a:prstGeom>
          <a:solidFill>
            <a:srgbClr val="C9A63C"/>
          </a:solidFill>
          <a:ln/>
        </p:spPr>
      </p:sp>
      <p:sp>
        <p:nvSpPr>
          <p:cNvPr id="5" name="Text 3"/>
          <p:cNvSpPr/>
          <p:nvPr/>
        </p:nvSpPr>
        <p:spPr>
          <a:xfrm>
            <a:off x="1143000" y="2335163"/>
            <a:ext cx="3898138" cy="262493"/>
          </a:xfrm>
          <a:prstGeom prst="rect">
            <a:avLst/>
          </a:prstGeom>
          <a:noFill/>
          <a:ln/>
        </p:spPr>
        <p:txBody>
          <a:bodyPr wrap="square" lIns="0" tIns="0" rIns="0" bIns="0" rtlCol="0" anchor="t">
            <a:normAutofit/>
          </a:bodyPr>
          <a:lstStyle/>
          <a:p>
            <a:pPr marL="0" indent="0" algn="l">
              <a:lnSpc>
                <a:spcPts val="1874"/>
              </a:lnSpc>
              <a:buNone/>
            </a:pPr>
            <a:r>
              <a:rPr lang="en-US" sz="1339" dirty="0">
                <a:solidFill>
                  <a:srgbClr val="3A342A"/>
                </a:solidFill>
                <a:latin typeface="Arial" pitchFamily="34" charset="0"/>
                <a:ea typeface="Arial" pitchFamily="34" charset="-122"/>
                <a:cs typeface="Arial" pitchFamily="34" charset="-120"/>
              </a:rPr>
              <a:t>Membership sign-ups delivered</a:t>
            </a:r>
            <a:endParaRPr lang="en-US" sz="1339" dirty="0"/>
          </a:p>
        </p:txBody>
      </p:sp>
      <p:sp>
        <p:nvSpPr>
          <p:cNvPr id="6" name="Text 4"/>
          <p:cNvSpPr/>
          <p:nvPr/>
        </p:nvSpPr>
        <p:spPr>
          <a:xfrm>
            <a:off x="1143000" y="2699246"/>
            <a:ext cx="3898138" cy="2202894"/>
          </a:xfrm>
          <a:prstGeom prst="rect">
            <a:avLst/>
          </a:prstGeom>
          <a:noFill/>
          <a:ln/>
        </p:spPr>
        <p:txBody>
          <a:bodyPr wrap="square" lIns="0" tIns="0" rIns="0" bIns="0" rtlCol="0" anchor="t">
            <a:normAutofit/>
          </a:bodyPr>
          <a:lstStyle/>
          <a:p>
            <a:pPr marL="0" indent="0" algn="l">
              <a:lnSpc>
                <a:spcPts val="8578"/>
              </a:lnSpc>
              <a:buNone/>
            </a:pPr>
            <a:r>
              <a:rPr lang="en-US" sz="8578" dirty="0">
                <a:solidFill>
                  <a:srgbClr val="17140F"/>
                </a:solidFill>
                <a:latin typeface="Georgia" pitchFamily="34" charset="0"/>
                <a:ea typeface="Georgia" pitchFamily="34" charset="-122"/>
                <a:cs typeface="Georgia" pitchFamily="34" charset="-120"/>
              </a:rPr>
              <a:t>10,000+</a:t>
            </a:r>
            <a:endParaRPr lang="en-US" sz="8578" dirty="0"/>
          </a:p>
        </p:txBody>
      </p:sp>
      <p:sp>
        <p:nvSpPr>
          <p:cNvPr id="7" name="Text 5"/>
          <p:cNvSpPr/>
          <p:nvPr/>
        </p:nvSpPr>
        <p:spPr>
          <a:xfrm>
            <a:off x="1143000" y="5003750"/>
            <a:ext cx="3898138" cy="533479"/>
          </a:xfrm>
          <a:prstGeom prst="rect">
            <a:avLst/>
          </a:prstGeom>
          <a:noFill/>
          <a:ln/>
        </p:spPr>
        <p:txBody>
          <a:bodyPr wrap="square" lIns="0" tIns="0" rIns="0" bIns="0" rtlCol="0" anchor="t">
            <a:normAutofit/>
          </a:bodyPr>
          <a:lstStyle/>
          <a:p>
            <a:pPr marL="0" indent="0" algn="l">
              <a:lnSpc>
                <a:spcPts val="2008"/>
              </a:lnSpc>
              <a:buNone/>
            </a:pPr>
            <a:r>
              <a:rPr lang="en-US" sz="1434" dirty="0">
                <a:solidFill>
                  <a:srgbClr val="3A342A"/>
                </a:solidFill>
                <a:latin typeface="Arial" pitchFamily="34" charset="0"/>
                <a:ea typeface="Arial" pitchFamily="34" charset="-122"/>
                <a:cs typeface="Arial" pitchFamily="34" charset="-120"/>
              </a:rPr>
              <a:t>A premium dining and lifestyle membership across the UAE.</a:t>
            </a:r>
            <a:endParaRPr lang="en-US" sz="1434" dirty="0"/>
          </a:p>
        </p:txBody>
      </p:sp>
      <p:sp>
        <p:nvSpPr>
          <p:cNvPr id="8" name="Text 6"/>
          <p:cNvSpPr/>
          <p:nvPr/>
        </p:nvSpPr>
        <p:spPr>
          <a:xfrm>
            <a:off x="5511800" y="2610892"/>
            <a:ext cx="6043422" cy="964565"/>
          </a:xfrm>
          <a:prstGeom prst="rect">
            <a:avLst/>
          </a:prstGeom>
          <a:noFill/>
          <a:ln/>
        </p:spPr>
        <p:txBody>
          <a:bodyPr wrap="square" lIns="0" tIns="0" rIns="0" bIns="0" rtlCol="0" anchor="t">
            <a:normAutofit/>
          </a:bodyPr>
          <a:lstStyle/>
          <a:p>
            <a:pPr marL="0" indent="0" algn="l">
              <a:lnSpc>
                <a:spcPts val="2465"/>
              </a:lnSpc>
              <a:buNone/>
            </a:pPr>
            <a:r>
              <a:rPr lang="en-US" sz="1700" dirty="0">
                <a:solidFill>
                  <a:srgbClr val="F7F3EA"/>
                </a:solidFill>
                <a:latin typeface="Arial" pitchFamily="34" charset="0"/>
                <a:ea typeface="Arial" pitchFamily="34" charset="-122"/>
                <a:cs typeface="Arial" pitchFamily="34" charset="-120"/>
              </a:rPr>
              <a:t>Supperclub opens high-end hotels and restaurants across the UAE, sold on seamless bookings, unlimited guests and substantial discounts.</a:t>
            </a:r>
            <a:endParaRPr lang="en-US" sz="1700" dirty="0"/>
          </a:p>
        </p:txBody>
      </p:sp>
      <p:sp>
        <p:nvSpPr>
          <p:cNvPr id="9" name="Text 7"/>
          <p:cNvSpPr/>
          <p:nvPr/>
        </p:nvSpPr>
        <p:spPr>
          <a:xfrm>
            <a:off x="5511800" y="3702447"/>
            <a:ext cx="6043422" cy="854075"/>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A79C89"/>
                </a:solidFill>
                <a:latin typeface="Arial" pitchFamily="34" charset="0"/>
                <a:ea typeface="Arial" pitchFamily="34" charset="-122"/>
                <a:cs typeface="Arial" pitchFamily="34" charset="-120"/>
              </a:rPr>
              <a:t>Its buyers are tourists and frequent visitors, residents, and families hosting friends and relatives. We ran the acquisition that took its membership past ten thousand sign-ups.</a:t>
            </a:r>
            <a:endParaRPr lang="en-US" sz="1500" dirty="0"/>
          </a:p>
        </p:txBody>
      </p:sp>
      <p:sp>
        <p:nvSpPr>
          <p:cNvPr id="10" name="Text 8"/>
          <p:cNvSpPr/>
          <p:nvPr/>
        </p:nvSpPr>
        <p:spPr>
          <a:xfrm>
            <a:off x="5511800" y="4683522"/>
            <a:ext cx="6043422" cy="577850"/>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A79C89"/>
                </a:solidFill>
                <a:latin typeface="Arial" pitchFamily="34" charset="0"/>
                <a:ea typeface="Arial" pitchFamily="34" charset="-122"/>
                <a:cs typeface="Arial" pitchFamily="34" charset="-120"/>
              </a:rPr>
              <a:t>It is a different category and a different country. The reason it matters here is what the machine underneath it looked like.</a:t>
            </a:r>
            <a:endParaRPr lang="en-US" sz="1500" dirty="0"/>
          </a:p>
        </p:txBody>
      </p:sp>
      <p:sp>
        <p:nvSpPr>
          <p:cNvPr id="11" name="Text 9"/>
          <p:cNvSpPr/>
          <p:nvPr/>
        </p:nvSpPr>
        <p:spPr>
          <a:xfrm>
            <a:off x="812800" y="6238230"/>
            <a:ext cx="500806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071"/>
                </a:solidFill>
                <a:latin typeface="Arial" pitchFamily="34" charset="0"/>
                <a:ea typeface="Arial" pitchFamily="34" charset="-122"/>
                <a:cs typeface="Arial" pitchFamily="34" charset="-120"/>
              </a:rPr>
              <a:t>supperclubme.com · Alttred Nexxus ran membership sign-up acquisition.</a:t>
            </a:r>
            <a:endParaRPr lang="en-US" sz="12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3">
    <p:bg>
      <p:bgPr>
        <a:solidFill>
          <a:srgbClr val="F7F3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76329"/>
          </a:xfrm>
          <a:prstGeom prst="rect">
            <a:avLst/>
          </a:prstGeom>
          <a:noFill/>
          <a:ln/>
        </p:spPr>
        <p:txBody>
          <a:bodyPr wrap="square" lIns="0" tIns="0" rIns="0" bIns="0" rtlCol="0" anchor="t">
            <a:normAutofit/>
          </a:bodyPr>
          <a:lstStyle/>
          <a:p>
            <a:pPr marL="0" indent="0" algn="l">
              <a:lnSpc>
                <a:spcPts val="3566"/>
              </a:lnSpc>
              <a:buNone/>
            </a:pPr>
            <a:r>
              <a:rPr lang="en-US" sz="3396" dirty="0">
                <a:solidFill>
                  <a:srgbClr val="17140F"/>
                </a:solidFill>
                <a:latin typeface="Georgia" pitchFamily="34" charset="0"/>
                <a:ea typeface="Georgia" pitchFamily="34" charset="-122"/>
                <a:cs typeface="Georgia" pitchFamily="34" charset="-120"/>
              </a:rPr>
              <a:t>What transfers to Guhantara</a:t>
            </a:r>
            <a:endParaRPr lang="en-US" sz="3396"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1527909"/>
          <a:ext cx="10556240" cy="2820591"/>
        </p:xfrm>
        <a:graphic>
          <a:graphicData uri="http://schemas.openxmlformats.org/drawingml/2006/table">
            <a:tbl>
              <a:tblPr/>
              <a:tblGrid>
                <a:gridCol w="5066995">
                  <a:extLst>
                    <a:ext uri="{9D8B030D-6E8A-4147-A177-3AD203B41FA5}">
                      <a16:colId xmlns:a16="http://schemas.microsoft.com/office/drawing/2014/main" val="20000"/>
                    </a:ext>
                  </a:extLst>
                </a:gridCol>
                <a:gridCol w="5489245">
                  <a:extLst>
                    <a:ext uri="{9D8B030D-6E8A-4147-A177-3AD203B41FA5}">
                      <a16:colId xmlns:a16="http://schemas.microsoft.com/office/drawing/2014/main" val="20001"/>
                    </a:ext>
                  </a:extLst>
                </a:gridCol>
              </a:tblGrid>
              <a:tr h="358061">
                <a:tc>
                  <a:txBody>
                    <a:bodyPr/>
                    <a:lstStyle/>
                    <a:p>
                      <a:pPr marL="0" indent="0">
                        <a:lnSpc>
                          <a:spcPts val="1764"/>
                        </a:lnSpc>
                        <a:buNone/>
                      </a:pPr>
                      <a:r>
                        <a:rPr lang="en-US" sz="1260" b="1" dirty="0">
                          <a:solidFill>
                            <a:srgbClr val="F7F3EA"/>
                          </a:solidFill>
                          <a:latin typeface="Arial" pitchFamily="34" charset="0"/>
                          <a:ea typeface="Arial" pitchFamily="34" charset="-122"/>
                          <a:cs typeface="Arial" pitchFamily="34" charset="-120"/>
                        </a:rPr>
                        <a:t>What worked at Supperclub</a:t>
                      </a:r>
                      <a:endParaRPr lang="en-US" sz="1260" dirty="0">
                        <a:latin typeface="Arial" charset="0"/>
                        <a:ea typeface="Arial" charset="0"/>
                        <a:cs typeface="Arial" charset="0"/>
                      </a:endParaRPr>
                    </a:p>
                  </a:txBody>
                  <a:tcPr marL="55993" marR="55993" marT="55993" marB="55993">
                    <a:lnL w="12700" cap="flat" cmpd="sng" algn="ctr">
                      <a:solidFill>
                        <a:srgbClr val="C5C2BB"/>
                      </a:solidFill>
                      <a:prstDash val="solid"/>
                      <a:round/>
                      <a:headEnd type="none" w="med" len="med"/>
                      <a:tailEnd type="none" w="med" len="med"/>
                    </a:lnL>
                    <a:lnR w="12700" cap="flat" cmpd="sng" algn="ctr">
                      <a:solidFill>
                        <a:srgbClr val="161410"/>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161410"/>
                      </a:solidFill>
                      <a:prstDash val="solid"/>
                      <a:round/>
                      <a:headEnd type="none" w="med" len="med"/>
                      <a:tailEnd type="none" w="med" len="med"/>
                    </a:lnB>
                    <a:solidFill>
                      <a:srgbClr val="17140F"/>
                    </a:solidFill>
                  </a:tcPr>
                </a:tc>
                <a:tc>
                  <a:txBody>
                    <a:bodyPr/>
                    <a:lstStyle/>
                    <a:p>
                      <a:pPr marL="0" indent="0">
                        <a:lnSpc>
                          <a:spcPts val="1764"/>
                        </a:lnSpc>
                        <a:buNone/>
                      </a:pPr>
                      <a:r>
                        <a:rPr lang="en-US" sz="1260" b="1" dirty="0">
                          <a:solidFill>
                            <a:srgbClr val="F7F3EA"/>
                          </a:solidFill>
                          <a:latin typeface="Arial" pitchFamily="34" charset="0"/>
                          <a:ea typeface="Arial" pitchFamily="34" charset="-122"/>
                          <a:cs typeface="Arial" pitchFamily="34" charset="-120"/>
                        </a:rPr>
                        <a:t>What it becomes here</a:t>
                      </a:r>
                      <a:endParaRPr lang="en-US" sz="1260" dirty="0">
                        <a:latin typeface="Arial" charset="0"/>
                        <a:ea typeface="Arial" charset="0"/>
                        <a:cs typeface="Arial" charset="0"/>
                      </a:endParaRPr>
                    </a:p>
                  </a:txBody>
                  <a:tcPr marL="55993" marR="55993" marT="55993" marB="55993">
                    <a:lnL w="12700" cap="flat" cmpd="sng" algn="ctr">
                      <a:solidFill>
                        <a:srgbClr val="161410"/>
                      </a:solidFill>
                      <a:prstDash val="solid"/>
                      <a:round/>
                      <a:headEnd type="none" w="med" len="med"/>
                      <a:tailEnd type="none" w="med" len="med"/>
                    </a:lnL>
                    <a:lnR w="12700" cap="flat" cmpd="sng" algn="ctr">
                      <a:solidFill>
                        <a:srgbClr val="161410"/>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161410"/>
                      </a:solidFill>
                      <a:prstDash val="solid"/>
                      <a:round/>
                      <a:headEnd type="none" w="med" len="med"/>
                      <a:tailEnd type="none" w="med" len="med"/>
                    </a:lnB>
                    <a:solidFill>
                      <a:srgbClr val="17140F"/>
                    </a:solidFill>
                  </a:tcPr>
                </a:tc>
                <a:extLst>
                  <a:ext uri="{0D108BD9-81ED-4DB2-BD59-A6C34878D82A}">
                    <a16:rowId xmlns:a16="http://schemas.microsoft.com/office/drawing/2014/main" val="10000"/>
                  </a:ext>
                </a:extLst>
              </a:tr>
              <a:tr h="358061">
                <a:tc>
                  <a:txBody>
                    <a:bodyPr/>
                    <a:lstStyle/>
                    <a:p>
                      <a:pPr marL="0" indent="0">
                        <a:lnSpc>
                          <a:spcPts val="1764"/>
                        </a:lnSpc>
                        <a:buNone/>
                      </a:pPr>
                      <a:r>
                        <a:rPr lang="en-US" sz="1260" dirty="0">
                          <a:solidFill>
                            <a:srgbClr val="17140F"/>
                          </a:solidFill>
                          <a:latin typeface="Arial" pitchFamily="34" charset="0"/>
                          <a:ea typeface="Arial" pitchFamily="34" charset="-122"/>
                          <a:cs typeface="Arial" pitchFamily="34" charset="-120"/>
                        </a:rPr>
                        <a:t>One clear paid action, measured as a real conversion</a:t>
                      </a:r>
                      <a:endParaRPr lang="en-US" sz="1260" dirty="0">
                        <a:latin typeface="Arial" charset="0"/>
                        <a:ea typeface="Arial" charset="0"/>
                        <a:cs typeface="Arial" charset="0"/>
                      </a:endParaRPr>
                    </a:p>
                  </a:txBody>
                  <a:tcPr marL="55993" marR="55993" marT="55993" marB="55993">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161410"/>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764"/>
                        </a:lnSpc>
                        <a:buNone/>
                      </a:pPr>
                      <a:r>
                        <a:rPr lang="en-US" sz="1260" dirty="0">
                          <a:solidFill>
                            <a:srgbClr val="5C5344"/>
                          </a:solidFill>
                          <a:latin typeface="Arial" pitchFamily="34" charset="0"/>
                          <a:ea typeface="Arial" pitchFamily="34" charset="-122"/>
                          <a:cs typeface="Arial" pitchFamily="34" charset="-120"/>
                        </a:rPr>
                        <a:t>One booked action per audience: day-out ticket, room night, offsite enquiry</a:t>
                      </a:r>
                      <a:endParaRPr lang="en-US" sz="1260" dirty="0">
                        <a:latin typeface="Arial" charset="0"/>
                        <a:ea typeface="Arial" charset="0"/>
                        <a:cs typeface="Arial" charset="0"/>
                      </a:endParaRPr>
                    </a:p>
                  </a:txBody>
                  <a:tcPr marL="55993" marR="55993" marT="55993" marB="55993">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161410"/>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extLst>
                  <a:ext uri="{0D108BD9-81ED-4DB2-BD59-A6C34878D82A}">
                    <a16:rowId xmlns:a16="http://schemas.microsoft.com/office/drawing/2014/main" val="10001"/>
                  </a:ext>
                </a:extLst>
              </a:tr>
              <a:tr h="582057">
                <a:tc>
                  <a:txBody>
                    <a:bodyPr/>
                    <a:lstStyle/>
                    <a:p>
                      <a:pPr marL="0" indent="0">
                        <a:lnSpc>
                          <a:spcPts val="1764"/>
                        </a:lnSpc>
                        <a:buNone/>
                      </a:pPr>
                      <a:r>
                        <a:rPr lang="en-US" sz="1260" dirty="0">
                          <a:solidFill>
                            <a:srgbClr val="17140F"/>
                          </a:solidFill>
                          <a:latin typeface="Arial" pitchFamily="34" charset="0"/>
                          <a:ea typeface="Arial" pitchFamily="34" charset="-122"/>
                          <a:cs typeface="Arial" pitchFamily="34" charset="-120"/>
                        </a:rPr>
                        <a:t>Segmented audiences with different reasons to join — visitors, residents, hosts</a:t>
                      </a:r>
                      <a:endParaRPr lang="en-US" sz="1260" dirty="0">
                        <a:latin typeface="Arial" charset="0"/>
                        <a:ea typeface="Arial" charset="0"/>
                        <a:cs typeface="Arial" charset="0"/>
                      </a:endParaRPr>
                    </a:p>
                  </a:txBody>
                  <a:tcPr marL="55993" marR="55993" marT="55993" marB="55993">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764"/>
                        </a:lnSpc>
                        <a:buNone/>
                      </a:pPr>
                      <a:r>
                        <a:rPr lang="en-US" sz="1260" dirty="0">
                          <a:solidFill>
                            <a:srgbClr val="5C5344"/>
                          </a:solidFill>
                          <a:latin typeface="Arial" pitchFamily="34" charset="0"/>
                          <a:ea typeface="Arial" pitchFamily="34" charset="-122"/>
                          <a:cs typeface="Arial" pitchFamily="34" charset="-120"/>
                        </a:rPr>
                        <a:t>Segmented audiences with different reasons to book — offsite organiser, family, couple, wedding</a:t>
                      </a:r>
                      <a:endParaRPr lang="en-US" sz="1260" dirty="0">
                        <a:latin typeface="Arial" charset="0"/>
                        <a:ea typeface="Arial" charset="0"/>
                        <a:cs typeface="Arial" charset="0"/>
                      </a:endParaRPr>
                    </a:p>
                  </a:txBody>
                  <a:tcPr marL="55993" marR="55993" marT="55993" marB="55993">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extLst>
                  <a:ext uri="{0D108BD9-81ED-4DB2-BD59-A6C34878D82A}">
                    <a16:rowId xmlns:a16="http://schemas.microsoft.com/office/drawing/2014/main" val="10002"/>
                  </a:ext>
                </a:extLst>
              </a:tr>
              <a:tr h="582136">
                <a:tc>
                  <a:txBody>
                    <a:bodyPr/>
                    <a:lstStyle/>
                    <a:p>
                      <a:pPr marL="0" indent="0">
                        <a:lnSpc>
                          <a:spcPts val="1764"/>
                        </a:lnSpc>
                        <a:buNone/>
                      </a:pPr>
                      <a:r>
                        <a:rPr lang="en-US" sz="1260" dirty="0">
                          <a:solidFill>
                            <a:srgbClr val="17140F"/>
                          </a:solidFill>
                          <a:latin typeface="Arial" pitchFamily="34" charset="0"/>
                          <a:ea typeface="Arial" pitchFamily="34" charset="-122"/>
                          <a:cs typeface="Arial" pitchFamily="34" charset="-120"/>
                        </a:rPr>
                        <a:t>Reach a person planning a trip before they arrive</a:t>
                      </a:r>
                      <a:endParaRPr lang="en-US" sz="1260" dirty="0">
                        <a:latin typeface="Arial" charset="0"/>
                        <a:ea typeface="Arial" charset="0"/>
                        <a:cs typeface="Arial" charset="0"/>
                      </a:endParaRPr>
                    </a:p>
                  </a:txBody>
                  <a:tcPr marL="55993" marR="55993" marT="55993" marB="55993">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764"/>
                        </a:lnSpc>
                        <a:buNone/>
                      </a:pPr>
                      <a:r>
                        <a:rPr lang="en-US" sz="1260" dirty="0">
                          <a:solidFill>
                            <a:srgbClr val="5C5344"/>
                          </a:solidFill>
                          <a:latin typeface="Arial" pitchFamily="34" charset="0"/>
                          <a:ea typeface="Arial" pitchFamily="34" charset="-122"/>
                          <a:cs typeface="Arial" pitchFamily="34" charset="-120"/>
                        </a:rPr>
                        <a:t>Reach a Bangalore weekender before the weekend, a corporate planner a month before the offsite</a:t>
                      </a:r>
                      <a:endParaRPr lang="en-US" sz="1260" dirty="0">
                        <a:latin typeface="Arial" charset="0"/>
                        <a:ea typeface="Arial" charset="0"/>
                        <a:cs typeface="Arial" charset="0"/>
                      </a:endParaRPr>
                    </a:p>
                  </a:txBody>
                  <a:tcPr marL="55993" marR="55993" marT="55993" marB="55993">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extLst>
                  <a:ext uri="{0D108BD9-81ED-4DB2-BD59-A6C34878D82A}">
                    <a16:rowId xmlns:a16="http://schemas.microsoft.com/office/drawing/2014/main" val="10003"/>
                  </a:ext>
                </a:extLst>
              </a:tr>
              <a:tr h="582136">
                <a:tc>
                  <a:txBody>
                    <a:bodyPr/>
                    <a:lstStyle/>
                    <a:p>
                      <a:pPr marL="0" indent="0">
                        <a:lnSpc>
                          <a:spcPts val="1764"/>
                        </a:lnSpc>
                        <a:buNone/>
                      </a:pPr>
                      <a:r>
                        <a:rPr lang="en-US" sz="1260" dirty="0">
                          <a:solidFill>
                            <a:srgbClr val="17140F"/>
                          </a:solidFill>
                          <a:latin typeface="Arial" pitchFamily="34" charset="0"/>
                          <a:ea typeface="Arial" pitchFamily="34" charset="-122"/>
                          <a:cs typeface="Arial" pitchFamily="34" charset="-120"/>
                        </a:rPr>
                        <a:t>Members return, so the sign-up is the start of value</a:t>
                      </a:r>
                      <a:endParaRPr lang="en-US" sz="1260" dirty="0">
                        <a:latin typeface="Arial" charset="0"/>
                        <a:ea typeface="Arial" charset="0"/>
                        <a:cs typeface="Arial" charset="0"/>
                      </a:endParaRPr>
                    </a:p>
                  </a:txBody>
                  <a:tcPr marL="55993" marR="55993" marT="55993" marB="55993">
                    <a:lnL w="12700" cap="flat" cmpd="sng" algn="ctr">
                      <a:solidFill>
                        <a:srgbClr val="C5C2BB"/>
                      </a:solidFill>
                      <a:prstDash val="solid"/>
                      <a:round/>
                      <a:headEnd type="none" w="med" len="med"/>
                      <a:tailEnd type="none" w="med" len="med"/>
                    </a:lnL>
                    <a:lnR w="12700" cap="flat" cmpd="sng" algn="ctr">
                      <a:solidFill>
                        <a:srgbClr val="B9B4A9"/>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B9B4A9"/>
                      </a:solidFill>
                      <a:prstDash val="solid"/>
                      <a:round/>
                      <a:headEnd type="none" w="med" len="med"/>
                      <a:tailEnd type="none" w="med" len="med"/>
                    </a:lnB>
                    <a:solidFill>
                      <a:srgbClr val="E8E1D3"/>
                    </a:solidFill>
                  </a:tcPr>
                </a:tc>
                <a:tc>
                  <a:txBody>
                    <a:bodyPr/>
                    <a:lstStyle/>
                    <a:p>
                      <a:pPr marL="0" indent="0">
                        <a:lnSpc>
                          <a:spcPts val="1764"/>
                        </a:lnSpc>
                        <a:buNone/>
                      </a:pPr>
                      <a:r>
                        <a:rPr lang="en-US" sz="1260" dirty="0">
                          <a:solidFill>
                            <a:srgbClr val="17140F"/>
                          </a:solidFill>
                          <a:latin typeface="Arial" pitchFamily="34" charset="0"/>
                          <a:ea typeface="Arial" pitchFamily="34" charset="-122"/>
                          <a:cs typeface="Arial" pitchFamily="34" charset="-120"/>
                        </a:rPr>
                        <a:t>A weekday pass turns a one-off booking into a repeat customer whose data you hold</a:t>
                      </a:r>
                      <a:endParaRPr lang="en-US" sz="1260" dirty="0">
                        <a:latin typeface="Arial" charset="0"/>
                        <a:ea typeface="Arial" charset="0"/>
                        <a:cs typeface="Arial" charset="0"/>
                      </a:endParaRPr>
                    </a:p>
                  </a:txBody>
                  <a:tcPr marL="55993" marR="55993" marT="55993" marB="55993">
                    <a:lnL w="12700" cap="flat" cmpd="sng" algn="ctr">
                      <a:solidFill>
                        <a:srgbClr val="B9B4A9"/>
                      </a:solidFill>
                      <a:prstDash val="solid"/>
                      <a:round/>
                      <a:headEnd type="none" w="med" len="med"/>
                      <a:tailEnd type="none" w="med" len="med"/>
                    </a:lnL>
                    <a:lnR w="12700" cap="flat" cmpd="sng" algn="ctr">
                      <a:solidFill>
                        <a:srgbClr val="B9B4A9"/>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B9B4A9"/>
                      </a:solidFill>
                      <a:prstDash val="solid"/>
                      <a:round/>
                      <a:headEnd type="none" w="med" len="med"/>
                      <a:tailEnd type="none" w="med" len="med"/>
                    </a:lnB>
                    <a:solidFill>
                      <a:srgbClr val="E8E1D3"/>
                    </a:solidFill>
                  </a:tcPr>
                </a:tc>
                <a:extLst>
                  <a:ext uri="{0D108BD9-81ED-4DB2-BD59-A6C34878D82A}">
                    <a16:rowId xmlns:a16="http://schemas.microsoft.com/office/drawing/2014/main" val="10004"/>
                  </a:ext>
                </a:extLst>
              </a:tr>
              <a:tr h="358140">
                <a:tc>
                  <a:txBody>
                    <a:bodyPr/>
                    <a:lstStyle/>
                    <a:p>
                      <a:pPr marL="0" indent="0">
                        <a:lnSpc>
                          <a:spcPts val="1764"/>
                        </a:lnSpc>
                        <a:buNone/>
                      </a:pPr>
                      <a:r>
                        <a:rPr lang="en-US" sz="1260" dirty="0">
                          <a:solidFill>
                            <a:srgbClr val="17140F"/>
                          </a:solidFill>
                          <a:latin typeface="Arial" pitchFamily="34" charset="0"/>
                          <a:ea typeface="Arial" pitchFamily="34" charset="-122"/>
                          <a:cs typeface="Arial" pitchFamily="34" charset="-120"/>
                        </a:rPr>
                        <a:t>Sign-ups measured per source, so spend followed what worked</a:t>
                      </a:r>
                      <a:endParaRPr lang="en-US" sz="1260" dirty="0">
                        <a:latin typeface="Arial" charset="0"/>
                        <a:ea typeface="Arial" charset="0"/>
                        <a:cs typeface="Arial" charset="0"/>
                      </a:endParaRPr>
                    </a:p>
                  </a:txBody>
                  <a:tcPr marL="55993" marR="55993" marT="55993" marB="55993">
                    <a:lnL w="12700" cap="flat" cmpd="sng" algn="ctr">
                      <a:solidFill>
                        <a:srgbClr val="C5C2BB"/>
                      </a:solidFill>
                      <a:prstDash val="solid"/>
                      <a:round/>
                      <a:headEnd type="none" w="med" len="med"/>
                      <a:tailEnd type="none" w="med" len="med"/>
                    </a:lnL>
                    <a:lnR w="12700" cap="flat" cmpd="sng" algn="ctr">
                      <a:solidFill>
                        <a:srgbClr val="B9B4A9"/>
                      </a:solidFill>
                      <a:prstDash val="solid"/>
                      <a:round/>
                      <a:headEnd type="none" w="med" len="med"/>
                      <a:tailEnd type="none" w="med" len="med"/>
                    </a:lnR>
                    <a:lnT w="12700" cap="flat" cmpd="sng" algn="ctr">
                      <a:solidFill>
                        <a:srgbClr val="B9B4A9"/>
                      </a:solidFill>
                      <a:prstDash val="solid"/>
                      <a:round/>
                      <a:headEnd type="none" w="med" len="med"/>
                      <a:tailEnd type="none" w="med" len="med"/>
                    </a:lnT>
                    <a:lnB w="12700" cap="flat" cmpd="sng" algn="ctr">
                      <a:solidFill>
                        <a:srgbClr val="B9B4A9"/>
                      </a:solidFill>
                      <a:prstDash val="solid"/>
                      <a:round/>
                      <a:headEnd type="none" w="med" len="med"/>
                      <a:tailEnd type="none" w="med" len="med"/>
                    </a:lnB>
                    <a:solidFill>
                      <a:srgbClr val="E8E1D3"/>
                    </a:solidFill>
                  </a:tcPr>
                </a:tc>
                <a:tc>
                  <a:txBody>
                    <a:bodyPr/>
                    <a:lstStyle/>
                    <a:p>
                      <a:pPr marL="0" indent="0">
                        <a:lnSpc>
                          <a:spcPts val="1764"/>
                        </a:lnSpc>
                        <a:buNone/>
                      </a:pPr>
                      <a:r>
                        <a:rPr lang="en-US" sz="1260" dirty="0">
                          <a:solidFill>
                            <a:srgbClr val="17140F"/>
                          </a:solidFill>
                          <a:latin typeface="Arial" pitchFamily="34" charset="0"/>
                          <a:ea typeface="Arial" pitchFamily="34" charset="-122"/>
                          <a:cs typeface="Arial" pitchFamily="34" charset="-120"/>
                        </a:rPr>
                        <a:t>Bookings measured per ad, so spend follows what fills rooms</a:t>
                      </a:r>
                      <a:endParaRPr lang="en-US" sz="1260" dirty="0">
                        <a:latin typeface="Arial" charset="0"/>
                        <a:ea typeface="Arial" charset="0"/>
                        <a:cs typeface="Arial" charset="0"/>
                      </a:endParaRPr>
                    </a:p>
                  </a:txBody>
                  <a:tcPr marL="55993" marR="55993" marT="55993" marB="55993">
                    <a:lnL w="12700" cap="flat" cmpd="sng" algn="ctr">
                      <a:solidFill>
                        <a:srgbClr val="B9B4A9"/>
                      </a:solidFill>
                      <a:prstDash val="solid"/>
                      <a:round/>
                      <a:headEnd type="none" w="med" len="med"/>
                      <a:tailEnd type="none" w="med" len="med"/>
                    </a:lnL>
                    <a:lnR w="12700" cap="flat" cmpd="sng" algn="ctr">
                      <a:solidFill>
                        <a:srgbClr val="B9B4A9"/>
                      </a:solidFill>
                      <a:prstDash val="solid"/>
                      <a:round/>
                      <a:headEnd type="none" w="med" len="med"/>
                      <a:tailEnd type="none" w="med" len="med"/>
                    </a:lnR>
                    <a:lnT w="12700" cap="flat" cmpd="sng" algn="ctr">
                      <a:solidFill>
                        <a:srgbClr val="B9B4A9"/>
                      </a:solidFill>
                      <a:prstDash val="solid"/>
                      <a:round/>
                      <a:headEnd type="none" w="med" len="med"/>
                      <a:tailEnd type="none" w="med" len="med"/>
                    </a:lnT>
                    <a:lnB w="12700" cap="flat" cmpd="sng" algn="ctr">
                      <a:solidFill>
                        <a:srgbClr val="B9B4A9"/>
                      </a:solidFill>
                      <a:prstDash val="solid"/>
                      <a:round/>
                      <a:headEnd type="none" w="med" len="med"/>
                      <a:tailEnd type="none" w="med" len="med"/>
                    </a:lnB>
                    <a:solidFill>
                      <a:srgbClr val="E8E1D3"/>
                    </a:solidFill>
                  </a:tcPr>
                </a:tc>
                <a:extLst>
                  <a:ext uri="{0D108BD9-81ED-4DB2-BD59-A6C34878D82A}">
                    <a16:rowId xmlns:a16="http://schemas.microsoft.com/office/drawing/2014/main" val="10005"/>
                  </a:ext>
                </a:extLst>
              </a:tr>
            </a:tbl>
          </a:graphicData>
        </a:graphic>
      </p:graphicFrame>
      <p:sp>
        <p:nvSpPr>
          <p:cNvPr id="4" name="Shape 1"/>
          <p:cNvSpPr/>
          <p:nvPr/>
        </p:nvSpPr>
        <p:spPr>
          <a:xfrm>
            <a:off x="812800" y="4602510"/>
            <a:ext cx="5181600" cy="1239520"/>
          </a:xfrm>
          <a:prstGeom prst="roundRect">
            <a:avLst>
              <a:gd name="adj" fmla="val 8197"/>
            </a:avLst>
          </a:prstGeom>
          <a:solidFill>
            <a:srgbClr val="17140F"/>
          </a:solidFill>
          <a:ln/>
        </p:spPr>
      </p:sp>
      <p:sp>
        <p:nvSpPr>
          <p:cNvPr id="5" name="Text 2"/>
          <p:cNvSpPr/>
          <p:nvPr/>
        </p:nvSpPr>
        <p:spPr>
          <a:xfrm>
            <a:off x="1066800" y="4856510"/>
            <a:ext cx="4813808" cy="756920"/>
          </a:xfrm>
          <a:prstGeom prst="rect">
            <a:avLst/>
          </a:prstGeom>
          <a:noFill/>
          <a:ln/>
        </p:spPr>
        <p:txBody>
          <a:bodyPr wrap="square" lIns="0" tIns="0" rIns="0" bIns="0" rtlCol="0" anchor="t">
            <a:normAutofit/>
          </a:bodyPr>
          <a:lstStyle/>
          <a:p>
            <a:pPr marL="0" indent="0" algn="l">
              <a:lnSpc>
                <a:spcPts val="1924"/>
              </a:lnSpc>
              <a:buNone/>
            </a:pPr>
            <a:r>
              <a:rPr lang="en-US" sz="1327" dirty="0">
                <a:solidFill>
                  <a:srgbClr val="F7F3EA"/>
                </a:solidFill>
                <a:latin typeface="Arial" pitchFamily="34" charset="0"/>
                <a:ea typeface="Arial" pitchFamily="34" charset="-122"/>
                <a:cs typeface="Arial" pitchFamily="34" charset="-120"/>
              </a:rPr>
              <a:t>The last two rows are the ones that matter. Supperclub's sign-ups were </a:t>
            </a:r>
            <a:r>
              <a:rPr lang="en-US" sz="1327" b="1" dirty="0">
                <a:solidFill>
                  <a:srgbClr val="F7F3EA"/>
                </a:solidFill>
                <a:latin typeface="Arial" pitchFamily="34" charset="0"/>
                <a:ea typeface="Arial" pitchFamily="34" charset="-122"/>
                <a:cs typeface="Arial" pitchFamily="34" charset="-120"/>
              </a:rPr>
              <a:t>traceable and owned</a:t>
            </a:r>
            <a:r>
              <a:rPr lang="en-US" sz="1327" dirty="0">
                <a:solidFill>
                  <a:srgbClr val="F7F3EA"/>
                </a:solidFill>
                <a:latin typeface="Arial" pitchFamily="34" charset="0"/>
                <a:ea typeface="Arial" pitchFamily="34" charset="-122"/>
                <a:cs typeface="Arial" pitchFamily="34" charset="-120"/>
              </a:rPr>
              <a:t>. Guhantara's bookings are currently neither.</a:t>
            </a:r>
            <a:endParaRPr lang="en-US" sz="1327" dirty="0"/>
          </a:p>
        </p:txBody>
      </p:sp>
      <p:sp>
        <p:nvSpPr>
          <p:cNvPr id="6" name="Shape 3"/>
          <p:cNvSpPr/>
          <p:nvPr/>
        </p:nvSpPr>
        <p:spPr>
          <a:xfrm>
            <a:off x="6197600" y="4602510"/>
            <a:ext cx="5181600" cy="1239520"/>
          </a:xfrm>
          <a:prstGeom prst="roundRect">
            <a:avLst>
              <a:gd name="adj" fmla="val 8197"/>
            </a:avLst>
          </a:prstGeom>
          <a:solidFill>
            <a:srgbClr val="B54A28"/>
          </a:solidFill>
          <a:ln/>
        </p:spPr>
      </p:sp>
      <p:sp>
        <p:nvSpPr>
          <p:cNvPr id="7" name="Text 4"/>
          <p:cNvSpPr/>
          <p:nvPr/>
        </p:nvSpPr>
        <p:spPr>
          <a:xfrm>
            <a:off x="6451600" y="4856510"/>
            <a:ext cx="4813808" cy="756920"/>
          </a:xfrm>
          <a:prstGeom prst="rect">
            <a:avLst/>
          </a:prstGeom>
          <a:noFill/>
          <a:ln/>
        </p:spPr>
        <p:txBody>
          <a:bodyPr wrap="square" lIns="0" tIns="0" rIns="0" bIns="0" rtlCol="0" anchor="t">
            <a:normAutofit/>
          </a:bodyPr>
          <a:lstStyle/>
          <a:p>
            <a:pPr marL="0" indent="0" algn="l">
              <a:lnSpc>
                <a:spcPts val="1781"/>
              </a:lnSpc>
              <a:buNone/>
            </a:pPr>
            <a:r>
              <a:rPr lang="en-US" sz="1228" dirty="0">
                <a:solidFill>
                  <a:srgbClr val="F7F3EA"/>
                </a:solidFill>
                <a:latin typeface="Arial" pitchFamily="34" charset="0"/>
                <a:ea typeface="Arial" pitchFamily="34" charset="-122"/>
                <a:cs typeface="Arial" pitchFamily="34" charset="-120"/>
              </a:rPr>
              <a:t>The honest version: this was repeatable acquisition, not a lucky campaign. But it only worked because </a:t>
            </a:r>
            <a:r>
              <a:rPr lang="en-US" sz="1228" b="1" dirty="0">
                <a:solidFill>
                  <a:srgbClr val="F7F3EA"/>
                </a:solidFill>
                <a:latin typeface="Arial" pitchFamily="34" charset="0"/>
                <a:ea typeface="Arial" pitchFamily="34" charset="-122"/>
                <a:cs typeface="Arial" pitchFamily="34" charset="-120"/>
              </a:rPr>
              <a:t>the measurement existed first</a:t>
            </a:r>
            <a:r>
              <a:rPr lang="en-US" sz="1228" dirty="0">
                <a:solidFill>
                  <a:srgbClr val="F7F3EA"/>
                </a:solidFill>
                <a:latin typeface="Arial" pitchFamily="34" charset="0"/>
                <a:ea typeface="Arial" pitchFamily="34" charset="-122"/>
                <a:cs typeface="Arial" pitchFamily="34" charset="-120"/>
              </a:rPr>
              <a:t> — which is exactly what this deck is asking Guhantara to build.</a:t>
            </a:r>
            <a:endParaRPr lang="en-US" sz="1228" dirty="0"/>
          </a:p>
        </p:txBody>
      </p:sp>
      <p:sp>
        <p:nvSpPr>
          <p:cNvPr id="8" name="Text 5"/>
          <p:cNvSpPr/>
          <p:nvPr/>
        </p:nvSpPr>
        <p:spPr>
          <a:xfrm>
            <a:off x="812800" y="6238230"/>
            <a:ext cx="643356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071"/>
                </a:solidFill>
                <a:latin typeface="Arial" pitchFamily="34" charset="0"/>
                <a:ea typeface="Arial" pitchFamily="34" charset="-122"/>
                <a:cs typeface="Arial" pitchFamily="34" charset="-120"/>
              </a:rPr>
              <a:t>Timeframe, spend and cost per sign-up to be added from our own records before presenting.</a:t>
            </a:r>
            <a:endParaRPr lang="en-US" sz="12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33">
    <p:bg>
      <p:bgPr>
        <a:solidFill>
          <a:srgbClr val="17140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94665"/>
          </a:xfrm>
          <a:prstGeom prst="rect">
            <a:avLst/>
          </a:prstGeom>
          <a:noFill/>
          <a:ln/>
        </p:spPr>
        <p:txBody>
          <a:bodyPr wrap="square" lIns="0" tIns="0" rIns="0" bIns="0" rtlCol="0" anchor="t">
            <a:normAutofit/>
          </a:bodyPr>
          <a:lstStyle/>
          <a:p>
            <a:pPr marL="0" indent="0" algn="l">
              <a:lnSpc>
                <a:spcPts val="3725"/>
              </a:lnSpc>
              <a:buNone/>
            </a:pPr>
            <a:r>
              <a:rPr lang="en-US" sz="3548" dirty="0">
                <a:solidFill>
                  <a:srgbClr val="C9A63C"/>
                </a:solidFill>
                <a:latin typeface="Georgia" pitchFamily="34" charset="0"/>
                <a:ea typeface="Georgia" pitchFamily="34" charset="-122"/>
                <a:cs typeface="Georgia" pitchFamily="34" charset="-120"/>
              </a:rPr>
              <a:t>Six months, if the measurement holds</a:t>
            </a:r>
            <a:endParaRPr lang="en-US" sz="3548" dirty="0"/>
          </a:p>
        </p:txBody>
      </p:sp>
      <p:graphicFrame>
        <p:nvGraphicFramePr>
          <p:cNvPr id="3" name="Table 0"/>
          <p:cNvGraphicFramePr>
            <a:graphicFrameLocks noGrp="1"/>
          </p:cNvGraphicFramePr>
          <p:nvPr/>
        </p:nvGraphicFramePr>
        <p:xfrm>
          <a:off x="822960" y="1560000"/>
          <a:ext cx="10556240" cy="3510000"/>
        </p:xfrm>
        <a:graphic>
          <a:graphicData uri="http://schemas.openxmlformats.org/drawingml/2006/table">
            <a:tbl>
              <a:tblPr/>
              <a:tblGrid>
                <a:gridCol w="2733688">
                  <a:extLst>
                    <a:ext uri="{9D8B030D-6E8A-4147-A177-3AD203B41FA5}">
                      <a16:colId xmlns:a16="http://schemas.microsoft.com/office/drawing/2014/main" val="20000"/>
                    </a:ext>
                  </a:extLst>
                </a:gridCol>
                <a:gridCol w="1303759">
                  <a:extLst>
                    <a:ext uri="{9D8B030D-6E8A-4147-A177-3AD203B41FA5}">
                      <a16:colId xmlns:a16="http://schemas.microsoft.com/office/drawing/2014/main" val="20001"/>
                    </a:ext>
                  </a:extLst>
                </a:gridCol>
                <a:gridCol w="1303759">
                  <a:extLst>
                    <a:ext uri="{9D8B030D-6E8A-4147-A177-3AD203B41FA5}">
                      <a16:colId xmlns:a16="http://schemas.microsoft.com/office/drawing/2014/main" val="20002"/>
                    </a:ext>
                  </a:extLst>
                </a:gridCol>
                <a:gridCol w="1303759">
                  <a:extLst>
                    <a:ext uri="{9D8B030D-6E8A-4147-A177-3AD203B41FA5}">
                      <a16:colId xmlns:a16="http://schemas.microsoft.com/office/drawing/2014/main" val="20003"/>
                    </a:ext>
                  </a:extLst>
                </a:gridCol>
                <a:gridCol w="1303759">
                  <a:extLst>
                    <a:ext uri="{9D8B030D-6E8A-4147-A177-3AD203B41FA5}">
                      <a16:colId xmlns:a16="http://schemas.microsoft.com/office/drawing/2014/main" val="20004"/>
                    </a:ext>
                  </a:extLst>
                </a:gridCol>
                <a:gridCol w="1303759">
                  <a:extLst>
                    <a:ext uri="{9D8B030D-6E8A-4147-A177-3AD203B41FA5}">
                      <a16:colId xmlns:a16="http://schemas.microsoft.com/office/drawing/2014/main" val="20005"/>
                    </a:ext>
                  </a:extLst>
                </a:gridCol>
                <a:gridCol w="1303757">
                  <a:extLst>
                    <a:ext uri="{9D8B030D-6E8A-4147-A177-3AD203B41FA5}">
                      <a16:colId xmlns:a16="http://schemas.microsoft.com/office/drawing/2014/main" val="20006"/>
                    </a:ext>
                  </a:extLst>
                </a:gridCol>
              </a:tblGrid>
              <a:tr h="390000">
                <a:tc>
                  <a:txBody>
                    <a:bodyPr/>
                    <a:lstStyle/>
                    <a:p>
                      <a:pPr marL="0" indent="0">
                        <a:lnSpc>
                          <a:spcPts val="1340"/>
                        </a:lnSpc>
                        <a:buNone/>
                      </a:pPr>
                      <a:r>
                        <a:rPr lang="en-US" sz="1000" b="1" dirty="0">
                          <a:solidFill>
                            <a:srgbClr val="F7F3EA"/>
                          </a:solidFill>
                          <a:latin typeface="Arial" pitchFamily="34" charset="0"/>
                          <a:ea typeface="Arial" pitchFamily="34" charset="-122"/>
                          <a:cs typeface="Arial" pitchFamily="34" charset="-120"/>
                        </a:rPr>
                        <a:t>Metric</a:t>
                      </a:r>
                      <a:endParaRPr lang="en-US" sz="10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645F57"/>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645F57"/>
                      </a:solidFill>
                      <a:prstDash val="solid"/>
                      <a:round/>
                      <a:headEnd type="none" w="med" len="med"/>
                      <a:tailEnd type="none" w="med" len="med"/>
                    </a:lnB>
                    <a:solidFill>
                      <a:srgbClr val="3A342A"/>
                    </a:solidFill>
                  </a:tcPr>
                </a:tc>
                <a:tc>
                  <a:txBody>
                    <a:bodyPr/>
                    <a:lstStyle/>
                    <a:p>
                      <a:pPr marL="0" indent="0">
                        <a:lnSpc>
                          <a:spcPts val="1340"/>
                        </a:lnSpc>
                        <a:buNone/>
                      </a:pPr>
                      <a:r>
                        <a:rPr lang="en-US" sz="1000" b="1" dirty="0">
                          <a:solidFill>
                            <a:srgbClr val="F7F3EA"/>
                          </a:solidFill>
                          <a:latin typeface="Arial" pitchFamily="34" charset="0"/>
                          <a:ea typeface="Arial" pitchFamily="34" charset="-122"/>
                          <a:cs typeface="Arial" pitchFamily="34" charset="-120"/>
                        </a:rPr>
                        <a:t>Month 1</a:t>
                      </a:r>
                      <a:endParaRPr lang="en-US" sz="1000" dirty="0">
                        <a:latin typeface="Arial" charset="0"/>
                        <a:ea typeface="Arial" charset="0"/>
                        <a:cs typeface="Arial" charset="0"/>
                      </a:endParaRPr>
                    </a:p>
                  </a:txBody>
                  <a:tcPr marL="51965" marR="51965" marT="51965" marB="51965">
                    <a:lnL w="12700" cap="flat" cmpd="sng" algn="ctr">
                      <a:solidFill>
                        <a:srgbClr val="645F57"/>
                      </a:solidFill>
                      <a:prstDash val="solid"/>
                      <a:round/>
                      <a:headEnd type="none" w="med" len="med"/>
                      <a:tailEnd type="none" w="med" len="med"/>
                    </a:lnL>
                    <a:lnR w="12700" cap="flat" cmpd="sng" algn="ctr">
                      <a:solidFill>
                        <a:srgbClr val="645F57"/>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645F57"/>
                      </a:solidFill>
                      <a:prstDash val="solid"/>
                      <a:round/>
                      <a:headEnd type="none" w="med" len="med"/>
                      <a:tailEnd type="none" w="med" len="med"/>
                    </a:lnB>
                    <a:solidFill>
                      <a:srgbClr val="3A342A"/>
                    </a:solidFill>
                  </a:tcPr>
                </a:tc>
                <a:tc>
                  <a:txBody>
                    <a:bodyPr/>
                    <a:lstStyle/>
                    <a:p>
                      <a:pPr marL="0" indent="0">
                        <a:lnSpc>
                          <a:spcPts val="1340"/>
                        </a:lnSpc>
                        <a:buNone/>
                      </a:pPr>
                      <a:r>
                        <a:rPr lang="en-US" sz="1000" b="1" dirty="0">
                          <a:solidFill>
                            <a:srgbClr val="F7F3EA"/>
                          </a:solidFill>
                          <a:latin typeface="Arial" pitchFamily="34" charset="0"/>
                          <a:ea typeface="Arial" pitchFamily="34" charset="-122"/>
                          <a:cs typeface="Arial" pitchFamily="34" charset="-120"/>
                        </a:rPr>
                        <a:t>Month 2</a:t>
                      </a:r>
                      <a:endParaRPr lang="en-US" sz="1000" dirty="0">
                        <a:latin typeface="Arial" charset="0"/>
                        <a:ea typeface="Arial" charset="0"/>
                        <a:cs typeface="Arial" charset="0"/>
                      </a:endParaRPr>
                    </a:p>
                  </a:txBody>
                  <a:tcPr marL="51965" marR="51965" marT="51965" marB="51965">
                    <a:lnL w="12700" cap="flat" cmpd="sng" algn="ctr">
                      <a:solidFill>
                        <a:srgbClr val="645F57"/>
                      </a:solidFill>
                      <a:prstDash val="solid"/>
                      <a:round/>
                      <a:headEnd type="none" w="med" len="med"/>
                      <a:tailEnd type="none" w="med" len="med"/>
                    </a:lnL>
                    <a:lnR w="12700" cap="flat" cmpd="sng" algn="ctr">
                      <a:solidFill>
                        <a:srgbClr val="645F57"/>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645F57"/>
                      </a:solidFill>
                      <a:prstDash val="solid"/>
                      <a:round/>
                      <a:headEnd type="none" w="med" len="med"/>
                      <a:tailEnd type="none" w="med" len="med"/>
                    </a:lnB>
                    <a:solidFill>
                      <a:srgbClr val="3A342A"/>
                    </a:solidFill>
                  </a:tcPr>
                </a:tc>
                <a:tc>
                  <a:txBody>
                    <a:bodyPr/>
                    <a:lstStyle/>
                    <a:p>
                      <a:pPr marL="0" indent="0">
                        <a:lnSpc>
                          <a:spcPts val="1340"/>
                        </a:lnSpc>
                        <a:buNone/>
                      </a:pPr>
                      <a:r>
                        <a:rPr lang="en-US" sz="1000" b="1" dirty="0">
                          <a:solidFill>
                            <a:srgbClr val="F7F3EA"/>
                          </a:solidFill>
                          <a:latin typeface="Arial" pitchFamily="34" charset="0"/>
                          <a:ea typeface="Arial" pitchFamily="34" charset="-122"/>
                          <a:cs typeface="Arial" pitchFamily="34" charset="-120"/>
                        </a:rPr>
                        <a:t>Month 3</a:t>
                      </a:r>
                      <a:endParaRPr lang="en-US" sz="1000" dirty="0">
                        <a:latin typeface="Arial" charset="0"/>
                        <a:ea typeface="Arial" charset="0"/>
                        <a:cs typeface="Arial" charset="0"/>
                      </a:endParaRPr>
                    </a:p>
                  </a:txBody>
                  <a:tcPr marL="51965" marR="51965" marT="51965" marB="51965">
                    <a:lnL w="12700" cap="flat" cmpd="sng" algn="ctr">
                      <a:solidFill>
                        <a:srgbClr val="645F57"/>
                      </a:solidFill>
                      <a:prstDash val="solid"/>
                      <a:round/>
                      <a:headEnd type="none" w="med" len="med"/>
                      <a:tailEnd type="none" w="med" len="med"/>
                    </a:lnL>
                    <a:lnR w="12700" cap="flat" cmpd="sng" algn="ctr">
                      <a:solidFill>
                        <a:srgbClr val="645F57"/>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645F57"/>
                      </a:solidFill>
                      <a:prstDash val="solid"/>
                      <a:round/>
                      <a:headEnd type="none" w="med" len="med"/>
                      <a:tailEnd type="none" w="med" len="med"/>
                    </a:lnB>
                    <a:solidFill>
                      <a:srgbClr val="3A342A"/>
                    </a:solidFill>
                  </a:tcPr>
                </a:tc>
                <a:tc>
                  <a:txBody>
                    <a:bodyPr/>
                    <a:lstStyle/>
                    <a:p>
                      <a:pPr marL="0" indent="0">
                        <a:lnSpc>
                          <a:spcPts val="1340"/>
                        </a:lnSpc>
                        <a:buNone/>
                      </a:pPr>
                      <a:r>
                        <a:rPr lang="en-US" sz="1000" b="1" dirty="0">
                          <a:solidFill>
                            <a:srgbClr val="F7F3EA"/>
                          </a:solidFill>
                          <a:latin typeface="Arial" pitchFamily="34" charset="0"/>
                          <a:ea typeface="Arial" pitchFamily="34" charset="-122"/>
                          <a:cs typeface="Arial" pitchFamily="34" charset="-120"/>
                        </a:rPr>
                        <a:t>Month 4</a:t>
                      </a:r>
                      <a:endParaRPr lang="en-US" sz="1000" dirty="0">
                        <a:latin typeface="Arial" charset="0"/>
                        <a:ea typeface="Arial" charset="0"/>
                        <a:cs typeface="Arial" charset="0"/>
                      </a:endParaRPr>
                    </a:p>
                  </a:txBody>
                  <a:tcPr marL="51965" marR="51965" marT="51965" marB="51965">
                    <a:lnL w="12700" cap="flat" cmpd="sng" algn="ctr">
                      <a:solidFill>
                        <a:srgbClr val="645F57"/>
                      </a:solidFill>
                      <a:prstDash val="solid"/>
                      <a:round/>
                      <a:headEnd type="none" w="med" len="med"/>
                      <a:tailEnd type="none" w="med" len="med"/>
                    </a:lnL>
                    <a:lnR w="12700" cap="flat" cmpd="sng" algn="ctr">
                      <a:solidFill>
                        <a:srgbClr val="645F57"/>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645F57"/>
                      </a:solidFill>
                      <a:prstDash val="solid"/>
                      <a:round/>
                      <a:headEnd type="none" w="med" len="med"/>
                      <a:tailEnd type="none" w="med" len="med"/>
                    </a:lnB>
                    <a:solidFill>
                      <a:srgbClr val="3A342A"/>
                    </a:solidFill>
                  </a:tcPr>
                </a:tc>
                <a:tc>
                  <a:txBody>
                    <a:bodyPr/>
                    <a:lstStyle/>
                    <a:p>
                      <a:pPr marL="0" indent="0">
                        <a:lnSpc>
                          <a:spcPts val="1340"/>
                        </a:lnSpc>
                        <a:buNone/>
                      </a:pPr>
                      <a:r>
                        <a:rPr lang="en-US" sz="1000" b="1" dirty="0">
                          <a:solidFill>
                            <a:srgbClr val="F7F3EA"/>
                          </a:solidFill>
                          <a:latin typeface="Arial" pitchFamily="34" charset="0"/>
                          <a:ea typeface="Arial" pitchFamily="34" charset="-122"/>
                          <a:cs typeface="Arial" pitchFamily="34" charset="-120"/>
                        </a:rPr>
                        <a:t>Month 5</a:t>
                      </a:r>
                      <a:endParaRPr lang="en-US" sz="1000" dirty="0">
                        <a:latin typeface="Arial" charset="0"/>
                        <a:ea typeface="Arial" charset="0"/>
                        <a:cs typeface="Arial" charset="0"/>
                      </a:endParaRPr>
                    </a:p>
                  </a:txBody>
                  <a:tcPr marL="51965" marR="51965" marT="51965" marB="51965">
                    <a:lnL w="12700" cap="flat" cmpd="sng" algn="ctr">
                      <a:solidFill>
                        <a:srgbClr val="645F57"/>
                      </a:solidFill>
                      <a:prstDash val="solid"/>
                      <a:round/>
                      <a:headEnd type="none" w="med" len="med"/>
                      <a:tailEnd type="none" w="med" len="med"/>
                    </a:lnL>
                    <a:lnR w="12700" cap="flat" cmpd="sng" algn="ctr">
                      <a:solidFill>
                        <a:srgbClr val="645F57"/>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645F57"/>
                      </a:solidFill>
                      <a:prstDash val="solid"/>
                      <a:round/>
                      <a:headEnd type="none" w="med" len="med"/>
                      <a:tailEnd type="none" w="med" len="med"/>
                    </a:lnB>
                    <a:solidFill>
                      <a:srgbClr val="3A342A"/>
                    </a:solidFill>
                  </a:tcPr>
                </a:tc>
                <a:tc>
                  <a:txBody>
                    <a:bodyPr/>
                    <a:lstStyle/>
                    <a:p>
                      <a:pPr marL="0" indent="0">
                        <a:lnSpc>
                          <a:spcPts val="1340"/>
                        </a:lnSpc>
                        <a:buNone/>
                      </a:pPr>
                      <a:r>
                        <a:rPr lang="en-US" sz="1000" b="1" dirty="0">
                          <a:solidFill>
                            <a:srgbClr val="F7F3EA"/>
                          </a:solidFill>
                          <a:latin typeface="Arial" pitchFamily="34" charset="0"/>
                          <a:ea typeface="Arial" pitchFamily="34" charset="-122"/>
                          <a:cs typeface="Arial" pitchFamily="34" charset="-120"/>
                        </a:rPr>
                        <a:t>Month 6</a:t>
                      </a:r>
                      <a:endParaRPr lang="en-US" sz="1000" dirty="0">
                        <a:latin typeface="Arial" charset="0"/>
                        <a:ea typeface="Arial" charset="0"/>
                        <a:cs typeface="Arial" charset="0"/>
                      </a:endParaRPr>
                    </a:p>
                  </a:txBody>
                  <a:tcPr marL="51965" marR="51965" marT="51965" marB="51965">
                    <a:lnL w="12700" cap="flat" cmpd="sng" algn="ctr">
                      <a:solidFill>
                        <a:srgbClr val="645F57"/>
                      </a:solidFill>
                      <a:prstDash val="solid"/>
                      <a:round/>
                      <a:headEnd type="none" w="med" len="med"/>
                      <a:tailEnd type="none" w="med" len="med"/>
                    </a:lnL>
                    <a:lnR w="12700" cap="flat" cmpd="sng" algn="ctr">
                      <a:solidFill>
                        <a:srgbClr val="645F57"/>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645F57"/>
                      </a:solidFill>
                      <a:prstDash val="solid"/>
                      <a:round/>
                      <a:headEnd type="none" w="med" len="med"/>
                      <a:tailEnd type="none" w="med" len="med"/>
                    </a:lnB>
                    <a:solidFill>
                      <a:srgbClr val="3A342A"/>
                    </a:solidFill>
                  </a:tcPr>
                </a:tc>
                <a:extLst>
                  <a:ext uri="{0D108BD9-81ED-4DB2-BD59-A6C34878D82A}">
                    <a16:rowId xmlns:a16="http://schemas.microsoft.com/office/drawing/2014/main" val="10000"/>
                  </a:ext>
                </a:extLst>
              </a:tr>
              <a:tr h="390000">
                <a:tc>
                  <a:txBody>
                    <a:bodyPr/>
                    <a:lstStyle/>
                    <a:p>
                      <a:pPr marL="0" indent="0">
                        <a:lnSpc>
                          <a:spcPts val="1340"/>
                        </a:lnSpc>
                        <a:buNone/>
                      </a:pPr>
                      <a:r>
                        <a:rPr lang="en-US" sz="1000" dirty="0">
                          <a:solidFill>
                            <a:srgbClr val="F7F3EA"/>
                          </a:solidFill>
                          <a:latin typeface="Arial" pitchFamily="34" charset="0"/>
                          <a:ea typeface="Arial" pitchFamily="34" charset="-122"/>
                          <a:cs typeface="Arial" pitchFamily="34" charset="-120"/>
                        </a:rPr>
                        <a:t>Meta spend</a:t>
                      </a:r>
                      <a:endParaRPr lang="en-US" sz="10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645F57"/>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340"/>
                        </a:lnSpc>
                        <a:buNone/>
                      </a:pPr>
                      <a:r>
                        <a:rPr lang="en-US" sz="1000" dirty="0">
                          <a:solidFill>
                            <a:srgbClr val="F7F3EA"/>
                          </a:solidFill>
                          <a:latin typeface="Arial" pitchFamily="34" charset="0"/>
                          <a:ea typeface="Arial" pitchFamily="34" charset="-122"/>
                          <a:cs typeface="Arial" pitchFamily="34" charset="-120"/>
                        </a:rPr>
                        <a:t>₹1,80,000</a:t>
                      </a:r>
                      <a:endParaRPr lang="en-US" sz="10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645F57"/>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340"/>
                        </a:lnSpc>
                        <a:buNone/>
                      </a:pPr>
                      <a:r>
                        <a:rPr lang="en-US" sz="1000" dirty="0">
                          <a:solidFill>
                            <a:srgbClr val="F7F3EA"/>
                          </a:solidFill>
                          <a:latin typeface="Arial" pitchFamily="34" charset="0"/>
                          <a:ea typeface="Arial" pitchFamily="34" charset="-122"/>
                          <a:cs typeface="Arial" pitchFamily="34" charset="-120"/>
                        </a:rPr>
                        <a:t>₹1,98,000</a:t>
                      </a:r>
                      <a:endParaRPr lang="en-US" sz="10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645F57"/>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340"/>
                        </a:lnSpc>
                        <a:buNone/>
                      </a:pPr>
                      <a:r>
                        <a:rPr lang="en-US" sz="1000" dirty="0">
                          <a:solidFill>
                            <a:srgbClr val="F7F3EA"/>
                          </a:solidFill>
                          <a:latin typeface="Arial" pitchFamily="34" charset="0"/>
                          <a:ea typeface="Arial" pitchFamily="34" charset="-122"/>
                          <a:cs typeface="Arial" pitchFamily="34" charset="-120"/>
                        </a:rPr>
                        <a:t>₹2,37,600</a:t>
                      </a:r>
                      <a:endParaRPr lang="en-US" sz="10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645F57"/>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340"/>
                        </a:lnSpc>
                        <a:buNone/>
                      </a:pPr>
                      <a:r>
                        <a:rPr lang="en-US" sz="1000" dirty="0">
                          <a:solidFill>
                            <a:srgbClr val="F7F3EA"/>
                          </a:solidFill>
                          <a:latin typeface="Arial" pitchFamily="34" charset="0"/>
                          <a:ea typeface="Arial" pitchFamily="34" charset="-122"/>
                          <a:cs typeface="Arial" pitchFamily="34" charset="-120"/>
                        </a:rPr>
                        <a:t>₹2,85,120</a:t>
                      </a:r>
                      <a:endParaRPr lang="en-US" sz="10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645F57"/>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340"/>
                        </a:lnSpc>
                        <a:buNone/>
                      </a:pPr>
                      <a:r>
                        <a:rPr lang="en-US" sz="1000" dirty="0">
                          <a:solidFill>
                            <a:srgbClr val="F7F3EA"/>
                          </a:solidFill>
                          <a:latin typeface="Arial" pitchFamily="34" charset="0"/>
                          <a:ea typeface="Arial" pitchFamily="34" charset="-122"/>
                          <a:cs typeface="Arial" pitchFamily="34" charset="-120"/>
                        </a:rPr>
                        <a:t>₹3,42,144</a:t>
                      </a:r>
                      <a:endParaRPr lang="en-US" sz="10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645F57"/>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340"/>
                        </a:lnSpc>
                        <a:buNone/>
                      </a:pPr>
                      <a:r>
                        <a:rPr lang="en-US" sz="1000" dirty="0">
                          <a:solidFill>
                            <a:srgbClr val="F7F3EA"/>
                          </a:solidFill>
                          <a:latin typeface="Arial" pitchFamily="34" charset="0"/>
                          <a:ea typeface="Arial" pitchFamily="34" charset="-122"/>
                          <a:cs typeface="Arial" pitchFamily="34" charset="-120"/>
                        </a:rPr>
                        <a:t>₹4,10,573</a:t>
                      </a:r>
                      <a:endParaRPr lang="en-US" sz="10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645F57"/>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extLst>
                  <a:ext uri="{0D108BD9-81ED-4DB2-BD59-A6C34878D82A}">
                    <a16:rowId xmlns:a16="http://schemas.microsoft.com/office/drawing/2014/main" val="10001"/>
                  </a:ext>
                </a:extLst>
              </a:tr>
              <a:tr h="390000">
                <a:tc>
                  <a:txBody>
                    <a:bodyPr/>
                    <a:lstStyle/>
                    <a:p>
                      <a:pPr marL="0" indent="0">
                        <a:lnSpc>
                          <a:spcPts val="1340"/>
                        </a:lnSpc>
                        <a:buNone/>
                      </a:pPr>
                      <a:r>
                        <a:rPr lang="en-US" sz="1000" dirty="0">
                          <a:solidFill>
                            <a:srgbClr val="F7F3EA"/>
                          </a:solidFill>
                          <a:latin typeface="Arial" pitchFamily="34" charset="0"/>
                          <a:ea typeface="Arial" pitchFamily="34" charset="-122"/>
                          <a:cs typeface="Arial" pitchFamily="34" charset="-120"/>
                        </a:rPr>
                        <a:t>Google spend</a:t>
                      </a:r>
                      <a:endParaRPr lang="en-US" sz="10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340"/>
                        </a:lnSpc>
                        <a:buNone/>
                      </a:pPr>
                      <a:r>
                        <a:rPr lang="en-US" sz="1000" dirty="0">
                          <a:solidFill>
                            <a:srgbClr val="F7F3EA"/>
                          </a:solidFill>
                          <a:latin typeface="Arial" pitchFamily="34" charset="0"/>
                          <a:ea typeface="Arial" pitchFamily="34" charset="-122"/>
                          <a:cs typeface="Arial" pitchFamily="34" charset="-120"/>
                        </a:rPr>
                        <a:t>₹90,000</a:t>
                      </a:r>
                      <a:endParaRPr lang="en-US" sz="10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340"/>
                        </a:lnSpc>
                        <a:buNone/>
                      </a:pPr>
                      <a:r>
                        <a:rPr lang="en-US" sz="1000" dirty="0">
                          <a:solidFill>
                            <a:srgbClr val="F7F3EA"/>
                          </a:solidFill>
                          <a:latin typeface="Arial" pitchFamily="34" charset="0"/>
                          <a:ea typeface="Arial" pitchFamily="34" charset="-122"/>
                          <a:cs typeface="Arial" pitchFamily="34" charset="-120"/>
                        </a:rPr>
                        <a:t>₹99,000</a:t>
                      </a:r>
                      <a:endParaRPr lang="en-US" sz="10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340"/>
                        </a:lnSpc>
                        <a:buNone/>
                      </a:pPr>
                      <a:r>
                        <a:rPr lang="en-US" sz="1000" dirty="0">
                          <a:solidFill>
                            <a:srgbClr val="F7F3EA"/>
                          </a:solidFill>
                          <a:latin typeface="Arial" pitchFamily="34" charset="0"/>
                          <a:ea typeface="Arial" pitchFamily="34" charset="-122"/>
                          <a:cs typeface="Arial" pitchFamily="34" charset="-120"/>
                        </a:rPr>
                        <a:t>₹1,08,900</a:t>
                      </a:r>
                      <a:endParaRPr lang="en-US" sz="10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340"/>
                        </a:lnSpc>
                        <a:buNone/>
                      </a:pPr>
                      <a:r>
                        <a:rPr lang="en-US" sz="1000" dirty="0">
                          <a:solidFill>
                            <a:srgbClr val="F7F3EA"/>
                          </a:solidFill>
                          <a:latin typeface="Arial" pitchFamily="34" charset="0"/>
                          <a:ea typeface="Arial" pitchFamily="34" charset="-122"/>
                          <a:cs typeface="Arial" pitchFamily="34" charset="-120"/>
                        </a:rPr>
                        <a:t>₹1,19,790</a:t>
                      </a:r>
                      <a:endParaRPr lang="en-US" sz="10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340"/>
                        </a:lnSpc>
                        <a:buNone/>
                      </a:pPr>
                      <a:r>
                        <a:rPr lang="en-US" sz="1000" dirty="0">
                          <a:solidFill>
                            <a:srgbClr val="F7F3EA"/>
                          </a:solidFill>
                          <a:latin typeface="Arial" pitchFamily="34" charset="0"/>
                          <a:ea typeface="Arial" pitchFamily="34" charset="-122"/>
                          <a:cs typeface="Arial" pitchFamily="34" charset="-120"/>
                        </a:rPr>
                        <a:t>₹1,31,769</a:t>
                      </a:r>
                      <a:endParaRPr lang="en-US" sz="10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340"/>
                        </a:lnSpc>
                        <a:buNone/>
                      </a:pPr>
                      <a:r>
                        <a:rPr lang="en-US" sz="1000" dirty="0">
                          <a:solidFill>
                            <a:srgbClr val="F7F3EA"/>
                          </a:solidFill>
                          <a:latin typeface="Arial" pitchFamily="34" charset="0"/>
                          <a:ea typeface="Arial" pitchFamily="34" charset="-122"/>
                          <a:cs typeface="Arial" pitchFamily="34" charset="-120"/>
                        </a:rPr>
                        <a:t>₹1,44,946</a:t>
                      </a:r>
                      <a:endParaRPr lang="en-US" sz="10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extLst>
                  <a:ext uri="{0D108BD9-81ED-4DB2-BD59-A6C34878D82A}">
                    <a16:rowId xmlns:a16="http://schemas.microsoft.com/office/drawing/2014/main" val="10002"/>
                  </a:ext>
                </a:extLst>
              </a:tr>
              <a:tr h="390000">
                <a:tc>
                  <a:txBody>
                    <a:bodyPr/>
                    <a:lstStyle/>
                    <a:p>
                      <a:pPr marL="0" indent="0">
                        <a:lnSpc>
                          <a:spcPts val="1340"/>
                        </a:lnSpc>
                        <a:buNone/>
                      </a:pPr>
                      <a:r>
                        <a:rPr lang="en-US" sz="1000" b="1" dirty="0">
                          <a:solidFill>
                            <a:srgbClr val="F7F3EA"/>
                          </a:solidFill>
                          <a:latin typeface="Arial" pitchFamily="34" charset="0"/>
                          <a:ea typeface="Arial" pitchFamily="34" charset="-122"/>
                          <a:cs typeface="Arial" pitchFamily="34" charset="-120"/>
                        </a:rPr>
                        <a:t>Total spend</a:t>
                      </a:r>
                      <a:endParaRPr lang="en-US" sz="10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solidFill>
                      <a:srgbClr val="3A342A"/>
                    </a:solidFill>
                  </a:tcPr>
                </a:tc>
                <a:tc>
                  <a:txBody>
                    <a:bodyPr/>
                    <a:lstStyle/>
                    <a:p>
                      <a:pPr marL="0" indent="0">
                        <a:lnSpc>
                          <a:spcPts val="1340"/>
                        </a:lnSpc>
                        <a:buNone/>
                      </a:pPr>
                      <a:r>
                        <a:rPr lang="en-US" sz="1000" b="1" dirty="0">
                          <a:solidFill>
                            <a:srgbClr val="F7F3EA"/>
                          </a:solidFill>
                          <a:latin typeface="Arial" pitchFamily="34" charset="0"/>
                          <a:ea typeface="Arial" pitchFamily="34" charset="-122"/>
                          <a:cs typeface="Arial" pitchFamily="34" charset="-120"/>
                        </a:rPr>
                        <a:t>₹2,70,000</a:t>
                      </a:r>
                      <a:endParaRPr lang="en-US" sz="10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solidFill>
                      <a:srgbClr val="3A342A"/>
                    </a:solidFill>
                  </a:tcPr>
                </a:tc>
                <a:tc>
                  <a:txBody>
                    <a:bodyPr/>
                    <a:lstStyle/>
                    <a:p>
                      <a:pPr marL="0" indent="0">
                        <a:lnSpc>
                          <a:spcPts val="1340"/>
                        </a:lnSpc>
                        <a:buNone/>
                      </a:pPr>
                      <a:r>
                        <a:rPr lang="en-US" sz="1000" b="1" dirty="0">
                          <a:solidFill>
                            <a:srgbClr val="F7F3EA"/>
                          </a:solidFill>
                          <a:latin typeface="Arial" pitchFamily="34" charset="0"/>
                          <a:ea typeface="Arial" pitchFamily="34" charset="-122"/>
                          <a:cs typeface="Arial" pitchFamily="34" charset="-120"/>
                        </a:rPr>
                        <a:t>₹2,97,000</a:t>
                      </a:r>
                      <a:endParaRPr lang="en-US" sz="10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solidFill>
                      <a:srgbClr val="3A342A"/>
                    </a:solidFill>
                  </a:tcPr>
                </a:tc>
                <a:tc>
                  <a:txBody>
                    <a:bodyPr/>
                    <a:lstStyle/>
                    <a:p>
                      <a:pPr marL="0" indent="0">
                        <a:lnSpc>
                          <a:spcPts val="1340"/>
                        </a:lnSpc>
                        <a:buNone/>
                      </a:pPr>
                      <a:r>
                        <a:rPr lang="en-US" sz="1000" b="1" dirty="0">
                          <a:solidFill>
                            <a:srgbClr val="F7F3EA"/>
                          </a:solidFill>
                          <a:latin typeface="Arial" pitchFamily="34" charset="0"/>
                          <a:ea typeface="Arial" pitchFamily="34" charset="-122"/>
                          <a:cs typeface="Arial" pitchFamily="34" charset="-120"/>
                        </a:rPr>
                        <a:t>₹3,46,500</a:t>
                      </a:r>
                      <a:endParaRPr lang="en-US" sz="10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solidFill>
                      <a:srgbClr val="3A342A"/>
                    </a:solidFill>
                  </a:tcPr>
                </a:tc>
                <a:tc>
                  <a:txBody>
                    <a:bodyPr/>
                    <a:lstStyle/>
                    <a:p>
                      <a:pPr marL="0" indent="0">
                        <a:lnSpc>
                          <a:spcPts val="1340"/>
                        </a:lnSpc>
                        <a:buNone/>
                      </a:pPr>
                      <a:r>
                        <a:rPr lang="en-US" sz="1000" b="1" dirty="0">
                          <a:solidFill>
                            <a:srgbClr val="F7F3EA"/>
                          </a:solidFill>
                          <a:latin typeface="Arial" pitchFamily="34" charset="0"/>
                          <a:ea typeface="Arial" pitchFamily="34" charset="-122"/>
                          <a:cs typeface="Arial" pitchFamily="34" charset="-120"/>
                        </a:rPr>
                        <a:t>₹4,04,910</a:t>
                      </a:r>
                      <a:endParaRPr lang="en-US" sz="10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solidFill>
                      <a:srgbClr val="3A342A"/>
                    </a:solidFill>
                  </a:tcPr>
                </a:tc>
                <a:tc>
                  <a:txBody>
                    <a:bodyPr/>
                    <a:lstStyle/>
                    <a:p>
                      <a:pPr marL="0" indent="0">
                        <a:lnSpc>
                          <a:spcPts val="1340"/>
                        </a:lnSpc>
                        <a:buNone/>
                      </a:pPr>
                      <a:r>
                        <a:rPr lang="en-US" sz="1000" b="1" dirty="0">
                          <a:solidFill>
                            <a:srgbClr val="F7F3EA"/>
                          </a:solidFill>
                          <a:latin typeface="Arial" pitchFamily="34" charset="0"/>
                          <a:ea typeface="Arial" pitchFamily="34" charset="-122"/>
                          <a:cs typeface="Arial" pitchFamily="34" charset="-120"/>
                        </a:rPr>
                        <a:t>₹4,73,913</a:t>
                      </a:r>
                      <a:endParaRPr lang="en-US" sz="10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solidFill>
                      <a:srgbClr val="3A342A"/>
                    </a:solidFill>
                  </a:tcPr>
                </a:tc>
                <a:tc>
                  <a:txBody>
                    <a:bodyPr/>
                    <a:lstStyle/>
                    <a:p>
                      <a:pPr marL="0" indent="0">
                        <a:lnSpc>
                          <a:spcPts val="1340"/>
                        </a:lnSpc>
                        <a:buNone/>
                      </a:pPr>
                      <a:r>
                        <a:rPr lang="en-US" sz="1000" b="1" dirty="0">
                          <a:solidFill>
                            <a:srgbClr val="F7F3EA"/>
                          </a:solidFill>
                          <a:latin typeface="Arial" pitchFamily="34" charset="0"/>
                          <a:ea typeface="Arial" pitchFamily="34" charset="-122"/>
                          <a:cs typeface="Arial" pitchFamily="34" charset="-120"/>
                        </a:rPr>
                        <a:t>₹5,55,519</a:t>
                      </a:r>
                      <a:endParaRPr lang="en-US" sz="10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solidFill>
                      <a:srgbClr val="3A342A"/>
                    </a:solidFill>
                  </a:tcPr>
                </a:tc>
                <a:extLst>
                  <a:ext uri="{0D108BD9-81ED-4DB2-BD59-A6C34878D82A}">
                    <a16:rowId xmlns:a16="http://schemas.microsoft.com/office/drawing/2014/main" val="10003"/>
                  </a:ext>
                </a:extLst>
              </a:tr>
              <a:tr h="390000">
                <a:tc>
                  <a:txBody>
                    <a:bodyPr/>
                    <a:lstStyle/>
                    <a:p>
                      <a:pPr marL="0" indent="0">
                        <a:lnSpc>
                          <a:spcPts val="1340"/>
                        </a:lnSpc>
                        <a:buNone/>
                      </a:pPr>
                      <a:r>
                        <a:rPr lang="en-US" sz="1000" dirty="0">
                          <a:solidFill>
                            <a:srgbClr val="F7F3EA"/>
                          </a:solidFill>
                          <a:latin typeface="Arial" pitchFamily="34" charset="0"/>
                          <a:ea typeface="Arial" pitchFamily="34" charset="-122"/>
                          <a:cs typeface="Arial" pitchFamily="34" charset="-120"/>
                        </a:rPr>
                        <a:t>Total leads</a:t>
                      </a:r>
                      <a:endParaRPr lang="en-US" sz="10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340"/>
                        </a:lnSpc>
                        <a:buNone/>
                      </a:pPr>
                      <a:r>
                        <a:rPr lang="en-US" sz="1000" dirty="0">
                          <a:solidFill>
                            <a:srgbClr val="F7F3EA"/>
                          </a:solidFill>
                          <a:latin typeface="Arial" pitchFamily="34" charset="0"/>
                          <a:ea typeface="Arial" pitchFamily="34" charset="-122"/>
                          <a:cs typeface="Arial" pitchFamily="34" charset="-120"/>
                        </a:rPr>
                        <a:t>560</a:t>
                      </a:r>
                      <a:endParaRPr lang="en-US" sz="10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340"/>
                        </a:lnSpc>
                        <a:buNone/>
                      </a:pPr>
                      <a:r>
                        <a:rPr lang="en-US" sz="1000" dirty="0">
                          <a:solidFill>
                            <a:srgbClr val="F7F3EA"/>
                          </a:solidFill>
                          <a:latin typeface="Arial" pitchFamily="34" charset="0"/>
                          <a:ea typeface="Arial" pitchFamily="34" charset="-122"/>
                          <a:cs typeface="Arial" pitchFamily="34" charset="-120"/>
                        </a:rPr>
                        <a:t>689</a:t>
                      </a:r>
                      <a:endParaRPr lang="en-US" sz="10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340"/>
                        </a:lnSpc>
                        <a:buNone/>
                      </a:pPr>
                      <a:r>
                        <a:rPr lang="en-US" sz="1000" dirty="0">
                          <a:solidFill>
                            <a:srgbClr val="F7F3EA"/>
                          </a:solidFill>
                          <a:latin typeface="Arial" pitchFamily="34" charset="0"/>
                          <a:ea typeface="Arial" pitchFamily="34" charset="-122"/>
                          <a:cs typeface="Arial" pitchFamily="34" charset="-120"/>
                        </a:rPr>
                        <a:t>909</a:t>
                      </a:r>
                      <a:endParaRPr lang="en-US" sz="10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340"/>
                        </a:lnSpc>
                        <a:buNone/>
                      </a:pPr>
                      <a:r>
                        <a:rPr lang="en-US" sz="1000" dirty="0">
                          <a:solidFill>
                            <a:srgbClr val="F7F3EA"/>
                          </a:solidFill>
                          <a:latin typeface="Arial" pitchFamily="34" charset="0"/>
                          <a:ea typeface="Arial" pitchFamily="34" charset="-122"/>
                          <a:cs typeface="Arial" pitchFamily="34" charset="-120"/>
                        </a:rPr>
                        <a:t>1,144</a:t>
                      </a:r>
                      <a:endParaRPr lang="en-US" sz="10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340"/>
                        </a:lnSpc>
                        <a:buNone/>
                      </a:pPr>
                      <a:r>
                        <a:rPr lang="en-US" sz="1000" dirty="0">
                          <a:solidFill>
                            <a:srgbClr val="F7F3EA"/>
                          </a:solidFill>
                          <a:latin typeface="Arial" pitchFamily="34" charset="0"/>
                          <a:ea typeface="Arial" pitchFamily="34" charset="-122"/>
                          <a:cs typeface="Arial" pitchFamily="34" charset="-120"/>
                        </a:rPr>
                        <a:t>1,522</a:t>
                      </a:r>
                      <a:endParaRPr lang="en-US" sz="10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340"/>
                        </a:lnSpc>
                        <a:buNone/>
                      </a:pPr>
                      <a:r>
                        <a:rPr lang="en-US" sz="1000" dirty="0">
                          <a:solidFill>
                            <a:srgbClr val="F7F3EA"/>
                          </a:solidFill>
                          <a:latin typeface="Arial" pitchFamily="34" charset="0"/>
                          <a:ea typeface="Arial" pitchFamily="34" charset="-122"/>
                          <a:cs typeface="Arial" pitchFamily="34" charset="-120"/>
                        </a:rPr>
                        <a:t>1,959</a:t>
                      </a:r>
                      <a:endParaRPr lang="en-US" sz="10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extLst>
                  <a:ext uri="{0D108BD9-81ED-4DB2-BD59-A6C34878D82A}">
                    <a16:rowId xmlns:a16="http://schemas.microsoft.com/office/drawing/2014/main" val="10004"/>
                  </a:ext>
                </a:extLst>
              </a:tr>
              <a:tr h="390000">
                <a:tc>
                  <a:txBody>
                    <a:bodyPr/>
                    <a:lstStyle/>
                    <a:p>
                      <a:pPr marL="0" indent="0">
                        <a:lnSpc>
                          <a:spcPts val="1340"/>
                        </a:lnSpc>
                        <a:buNone/>
                      </a:pPr>
                      <a:r>
                        <a:rPr lang="en-US" sz="1000" dirty="0">
                          <a:solidFill>
                            <a:srgbClr val="F7F3EA"/>
                          </a:solidFill>
                          <a:latin typeface="Arial" pitchFamily="34" charset="0"/>
                          <a:ea typeface="Arial" pitchFamily="34" charset="-122"/>
                          <a:cs typeface="Arial" pitchFamily="34" charset="-120"/>
                        </a:rPr>
                        <a:t>Blended cost per lead</a:t>
                      </a:r>
                      <a:endParaRPr lang="en-US" sz="10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340"/>
                        </a:lnSpc>
                        <a:buNone/>
                      </a:pPr>
                      <a:r>
                        <a:rPr lang="en-US" sz="1000" dirty="0">
                          <a:solidFill>
                            <a:srgbClr val="F7F3EA"/>
                          </a:solidFill>
                          <a:latin typeface="Arial" pitchFamily="34" charset="0"/>
                          <a:ea typeface="Arial" pitchFamily="34" charset="-122"/>
                          <a:cs typeface="Arial" pitchFamily="34" charset="-120"/>
                        </a:rPr>
                        <a:t>₹482</a:t>
                      </a:r>
                      <a:endParaRPr lang="en-US" sz="10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340"/>
                        </a:lnSpc>
                        <a:buNone/>
                      </a:pPr>
                      <a:r>
                        <a:rPr lang="en-US" sz="1000" dirty="0">
                          <a:solidFill>
                            <a:srgbClr val="F7F3EA"/>
                          </a:solidFill>
                          <a:latin typeface="Arial" pitchFamily="34" charset="0"/>
                          <a:ea typeface="Arial" pitchFamily="34" charset="-122"/>
                          <a:cs typeface="Arial" pitchFamily="34" charset="-120"/>
                        </a:rPr>
                        <a:t>₹431</a:t>
                      </a:r>
                      <a:endParaRPr lang="en-US" sz="10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340"/>
                        </a:lnSpc>
                        <a:buNone/>
                      </a:pPr>
                      <a:r>
                        <a:rPr lang="en-US" sz="1000" dirty="0">
                          <a:solidFill>
                            <a:srgbClr val="F7F3EA"/>
                          </a:solidFill>
                          <a:latin typeface="Arial" pitchFamily="34" charset="0"/>
                          <a:ea typeface="Arial" pitchFamily="34" charset="-122"/>
                          <a:cs typeface="Arial" pitchFamily="34" charset="-120"/>
                        </a:rPr>
                        <a:t>₹381</a:t>
                      </a:r>
                      <a:endParaRPr lang="en-US" sz="10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340"/>
                        </a:lnSpc>
                        <a:buNone/>
                      </a:pPr>
                      <a:r>
                        <a:rPr lang="en-US" sz="1000" dirty="0">
                          <a:solidFill>
                            <a:srgbClr val="F7F3EA"/>
                          </a:solidFill>
                          <a:latin typeface="Arial" pitchFamily="34" charset="0"/>
                          <a:ea typeface="Arial" pitchFamily="34" charset="-122"/>
                          <a:cs typeface="Arial" pitchFamily="34" charset="-120"/>
                        </a:rPr>
                        <a:t>₹354</a:t>
                      </a:r>
                      <a:endParaRPr lang="en-US" sz="10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340"/>
                        </a:lnSpc>
                        <a:buNone/>
                      </a:pPr>
                      <a:r>
                        <a:rPr lang="en-US" sz="1000" dirty="0">
                          <a:solidFill>
                            <a:srgbClr val="F7F3EA"/>
                          </a:solidFill>
                          <a:latin typeface="Arial" pitchFamily="34" charset="0"/>
                          <a:ea typeface="Arial" pitchFamily="34" charset="-122"/>
                          <a:cs typeface="Arial" pitchFamily="34" charset="-120"/>
                        </a:rPr>
                        <a:t>₹311</a:t>
                      </a:r>
                      <a:endParaRPr lang="en-US" sz="10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340"/>
                        </a:lnSpc>
                        <a:buNone/>
                      </a:pPr>
                      <a:r>
                        <a:rPr lang="en-US" sz="1000" dirty="0">
                          <a:solidFill>
                            <a:srgbClr val="F7F3EA"/>
                          </a:solidFill>
                          <a:latin typeface="Arial" pitchFamily="34" charset="0"/>
                          <a:ea typeface="Arial" pitchFamily="34" charset="-122"/>
                          <a:cs typeface="Arial" pitchFamily="34" charset="-120"/>
                        </a:rPr>
                        <a:t>₹284</a:t>
                      </a:r>
                      <a:endParaRPr lang="en-US" sz="10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extLst>
                  <a:ext uri="{0D108BD9-81ED-4DB2-BD59-A6C34878D82A}">
                    <a16:rowId xmlns:a16="http://schemas.microsoft.com/office/drawing/2014/main" val="10005"/>
                  </a:ext>
                </a:extLst>
              </a:tr>
              <a:tr h="390000">
                <a:tc>
                  <a:txBody>
                    <a:bodyPr/>
                    <a:lstStyle/>
                    <a:p>
                      <a:pPr marL="0" indent="0">
                        <a:lnSpc>
                          <a:spcPts val="1340"/>
                        </a:lnSpc>
                        <a:buNone/>
                      </a:pPr>
                      <a:r>
                        <a:rPr lang="en-US" sz="1000" dirty="0">
                          <a:solidFill>
                            <a:srgbClr val="F7F3EA"/>
                          </a:solidFill>
                          <a:latin typeface="Arial" pitchFamily="34" charset="0"/>
                          <a:ea typeface="Arial" pitchFamily="34" charset="-122"/>
                          <a:cs typeface="Arial" pitchFamily="34" charset="-120"/>
                        </a:rPr>
                        <a:t>MQLs</a:t>
                      </a:r>
                      <a:endParaRPr lang="en-US" sz="10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340"/>
                        </a:lnSpc>
                        <a:buNone/>
                      </a:pPr>
                      <a:r>
                        <a:rPr lang="en-US" sz="1000" dirty="0">
                          <a:solidFill>
                            <a:srgbClr val="F7F3EA"/>
                          </a:solidFill>
                          <a:latin typeface="Arial" pitchFamily="34" charset="0"/>
                          <a:ea typeface="Arial" pitchFamily="34" charset="-122"/>
                          <a:cs typeface="Arial" pitchFamily="34" charset="-120"/>
                        </a:rPr>
                        <a:t>156 · 27.9%</a:t>
                      </a:r>
                      <a:endParaRPr lang="en-US" sz="10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340"/>
                        </a:lnSpc>
                        <a:buNone/>
                      </a:pPr>
                      <a:r>
                        <a:rPr lang="en-US" sz="1000" dirty="0">
                          <a:solidFill>
                            <a:srgbClr val="F7F3EA"/>
                          </a:solidFill>
                          <a:latin typeface="Arial" pitchFamily="34" charset="0"/>
                          <a:ea typeface="Arial" pitchFamily="34" charset="-122"/>
                          <a:cs typeface="Arial" pitchFamily="34" charset="-120"/>
                        </a:rPr>
                        <a:t>192 · 27.8%</a:t>
                      </a:r>
                      <a:endParaRPr lang="en-US" sz="10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340"/>
                        </a:lnSpc>
                        <a:buNone/>
                      </a:pPr>
                      <a:r>
                        <a:rPr lang="en-US" sz="1000" dirty="0">
                          <a:solidFill>
                            <a:srgbClr val="F7F3EA"/>
                          </a:solidFill>
                          <a:latin typeface="Arial" pitchFamily="34" charset="0"/>
                          <a:ea typeface="Arial" pitchFamily="34" charset="-122"/>
                          <a:cs typeface="Arial" pitchFamily="34" charset="-120"/>
                        </a:rPr>
                        <a:t>284 · 31.3%</a:t>
                      </a:r>
                      <a:endParaRPr lang="en-US" sz="10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340"/>
                        </a:lnSpc>
                        <a:buNone/>
                      </a:pPr>
                      <a:r>
                        <a:rPr lang="en-US" sz="1000" dirty="0">
                          <a:solidFill>
                            <a:srgbClr val="F7F3EA"/>
                          </a:solidFill>
                          <a:latin typeface="Arial" pitchFamily="34" charset="0"/>
                          <a:ea typeface="Arial" pitchFamily="34" charset="-122"/>
                          <a:cs typeface="Arial" pitchFamily="34" charset="-120"/>
                        </a:rPr>
                        <a:t>357 · 31.2%</a:t>
                      </a:r>
                      <a:endParaRPr lang="en-US" sz="10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340"/>
                        </a:lnSpc>
                        <a:buNone/>
                      </a:pPr>
                      <a:r>
                        <a:rPr lang="en-US" sz="1000" dirty="0">
                          <a:solidFill>
                            <a:srgbClr val="F7F3EA"/>
                          </a:solidFill>
                          <a:latin typeface="Arial" pitchFamily="34" charset="0"/>
                          <a:ea typeface="Arial" pitchFamily="34" charset="-122"/>
                          <a:cs typeface="Arial" pitchFamily="34" charset="-120"/>
                        </a:rPr>
                        <a:t>548 · 36.0%</a:t>
                      </a:r>
                      <a:endParaRPr lang="en-US" sz="10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340"/>
                        </a:lnSpc>
                        <a:buNone/>
                      </a:pPr>
                      <a:r>
                        <a:rPr lang="en-US" sz="1000" dirty="0">
                          <a:solidFill>
                            <a:srgbClr val="F7F3EA"/>
                          </a:solidFill>
                          <a:latin typeface="Arial" pitchFamily="34" charset="0"/>
                          <a:ea typeface="Arial" pitchFamily="34" charset="-122"/>
                          <a:cs typeface="Arial" pitchFamily="34" charset="-120"/>
                        </a:rPr>
                        <a:t>705 · 36.0%</a:t>
                      </a:r>
                      <a:endParaRPr lang="en-US" sz="10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extLst>
                  <a:ext uri="{0D108BD9-81ED-4DB2-BD59-A6C34878D82A}">
                    <a16:rowId xmlns:a16="http://schemas.microsoft.com/office/drawing/2014/main" val="10006"/>
                  </a:ext>
                </a:extLst>
              </a:tr>
              <a:tr h="390000">
                <a:tc>
                  <a:txBody>
                    <a:bodyPr/>
                    <a:lstStyle/>
                    <a:p>
                      <a:pPr marL="0" indent="0">
                        <a:lnSpc>
                          <a:spcPts val="1340"/>
                        </a:lnSpc>
                        <a:buNone/>
                      </a:pPr>
                      <a:r>
                        <a:rPr lang="en-US" sz="1000" dirty="0">
                          <a:solidFill>
                            <a:srgbClr val="F7F3EA"/>
                          </a:solidFill>
                          <a:latin typeface="Arial" pitchFamily="34" charset="0"/>
                          <a:ea typeface="Arial" pitchFamily="34" charset="-122"/>
                          <a:cs typeface="Arial" pitchFamily="34" charset="-120"/>
                        </a:rPr>
                        <a:t>SQLs</a:t>
                      </a:r>
                      <a:endParaRPr lang="en-US" sz="10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340"/>
                        </a:lnSpc>
                        <a:buNone/>
                      </a:pPr>
                      <a:r>
                        <a:rPr lang="en-US" sz="1000" dirty="0">
                          <a:solidFill>
                            <a:srgbClr val="F7F3EA"/>
                          </a:solidFill>
                          <a:latin typeface="Arial" pitchFamily="34" charset="0"/>
                          <a:ea typeface="Arial" pitchFamily="34" charset="-122"/>
                          <a:cs typeface="Arial" pitchFamily="34" charset="-120"/>
                        </a:rPr>
                        <a:t>47 · 8.4%</a:t>
                      </a:r>
                      <a:endParaRPr lang="en-US" sz="10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340"/>
                        </a:lnSpc>
                        <a:buNone/>
                      </a:pPr>
                      <a:r>
                        <a:rPr lang="en-US" sz="1000" dirty="0">
                          <a:solidFill>
                            <a:srgbClr val="F7F3EA"/>
                          </a:solidFill>
                          <a:latin typeface="Arial" pitchFamily="34" charset="0"/>
                          <a:ea typeface="Arial" pitchFamily="34" charset="-122"/>
                          <a:cs typeface="Arial" pitchFamily="34" charset="-120"/>
                        </a:rPr>
                        <a:t>57 · 8.3%</a:t>
                      </a:r>
                      <a:endParaRPr lang="en-US" sz="10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340"/>
                        </a:lnSpc>
                        <a:buNone/>
                      </a:pPr>
                      <a:r>
                        <a:rPr lang="en-US" sz="1000" dirty="0">
                          <a:solidFill>
                            <a:srgbClr val="F7F3EA"/>
                          </a:solidFill>
                          <a:latin typeface="Arial" pitchFamily="34" charset="0"/>
                          <a:ea typeface="Arial" pitchFamily="34" charset="-122"/>
                          <a:cs typeface="Arial" pitchFamily="34" charset="-120"/>
                        </a:rPr>
                        <a:t>99 · 10.9%</a:t>
                      </a:r>
                      <a:endParaRPr lang="en-US" sz="10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340"/>
                        </a:lnSpc>
                        <a:buNone/>
                      </a:pPr>
                      <a:r>
                        <a:rPr lang="en-US" sz="1000" dirty="0">
                          <a:solidFill>
                            <a:srgbClr val="F7F3EA"/>
                          </a:solidFill>
                          <a:latin typeface="Arial" pitchFamily="34" charset="0"/>
                          <a:ea typeface="Arial" pitchFamily="34" charset="-122"/>
                          <a:cs typeface="Arial" pitchFamily="34" charset="-120"/>
                        </a:rPr>
                        <a:t>125 · 10.9%</a:t>
                      </a:r>
                      <a:endParaRPr lang="en-US" sz="10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340"/>
                        </a:lnSpc>
                        <a:buNone/>
                      </a:pPr>
                      <a:r>
                        <a:rPr lang="en-US" sz="1000" dirty="0">
                          <a:solidFill>
                            <a:srgbClr val="F7F3EA"/>
                          </a:solidFill>
                          <a:latin typeface="Arial" pitchFamily="34" charset="0"/>
                          <a:ea typeface="Arial" pitchFamily="34" charset="-122"/>
                          <a:cs typeface="Arial" pitchFamily="34" charset="-120"/>
                        </a:rPr>
                        <a:t>219 · 14.4%</a:t>
                      </a:r>
                      <a:endParaRPr lang="en-US" sz="10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340"/>
                        </a:lnSpc>
                        <a:buNone/>
                      </a:pPr>
                      <a:r>
                        <a:rPr lang="en-US" sz="1000" dirty="0">
                          <a:solidFill>
                            <a:srgbClr val="F7F3EA"/>
                          </a:solidFill>
                          <a:latin typeface="Arial" pitchFamily="34" charset="0"/>
                          <a:ea typeface="Arial" pitchFamily="34" charset="-122"/>
                          <a:cs typeface="Arial" pitchFamily="34" charset="-120"/>
                        </a:rPr>
                        <a:t>282 · 14.4%</a:t>
                      </a:r>
                      <a:endParaRPr lang="en-US" sz="10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extLst>
                  <a:ext uri="{0D108BD9-81ED-4DB2-BD59-A6C34878D82A}">
                    <a16:rowId xmlns:a16="http://schemas.microsoft.com/office/drawing/2014/main" val="10007"/>
                  </a:ext>
                </a:extLst>
              </a:tr>
              <a:tr h="390000">
                <a:tc>
                  <a:txBody>
                    <a:bodyPr/>
                    <a:lstStyle/>
                    <a:p>
                      <a:pPr marL="0" indent="0">
                        <a:lnSpc>
                          <a:spcPts val="1340"/>
                        </a:lnSpc>
                        <a:buNone/>
                      </a:pPr>
                      <a:r>
                        <a:rPr lang="en-US" sz="1000" b="1" dirty="0">
                          <a:solidFill>
                            <a:srgbClr val="F7F3EA"/>
                          </a:solidFill>
                          <a:latin typeface="Arial" pitchFamily="34" charset="0"/>
                          <a:ea typeface="Arial" pitchFamily="34" charset="-122"/>
                          <a:cs typeface="Arial" pitchFamily="34" charset="-120"/>
                        </a:rPr>
                        <a:t>Bookings</a:t>
                      </a:r>
                      <a:endParaRPr lang="en-US" sz="10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solidFill>
                      <a:srgbClr val="3A342A"/>
                    </a:solidFill>
                  </a:tcPr>
                </a:tc>
                <a:tc>
                  <a:txBody>
                    <a:bodyPr/>
                    <a:lstStyle/>
                    <a:p>
                      <a:pPr marL="0" indent="0">
                        <a:lnSpc>
                          <a:spcPts val="1340"/>
                        </a:lnSpc>
                        <a:buNone/>
                      </a:pPr>
                      <a:r>
                        <a:rPr lang="en-US" sz="1000" b="1" dirty="0">
                          <a:solidFill>
                            <a:srgbClr val="F7F3EA"/>
                          </a:solidFill>
                          <a:latin typeface="Arial" pitchFamily="34" charset="0"/>
                          <a:ea typeface="Arial" pitchFamily="34" charset="-122"/>
                          <a:cs typeface="Arial" pitchFamily="34" charset="-120"/>
                        </a:rPr>
                        <a:t>23</a:t>
                      </a:r>
                      <a:endParaRPr lang="en-US" sz="10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solidFill>
                      <a:srgbClr val="3A342A"/>
                    </a:solidFill>
                  </a:tcPr>
                </a:tc>
                <a:tc>
                  <a:txBody>
                    <a:bodyPr/>
                    <a:lstStyle/>
                    <a:p>
                      <a:pPr marL="0" indent="0">
                        <a:lnSpc>
                          <a:spcPts val="1340"/>
                        </a:lnSpc>
                        <a:buNone/>
                      </a:pPr>
                      <a:r>
                        <a:rPr lang="en-US" sz="1000" b="1" dirty="0">
                          <a:solidFill>
                            <a:srgbClr val="F7F3EA"/>
                          </a:solidFill>
                          <a:latin typeface="Arial" pitchFamily="34" charset="0"/>
                          <a:ea typeface="Arial" pitchFamily="34" charset="-122"/>
                          <a:cs typeface="Arial" pitchFamily="34" charset="-120"/>
                        </a:rPr>
                        <a:t>29</a:t>
                      </a:r>
                      <a:endParaRPr lang="en-US" sz="10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solidFill>
                      <a:srgbClr val="3A342A"/>
                    </a:solidFill>
                  </a:tcPr>
                </a:tc>
                <a:tc>
                  <a:txBody>
                    <a:bodyPr/>
                    <a:lstStyle/>
                    <a:p>
                      <a:pPr marL="0" indent="0">
                        <a:lnSpc>
                          <a:spcPts val="1340"/>
                        </a:lnSpc>
                        <a:buNone/>
                      </a:pPr>
                      <a:r>
                        <a:rPr lang="en-US" sz="1000" b="1" dirty="0">
                          <a:solidFill>
                            <a:srgbClr val="F7F3EA"/>
                          </a:solidFill>
                          <a:latin typeface="Arial" pitchFamily="34" charset="0"/>
                          <a:ea typeface="Arial" pitchFamily="34" charset="-122"/>
                          <a:cs typeface="Arial" pitchFamily="34" charset="-120"/>
                        </a:rPr>
                        <a:t>50</a:t>
                      </a:r>
                      <a:endParaRPr lang="en-US" sz="10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solidFill>
                      <a:srgbClr val="3A342A"/>
                    </a:solidFill>
                  </a:tcPr>
                </a:tc>
                <a:tc>
                  <a:txBody>
                    <a:bodyPr/>
                    <a:lstStyle/>
                    <a:p>
                      <a:pPr marL="0" indent="0">
                        <a:lnSpc>
                          <a:spcPts val="1340"/>
                        </a:lnSpc>
                        <a:buNone/>
                      </a:pPr>
                      <a:r>
                        <a:rPr lang="en-US" sz="1000" b="1" dirty="0">
                          <a:solidFill>
                            <a:srgbClr val="F7F3EA"/>
                          </a:solidFill>
                          <a:latin typeface="Arial" pitchFamily="34" charset="0"/>
                          <a:ea typeface="Arial" pitchFamily="34" charset="-122"/>
                          <a:cs typeface="Arial" pitchFamily="34" charset="-120"/>
                        </a:rPr>
                        <a:t>69</a:t>
                      </a:r>
                      <a:endParaRPr lang="en-US" sz="10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solidFill>
                      <a:srgbClr val="3A342A"/>
                    </a:solidFill>
                  </a:tcPr>
                </a:tc>
                <a:tc>
                  <a:txBody>
                    <a:bodyPr/>
                    <a:lstStyle/>
                    <a:p>
                      <a:pPr marL="0" indent="0">
                        <a:lnSpc>
                          <a:spcPts val="1340"/>
                        </a:lnSpc>
                        <a:buNone/>
                      </a:pPr>
                      <a:r>
                        <a:rPr lang="en-US" sz="1000" b="1" dirty="0">
                          <a:solidFill>
                            <a:srgbClr val="F7F3EA"/>
                          </a:solidFill>
                          <a:latin typeface="Arial" pitchFamily="34" charset="0"/>
                          <a:ea typeface="Arial" pitchFamily="34" charset="-122"/>
                          <a:cs typeface="Arial" pitchFamily="34" charset="-120"/>
                        </a:rPr>
                        <a:t>120</a:t>
                      </a:r>
                      <a:endParaRPr lang="en-US" sz="10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solidFill>
                      <a:srgbClr val="3A342A"/>
                    </a:solidFill>
                  </a:tcPr>
                </a:tc>
                <a:tc>
                  <a:txBody>
                    <a:bodyPr/>
                    <a:lstStyle/>
                    <a:p>
                      <a:pPr marL="0" indent="0">
                        <a:lnSpc>
                          <a:spcPts val="1340"/>
                        </a:lnSpc>
                        <a:buNone/>
                      </a:pPr>
                      <a:r>
                        <a:rPr lang="en-US" sz="1000" b="1" dirty="0">
                          <a:solidFill>
                            <a:srgbClr val="F7F3EA"/>
                          </a:solidFill>
                          <a:latin typeface="Arial" pitchFamily="34" charset="0"/>
                          <a:ea typeface="Arial" pitchFamily="34" charset="-122"/>
                          <a:cs typeface="Arial" pitchFamily="34" charset="-120"/>
                        </a:rPr>
                        <a:t>155</a:t>
                      </a:r>
                      <a:endParaRPr lang="en-US" sz="100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solidFill>
                      <a:srgbClr val="3A342A"/>
                    </a:solidFill>
                  </a:tcPr>
                </a:tc>
                <a:extLst>
                  <a:ext uri="{0D108BD9-81ED-4DB2-BD59-A6C34878D82A}">
                    <a16:rowId xmlns:a16="http://schemas.microsoft.com/office/drawing/2014/main" val="10008"/>
                  </a:ext>
                </a:extLst>
              </a:tr>
            </a:tbl>
          </a:graphicData>
        </a:graphic>
      </p:graphicFrame>
      <p:sp>
        <p:nvSpPr>
          <p:cNvPr id="4" name="Text 1"/>
          <p:cNvSpPr/>
          <p:nvPr/>
        </p:nvSpPr>
        <p:spPr>
          <a:xfrm>
            <a:off x="812800" y="5370686"/>
            <a:ext cx="10333990" cy="496729"/>
          </a:xfrm>
          <a:prstGeom prst="rect">
            <a:avLst/>
          </a:prstGeom>
          <a:noFill/>
          <a:ln/>
        </p:spPr>
        <p:txBody>
          <a:bodyPr wrap="square" lIns="0" tIns="0" rIns="0" bIns="0" rtlCol="0" anchor="t">
            <a:normAutofit/>
          </a:bodyPr>
          <a:lstStyle/>
          <a:p>
            <a:pPr marL="0" indent="0" algn="l">
              <a:lnSpc>
                <a:spcPts val="1856"/>
              </a:lnSpc>
              <a:buNone/>
            </a:pPr>
            <a:r>
              <a:rPr lang="en-US" sz="1280" dirty="0">
                <a:solidFill>
                  <a:srgbClr val="A79C89"/>
                </a:solidFill>
                <a:latin typeface="Arial" pitchFamily="34" charset="0"/>
                <a:ea typeface="Arial" pitchFamily="34" charset="-122"/>
                <a:cs typeface="Arial" pitchFamily="34" charset="-120"/>
              </a:rPr>
              <a:t>Cost per lead falls 41% while bookings multiply 6.6 times. Spend roughly doubles over the six months, so the gain is in efficiency as well as volume: cost per booking goes from about ₹11,500 in month one to about ₹3,600 in month six.</a:t>
            </a:r>
            <a:endParaRPr lang="en-US" sz="1280" dirty="0"/>
          </a:p>
        </p:txBody>
      </p:sp>
      <p:sp>
        <p:nvSpPr>
          <p:cNvPr id="5" name="Text 2"/>
          <p:cNvSpPr/>
          <p:nvPr/>
        </p:nvSpPr>
        <p:spPr>
          <a:xfrm>
            <a:off x="812800" y="6238255"/>
            <a:ext cx="10333990" cy="238760"/>
          </a:xfrm>
          <a:prstGeom prst="rect">
            <a:avLst/>
          </a:prstGeom>
          <a:noFill/>
          <a:ln/>
        </p:spPr>
        <p:txBody>
          <a:bodyPr wrap="square" lIns="0" tIns="0" rIns="0" bIns="0" rtlCol="0" anchor="t">
            <a:normAutofit fontScale="77500" lnSpcReduction="20000"/>
          </a:bodyPr>
          <a:lstStyle/>
          <a:p>
            <a:pPr marL="0" indent="0" algn="l">
              <a:lnSpc>
                <a:spcPts val="1680"/>
              </a:lnSpc>
              <a:buNone/>
            </a:pPr>
            <a:r>
              <a:rPr lang="en-US" sz="1200" dirty="0">
                <a:solidFill>
                  <a:srgbClr val="8A8071"/>
                </a:solidFill>
                <a:latin typeface="Arial" pitchFamily="34" charset="0"/>
                <a:ea typeface="Arial" pitchFamily="34" charset="-122"/>
                <a:cs typeface="Arial" pitchFamily="34" charset="-120"/>
              </a:rPr>
              <a:t>Media plan supplied by Alttred Nexxus. Funnel rates are planning assumptions and get re-baselined after one clean month. MQL and SQL shown as a count and as a share of total leads.</a:t>
            </a:r>
            <a:endParaRPr lang="en-US" sz="12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33">
    <p:bg>
      <p:bgPr>
        <a:solidFill>
          <a:srgbClr val="17140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94665"/>
          </a:xfrm>
          <a:prstGeom prst="rect">
            <a:avLst/>
          </a:prstGeom>
          <a:noFill/>
          <a:ln/>
        </p:spPr>
        <p:txBody>
          <a:bodyPr wrap="square" lIns="0" tIns="0" rIns="0" bIns="0" rtlCol="0" anchor="t">
            <a:normAutofit/>
          </a:bodyPr>
          <a:lstStyle/>
          <a:p>
            <a:pPr marL="0" indent="0" algn="l">
              <a:lnSpc>
                <a:spcPts val="3725"/>
              </a:lnSpc>
              <a:buNone/>
            </a:pPr>
            <a:r>
              <a:rPr lang="en-US" sz="3548" dirty="0">
                <a:solidFill>
                  <a:srgbClr val="C9A63C"/>
                </a:solidFill>
                <a:latin typeface="Georgia" pitchFamily="34" charset="0"/>
                <a:ea typeface="Georgia" pitchFamily="34" charset="-122"/>
                <a:cs typeface="Georgia" pitchFamily="34" charset="-120"/>
              </a:rPr>
              <a:t>Month one: where the ₹2,70,000 goes</a:t>
            </a:r>
            <a:endParaRPr lang="en-US" sz="3548" dirty="0"/>
          </a:p>
        </p:txBody>
      </p:sp>
      <p:sp>
        <p:nvSpPr>
          <p:cNvPr id="30" name="Label 0"/>
          <p:cNvSpPr/>
          <p:nvPr/>
        </p:nvSpPr>
        <p:spPr>
          <a:xfrm>
            <a:off x="822960" y="1420000"/>
            <a:ext cx="6000000" cy="177800"/>
          </a:xfrm>
          <a:prstGeom prst="rect">
            <a:avLst/>
          </a:prstGeom>
          <a:noFill/>
          <a:ln/>
        </p:spPr>
        <p:txBody>
          <a:bodyPr wrap="square" lIns="0" tIns="0" rIns="0" bIns="0" rtlCol="0" anchor="t">
            <a:normAutofit fontScale="25000" lnSpcReduction="20000"/>
          </a:bodyPr>
          <a:lstStyle/>
          <a:p>
            <a:pPr marL="0" indent="0" algn="l">
              <a:lnSpc>
                <a:spcPts val="1820"/>
              </a:lnSpc>
              <a:buNone/>
            </a:pPr>
            <a:r>
              <a:rPr lang="en-US" sz="1000" kern="0" spc="200" dirty="0">
                <a:solidFill>
                  <a:srgbClr val="C9A63C"/>
                </a:solidFill>
                <a:latin typeface="Arial" pitchFamily="34" charset="0"/>
                <a:ea typeface="Arial" pitchFamily="34" charset="-122"/>
                <a:cs typeface="Arial" pitchFamily="34" charset="-120"/>
              </a:rPr>
              <a:t>META AND INSTAGRAM  ·  66% OF BUDGET</a:t>
            </a:r>
            <a:endParaRPr lang="en-US" sz="1000" dirty="0"/>
          </a:p>
        </p:txBody>
      </p:sp>
      <p:graphicFrame>
        <p:nvGraphicFramePr>
          <p:cNvPr id="3" name="Table 0"/>
          <p:cNvGraphicFramePr>
            <a:graphicFrameLocks noGrp="1"/>
          </p:cNvGraphicFramePr>
          <p:nvPr/>
        </p:nvGraphicFramePr>
        <p:xfrm>
          <a:off x="822960" y="1720000"/>
          <a:ext cx="10556240" cy="2100000"/>
        </p:xfrm>
        <a:graphic>
          <a:graphicData uri="http://schemas.openxmlformats.org/drawingml/2006/table">
            <a:tbl>
              <a:tblPr/>
              <a:tblGrid>
                <a:gridCol w="1632408">
                  <a:extLst>
                    <a:ext uri="{9D8B030D-6E8A-4147-A177-3AD203B41FA5}">
                      <a16:colId xmlns:a16="http://schemas.microsoft.com/office/drawing/2014/main" val="20000"/>
                    </a:ext>
                  </a:extLst>
                </a:gridCol>
                <a:gridCol w="1088272">
                  <a:extLst>
                    <a:ext uri="{9D8B030D-6E8A-4147-A177-3AD203B41FA5}">
                      <a16:colId xmlns:a16="http://schemas.microsoft.com/office/drawing/2014/main" val="20001"/>
                    </a:ext>
                  </a:extLst>
                </a:gridCol>
                <a:gridCol w="3373644">
                  <a:extLst>
                    <a:ext uri="{9D8B030D-6E8A-4147-A177-3AD203B41FA5}">
                      <a16:colId xmlns:a16="http://schemas.microsoft.com/office/drawing/2014/main" val="20002"/>
                    </a:ext>
                  </a:extLst>
                </a:gridCol>
                <a:gridCol w="1632408">
                  <a:extLst>
                    <a:ext uri="{9D8B030D-6E8A-4147-A177-3AD203B41FA5}">
                      <a16:colId xmlns:a16="http://schemas.microsoft.com/office/drawing/2014/main" val="20003"/>
                    </a:ext>
                  </a:extLst>
                </a:gridCol>
                <a:gridCol w="1088272">
                  <a:extLst>
                    <a:ext uri="{9D8B030D-6E8A-4147-A177-3AD203B41FA5}">
                      <a16:colId xmlns:a16="http://schemas.microsoft.com/office/drawing/2014/main" val="20004"/>
                    </a:ext>
                  </a:extLst>
                </a:gridCol>
                <a:gridCol w="1741236">
                  <a:extLst>
                    <a:ext uri="{9D8B030D-6E8A-4147-A177-3AD203B41FA5}">
                      <a16:colId xmlns:a16="http://schemas.microsoft.com/office/drawing/2014/main" val="20005"/>
                    </a:ext>
                  </a:extLst>
                </a:gridCol>
              </a:tblGrid>
              <a:tr h="300000">
                <a:tc>
                  <a:txBody>
                    <a:bodyPr/>
                    <a:lstStyle/>
                    <a:p>
                      <a:pPr marL="0" indent="0">
                        <a:lnSpc>
                          <a:spcPts val="1280"/>
                        </a:lnSpc>
                        <a:buNone/>
                      </a:pPr>
                      <a:r>
                        <a:rPr lang="en-US" sz="950" b="1" dirty="0">
                          <a:solidFill>
                            <a:srgbClr val="F7F3EA"/>
                          </a:solidFill>
                          <a:latin typeface="Arial" pitchFamily="34" charset="0"/>
                          <a:ea typeface="Arial" pitchFamily="34" charset="-122"/>
                          <a:cs typeface="Arial" pitchFamily="34" charset="-120"/>
                        </a:rPr>
                        <a:t>Category</a:t>
                      </a:r>
                      <a:endParaRPr lang="en-US" sz="95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645F57"/>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645F57"/>
                      </a:solidFill>
                      <a:prstDash val="solid"/>
                      <a:round/>
                      <a:headEnd type="none" w="med" len="med"/>
                      <a:tailEnd type="none" w="med" len="med"/>
                    </a:lnB>
                    <a:solidFill>
                      <a:srgbClr val="3A342A"/>
                    </a:solidFill>
                  </a:tcPr>
                </a:tc>
                <a:tc>
                  <a:txBody>
                    <a:bodyPr/>
                    <a:lstStyle/>
                    <a:p>
                      <a:pPr marL="0" indent="0">
                        <a:lnSpc>
                          <a:spcPts val="1280"/>
                        </a:lnSpc>
                        <a:buNone/>
                      </a:pPr>
                      <a:r>
                        <a:rPr lang="en-US" sz="950" b="1" dirty="0">
                          <a:solidFill>
                            <a:srgbClr val="F7F3EA"/>
                          </a:solidFill>
                          <a:latin typeface="Arial" pitchFamily="34" charset="0"/>
                          <a:ea typeface="Arial" pitchFamily="34" charset="-122"/>
                          <a:cs typeface="Arial" pitchFamily="34" charset="-120"/>
                        </a:rPr>
                        <a:t>Funnel</a:t>
                      </a:r>
                      <a:endParaRPr lang="en-US" sz="950" dirty="0">
                        <a:latin typeface="Arial" charset="0"/>
                        <a:ea typeface="Arial" charset="0"/>
                        <a:cs typeface="Arial" charset="0"/>
                      </a:endParaRPr>
                    </a:p>
                  </a:txBody>
                  <a:tcPr marL="51965" marR="51965" marT="51965" marB="51965">
                    <a:lnL w="12700" cap="flat" cmpd="sng" algn="ctr">
                      <a:solidFill>
                        <a:srgbClr val="645F57"/>
                      </a:solidFill>
                      <a:prstDash val="solid"/>
                      <a:round/>
                      <a:headEnd type="none" w="med" len="med"/>
                      <a:tailEnd type="none" w="med" len="med"/>
                    </a:lnL>
                    <a:lnR w="12700" cap="flat" cmpd="sng" algn="ctr">
                      <a:solidFill>
                        <a:srgbClr val="645F57"/>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645F57"/>
                      </a:solidFill>
                      <a:prstDash val="solid"/>
                      <a:round/>
                      <a:headEnd type="none" w="med" len="med"/>
                      <a:tailEnd type="none" w="med" len="med"/>
                    </a:lnB>
                    <a:solidFill>
                      <a:srgbClr val="3A342A"/>
                    </a:solidFill>
                  </a:tcPr>
                </a:tc>
                <a:tc>
                  <a:txBody>
                    <a:bodyPr/>
                    <a:lstStyle/>
                    <a:p>
                      <a:pPr marL="0" indent="0">
                        <a:lnSpc>
                          <a:spcPts val="1280"/>
                        </a:lnSpc>
                        <a:buNone/>
                      </a:pPr>
                      <a:r>
                        <a:rPr lang="en-US" sz="950" b="1" dirty="0">
                          <a:solidFill>
                            <a:srgbClr val="F7F3EA"/>
                          </a:solidFill>
                          <a:latin typeface="Arial" pitchFamily="34" charset="0"/>
                          <a:ea typeface="Arial" pitchFamily="34" charset="-122"/>
                          <a:cs typeface="Arial" pitchFamily="34" charset="-120"/>
                        </a:rPr>
                        <a:t>Audience</a:t>
                      </a:r>
                      <a:endParaRPr lang="en-US" sz="950" dirty="0">
                        <a:latin typeface="Arial" charset="0"/>
                        <a:ea typeface="Arial" charset="0"/>
                        <a:cs typeface="Arial" charset="0"/>
                      </a:endParaRPr>
                    </a:p>
                  </a:txBody>
                  <a:tcPr marL="51965" marR="51965" marT="51965" marB="51965">
                    <a:lnL w="12700" cap="flat" cmpd="sng" algn="ctr">
                      <a:solidFill>
                        <a:srgbClr val="645F57"/>
                      </a:solidFill>
                      <a:prstDash val="solid"/>
                      <a:round/>
                      <a:headEnd type="none" w="med" len="med"/>
                      <a:tailEnd type="none" w="med" len="med"/>
                    </a:lnL>
                    <a:lnR w="12700" cap="flat" cmpd="sng" algn="ctr">
                      <a:solidFill>
                        <a:srgbClr val="645F57"/>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645F57"/>
                      </a:solidFill>
                      <a:prstDash val="solid"/>
                      <a:round/>
                      <a:headEnd type="none" w="med" len="med"/>
                      <a:tailEnd type="none" w="med" len="med"/>
                    </a:lnB>
                    <a:solidFill>
                      <a:srgbClr val="3A342A"/>
                    </a:solidFill>
                  </a:tcPr>
                </a:tc>
                <a:tc>
                  <a:txBody>
                    <a:bodyPr/>
                    <a:lstStyle/>
                    <a:p>
                      <a:pPr marL="0" indent="0">
                        <a:lnSpc>
                          <a:spcPts val="1280"/>
                        </a:lnSpc>
                        <a:buNone/>
                      </a:pPr>
                      <a:r>
                        <a:rPr lang="en-US" sz="950" b="1" dirty="0">
                          <a:solidFill>
                            <a:srgbClr val="F7F3EA"/>
                          </a:solidFill>
                          <a:latin typeface="Arial" pitchFamily="34" charset="0"/>
                          <a:ea typeface="Arial" pitchFamily="34" charset="-122"/>
                          <a:cs typeface="Arial" pitchFamily="34" charset="-120"/>
                        </a:rPr>
                        <a:t>Spend</a:t>
                      </a:r>
                      <a:endParaRPr lang="en-US" sz="950" dirty="0">
                        <a:latin typeface="Arial" charset="0"/>
                        <a:ea typeface="Arial" charset="0"/>
                        <a:cs typeface="Arial" charset="0"/>
                      </a:endParaRPr>
                    </a:p>
                  </a:txBody>
                  <a:tcPr marL="51965" marR="51965" marT="51965" marB="51965">
                    <a:lnL w="12700" cap="flat" cmpd="sng" algn="ctr">
                      <a:solidFill>
                        <a:srgbClr val="645F57"/>
                      </a:solidFill>
                      <a:prstDash val="solid"/>
                      <a:round/>
                      <a:headEnd type="none" w="med" len="med"/>
                      <a:tailEnd type="none" w="med" len="med"/>
                    </a:lnL>
                    <a:lnR w="12700" cap="flat" cmpd="sng" algn="ctr">
                      <a:solidFill>
                        <a:srgbClr val="645F57"/>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645F57"/>
                      </a:solidFill>
                      <a:prstDash val="solid"/>
                      <a:round/>
                      <a:headEnd type="none" w="med" len="med"/>
                      <a:tailEnd type="none" w="med" len="med"/>
                    </a:lnB>
                    <a:solidFill>
                      <a:srgbClr val="3A342A"/>
                    </a:solidFill>
                  </a:tcPr>
                </a:tc>
                <a:tc>
                  <a:txBody>
                    <a:bodyPr/>
                    <a:lstStyle/>
                    <a:p>
                      <a:pPr marL="0" indent="0">
                        <a:lnSpc>
                          <a:spcPts val="1280"/>
                        </a:lnSpc>
                        <a:buNone/>
                      </a:pPr>
                      <a:r>
                        <a:rPr lang="en-US" sz="950" b="1" dirty="0">
                          <a:solidFill>
                            <a:srgbClr val="F7F3EA"/>
                          </a:solidFill>
                          <a:latin typeface="Arial" pitchFamily="34" charset="0"/>
                          <a:ea typeface="Arial" pitchFamily="34" charset="-122"/>
                          <a:cs typeface="Arial" pitchFamily="34" charset="-120"/>
                        </a:rPr>
                        <a:t>Leads</a:t>
                      </a:r>
                      <a:endParaRPr lang="en-US" sz="950" dirty="0">
                        <a:latin typeface="Arial" charset="0"/>
                        <a:ea typeface="Arial" charset="0"/>
                        <a:cs typeface="Arial" charset="0"/>
                      </a:endParaRPr>
                    </a:p>
                  </a:txBody>
                  <a:tcPr marL="51965" marR="51965" marT="51965" marB="51965">
                    <a:lnL w="12700" cap="flat" cmpd="sng" algn="ctr">
                      <a:solidFill>
                        <a:srgbClr val="645F57"/>
                      </a:solidFill>
                      <a:prstDash val="solid"/>
                      <a:round/>
                      <a:headEnd type="none" w="med" len="med"/>
                      <a:tailEnd type="none" w="med" len="med"/>
                    </a:lnL>
                    <a:lnR w="12700" cap="flat" cmpd="sng" algn="ctr">
                      <a:solidFill>
                        <a:srgbClr val="645F57"/>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645F57"/>
                      </a:solidFill>
                      <a:prstDash val="solid"/>
                      <a:round/>
                      <a:headEnd type="none" w="med" len="med"/>
                      <a:tailEnd type="none" w="med" len="med"/>
                    </a:lnB>
                    <a:solidFill>
                      <a:srgbClr val="3A342A"/>
                    </a:solidFill>
                  </a:tcPr>
                </a:tc>
                <a:tc>
                  <a:txBody>
                    <a:bodyPr/>
                    <a:lstStyle/>
                    <a:p>
                      <a:pPr marL="0" indent="0">
                        <a:lnSpc>
                          <a:spcPts val="1280"/>
                        </a:lnSpc>
                        <a:buNone/>
                      </a:pPr>
                      <a:r>
                        <a:rPr lang="en-US" sz="950" b="1" dirty="0">
                          <a:solidFill>
                            <a:srgbClr val="F7F3EA"/>
                          </a:solidFill>
                          <a:latin typeface="Arial" pitchFamily="34" charset="0"/>
                          <a:ea typeface="Arial" pitchFamily="34" charset="-122"/>
                          <a:cs typeface="Arial" pitchFamily="34" charset="-120"/>
                        </a:rPr>
                        <a:t>Cost per lead</a:t>
                      </a:r>
                      <a:endParaRPr lang="en-US" sz="950" dirty="0">
                        <a:latin typeface="Arial" charset="0"/>
                        <a:ea typeface="Arial" charset="0"/>
                        <a:cs typeface="Arial" charset="0"/>
                      </a:endParaRPr>
                    </a:p>
                  </a:txBody>
                  <a:tcPr marL="51965" marR="51965" marT="51965" marB="51965">
                    <a:lnL w="12700" cap="flat" cmpd="sng" algn="ctr">
                      <a:solidFill>
                        <a:srgbClr val="645F57"/>
                      </a:solidFill>
                      <a:prstDash val="solid"/>
                      <a:round/>
                      <a:headEnd type="none" w="med" len="med"/>
                      <a:tailEnd type="none" w="med" len="med"/>
                    </a:lnL>
                    <a:lnR w="12700" cap="flat" cmpd="sng" algn="ctr">
                      <a:solidFill>
                        <a:srgbClr val="645F57"/>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645F57"/>
                      </a:solidFill>
                      <a:prstDash val="solid"/>
                      <a:round/>
                      <a:headEnd type="none" w="med" len="med"/>
                      <a:tailEnd type="none" w="med" len="med"/>
                    </a:lnB>
                    <a:solidFill>
                      <a:srgbClr val="3A342A"/>
                    </a:solidFill>
                  </a:tcPr>
                </a:tc>
                <a:extLst>
                  <a:ext uri="{0D108BD9-81ED-4DB2-BD59-A6C34878D82A}">
                    <a16:rowId xmlns:a16="http://schemas.microsoft.com/office/drawing/2014/main" val="10000"/>
                  </a:ext>
                </a:extLst>
              </a:tr>
              <a:tr h="300000">
                <a:tc>
                  <a:txBody>
                    <a:bodyPr/>
                    <a:lstStyle/>
                    <a:p>
                      <a:pPr marL="0" indent="0">
                        <a:lnSpc>
                          <a:spcPts val="1280"/>
                        </a:lnSpc>
                        <a:buNone/>
                      </a:pPr>
                      <a:r>
                        <a:rPr lang="en-US" sz="950" dirty="0">
                          <a:solidFill>
                            <a:srgbClr val="F7F3EA"/>
                          </a:solidFill>
                          <a:latin typeface="Arial" pitchFamily="34" charset="0"/>
                          <a:ea typeface="Arial" pitchFamily="34" charset="-122"/>
                          <a:cs typeface="Arial" pitchFamily="34" charset="-120"/>
                        </a:rPr>
                        <a:t>Day outs</a:t>
                      </a:r>
                      <a:endParaRPr lang="en-US" sz="95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645F57"/>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280"/>
                        </a:lnSpc>
                        <a:buNone/>
                      </a:pPr>
                      <a:r>
                        <a:rPr lang="en-US" sz="950" dirty="0">
                          <a:solidFill>
                            <a:srgbClr val="F7F3EA"/>
                          </a:solidFill>
                          <a:latin typeface="Arial" pitchFamily="34" charset="0"/>
                          <a:ea typeface="Arial" pitchFamily="34" charset="-122"/>
                          <a:cs typeface="Arial" pitchFamily="34" charset="-120"/>
                        </a:rPr>
                        <a:t>TOF</a:t>
                      </a:r>
                      <a:endParaRPr lang="en-US" sz="95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645F57"/>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280"/>
                        </a:lnSpc>
                        <a:buNone/>
                      </a:pPr>
                      <a:r>
                        <a:rPr lang="en-US" sz="950" dirty="0">
                          <a:solidFill>
                            <a:srgbClr val="F7F3EA"/>
                          </a:solidFill>
                          <a:latin typeface="Arial" pitchFamily="34" charset="0"/>
                          <a:ea typeface="Arial" pitchFamily="34" charset="-122"/>
                          <a:cs typeface="Arial" pitchFamily="34" charset="-120"/>
                        </a:rPr>
                        <a:t>Interest and affinity</a:t>
                      </a:r>
                      <a:endParaRPr lang="en-US" sz="95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645F57"/>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280"/>
                        </a:lnSpc>
                        <a:buNone/>
                      </a:pPr>
                      <a:r>
                        <a:rPr lang="en-US" sz="950" dirty="0">
                          <a:solidFill>
                            <a:srgbClr val="F7F3EA"/>
                          </a:solidFill>
                          <a:latin typeface="Arial" pitchFamily="34" charset="0"/>
                          <a:ea typeface="Arial" pitchFamily="34" charset="-122"/>
                          <a:cs typeface="Arial" pitchFamily="34" charset="-120"/>
                        </a:rPr>
                        <a:t>₹45,000</a:t>
                      </a:r>
                      <a:endParaRPr lang="en-US" sz="95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645F57"/>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280"/>
                        </a:lnSpc>
                        <a:buNone/>
                      </a:pPr>
                      <a:r>
                        <a:rPr lang="en-US" sz="950" dirty="0">
                          <a:solidFill>
                            <a:srgbClr val="F7F3EA"/>
                          </a:solidFill>
                          <a:latin typeface="Arial" pitchFamily="34" charset="0"/>
                          <a:ea typeface="Arial" pitchFamily="34" charset="-122"/>
                          <a:cs typeface="Arial" pitchFamily="34" charset="-120"/>
                        </a:rPr>
                        <a:t>125</a:t>
                      </a:r>
                      <a:endParaRPr lang="en-US" sz="95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645F57"/>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280"/>
                        </a:lnSpc>
                        <a:buNone/>
                      </a:pPr>
                      <a:r>
                        <a:rPr lang="en-US" sz="950" dirty="0">
                          <a:solidFill>
                            <a:srgbClr val="F7F3EA"/>
                          </a:solidFill>
                          <a:latin typeface="Arial" pitchFamily="34" charset="0"/>
                          <a:ea typeface="Arial" pitchFamily="34" charset="-122"/>
                          <a:cs typeface="Arial" pitchFamily="34" charset="-120"/>
                        </a:rPr>
                        <a:t>₹360</a:t>
                      </a:r>
                      <a:endParaRPr lang="en-US" sz="95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645F57"/>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extLst>
                  <a:ext uri="{0D108BD9-81ED-4DB2-BD59-A6C34878D82A}">
                    <a16:rowId xmlns:a16="http://schemas.microsoft.com/office/drawing/2014/main" val="10001"/>
                  </a:ext>
                </a:extLst>
              </a:tr>
              <a:tr h="300000">
                <a:tc>
                  <a:txBody>
                    <a:bodyPr/>
                    <a:lstStyle/>
                    <a:p>
                      <a:pPr marL="0" indent="0">
                        <a:lnSpc>
                          <a:spcPts val="1280"/>
                        </a:lnSpc>
                        <a:buNone/>
                      </a:pPr>
                      <a:r>
                        <a:rPr lang="en-US" sz="950" dirty="0">
                          <a:solidFill>
                            <a:srgbClr val="F7F3EA"/>
                          </a:solidFill>
                          <a:latin typeface="Arial" pitchFamily="34" charset="0"/>
                          <a:ea typeface="Arial" pitchFamily="34" charset="-122"/>
                          <a:cs typeface="Arial" pitchFamily="34" charset="-120"/>
                        </a:rPr>
                        <a:t>Day outs</a:t>
                      </a:r>
                      <a:endParaRPr lang="en-US" sz="95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280"/>
                        </a:lnSpc>
                        <a:buNone/>
                      </a:pPr>
                      <a:r>
                        <a:rPr lang="en-US" sz="950" dirty="0">
                          <a:solidFill>
                            <a:srgbClr val="F7F3EA"/>
                          </a:solidFill>
                          <a:latin typeface="Arial" pitchFamily="34" charset="0"/>
                          <a:ea typeface="Arial" pitchFamily="34" charset="-122"/>
                          <a:cs typeface="Arial" pitchFamily="34" charset="-120"/>
                        </a:rPr>
                        <a:t>MOF</a:t>
                      </a:r>
                      <a:endParaRPr lang="en-US" sz="95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280"/>
                        </a:lnSpc>
                        <a:buNone/>
                      </a:pPr>
                      <a:r>
                        <a:rPr lang="en-US" sz="950" dirty="0">
                          <a:solidFill>
                            <a:srgbClr val="F7F3EA"/>
                          </a:solidFill>
                          <a:latin typeface="Arial" pitchFamily="34" charset="0"/>
                          <a:ea typeface="Arial" pitchFamily="34" charset="-122"/>
                          <a:cs typeface="Arial" pitchFamily="34" charset="-120"/>
                        </a:rPr>
                        <a:t>Lookalikes</a:t>
                      </a:r>
                      <a:endParaRPr lang="en-US" sz="95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280"/>
                        </a:lnSpc>
                        <a:buNone/>
                      </a:pPr>
                      <a:r>
                        <a:rPr lang="en-US" sz="950" dirty="0">
                          <a:solidFill>
                            <a:srgbClr val="F7F3EA"/>
                          </a:solidFill>
                          <a:latin typeface="Arial" pitchFamily="34" charset="0"/>
                          <a:ea typeface="Arial" pitchFamily="34" charset="-122"/>
                          <a:cs typeface="Arial" pitchFamily="34" charset="-120"/>
                        </a:rPr>
                        <a:t>₹36,000</a:t>
                      </a:r>
                      <a:endParaRPr lang="en-US" sz="95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280"/>
                        </a:lnSpc>
                        <a:buNone/>
                      </a:pPr>
                      <a:r>
                        <a:rPr lang="en-US" sz="950" dirty="0">
                          <a:solidFill>
                            <a:srgbClr val="F7F3EA"/>
                          </a:solidFill>
                          <a:latin typeface="Arial" pitchFamily="34" charset="0"/>
                          <a:ea typeface="Arial" pitchFamily="34" charset="-122"/>
                          <a:cs typeface="Arial" pitchFamily="34" charset="-120"/>
                        </a:rPr>
                        <a:t>106</a:t>
                      </a:r>
                      <a:endParaRPr lang="en-US" sz="95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280"/>
                        </a:lnSpc>
                        <a:buNone/>
                      </a:pPr>
                      <a:r>
                        <a:rPr lang="en-US" sz="950" dirty="0">
                          <a:solidFill>
                            <a:srgbClr val="F7F3EA"/>
                          </a:solidFill>
                          <a:latin typeface="Arial" pitchFamily="34" charset="0"/>
                          <a:ea typeface="Arial" pitchFamily="34" charset="-122"/>
                          <a:cs typeface="Arial" pitchFamily="34" charset="-120"/>
                        </a:rPr>
                        <a:t>₹340</a:t>
                      </a:r>
                      <a:endParaRPr lang="en-US" sz="95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extLst>
                  <a:ext uri="{0D108BD9-81ED-4DB2-BD59-A6C34878D82A}">
                    <a16:rowId xmlns:a16="http://schemas.microsoft.com/office/drawing/2014/main" val="10002"/>
                  </a:ext>
                </a:extLst>
              </a:tr>
              <a:tr h="300000">
                <a:tc>
                  <a:txBody>
                    <a:bodyPr/>
                    <a:lstStyle/>
                    <a:p>
                      <a:pPr marL="0" indent="0">
                        <a:lnSpc>
                          <a:spcPts val="1280"/>
                        </a:lnSpc>
                        <a:buNone/>
                      </a:pPr>
                      <a:r>
                        <a:rPr lang="en-US" sz="950" dirty="0">
                          <a:solidFill>
                            <a:srgbClr val="F7F3EA"/>
                          </a:solidFill>
                          <a:latin typeface="Arial" pitchFamily="34" charset="0"/>
                          <a:ea typeface="Arial" pitchFamily="34" charset="-122"/>
                          <a:cs typeface="Arial" pitchFamily="34" charset="-120"/>
                        </a:rPr>
                        <a:t>Stay</a:t>
                      </a:r>
                      <a:endParaRPr lang="en-US" sz="95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280"/>
                        </a:lnSpc>
                        <a:buNone/>
                      </a:pPr>
                      <a:r>
                        <a:rPr lang="en-US" sz="950" dirty="0">
                          <a:solidFill>
                            <a:srgbClr val="F7F3EA"/>
                          </a:solidFill>
                          <a:latin typeface="Arial" pitchFamily="34" charset="0"/>
                          <a:ea typeface="Arial" pitchFamily="34" charset="-122"/>
                          <a:cs typeface="Arial" pitchFamily="34" charset="-120"/>
                        </a:rPr>
                        <a:t>TOF</a:t>
                      </a:r>
                      <a:endParaRPr lang="en-US" sz="95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280"/>
                        </a:lnSpc>
                        <a:buNone/>
                      </a:pPr>
                      <a:r>
                        <a:rPr lang="en-US" sz="950" dirty="0">
                          <a:solidFill>
                            <a:srgbClr val="F7F3EA"/>
                          </a:solidFill>
                          <a:latin typeface="Arial" pitchFamily="34" charset="0"/>
                          <a:ea typeface="Arial" pitchFamily="34" charset="-122"/>
                          <a:cs typeface="Arial" pitchFamily="34" charset="-120"/>
                        </a:rPr>
                        <a:t>Interest and affinity</a:t>
                      </a:r>
                      <a:endParaRPr lang="en-US" sz="95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280"/>
                        </a:lnSpc>
                        <a:buNone/>
                      </a:pPr>
                      <a:r>
                        <a:rPr lang="en-US" sz="950" dirty="0">
                          <a:solidFill>
                            <a:srgbClr val="F7F3EA"/>
                          </a:solidFill>
                          <a:latin typeface="Arial" pitchFamily="34" charset="0"/>
                          <a:ea typeface="Arial" pitchFamily="34" charset="-122"/>
                          <a:cs typeface="Arial" pitchFamily="34" charset="-120"/>
                        </a:rPr>
                        <a:t>₹36,000</a:t>
                      </a:r>
                      <a:endParaRPr lang="en-US" sz="95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280"/>
                        </a:lnSpc>
                        <a:buNone/>
                      </a:pPr>
                      <a:r>
                        <a:rPr lang="en-US" sz="950" dirty="0">
                          <a:solidFill>
                            <a:srgbClr val="F7F3EA"/>
                          </a:solidFill>
                          <a:latin typeface="Arial" pitchFamily="34" charset="0"/>
                          <a:ea typeface="Arial" pitchFamily="34" charset="-122"/>
                          <a:cs typeface="Arial" pitchFamily="34" charset="-120"/>
                        </a:rPr>
                        <a:t>79</a:t>
                      </a:r>
                      <a:endParaRPr lang="en-US" sz="95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280"/>
                        </a:lnSpc>
                        <a:buNone/>
                      </a:pPr>
                      <a:r>
                        <a:rPr lang="en-US" sz="950" dirty="0">
                          <a:solidFill>
                            <a:srgbClr val="F7F3EA"/>
                          </a:solidFill>
                          <a:latin typeface="Arial" pitchFamily="34" charset="0"/>
                          <a:ea typeface="Arial" pitchFamily="34" charset="-122"/>
                          <a:cs typeface="Arial" pitchFamily="34" charset="-120"/>
                        </a:rPr>
                        <a:t>₹455</a:t>
                      </a:r>
                      <a:endParaRPr lang="en-US" sz="95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extLst>
                  <a:ext uri="{0D108BD9-81ED-4DB2-BD59-A6C34878D82A}">
                    <a16:rowId xmlns:a16="http://schemas.microsoft.com/office/drawing/2014/main" val="10003"/>
                  </a:ext>
                </a:extLst>
              </a:tr>
              <a:tr h="300000">
                <a:tc>
                  <a:txBody>
                    <a:bodyPr/>
                    <a:lstStyle/>
                    <a:p>
                      <a:pPr marL="0" indent="0">
                        <a:lnSpc>
                          <a:spcPts val="1280"/>
                        </a:lnSpc>
                        <a:buNone/>
                      </a:pPr>
                      <a:r>
                        <a:rPr lang="en-US" sz="950" dirty="0">
                          <a:solidFill>
                            <a:srgbClr val="F7F3EA"/>
                          </a:solidFill>
                          <a:latin typeface="Arial" pitchFamily="34" charset="0"/>
                          <a:ea typeface="Arial" pitchFamily="34" charset="-122"/>
                          <a:cs typeface="Arial" pitchFamily="34" charset="-120"/>
                        </a:rPr>
                        <a:t>Stay</a:t>
                      </a:r>
                      <a:endParaRPr lang="en-US" sz="95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280"/>
                        </a:lnSpc>
                        <a:buNone/>
                      </a:pPr>
                      <a:r>
                        <a:rPr lang="en-US" sz="950" dirty="0">
                          <a:solidFill>
                            <a:srgbClr val="F7F3EA"/>
                          </a:solidFill>
                          <a:latin typeface="Arial" pitchFamily="34" charset="0"/>
                          <a:ea typeface="Arial" pitchFamily="34" charset="-122"/>
                          <a:cs typeface="Arial" pitchFamily="34" charset="-120"/>
                        </a:rPr>
                        <a:t>MOF</a:t>
                      </a:r>
                      <a:endParaRPr lang="en-US" sz="95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280"/>
                        </a:lnSpc>
                        <a:buNone/>
                      </a:pPr>
                      <a:r>
                        <a:rPr lang="en-US" sz="950" dirty="0">
                          <a:solidFill>
                            <a:srgbClr val="F7F3EA"/>
                          </a:solidFill>
                          <a:latin typeface="Arial" pitchFamily="34" charset="0"/>
                          <a:ea typeface="Arial" pitchFamily="34" charset="-122"/>
                          <a:cs typeface="Arial" pitchFamily="34" charset="-120"/>
                        </a:rPr>
                        <a:t>Lookalikes</a:t>
                      </a:r>
                      <a:endParaRPr lang="en-US" sz="95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280"/>
                        </a:lnSpc>
                        <a:buNone/>
                      </a:pPr>
                      <a:r>
                        <a:rPr lang="en-US" sz="950" dirty="0">
                          <a:solidFill>
                            <a:srgbClr val="F7F3EA"/>
                          </a:solidFill>
                          <a:latin typeface="Arial" pitchFamily="34" charset="0"/>
                          <a:ea typeface="Arial" pitchFamily="34" charset="-122"/>
                          <a:cs typeface="Arial" pitchFamily="34" charset="-120"/>
                        </a:rPr>
                        <a:t>₹36,000</a:t>
                      </a:r>
                      <a:endParaRPr lang="en-US" sz="95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280"/>
                        </a:lnSpc>
                        <a:buNone/>
                      </a:pPr>
                      <a:r>
                        <a:rPr lang="en-US" sz="950" dirty="0">
                          <a:solidFill>
                            <a:srgbClr val="F7F3EA"/>
                          </a:solidFill>
                          <a:latin typeface="Arial" pitchFamily="34" charset="0"/>
                          <a:ea typeface="Arial" pitchFamily="34" charset="-122"/>
                          <a:cs typeface="Arial" pitchFamily="34" charset="-120"/>
                        </a:rPr>
                        <a:t>88</a:t>
                      </a:r>
                      <a:endParaRPr lang="en-US" sz="95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280"/>
                        </a:lnSpc>
                        <a:buNone/>
                      </a:pPr>
                      <a:r>
                        <a:rPr lang="en-US" sz="950" dirty="0">
                          <a:solidFill>
                            <a:srgbClr val="F7F3EA"/>
                          </a:solidFill>
                          <a:latin typeface="Arial" pitchFamily="34" charset="0"/>
                          <a:ea typeface="Arial" pitchFamily="34" charset="-122"/>
                          <a:cs typeface="Arial" pitchFamily="34" charset="-120"/>
                        </a:rPr>
                        <a:t>₹410</a:t>
                      </a:r>
                      <a:endParaRPr lang="en-US" sz="95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extLst>
                  <a:ext uri="{0D108BD9-81ED-4DB2-BD59-A6C34878D82A}">
                    <a16:rowId xmlns:a16="http://schemas.microsoft.com/office/drawing/2014/main" val="10004"/>
                  </a:ext>
                </a:extLst>
              </a:tr>
              <a:tr h="300000">
                <a:tc>
                  <a:txBody>
                    <a:bodyPr/>
                    <a:lstStyle/>
                    <a:p>
                      <a:pPr marL="0" indent="0">
                        <a:lnSpc>
                          <a:spcPts val="1280"/>
                        </a:lnSpc>
                        <a:buNone/>
                      </a:pPr>
                      <a:r>
                        <a:rPr lang="en-US" sz="950" dirty="0">
                          <a:solidFill>
                            <a:srgbClr val="F7F3EA"/>
                          </a:solidFill>
                          <a:latin typeface="Arial" pitchFamily="34" charset="0"/>
                          <a:ea typeface="Arial" pitchFamily="34" charset="-122"/>
                          <a:cs typeface="Arial" pitchFamily="34" charset="-120"/>
                        </a:rPr>
                        <a:t>Awareness</a:t>
                      </a:r>
                      <a:endParaRPr lang="en-US" sz="95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280"/>
                        </a:lnSpc>
                        <a:buNone/>
                      </a:pPr>
                      <a:r>
                        <a:rPr lang="en-US" sz="950" dirty="0">
                          <a:solidFill>
                            <a:srgbClr val="F7F3EA"/>
                          </a:solidFill>
                          <a:latin typeface="Arial" pitchFamily="34" charset="0"/>
                          <a:ea typeface="Arial" pitchFamily="34" charset="-122"/>
                          <a:cs typeface="Arial" pitchFamily="34" charset="-120"/>
                        </a:rPr>
                        <a:t>TOF</a:t>
                      </a:r>
                      <a:endParaRPr lang="en-US" sz="95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280"/>
                        </a:lnSpc>
                        <a:buNone/>
                      </a:pPr>
                      <a:r>
                        <a:rPr lang="en-US" sz="950" dirty="0">
                          <a:solidFill>
                            <a:srgbClr val="F7F3EA"/>
                          </a:solidFill>
                          <a:latin typeface="Arial" pitchFamily="34" charset="0"/>
                          <a:ea typeface="Arial" pitchFamily="34" charset="-122"/>
                          <a:cs typeface="Arial" pitchFamily="34" charset="-120"/>
                        </a:rPr>
                        <a:t>Interest, affinity and lookalikes</a:t>
                      </a:r>
                      <a:endParaRPr lang="en-US" sz="95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280"/>
                        </a:lnSpc>
                        <a:buNone/>
                      </a:pPr>
                      <a:r>
                        <a:rPr lang="en-US" sz="950" dirty="0">
                          <a:solidFill>
                            <a:srgbClr val="F7F3EA"/>
                          </a:solidFill>
                          <a:latin typeface="Arial" pitchFamily="34" charset="0"/>
                          <a:ea typeface="Arial" pitchFamily="34" charset="-122"/>
                          <a:cs typeface="Arial" pitchFamily="34" charset="-120"/>
                        </a:rPr>
                        <a:t>₹27,000</a:t>
                      </a:r>
                      <a:endParaRPr lang="en-US" sz="95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280"/>
                        </a:lnSpc>
                        <a:buNone/>
                      </a:pPr>
                      <a:r>
                        <a:rPr lang="en-US" sz="950" dirty="0">
                          <a:solidFill>
                            <a:srgbClr val="F7F3EA"/>
                          </a:solidFill>
                          <a:latin typeface="Arial" pitchFamily="34" charset="0"/>
                          <a:ea typeface="Arial" pitchFamily="34" charset="-122"/>
                          <a:cs typeface="Arial" pitchFamily="34" charset="-120"/>
                        </a:rPr>
                        <a:t>—</a:t>
                      </a:r>
                      <a:endParaRPr lang="en-US" sz="95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280"/>
                        </a:lnSpc>
                        <a:buNone/>
                      </a:pPr>
                      <a:r>
                        <a:rPr lang="en-US" sz="950" dirty="0">
                          <a:solidFill>
                            <a:srgbClr val="F7F3EA"/>
                          </a:solidFill>
                          <a:latin typeface="Arial" pitchFamily="34" charset="0"/>
                          <a:ea typeface="Arial" pitchFamily="34" charset="-122"/>
                          <a:cs typeface="Arial" pitchFamily="34" charset="-120"/>
                        </a:rPr>
                        <a:t>—</a:t>
                      </a:r>
                      <a:endParaRPr lang="en-US" sz="95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extLst>
                  <a:ext uri="{0D108BD9-81ED-4DB2-BD59-A6C34878D82A}">
                    <a16:rowId xmlns:a16="http://schemas.microsoft.com/office/drawing/2014/main" val="10005"/>
                  </a:ext>
                </a:extLst>
              </a:tr>
              <a:tr h="300000">
                <a:tc>
                  <a:txBody>
                    <a:bodyPr/>
                    <a:lstStyle/>
                    <a:p>
                      <a:pPr marL="0" indent="0">
                        <a:lnSpc>
                          <a:spcPts val="1280"/>
                        </a:lnSpc>
                        <a:buNone/>
                      </a:pPr>
                      <a:r>
                        <a:rPr lang="en-US" sz="950" b="1" dirty="0">
                          <a:solidFill>
                            <a:srgbClr val="F7F3EA"/>
                          </a:solidFill>
                          <a:latin typeface="Arial" pitchFamily="34" charset="0"/>
                          <a:ea typeface="Arial" pitchFamily="34" charset="-122"/>
                          <a:cs typeface="Arial" pitchFamily="34" charset="-120"/>
                        </a:rPr>
                        <a:t>Total</a:t>
                      </a:r>
                      <a:endParaRPr lang="en-US" sz="95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solidFill>
                      <a:srgbClr val="3A342A"/>
                    </a:solidFill>
                  </a:tcPr>
                </a:tc>
                <a:tc>
                  <a:txBody>
                    <a:bodyPr/>
                    <a:lstStyle/>
                    <a:p>
                      <a:pPr marL="0" indent="0">
                        <a:lnSpc>
                          <a:spcPts val="1280"/>
                        </a:lnSpc>
                        <a:buNone/>
                      </a:pPr>
                      <a:endParaRPr lang="en-US" sz="95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solidFill>
                      <a:srgbClr val="3A342A"/>
                    </a:solidFill>
                  </a:tcPr>
                </a:tc>
                <a:tc>
                  <a:txBody>
                    <a:bodyPr/>
                    <a:lstStyle/>
                    <a:p>
                      <a:pPr marL="0" indent="0">
                        <a:lnSpc>
                          <a:spcPts val="1280"/>
                        </a:lnSpc>
                        <a:buNone/>
                      </a:pPr>
                      <a:endParaRPr lang="en-US" sz="95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solidFill>
                      <a:srgbClr val="3A342A"/>
                    </a:solidFill>
                  </a:tcPr>
                </a:tc>
                <a:tc>
                  <a:txBody>
                    <a:bodyPr/>
                    <a:lstStyle/>
                    <a:p>
                      <a:pPr marL="0" indent="0">
                        <a:lnSpc>
                          <a:spcPts val="1280"/>
                        </a:lnSpc>
                        <a:buNone/>
                      </a:pPr>
                      <a:r>
                        <a:rPr lang="en-US" sz="950" b="1" dirty="0">
                          <a:solidFill>
                            <a:srgbClr val="F7F3EA"/>
                          </a:solidFill>
                          <a:latin typeface="Arial" pitchFamily="34" charset="0"/>
                          <a:ea typeface="Arial" pitchFamily="34" charset="-122"/>
                          <a:cs typeface="Arial" pitchFamily="34" charset="-120"/>
                        </a:rPr>
                        <a:t>₹1,80,000</a:t>
                      </a:r>
                      <a:endParaRPr lang="en-US" sz="95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solidFill>
                      <a:srgbClr val="3A342A"/>
                    </a:solidFill>
                  </a:tcPr>
                </a:tc>
                <a:tc>
                  <a:txBody>
                    <a:bodyPr/>
                    <a:lstStyle/>
                    <a:p>
                      <a:pPr marL="0" indent="0">
                        <a:lnSpc>
                          <a:spcPts val="1280"/>
                        </a:lnSpc>
                        <a:buNone/>
                      </a:pPr>
                      <a:r>
                        <a:rPr lang="en-US" sz="950" b="1" dirty="0">
                          <a:solidFill>
                            <a:srgbClr val="F7F3EA"/>
                          </a:solidFill>
                          <a:latin typeface="Arial" pitchFamily="34" charset="0"/>
                          <a:ea typeface="Arial" pitchFamily="34" charset="-122"/>
                          <a:cs typeface="Arial" pitchFamily="34" charset="-120"/>
                        </a:rPr>
                        <a:t>400</a:t>
                      </a:r>
                      <a:endParaRPr lang="en-US" sz="95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solidFill>
                      <a:srgbClr val="3A342A"/>
                    </a:solidFill>
                  </a:tcPr>
                </a:tc>
                <a:tc>
                  <a:txBody>
                    <a:bodyPr/>
                    <a:lstStyle/>
                    <a:p>
                      <a:pPr marL="0" indent="0">
                        <a:lnSpc>
                          <a:spcPts val="1280"/>
                        </a:lnSpc>
                        <a:buNone/>
                      </a:pPr>
                      <a:r>
                        <a:rPr lang="en-US" sz="950" b="1" dirty="0">
                          <a:solidFill>
                            <a:srgbClr val="F7F3EA"/>
                          </a:solidFill>
                          <a:latin typeface="Arial" pitchFamily="34" charset="0"/>
                          <a:ea typeface="Arial" pitchFamily="34" charset="-122"/>
                          <a:cs typeface="Arial" pitchFamily="34" charset="-120"/>
                        </a:rPr>
                        <a:t>₹450</a:t>
                      </a:r>
                      <a:endParaRPr lang="en-US" sz="95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solidFill>
                      <a:srgbClr val="3A342A"/>
                    </a:solidFill>
                  </a:tcPr>
                </a:tc>
                <a:extLst>
                  <a:ext uri="{0D108BD9-81ED-4DB2-BD59-A6C34878D82A}">
                    <a16:rowId xmlns:a16="http://schemas.microsoft.com/office/drawing/2014/main" val="10006"/>
                  </a:ext>
                </a:extLst>
              </a:tr>
            </a:tbl>
          </a:graphicData>
        </a:graphic>
      </p:graphicFrame>
      <p:sp>
        <p:nvSpPr>
          <p:cNvPr id="31" name="Label 1"/>
          <p:cNvSpPr/>
          <p:nvPr/>
        </p:nvSpPr>
        <p:spPr>
          <a:xfrm>
            <a:off x="822960" y="3920000"/>
            <a:ext cx="6000000" cy="177800"/>
          </a:xfrm>
          <a:prstGeom prst="rect">
            <a:avLst/>
          </a:prstGeom>
          <a:noFill/>
          <a:ln/>
        </p:spPr>
        <p:txBody>
          <a:bodyPr wrap="square" lIns="0" tIns="0" rIns="0" bIns="0" rtlCol="0" anchor="t">
            <a:normAutofit fontScale="25000" lnSpcReduction="20000"/>
          </a:bodyPr>
          <a:lstStyle/>
          <a:p>
            <a:pPr marL="0" indent="0" algn="l">
              <a:lnSpc>
                <a:spcPts val="1820"/>
              </a:lnSpc>
              <a:buNone/>
            </a:pPr>
            <a:r>
              <a:rPr lang="en-US" sz="1000" kern="0" spc="200" dirty="0">
                <a:solidFill>
                  <a:srgbClr val="C9A63C"/>
                </a:solidFill>
                <a:latin typeface="Arial" pitchFamily="34" charset="0"/>
                <a:ea typeface="Arial" pitchFamily="34" charset="-122"/>
                <a:cs typeface="Arial" pitchFamily="34" charset="-120"/>
              </a:rPr>
              <a:t>GOOGLE  ·  34% OF BUDGET</a:t>
            </a:r>
            <a:endParaRPr lang="en-US" sz="1000" dirty="0"/>
          </a:p>
        </p:txBody>
      </p:sp>
      <p:graphicFrame>
        <p:nvGraphicFramePr>
          <p:cNvPr id="20" name="Table 1"/>
          <p:cNvGraphicFramePr>
            <a:graphicFrameLocks noGrp="1"/>
          </p:cNvGraphicFramePr>
          <p:nvPr/>
        </p:nvGraphicFramePr>
        <p:xfrm>
          <a:off x="822960" y="4180000"/>
          <a:ext cx="10556240" cy="1500000"/>
        </p:xfrm>
        <a:graphic>
          <a:graphicData uri="http://schemas.openxmlformats.org/drawingml/2006/table">
            <a:tbl>
              <a:tblPr/>
              <a:tblGrid>
                <a:gridCol w="1632408">
                  <a:extLst>
                    <a:ext uri="{9D8B030D-6E8A-4147-A177-3AD203B41FA5}">
                      <a16:colId xmlns:a16="http://schemas.microsoft.com/office/drawing/2014/main" val="20000"/>
                    </a:ext>
                  </a:extLst>
                </a:gridCol>
                <a:gridCol w="2829508">
                  <a:extLst>
                    <a:ext uri="{9D8B030D-6E8A-4147-A177-3AD203B41FA5}">
                      <a16:colId xmlns:a16="http://schemas.microsoft.com/office/drawing/2014/main" val="20001"/>
                    </a:ext>
                  </a:extLst>
                </a:gridCol>
                <a:gridCol w="1632408">
                  <a:extLst>
                    <a:ext uri="{9D8B030D-6E8A-4147-A177-3AD203B41FA5}">
                      <a16:colId xmlns:a16="http://schemas.microsoft.com/office/drawing/2014/main" val="20002"/>
                    </a:ext>
                  </a:extLst>
                </a:gridCol>
                <a:gridCol w="1414754">
                  <a:extLst>
                    <a:ext uri="{9D8B030D-6E8A-4147-A177-3AD203B41FA5}">
                      <a16:colId xmlns:a16="http://schemas.microsoft.com/office/drawing/2014/main" val="20003"/>
                    </a:ext>
                  </a:extLst>
                </a:gridCol>
                <a:gridCol w="1414754">
                  <a:extLst>
                    <a:ext uri="{9D8B030D-6E8A-4147-A177-3AD203B41FA5}">
                      <a16:colId xmlns:a16="http://schemas.microsoft.com/office/drawing/2014/main" val="20004"/>
                    </a:ext>
                  </a:extLst>
                </a:gridCol>
                <a:gridCol w="1632408">
                  <a:extLst>
                    <a:ext uri="{9D8B030D-6E8A-4147-A177-3AD203B41FA5}">
                      <a16:colId xmlns:a16="http://schemas.microsoft.com/office/drawing/2014/main" val="20005"/>
                    </a:ext>
                  </a:extLst>
                </a:gridCol>
              </a:tblGrid>
              <a:tr h="300000">
                <a:tc>
                  <a:txBody>
                    <a:bodyPr/>
                    <a:lstStyle/>
                    <a:p>
                      <a:pPr marL="0" indent="0">
                        <a:lnSpc>
                          <a:spcPts val="1280"/>
                        </a:lnSpc>
                        <a:buNone/>
                      </a:pPr>
                      <a:r>
                        <a:rPr lang="en-US" sz="950" b="1" dirty="0">
                          <a:solidFill>
                            <a:srgbClr val="F7F3EA"/>
                          </a:solidFill>
                          <a:latin typeface="Arial" pitchFamily="34" charset="0"/>
                          <a:ea typeface="Arial" pitchFamily="34" charset="-122"/>
                          <a:cs typeface="Arial" pitchFamily="34" charset="-120"/>
                        </a:rPr>
                        <a:t>Category</a:t>
                      </a:r>
                      <a:endParaRPr lang="en-US" sz="95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645F57"/>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645F57"/>
                      </a:solidFill>
                      <a:prstDash val="solid"/>
                      <a:round/>
                      <a:headEnd type="none" w="med" len="med"/>
                      <a:tailEnd type="none" w="med" len="med"/>
                    </a:lnB>
                    <a:solidFill>
                      <a:srgbClr val="3A342A"/>
                    </a:solidFill>
                  </a:tcPr>
                </a:tc>
                <a:tc>
                  <a:txBody>
                    <a:bodyPr/>
                    <a:lstStyle/>
                    <a:p>
                      <a:pPr marL="0" indent="0">
                        <a:lnSpc>
                          <a:spcPts val="1280"/>
                        </a:lnSpc>
                        <a:buNone/>
                      </a:pPr>
                      <a:r>
                        <a:rPr lang="en-US" sz="950" b="1" dirty="0">
                          <a:solidFill>
                            <a:srgbClr val="F7F3EA"/>
                          </a:solidFill>
                          <a:latin typeface="Arial" pitchFamily="34" charset="0"/>
                          <a:ea typeface="Arial" pitchFamily="34" charset="-122"/>
                          <a:cs typeface="Arial" pitchFamily="34" charset="-120"/>
                        </a:rPr>
                        <a:t>Campaign</a:t>
                      </a:r>
                      <a:endParaRPr lang="en-US" sz="950" dirty="0">
                        <a:latin typeface="Arial" charset="0"/>
                        <a:ea typeface="Arial" charset="0"/>
                        <a:cs typeface="Arial" charset="0"/>
                      </a:endParaRPr>
                    </a:p>
                  </a:txBody>
                  <a:tcPr marL="51965" marR="51965" marT="51965" marB="51965">
                    <a:lnL w="12700" cap="flat" cmpd="sng" algn="ctr">
                      <a:solidFill>
                        <a:srgbClr val="645F57"/>
                      </a:solidFill>
                      <a:prstDash val="solid"/>
                      <a:round/>
                      <a:headEnd type="none" w="med" len="med"/>
                      <a:tailEnd type="none" w="med" len="med"/>
                    </a:lnL>
                    <a:lnR w="12700" cap="flat" cmpd="sng" algn="ctr">
                      <a:solidFill>
                        <a:srgbClr val="645F57"/>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645F57"/>
                      </a:solidFill>
                      <a:prstDash val="solid"/>
                      <a:round/>
                      <a:headEnd type="none" w="med" len="med"/>
                      <a:tailEnd type="none" w="med" len="med"/>
                    </a:lnB>
                    <a:solidFill>
                      <a:srgbClr val="3A342A"/>
                    </a:solidFill>
                  </a:tcPr>
                </a:tc>
                <a:tc>
                  <a:txBody>
                    <a:bodyPr/>
                    <a:lstStyle/>
                    <a:p>
                      <a:pPr marL="0" indent="0">
                        <a:lnSpc>
                          <a:spcPts val="1280"/>
                        </a:lnSpc>
                        <a:buNone/>
                      </a:pPr>
                      <a:r>
                        <a:rPr lang="en-US" sz="950" b="1" dirty="0">
                          <a:solidFill>
                            <a:srgbClr val="F7F3EA"/>
                          </a:solidFill>
                          <a:latin typeface="Arial" pitchFamily="34" charset="0"/>
                          <a:ea typeface="Arial" pitchFamily="34" charset="-122"/>
                          <a:cs typeface="Arial" pitchFamily="34" charset="-120"/>
                        </a:rPr>
                        <a:t>Spend</a:t>
                      </a:r>
                      <a:endParaRPr lang="en-US" sz="950" dirty="0">
                        <a:latin typeface="Arial" charset="0"/>
                        <a:ea typeface="Arial" charset="0"/>
                        <a:cs typeface="Arial" charset="0"/>
                      </a:endParaRPr>
                    </a:p>
                  </a:txBody>
                  <a:tcPr marL="51965" marR="51965" marT="51965" marB="51965">
                    <a:lnL w="12700" cap="flat" cmpd="sng" algn="ctr">
                      <a:solidFill>
                        <a:srgbClr val="645F57"/>
                      </a:solidFill>
                      <a:prstDash val="solid"/>
                      <a:round/>
                      <a:headEnd type="none" w="med" len="med"/>
                      <a:tailEnd type="none" w="med" len="med"/>
                    </a:lnL>
                    <a:lnR w="12700" cap="flat" cmpd="sng" algn="ctr">
                      <a:solidFill>
                        <a:srgbClr val="645F57"/>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645F57"/>
                      </a:solidFill>
                      <a:prstDash val="solid"/>
                      <a:round/>
                      <a:headEnd type="none" w="med" len="med"/>
                      <a:tailEnd type="none" w="med" len="med"/>
                    </a:lnB>
                    <a:solidFill>
                      <a:srgbClr val="3A342A"/>
                    </a:solidFill>
                  </a:tcPr>
                </a:tc>
                <a:tc>
                  <a:txBody>
                    <a:bodyPr/>
                    <a:lstStyle/>
                    <a:p>
                      <a:pPr marL="0" indent="0">
                        <a:lnSpc>
                          <a:spcPts val="1280"/>
                        </a:lnSpc>
                        <a:buNone/>
                      </a:pPr>
                      <a:r>
                        <a:rPr lang="en-US" sz="950" b="1" dirty="0">
                          <a:solidFill>
                            <a:srgbClr val="F7F3EA"/>
                          </a:solidFill>
                          <a:latin typeface="Arial" pitchFamily="34" charset="0"/>
                          <a:ea typeface="Arial" pitchFamily="34" charset="-122"/>
                          <a:cs typeface="Arial" pitchFamily="34" charset="-120"/>
                        </a:rPr>
                        <a:t>Clicks</a:t>
                      </a:r>
                      <a:endParaRPr lang="en-US" sz="950" dirty="0">
                        <a:latin typeface="Arial" charset="0"/>
                        <a:ea typeface="Arial" charset="0"/>
                        <a:cs typeface="Arial" charset="0"/>
                      </a:endParaRPr>
                    </a:p>
                  </a:txBody>
                  <a:tcPr marL="51965" marR="51965" marT="51965" marB="51965">
                    <a:lnL w="12700" cap="flat" cmpd="sng" algn="ctr">
                      <a:solidFill>
                        <a:srgbClr val="645F57"/>
                      </a:solidFill>
                      <a:prstDash val="solid"/>
                      <a:round/>
                      <a:headEnd type="none" w="med" len="med"/>
                      <a:tailEnd type="none" w="med" len="med"/>
                    </a:lnL>
                    <a:lnR w="12700" cap="flat" cmpd="sng" algn="ctr">
                      <a:solidFill>
                        <a:srgbClr val="645F57"/>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645F57"/>
                      </a:solidFill>
                      <a:prstDash val="solid"/>
                      <a:round/>
                      <a:headEnd type="none" w="med" len="med"/>
                      <a:tailEnd type="none" w="med" len="med"/>
                    </a:lnB>
                    <a:solidFill>
                      <a:srgbClr val="3A342A"/>
                    </a:solidFill>
                  </a:tcPr>
                </a:tc>
                <a:tc>
                  <a:txBody>
                    <a:bodyPr/>
                    <a:lstStyle/>
                    <a:p>
                      <a:pPr marL="0" indent="0">
                        <a:lnSpc>
                          <a:spcPts val="1280"/>
                        </a:lnSpc>
                        <a:buNone/>
                      </a:pPr>
                      <a:r>
                        <a:rPr lang="en-US" sz="950" b="1" dirty="0">
                          <a:solidFill>
                            <a:srgbClr val="F7F3EA"/>
                          </a:solidFill>
                          <a:latin typeface="Arial" pitchFamily="34" charset="0"/>
                          <a:ea typeface="Arial" pitchFamily="34" charset="-122"/>
                          <a:cs typeface="Arial" pitchFamily="34" charset="-120"/>
                        </a:rPr>
                        <a:t>Enquiries</a:t>
                      </a:r>
                      <a:endParaRPr lang="en-US" sz="950" dirty="0">
                        <a:latin typeface="Arial" charset="0"/>
                        <a:ea typeface="Arial" charset="0"/>
                        <a:cs typeface="Arial" charset="0"/>
                      </a:endParaRPr>
                    </a:p>
                  </a:txBody>
                  <a:tcPr marL="51965" marR="51965" marT="51965" marB="51965">
                    <a:lnL w="12700" cap="flat" cmpd="sng" algn="ctr">
                      <a:solidFill>
                        <a:srgbClr val="645F57"/>
                      </a:solidFill>
                      <a:prstDash val="solid"/>
                      <a:round/>
                      <a:headEnd type="none" w="med" len="med"/>
                      <a:tailEnd type="none" w="med" len="med"/>
                    </a:lnL>
                    <a:lnR w="12700" cap="flat" cmpd="sng" algn="ctr">
                      <a:solidFill>
                        <a:srgbClr val="645F57"/>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645F57"/>
                      </a:solidFill>
                      <a:prstDash val="solid"/>
                      <a:round/>
                      <a:headEnd type="none" w="med" len="med"/>
                      <a:tailEnd type="none" w="med" len="med"/>
                    </a:lnB>
                    <a:solidFill>
                      <a:srgbClr val="3A342A"/>
                    </a:solidFill>
                  </a:tcPr>
                </a:tc>
                <a:tc>
                  <a:txBody>
                    <a:bodyPr/>
                    <a:lstStyle/>
                    <a:p>
                      <a:pPr marL="0" indent="0">
                        <a:lnSpc>
                          <a:spcPts val="1280"/>
                        </a:lnSpc>
                        <a:buNone/>
                      </a:pPr>
                      <a:r>
                        <a:rPr lang="en-US" sz="950" b="1" dirty="0">
                          <a:solidFill>
                            <a:srgbClr val="F7F3EA"/>
                          </a:solidFill>
                          <a:latin typeface="Arial" pitchFamily="34" charset="0"/>
                          <a:ea typeface="Arial" pitchFamily="34" charset="-122"/>
                          <a:cs typeface="Arial" pitchFamily="34" charset="-120"/>
                        </a:rPr>
                        <a:t>Cost per enquiry</a:t>
                      </a:r>
                      <a:endParaRPr lang="en-US" sz="950" dirty="0">
                        <a:latin typeface="Arial" charset="0"/>
                        <a:ea typeface="Arial" charset="0"/>
                        <a:cs typeface="Arial" charset="0"/>
                      </a:endParaRPr>
                    </a:p>
                  </a:txBody>
                  <a:tcPr marL="51965" marR="51965" marT="51965" marB="51965">
                    <a:lnL w="12700" cap="flat" cmpd="sng" algn="ctr">
                      <a:solidFill>
                        <a:srgbClr val="645F57"/>
                      </a:solidFill>
                      <a:prstDash val="solid"/>
                      <a:round/>
                      <a:headEnd type="none" w="med" len="med"/>
                      <a:tailEnd type="none" w="med" len="med"/>
                    </a:lnL>
                    <a:lnR w="12700" cap="flat" cmpd="sng" algn="ctr">
                      <a:solidFill>
                        <a:srgbClr val="645F57"/>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645F57"/>
                      </a:solidFill>
                      <a:prstDash val="solid"/>
                      <a:round/>
                      <a:headEnd type="none" w="med" len="med"/>
                      <a:tailEnd type="none" w="med" len="med"/>
                    </a:lnB>
                    <a:solidFill>
                      <a:srgbClr val="3A342A"/>
                    </a:solidFill>
                  </a:tcPr>
                </a:tc>
                <a:extLst>
                  <a:ext uri="{0D108BD9-81ED-4DB2-BD59-A6C34878D82A}">
                    <a16:rowId xmlns:a16="http://schemas.microsoft.com/office/drawing/2014/main" val="10000"/>
                  </a:ext>
                </a:extLst>
              </a:tr>
              <a:tr h="300000">
                <a:tc>
                  <a:txBody>
                    <a:bodyPr/>
                    <a:lstStyle/>
                    <a:p>
                      <a:pPr marL="0" indent="0">
                        <a:lnSpc>
                          <a:spcPts val="1280"/>
                        </a:lnSpc>
                        <a:buNone/>
                      </a:pPr>
                      <a:r>
                        <a:rPr lang="en-US" sz="950" dirty="0">
                          <a:solidFill>
                            <a:srgbClr val="F7F3EA"/>
                          </a:solidFill>
                          <a:latin typeface="Arial" pitchFamily="34" charset="0"/>
                          <a:ea typeface="Arial" pitchFamily="34" charset="-122"/>
                          <a:cs typeface="Arial" pitchFamily="34" charset="-120"/>
                        </a:rPr>
                        <a:t>Day outs</a:t>
                      </a:r>
                      <a:endParaRPr lang="en-US" sz="95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645F57"/>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280"/>
                        </a:lnSpc>
                        <a:buNone/>
                      </a:pPr>
                      <a:r>
                        <a:rPr lang="en-US" sz="950" dirty="0">
                          <a:solidFill>
                            <a:srgbClr val="F7F3EA"/>
                          </a:solidFill>
                          <a:latin typeface="Arial" pitchFamily="34" charset="0"/>
                          <a:ea typeface="Arial" pitchFamily="34" charset="-122"/>
                          <a:cs typeface="Arial" pitchFamily="34" charset="-120"/>
                        </a:rPr>
                        <a:t>Search, brand terms</a:t>
                      </a:r>
                      <a:endParaRPr lang="en-US" sz="95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645F57"/>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280"/>
                        </a:lnSpc>
                        <a:buNone/>
                      </a:pPr>
                      <a:r>
                        <a:rPr lang="en-US" sz="950" dirty="0">
                          <a:solidFill>
                            <a:srgbClr val="F7F3EA"/>
                          </a:solidFill>
                          <a:latin typeface="Arial" pitchFamily="34" charset="0"/>
                          <a:ea typeface="Arial" pitchFamily="34" charset="-122"/>
                          <a:cs typeface="Arial" pitchFamily="34" charset="-120"/>
                        </a:rPr>
                        <a:t>₹36,000</a:t>
                      </a:r>
                      <a:endParaRPr lang="en-US" sz="95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645F57"/>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280"/>
                        </a:lnSpc>
                        <a:buNone/>
                      </a:pPr>
                      <a:r>
                        <a:rPr lang="en-US" sz="950" dirty="0">
                          <a:solidFill>
                            <a:srgbClr val="F7F3EA"/>
                          </a:solidFill>
                          <a:latin typeface="Arial" pitchFamily="34" charset="0"/>
                          <a:ea typeface="Arial" pitchFamily="34" charset="-122"/>
                          <a:cs typeface="Arial" pitchFamily="34" charset="-120"/>
                        </a:rPr>
                        <a:t>3,000</a:t>
                      </a:r>
                      <a:endParaRPr lang="en-US" sz="95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645F57"/>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280"/>
                        </a:lnSpc>
                        <a:buNone/>
                      </a:pPr>
                      <a:r>
                        <a:rPr lang="en-US" sz="950" dirty="0">
                          <a:solidFill>
                            <a:srgbClr val="F7F3EA"/>
                          </a:solidFill>
                          <a:latin typeface="Arial" pitchFamily="34" charset="0"/>
                          <a:ea typeface="Arial" pitchFamily="34" charset="-122"/>
                          <a:cs typeface="Arial" pitchFamily="34" charset="-120"/>
                        </a:rPr>
                        <a:t>62</a:t>
                      </a:r>
                      <a:endParaRPr lang="en-US" sz="95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645F57"/>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280"/>
                        </a:lnSpc>
                        <a:buNone/>
                      </a:pPr>
                      <a:r>
                        <a:rPr lang="en-US" sz="950" dirty="0">
                          <a:solidFill>
                            <a:srgbClr val="F7F3EA"/>
                          </a:solidFill>
                          <a:latin typeface="Arial" pitchFamily="34" charset="0"/>
                          <a:ea typeface="Arial" pitchFamily="34" charset="-122"/>
                          <a:cs typeface="Arial" pitchFamily="34" charset="-120"/>
                        </a:rPr>
                        <a:t>₹580</a:t>
                      </a:r>
                      <a:endParaRPr lang="en-US" sz="95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645F57"/>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extLst>
                  <a:ext uri="{0D108BD9-81ED-4DB2-BD59-A6C34878D82A}">
                    <a16:rowId xmlns:a16="http://schemas.microsoft.com/office/drawing/2014/main" val="10001"/>
                  </a:ext>
                </a:extLst>
              </a:tr>
              <a:tr h="300000">
                <a:tc>
                  <a:txBody>
                    <a:bodyPr/>
                    <a:lstStyle/>
                    <a:p>
                      <a:pPr marL="0" indent="0">
                        <a:lnSpc>
                          <a:spcPts val="1280"/>
                        </a:lnSpc>
                        <a:buNone/>
                      </a:pPr>
                      <a:r>
                        <a:rPr lang="en-US" sz="950" dirty="0">
                          <a:solidFill>
                            <a:srgbClr val="F7F3EA"/>
                          </a:solidFill>
                          <a:latin typeface="Arial" pitchFamily="34" charset="0"/>
                          <a:ea typeface="Arial" pitchFamily="34" charset="-122"/>
                          <a:cs typeface="Arial" pitchFamily="34" charset="-120"/>
                        </a:rPr>
                        <a:t>Stay</a:t>
                      </a:r>
                      <a:endParaRPr lang="en-US" sz="95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280"/>
                        </a:lnSpc>
                        <a:buNone/>
                      </a:pPr>
                      <a:r>
                        <a:rPr lang="en-US" sz="950" dirty="0">
                          <a:solidFill>
                            <a:srgbClr val="F7F3EA"/>
                          </a:solidFill>
                          <a:latin typeface="Arial" pitchFamily="34" charset="0"/>
                          <a:ea typeface="Arial" pitchFamily="34" charset="-122"/>
                          <a:cs typeface="Arial" pitchFamily="34" charset="-120"/>
                        </a:rPr>
                        <a:t>Demand Gen</a:t>
                      </a:r>
                      <a:endParaRPr lang="en-US" sz="95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280"/>
                        </a:lnSpc>
                        <a:buNone/>
                      </a:pPr>
                      <a:r>
                        <a:rPr lang="en-US" sz="950" dirty="0">
                          <a:solidFill>
                            <a:srgbClr val="F7F3EA"/>
                          </a:solidFill>
                          <a:latin typeface="Arial" pitchFamily="34" charset="0"/>
                          <a:ea typeface="Arial" pitchFamily="34" charset="-122"/>
                          <a:cs typeface="Arial" pitchFamily="34" charset="-120"/>
                        </a:rPr>
                        <a:t>₹36,000</a:t>
                      </a:r>
                      <a:endParaRPr lang="en-US" sz="95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280"/>
                        </a:lnSpc>
                        <a:buNone/>
                      </a:pPr>
                      <a:r>
                        <a:rPr lang="en-US" sz="950" dirty="0">
                          <a:solidFill>
                            <a:srgbClr val="F7F3EA"/>
                          </a:solidFill>
                          <a:latin typeface="Arial" pitchFamily="34" charset="0"/>
                          <a:ea typeface="Arial" pitchFamily="34" charset="-122"/>
                          <a:cs typeface="Arial" pitchFamily="34" charset="-120"/>
                        </a:rPr>
                        <a:t>2,250</a:t>
                      </a:r>
                      <a:endParaRPr lang="en-US" sz="95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280"/>
                        </a:lnSpc>
                        <a:buNone/>
                      </a:pPr>
                      <a:r>
                        <a:rPr lang="en-US" sz="950" dirty="0">
                          <a:solidFill>
                            <a:srgbClr val="F7F3EA"/>
                          </a:solidFill>
                          <a:latin typeface="Arial" pitchFamily="34" charset="0"/>
                          <a:ea typeface="Arial" pitchFamily="34" charset="-122"/>
                          <a:cs typeface="Arial" pitchFamily="34" charset="-120"/>
                        </a:rPr>
                        <a:t>64</a:t>
                      </a:r>
                      <a:endParaRPr lang="en-US" sz="95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280"/>
                        </a:lnSpc>
                        <a:buNone/>
                      </a:pPr>
                      <a:r>
                        <a:rPr lang="en-US" sz="950" dirty="0">
                          <a:solidFill>
                            <a:srgbClr val="F7F3EA"/>
                          </a:solidFill>
                          <a:latin typeface="Arial" pitchFamily="34" charset="0"/>
                          <a:ea typeface="Arial" pitchFamily="34" charset="-122"/>
                          <a:cs typeface="Arial" pitchFamily="34" charset="-120"/>
                        </a:rPr>
                        <a:t>₹560</a:t>
                      </a:r>
                      <a:endParaRPr lang="en-US" sz="95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extLst>
                  <a:ext uri="{0D108BD9-81ED-4DB2-BD59-A6C34878D82A}">
                    <a16:rowId xmlns:a16="http://schemas.microsoft.com/office/drawing/2014/main" val="10002"/>
                  </a:ext>
                </a:extLst>
              </a:tr>
              <a:tr h="300000">
                <a:tc>
                  <a:txBody>
                    <a:bodyPr/>
                    <a:lstStyle/>
                    <a:p>
                      <a:pPr marL="0" indent="0">
                        <a:lnSpc>
                          <a:spcPts val="1280"/>
                        </a:lnSpc>
                        <a:buNone/>
                      </a:pPr>
                      <a:r>
                        <a:rPr lang="en-US" sz="950" dirty="0">
                          <a:solidFill>
                            <a:srgbClr val="F7F3EA"/>
                          </a:solidFill>
                          <a:latin typeface="Arial" pitchFamily="34" charset="0"/>
                          <a:ea typeface="Arial" pitchFamily="34" charset="-122"/>
                          <a:cs typeface="Arial" pitchFamily="34" charset="-120"/>
                        </a:rPr>
                        <a:t>Day outs</a:t>
                      </a:r>
                      <a:endParaRPr lang="en-US" sz="95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280"/>
                        </a:lnSpc>
                        <a:buNone/>
                      </a:pPr>
                      <a:r>
                        <a:rPr lang="en-US" sz="950" dirty="0">
                          <a:solidFill>
                            <a:srgbClr val="F7F3EA"/>
                          </a:solidFill>
                          <a:latin typeface="Arial" pitchFamily="34" charset="0"/>
                          <a:ea typeface="Arial" pitchFamily="34" charset="-122"/>
                          <a:cs typeface="Arial" pitchFamily="34" charset="-120"/>
                        </a:rPr>
                        <a:t>Search, non-brand</a:t>
                      </a:r>
                      <a:endParaRPr lang="en-US" sz="95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280"/>
                        </a:lnSpc>
                        <a:buNone/>
                      </a:pPr>
                      <a:r>
                        <a:rPr lang="en-US" sz="950" dirty="0">
                          <a:solidFill>
                            <a:srgbClr val="F7F3EA"/>
                          </a:solidFill>
                          <a:latin typeface="Arial" pitchFamily="34" charset="0"/>
                          <a:ea typeface="Arial" pitchFamily="34" charset="-122"/>
                          <a:cs typeface="Arial" pitchFamily="34" charset="-120"/>
                        </a:rPr>
                        <a:t>₹18,000</a:t>
                      </a:r>
                      <a:endParaRPr lang="en-US" sz="95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280"/>
                        </a:lnSpc>
                        <a:buNone/>
                      </a:pPr>
                      <a:r>
                        <a:rPr lang="en-US" sz="950" dirty="0">
                          <a:solidFill>
                            <a:srgbClr val="F7F3EA"/>
                          </a:solidFill>
                          <a:latin typeface="Arial" pitchFamily="34" charset="0"/>
                          <a:ea typeface="Arial" pitchFamily="34" charset="-122"/>
                          <a:cs typeface="Arial" pitchFamily="34" charset="-120"/>
                        </a:rPr>
                        <a:t>1,000</a:t>
                      </a:r>
                      <a:endParaRPr lang="en-US" sz="95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280"/>
                        </a:lnSpc>
                        <a:buNone/>
                      </a:pPr>
                      <a:r>
                        <a:rPr lang="en-US" sz="950" dirty="0">
                          <a:solidFill>
                            <a:srgbClr val="F7F3EA"/>
                          </a:solidFill>
                          <a:latin typeface="Arial" pitchFamily="34" charset="0"/>
                          <a:ea typeface="Arial" pitchFamily="34" charset="-122"/>
                          <a:cs typeface="Arial" pitchFamily="34" charset="-120"/>
                        </a:rPr>
                        <a:t>38</a:t>
                      </a:r>
                      <a:endParaRPr lang="en-US" sz="95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tc>
                  <a:txBody>
                    <a:bodyPr/>
                    <a:lstStyle/>
                    <a:p>
                      <a:pPr marL="0" indent="0">
                        <a:lnSpc>
                          <a:spcPts val="1280"/>
                        </a:lnSpc>
                        <a:buNone/>
                      </a:pPr>
                      <a:r>
                        <a:rPr lang="en-US" sz="950" dirty="0">
                          <a:solidFill>
                            <a:srgbClr val="F7F3EA"/>
                          </a:solidFill>
                          <a:latin typeface="Arial" pitchFamily="34" charset="0"/>
                          <a:ea typeface="Arial" pitchFamily="34" charset="-122"/>
                          <a:cs typeface="Arial" pitchFamily="34" charset="-120"/>
                        </a:rPr>
                        <a:t>₹480</a:t>
                      </a:r>
                      <a:endParaRPr lang="en-US" sz="95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tcPr>
                </a:tc>
                <a:extLst>
                  <a:ext uri="{0D108BD9-81ED-4DB2-BD59-A6C34878D82A}">
                    <a16:rowId xmlns:a16="http://schemas.microsoft.com/office/drawing/2014/main" val="10003"/>
                  </a:ext>
                </a:extLst>
              </a:tr>
              <a:tr h="300000">
                <a:tc>
                  <a:txBody>
                    <a:bodyPr/>
                    <a:lstStyle/>
                    <a:p>
                      <a:pPr marL="0" indent="0">
                        <a:lnSpc>
                          <a:spcPts val="1280"/>
                        </a:lnSpc>
                        <a:buNone/>
                      </a:pPr>
                      <a:r>
                        <a:rPr lang="en-US" sz="950" b="1" dirty="0">
                          <a:solidFill>
                            <a:srgbClr val="F7F3EA"/>
                          </a:solidFill>
                          <a:latin typeface="Arial" pitchFamily="34" charset="0"/>
                          <a:ea typeface="Arial" pitchFamily="34" charset="-122"/>
                          <a:cs typeface="Arial" pitchFamily="34" charset="-120"/>
                        </a:rPr>
                        <a:t>Total</a:t>
                      </a:r>
                      <a:endParaRPr lang="en-US" sz="95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solidFill>
                      <a:srgbClr val="3A342A"/>
                    </a:solidFill>
                  </a:tcPr>
                </a:tc>
                <a:tc>
                  <a:txBody>
                    <a:bodyPr/>
                    <a:lstStyle/>
                    <a:p>
                      <a:pPr marL="0" indent="0">
                        <a:lnSpc>
                          <a:spcPts val="1280"/>
                        </a:lnSpc>
                        <a:buNone/>
                      </a:pPr>
                      <a:endParaRPr lang="en-US" sz="95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solidFill>
                      <a:srgbClr val="3A342A"/>
                    </a:solidFill>
                  </a:tcPr>
                </a:tc>
                <a:tc>
                  <a:txBody>
                    <a:bodyPr/>
                    <a:lstStyle/>
                    <a:p>
                      <a:pPr marL="0" indent="0">
                        <a:lnSpc>
                          <a:spcPts val="1280"/>
                        </a:lnSpc>
                        <a:buNone/>
                      </a:pPr>
                      <a:r>
                        <a:rPr lang="en-US" sz="950" b="1" dirty="0">
                          <a:solidFill>
                            <a:srgbClr val="F7F3EA"/>
                          </a:solidFill>
                          <a:latin typeface="Arial" pitchFamily="34" charset="0"/>
                          <a:ea typeface="Arial" pitchFamily="34" charset="-122"/>
                          <a:cs typeface="Arial" pitchFamily="34" charset="-120"/>
                        </a:rPr>
                        <a:t>₹90,000</a:t>
                      </a:r>
                      <a:endParaRPr lang="en-US" sz="95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solidFill>
                      <a:srgbClr val="3A342A"/>
                    </a:solidFill>
                  </a:tcPr>
                </a:tc>
                <a:tc>
                  <a:txBody>
                    <a:bodyPr/>
                    <a:lstStyle/>
                    <a:p>
                      <a:pPr marL="0" indent="0">
                        <a:lnSpc>
                          <a:spcPts val="1280"/>
                        </a:lnSpc>
                        <a:buNone/>
                      </a:pPr>
                      <a:r>
                        <a:rPr lang="en-US" sz="950" b="1" dirty="0">
                          <a:solidFill>
                            <a:srgbClr val="F7F3EA"/>
                          </a:solidFill>
                          <a:latin typeface="Arial" pitchFamily="34" charset="0"/>
                          <a:ea typeface="Arial" pitchFamily="34" charset="-122"/>
                          <a:cs typeface="Arial" pitchFamily="34" charset="-120"/>
                        </a:rPr>
                        <a:t>6,429</a:t>
                      </a:r>
                      <a:endParaRPr lang="en-US" sz="95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solidFill>
                      <a:srgbClr val="3A342A"/>
                    </a:solidFill>
                  </a:tcPr>
                </a:tc>
                <a:tc>
                  <a:txBody>
                    <a:bodyPr/>
                    <a:lstStyle/>
                    <a:p>
                      <a:pPr marL="0" indent="0">
                        <a:lnSpc>
                          <a:spcPts val="1280"/>
                        </a:lnSpc>
                        <a:buNone/>
                      </a:pPr>
                      <a:r>
                        <a:rPr lang="en-US" sz="950" b="1" dirty="0">
                          <a:solidFill>
                            <a:srgbClr val="F7F3EA"/>
                          </a:solidFill>
                          <a:latin typeface="Arial" pitchFamily="34" charset="0"/>
                          <a:ea typeface="Arial" pitchFamily="34" charset="-122"/>
                          <a:cs typeface="Arial" pitchFamily="34" charset="-120"/>
                        </a:rPr>
                        <a:t>161</a:t>
                      </a:r>
                      <a:endParaRPr lang="en-US" sz="95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solidFill>
                      <a:srgbClr val="3A342A"/>
                    </a:solidFill>
                  </a:tcPr>
                </a:tc>
                <a:tc>
                  <a:txBody>
                    <a:bodyPr/>
                    <a:lstStyle/>
                    <a:p>
                      <a:pPr marL="0" indent="0">
                        <a:lnSpc>
                          <a:spcPts val="1280"/>
                        </a:lnSpc>
                        <a:buNone/>
                      </a:pPr>
                      <a:r>
                        <a:rPr lang="en-US" sz="950" b="1" dirty="0">
                          <a:solidFill>
                            <a:srgbClr val="F7F3EA"/>
                          </a:solidFill>
                          <a:latin typeface="Arial" pitchFamily="34" charset="0"/>
                          <a:ea typeface="Arial" pitchFamily="34" charset="-122"/>
                          <a:cs typeface="Arial" pitchFamily="34" charset="-120"/>
                        </a:rPr>
                        <a:t>₹560</a:t>
                      </a:r>
                      <a:endParaRPr lang="en-US" sz="950" dirty="0">
                        <a:latin typeface="Arial" charset="0"/>
                        <a:ea typeface="Arial" charset="0"/>
                        <a:cs typeface="Arial" charset="0"/>
                      </a:endParaRPr>
                    </a:p>
                  </a:txBody>
                  <a:tcPr marL="51965" marR="51965" marT="51965" marB="51965">
                    <a:lnL w="12700" cap="flat" cmpd="sng" algn="ctr">
                      <a:solidFill>
                        <a:srgbClr val="494642"/>
                      </a:solidFill>
                      <a:prstDash val="solid"/>
                      <a:round/>
                      <a:headEnd type="none" w="med" len="med"/>
                      <a:tailEnd type="none" w="med" len="med"/>
                    </a:lnL>
                    <a:lnR w="12700" cap="flat" cmpd="sng" algn="ctr">
                      <a:solidFill>
                        <a:srgbClr val="494642"/>
                      </a:solidFill>
                      <a:prstDash val="solid"/>
                      <a:round/>
                      <a:headEnd type="none" w="med" len="med"/>
                      <a:tailEnd type="none" w="med" len="med"/>
                    </a:lnR>
                    <a:lnT w="12700" cap="flat" cmpd="sng" algn="ctr">
                      <a:solidFill>
                        <a:srgbClr val="494642"/>
                      </a:solidFill>
                      <a:prstDash val="solid"/>
                      <a:round/>
                      <a:headEnd type="none" w="med" len="med"/>
                      <a:tailEnd type="none" w="med" len="med"/>
                    </a:lnT>
                    <a:lnB w="12700" cap="flat" cmpd="sng" algn="ctr">
                      <a:solidFill>
                        <a:srgbClr val="494642"/>
                      </a:solidFill>
                      <a:prstDash val="solid"/>
                      <a:round/>
                      <a:headEnd type="none" w="med" len="med"/>
                      <a:tailEnd type="none" w="med" len="med"/>
                    </a:lnB>
                    <a:solidFill>
                      <a:srgbClr val="3A342A"/>
                    </a:solidFill>
                  </a:tcPr>
                </a:tc>
                <a:extLst>
                  <a:ext uri="{0D108BD9-81ED-4DB2-BD59-A6C34878D82A}">
                    <a16:rowId xmlns:a16="http://schemas.microsoft.com/office/drawing/2014/main" val="10004"/>
                  </a:ext>
                </a:extLst>
              </a:tr>
            </a:tbl>
          </a:graphicData>
        </a:graphic>
      </p:graphicFrame>
      <p:sp>
        <p:nvSpPr>
          <p:cNvPr id="4" name="Text 1"/>
          <p:cNvSpPr/>
          <p:nvPr/>
        </p:nvSpPr>
        <p:spPr>
          <a:xfrm>
            <a:off x="812800" y="5760000"/>
            <a:ext cx="10333990" cy="430000"/>
          </a:xfrm>
          <a:prstGeom prst="rect">
            <a:avLst/>
          </a:prstGeom>
          <a:noFill/>
          <a:ln/>
        </p:spPr>
        <p:txBody>
          <a:bodyPr wrap="square" lIns="0" tIns="0" rIns="0" bIns="0" rtlCol="0" anchor="t">
            <a:normAutofit fontScale="85000" lnSpcReduction="10000"/>
          </a:bodyPr>
          <a:lstStyle/>
          <a:p>
            <a:pPr marL="0" indent="0" algn="l">
              <a:lnSpc>
                <a:spcPts val="1856"/>
              </a:lnSpc>
              <a:buNone/>
            </a:pPr>
            <a:r>
              <a:rPr lang="en-US" sz="1280" dirty="0">
                <a:solidFill>
                  <a:srgbClr val="A79C89"/>
                </a:solidFill>
                <a:latin typeface="Arial" pitchFamily="34" charset="0"/>
                <a:ea typeface="Arial" pitchFamily="34" charset="-122"/>
                <a:cs typeface="Arial" pitchFamily="34" charset="-120"/>
              </a:rPr>
              <a:t>Each product is bought separately, at both stages of the funnel, against its own audience — which is what makes the reporting in the next section possible.</a:t>
            </a:r>
            <a:endParaRPr lang="en-US" sz="1280" dirty="0"/>
          </a:p>
        </p:txBody>
      </p:sp>
      <p:sp>
        <p:nvSpPr>
          <p:cNvPr id="5" name="Text 2"/>
          <p:cNvSpPr/>
          <p:nvPr/>
        </p:nvSpPr>
        <p:spPr>
          <a:xfrm>
            <a:off x="812800" y="6238255"/>
            <a:ext cx="1033399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071"/>
                </a:solidFill>
                <a:latin typeface="Arial" pitchFamily="34" charset="0"/>
                <a:ea typeface="Arial" pitchFamily="34" charset="-122"/>
                <a:cs typeface="Arial" pitchFamily="34" charset="-120"/>
              </a:rPr>
              <a:t>Media plan supplied by Alttred Nexxus. Lead and enquiry counts are the plan’s own targets, not a guarantee. Awareness carries no lead target by design.</a:t>
            </a:r>
            <a:endParaRPr lang="en-US" sz="12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4">
    <p:bg>
      <p:bgPr>
        <a:solidFill>
          <a:srgbClr val="17140F"/>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494903"/>
          </a:xfrm>
          <a:prstGeom prst="rect">
            <a:avLst/>
          </a:prstGeom>
          <a:noFill/>
          <a:ln/>
        </p:spPr>
        <p:txBody>
          <a:bodyPr wrap="square" lIns="0" tIns="0" rIns="0" bIns="0" rtlCol="0" anchor="t">
            <a:normAutofit/>
          </a:bodyPr>
          <a:lstStyle/>
          <a:p>
            <a:pPr marL="0" indent="0" algn="l">
              <a:lnSpc>
                <a:spcPts val="3714"/>
              </a:lnSpc>
              <a:buNone/>
            </a:pPr>
            <a:r>
              <a:rPr lang="en-US" sz="3538" dirty="0">
                <a:solidFill>
                  <a:srgbClr val="C9A63C"/>
                </a:solidFill>
                <a:latin typeface="Georgia" pitchFamily="34" charset="0"/>
                <a:ea typeface="Georgia" pitchFamily="34" charset="-122"/>
                <a:cs typeface="Georgia" pitchFamily="34" charset="-120"/>
              </a:rPr>
              <a:t>Ninety days</a:t>
            </a:r>
            <a:endParaRPr lang="en-US" sz="3538" dirty="0"/>
          </a:p>
        </p:txBody>
      </p:sp>
      <p:sp>
        <p:nvSpPr>
          <p:cNvPr id="3" name="Shape 1"/>
          <p:cNvSpPr/>
          <p:nvPr/>
        </p:nvSpPr>
        <p:spPr>
          <a:xfrm>
            <a:off x="815975" y="1412478"/>
            <a:ext cx="3417570" cy="3468291"/>
          </a:xfrm>
          <a:prstGeom prst="roundRect">
            <a:avLst>
              <a:gd name="adj" fmla="val 2880"/>
            </a:avLst>
          </a:prstGeom>
          <a:solidFill>
            <a:srgbClr val="221E18"/>
          </a:solidFill>
          <a:ln w="6350">
            <a:solidFill>
              <a:srgbClr val="3A342A"/>
            </a:solidFill>
            <a:prstDash val="solid"/>
          </a:ln>
        </p:spPr>
      </p:sp>
      <p:sp>
        <p:nvSpPr>
          <p:cNvPr id="4" name="Text 2"/>
          <p:cNvSpPr/>
          <p:nvPr/>
        </p:nvSpPr>
        <p:spPr>
          <a:xfrm>
            <a:off x="1071880" y="1668413"/>
            <a:ext cx="2992933"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9A63C"/>
                </a:solidFill>
                <a:latin typeface="Arial" pitchFamily="34" charset="0"/>
                <a:ea typeface="Arial" pitchFamily="34" charset="-122"/>
                <a:cs typeface="Arial" pitchFamily="34" charset="-120"/>
              </a:rPr>
              <a:t>Days 1–30 · Fix</a:t>
            </a:r>
            <a:endParaRPr lang="en-US" sz="1300" dirty="0"/>
          </a:p>
        </p:txBody>
      </p:sp>
      <p:sp>
        <p:nvSpPr>
          <p:cNvPr id="5" name="Text 3"/>
          <p:cNvSpPr/>
          <p:nvPr/>
        </p:nvSpPr>
        <p:spPr>
          <a:xfrm>
            <a:off x="1071880" y="2001143"/>
            <a:ext cx="2992933"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F7F3EA"/>
                </a:solidFill>
                <a:latin typeface="Arial" pitchFamily="34" charset="0"/>
                <a:ea typeface="Arial" pitchFamily="34" charset="-122"/>
                <a:cs typeface="Arial" pitchFamily="34" charset="-120"/>
              </a:rPr>
              <a:t>Make the numbers real</a:t>
            </a:r>
            <a:endParaRPr lang="en-US" sz="1700" dirty="0"/>
          </a:p>
        </p:txBody>
      </p:sp>
      <p:sp>
        <p:nvSpPr>
          <p:cNvPr id="6" name="Text 4"/>
          <p:cNvSpPr/>
          <p:nvPr/>
        </p:nvSpPr>
        <p:spPr>
          <a:xfrm>
            <a:off x="1071880" y="2361803"/>
            <a:ext cx="2992933" cy="2520000"/>
          </a:xfrm>
          <a:prstGeom prst="rect">
            <a:avLst/>
          </a:prstGeom>
          <a:noFill/>
          <a:ln/>
        </p:spPr>
        <p:txBody>
          <a:bodyPr wrap="square" lIns="0" tIns="0" rIns="0" bIns="0" rtlCol="0" anchor="t">
            <a:noAutofit/>
          </a:bodyPr>
          <a:lstStyle/>
          <a:p>
            <a:pPr marL="198120" indent="-155956" algn="l">
              <a:lnSpc>
                <a:spcPts val="1610"/>
              </a:lnSpc>
              <a:buSzPct val="100000"/>
              <a:buChar char="•"/>
            </a:pPr>
            <a:r>
              <a:rPr lang="en-US" sz="1100" dirty="0">
                <a:solidFill>
                  <a:srgbClr val="A79C89"/>
                </a:solidFill>
                <a:latin typeface="Arial" pitchFamily="34" charset="0"/>
                <a:ea typeface="Arial" pitchFamily="34" charset="-122"/>
                <a:cs typeface="Arial" pitchFamily="34" charset="-120"/>
              </a:rPr>
              <a:t>One pixel, one dataset</a:t>
            </a:r>
            <a:endParaRPr lang="en-US" sz="1100" dirty="0"/>
          </a:p>
          <a:p>
            <a:pPr marL="198120" indent="-155956" algn="l">
              <a:lnSpc>
                <a:spcPts val="1610"/>
              </a:lnSpc>
              <a:buSzPct val="100000"/>
              <a:buChar char="•"/>
            </a:pPr>
            <a:r>
              <a:rPr lang="en-US" sz="1100" dirty="0">
                <a:solidFill>
                  <a:srgbClr val="A79C89"/>
                </a:solidFill>
                <a:latin typeface="Arial" pitchFamily="34" charset="0"/>
                <a:ea typeface="Arial" pitchFamily="34" charset="-122"/>
                <a:cs typeface="Arial" pitchFamily="34" charset="-120"/>
              </a:rPr>
              <a:t>Day-out page loading</a:t>
            </a:r>
            <a:endParaRPr lang="en-US" sz="1100" dirty="0"/>
          </a:p>
          <a:p>
            <a:pPr marL="198120" indent="-155956" algn="l">
              <a:lnSpc>
                <a:spcPts val="1610"/>
              </a:lnSpc>
              <a:buSzPct val="100000"/>
              <a:buChar char="•"/>
            </a:pPr>
            <a:r>
              <a:rPr lang="en-US" sz="1100" dirty="0">
                <a:solidFill>
                  <a:srgbClr val="A79C89"/>
                </a:solidFill>
                <a:latin typeface="Arial" pitchFamily="34" charset="0"/>
                <a:ea typeface="Arial" pitchFamily="34" charset="-122"/>
                <a:cs typeface="Arial" pitchFamily="34" charset="-120"/>
              </a:rPr>
              <a:t>Day-out and rooms on separate URLs</a:t>
            </a:r>
            <a:endParaRPr lang="en-US" sz="1100" dirty="0"/>
          </a:p>
          <a:p>
            <a:pPr marL="198120" indent="-155956" algn="l">
              <a:lnSpc>
                <a:spcPts val="1610"/>
              </a:lnSpc>
              <a:buSzPct val="100000"/>
              <a:buChar char="•"/>
            </a:pPr>
            <a:r>
              <a:rPr lang="en-US" sz="1100" dirty="0">
                <a:solidFill>
                  <a:srgbClr val="A79C89"/>
                </a:solidFill>
                <a:latin typeface="Arial" pitchFamily="34" charset="0"/>
                <a:ea typeface="Arial" pitchFamily="34" charset="-122"/>
                <a:cs typeface="Arial" pitchFamily="34" charset="-120"/>
              </a:rPr>
              <a:t>Separate Meta ad account</a:t>
            </a:r>
            <a:endParaRPr lang="en-US" sz="1100" dirty="0"/>
          </a:p>
          <a:p>
            <a:pPr marL="198120" indent="-155956" algn="l">
              <a:lnSpc>
                <a:spcPts val="1610"/>
              </a:lnSpc>
              <a:buSzPct val="100000"/>
              <a:buChar char="•"/>
            </a:pPr>
            <a:r>
              <a:rPr lang="en-US" sz="1100" dirty="0">
                <a:solidFill>
                  <a:srgbClr val="A79C89"/>
                </a:solidFill>
                <a:latin typeface="Arial" pitchFamily="34" charset="0"/>
                <a:ea typeface="Arial" pitchFamily="34" charset="-122"/>
                <a:cs typeface="Arial" pitchFamily="34" charset="-120"/>
              </a:rPr>
              <a:t>Google conversion actions rebuilt</a:t>
            </a:r>
            <a:endParaRPr lang="en-US" sz="1100" dirty="0"/>
          </a:p>
          <a:p>
            <a:pPr marL="198120" indent="-155956" algn="l">
              <a:lnSpc>
                <a:spcPts val="1610"/>
              </a:lnSpc>
              <a:buSzPct val="100000"/>
              <a:buChar char="•"/>
            </a:pPr>
            <a:r>
              <a:rPr lang="en-US" sz="1100" dirty="0">
                <a:solidFill>
                  <a:srgbClr val="A79C89"/>
                </a:solidFill>
                <a:latin typeface="Arial" pitchFamily="34" charset="0"/>
                <a:ea typeface="Arial" pitchFamily="34" charset="-122"/>
                <a:cs typeface="Arial" pitchFamily="34" charset="-120"/>
              </a:rPr>
              <a:t>CRM chosen, owner named, live</a:t>
            </a:r>
            <a:endParaRPr lang="en-US" sz="1100" dirty="0"/>
          </a:p>
          <a:p>
            <a:pPr marL="198120" indent="-155956" algn="l">
              <a:lnSpc>
                <a:spcPts val="1610"/>
              </a:lnSpc>
              <a:buSzPct val="100000"/>
              <a:buChar char="•"/>
            </a:pPr>
            <a:r>
              <a:rPr lang="en-US" sz="1100" dirty="0">
                <a:solidFill>
                  <a:srgbClr val="A79C89"/>
                </a:solidFill>
                <a:latin typeface="Arial" pitchFamily="34" charset="0"/>
                <a:ea typeface="Arial" pitchFamily="34" charset="-122"/>
                <a:cs typeface="Arial" pitchFamily="34" charset="-120"/>
              </a:rPr>
              <a:t>Zero-lead placements off</a:t>
            </a:r>
            <a:endParaRPr lang="en-US" sz="1100" dirty="0"/>
          </a:p>
          <a:p>
            <a:pPr marL="182642" indent="-142482" algn="l">
              <a:lnSpc>
                <a:spcPts val="1610"/>
              </a:lnSpc>
              <a:buSzPct val="100000"/>
              <a:buChar char="•"/>
            </a:pPr>
            <a:r>
              <a:rPr lang="en-US" sz="1100" dirty="0">
                <a:solidFill>
                  <a:srgbClr val="A79C89"/>
                </a:solidFill>
                <a:latin typeface="Arial" pitchFamily="34" charset="0"/>
                <a:ea typeface="Arial" pitchFamily="34" charset="-122"/>
                <a:cs typeface="Arial" pitchFamily="34" charset="-120"/>
              </a:rPr>
              <a:t>Booking embedded or cross-domain tracking in place</a:t>
            </a:r>
            <a:endParaRPr lang="en-US" sz="1100" dirty="0"/>
          </a:p>
          <a:p>
            <a:pPr marL="182642" indent="-142482" algn="l">
              <a:lnSpc>
                <a:spcPts val="1610"/>
              </a:lnSpc>
              <a:buSzPct val="100000"/>
              <a:buChar char="•"/>
            </a:pPr>
            <a:r>
              <a:rPr lang="en-US" sz="1100" dirty="0">
                <a:solidFill>
                  <a:srgbClr val="A79C89"/>
                </a:solidFill>
                <a:latin typeface="Arial" pitchFamily="34" charset="0"/>
                <a:ea typeface="Arial" pitchFamily="34" charset="-122"/>
                <a:cs typeface="Arial" pitchFamily="34" charset="-120"/>
              </a:rPr>
              <a:t>First landing page test running</a:t>
            </a:r>
            <a:endParaRPr lang="en-US" sz="1100" dirty="0"/>
          </a:p>
        </p:txBody>
      </p:sp>
      <p:sp>
        <p:nvSpPr>
          <p:cNvPr id="7" name="Shape 5"/>
          <p:cNvSpPr/>
          <p:nvPr/>
        </p:nvSpPr>
        <p:spPr>
          <a:xfrm>
            <a:off x="4392295" y="1412478"/>
            <a:ext cx="3417570" cy="3468291"/>
          </a:xfrm>
          <a:prstGeom prst="roundRect">
            <a:avLst>
              <a:gd name="adj" fmla="val 2880"/>
            </a:avLst>
          </a:prstGeom>
          <a:solidFill>
            <a:srgbClr val="221E18"/>
          </a:solidFill>
          <a:ln w="6350">
            <a:solidFill>
              <a:srgbClr val="3A342A"/>
            </a:solidFill>
            <a:prstDash val="solid"/>
          </a:ln>
        </p:spPr>
      </p:sp>
      <p:sp>
        <p:nvSpPr>
          <p:cNvPr id="8" name="Text 6"/>
          <p:cNvSpPr/>
          <p:nvPr/>
        </p:nvSpPr>
        <p:spPr>
          <a:xfrm>
            <a:off x="4648200" y="1668413"/>
            <a:ext cx="2992933" cy="222647"/>
          </a:xfrm>
          <a:prstGeom prst="rect">
            <a:avLst/>
          </a:prstGeom>
          <a:noFill/>
          <a:ln/>
        </p:spPr>
        <p:txBody>
          <a:bodyPr wrap="square" lIns="0" tIns="0" rIns="0" bIns="0" rtlCol="0" anchor="t">
            <a:normAutofit/>
          </a:bodyPr>
          <a:lstStyle/>
          <a:p>
            <a:pPr marL="0" indent="0" algn="l">
              <a:lnSpc>
                <a:spcPts val="1570"/>
              </a:lnSpc>
              <a:buNone/>
            </a:pPr>
            <a:r>
              <a:rPr lang="en-US" sz="1121" dirty="0">
                <a:solidFill>
                  <a:srgbClr val="C9A63C"/>
                </a:solidFill>
                <a:latin typeface="Arial" pitchFamily="34" charset="0"/>
                <a:ea typeface="Arial" pitchFamily="34" charset="-122"/>
                <a:cs typeface="Arial" pitchFamily="34" charset="-120"/>
              </a:rPr>
              <a:t>Days 31–60 · Build</a:t>
            </a:r>
            <a:endParaRPr lang="en-US" sz="1121" dirty="0"/>
          </a:p>
        </p:txBody>
      </p:sp>
      <p:sp>
        <p:nvSpPr>
          <p:cNvPr id="9" name="Text 7"/>
          <p:cNvSpPr/>
          <p:nvPr/>
        </p:nvSpPr>
        <p:spPr>
          <a:xfrm>
            <a:off x="4648200" y="1967260"/>
            <a:ext cx="2992933" cy="467678"/>
          </a:xfrm>
          <a:prstGeom prst="rect">
            <a:avLst/>
          </a:prstGeom>
          <a:noFill/>
          <a:ln/>
        </p:spPr>
        <p:txBody>
          <a:bodyPr wrap="square" lIns="0" tIns="0" rIns="0" bIns="0" rtlCol="0" anchor="t">
            <a:normAutofit/>
          </a:bodyPr>
          <a:lstStyle/>
          <a:p>
            <a:pPr marL="0" indent="0" algn="l">
              <a:lnSpc>
                <a:spcPts val="1760"/>
              </a:lnSpc>
              <a:buNone/>
            </a:pPr>
            <a:r>
              <a:rPr lang="en-US" sz="1466" b="1" dirty="0">
                <a:solidFill>
                  <a:srgbClr val="F7F3EA"/>
                </a:solidFill>
                <a:latin typeface="Arial" pitchFamily="34" charset="0"/>
                <a:ea typeface="Arial" pitchFamily="34" charset="-122"/>
                <a:cs typeface="Arial" pitchFamily="34" charset="-120"/>
              </a:rPr>
              <a:t>Point the money at the right people</a:t>
            </a:r>
            <a:endParaRPr lang="en-US" sz="1466" dirty="0"/>
          </a:p>
        </p:txBody>
      </p:sp>
      <p:sp>
        <p:nvSpPr>
          <p:cNvPr id="10" name="Text 8"/>
          <p:cNvSpPr/>
          <p:nvPr/>
        </p:nvSpPr>
        <p:spPr>
          <a:xfrm>
            <a:off x="4648200" y="2511127"/>
            <a:ext cx="2992933" cy="2139156"/>
          </a:xfrm>
          <a:prstGeom prst="rect">
            <a:avLst/>
          </a:prstGeom>
          <a:noFill/>
          <a:ln/>
        </p:spPr>
        <p:txBody>
          <a:bodyPr wrap="square" lIns="0" tIns="0" rIns="0" bIns="0" rtlCol="0" anchor="t">
            <a:normAutofit/>
          </a:bodyPr>
          <a:lstStyle/>
          <a:p>
            <a:pPr marL="182642" indent="-142482" algn="l">
              <a:lnSpc>
                <a:spcPts val="1798"/>
              </a:lnSpc>
              <a:buSzPct val="100000"/>
              <a:buChar char="•"/>
            </a:pPr>
            <a:r>
              <a:rPr lang="en-US" sz="1198" dirty="0">
                <a:solidFill>
                  <a:srgbClr val="A79C89"/>
                </a:solidFill>
                <a:latin typeface="Arial" pitchFamily="34" charset="0"/>
                <a:ea typeface="Arial" pitchFamily="34" charset="-122"/>
                <a:cs typeface="Arial" pitchFamily="34" charset="-120"/>
              </a:rPr>
              <a:t>Four landing pages live</a:t>
            </a:r>
            <a:endParaRPr lang="en-US" sz="1198" dirty="0"/>
          </a:p>
          <a:p>
            <a:pPr marL="182642" indent="-142482" algn="l">
              <a:lnSpc>
                <a:spcPts val="1798"/>
              </a:lnSpc>
              <a:buSzPct val="100000"/>
              <a:buChar char="•"/>
            </a:pPr>
            <a:r>
              <a:rPr lang="en-US" sz="1198" dirty="0">
                <a:solidFill>
                  <a:srgbClr val="A79C89"/>
                </a:solidFill>
                <a:latin typeface="Arial" pitchFamily="34" charset="0"/>
                <a:ea typeface="Arial" pitchFamily="34" charset="-122"/>
                <a:cs typeface="Arial" pitchFamily="34" charset="-120"/>
              </a:rPr>
              <a:t>Budget reweighted to women and Instagram</a:t>
            </a:r>
            <a:endParaRPr lang="en-US" sz="1198" dirty="0"/>
          </a:p>
          <a:p>
            <a:pPr marL="182642" indent="-142482" algn="l">
              <a:lnSpc>
                <a:spcPts val="1798"/>
              </a:lnSpc>
              <a:buSzPct val="100000"/>
              <a:buChar char="•"/>
            </a:pPr>
            <a:r>
              <a:rPr lang="en-US" sz="1198" dirty="0">
                <a:solidFill>
                  <a:srgbClr val="A79C89"/>
                </a:solidFill>
                <a:latin typeface="Arial" pitchFamily="34" charset="0"/>
                <a:ea typeface="Arial" pitchFamily="34" charset="-122"/>
                <a:cs typeface="Arial" pitchFamily="34" charset="-120"/>
              </a:rPr>
              <a:t>Feed budget into Reels and Stories</a:t>
            </a:r>
            <a:endParaRPr lang="en-US" sz="1198" dirty="0"/>
          </a:p>
          <a:p>
            <a:pPr marL="182642" indent="-142482" algn="l">
              <a:lnSpc>
                <a:spcPts val="1798"/>
              </a:lnSpc>
              <a:buSzPct val="100000"/>
              <a:buChar char="•"/>
            </a:pPr>
            <a:r>
              <a:rPr lang="en-US" sz="1198" dirty="0">
                <a:solidFill>
                  <a:srgbClr val="A79C89"/>
                </a:solidFill>
                <a:latin typeface="Arial" pitchFamily="34" charset="0"/>
                <a:ea typeface="Arial" pitchFamily="34" charset="-122"/>
                <a:cs typeface="Arial" pitchFamily="34" charset="-120"/>
              </a:rPr>
              <a:t>Corporate campaign and page launched</a:t>
            </a:r>
            <a:endParaRPr lang="en-US" sz="1198" dirty="0"/>
          </a:p>
          <a:p>
            <a:pPr marL="182642" indent="-142482" algn="l">
              <a:lnSpc>
                <a:spcPts val="1798"/>
              </a:lnSpc>
              <a:buSzPct val="100000"/>
              <a:buChar char="•"/>
            </a:pPr>
            <a:r>
              <a:rPr lang="en-US" sz="1198" dirty="0">
                <a:solidFill>
                  <a:srgbClr val="A79C89"/>
                </a:solidFill>
                <a:latin typeface="Arial" pitchFamily="34" charset="0"/>
                <a:ea typeface="Arial" pitchFamily="34" charset="-122"/>
                <a:cs typeface="Arial" pitchFamily="34" charset="-120"/>
              </a:rPr>
              <a:t>Creative cadence begins</a:t>
            </a:r>
            <a:endParaRPr lang="en-US" sz="1198" dirty="0"/>
          </a:p>
        </p:txBody>
      </p:sp>
      <p:sp>
        <p:nvSpPr>
          <p:cNvPr id="11" name="Shape 9"/>
          <p:cNvSpPr/>
          <p:nvPr/>
        </p:nvSpPr>
        <p:spPr>
          <a:xfrm>
            <a:off x="7965440" y="1409303"/>
            <a:ext cx="3413760" cy="3474641"/>
          </a:xfrm>
          <a:prstGeom prst="roundRect">
            <a:avLst>
              <a:gd name="adj" fmla="val 2976"/>
            </a:avLst>
          </a:prstGeom>
          <a:solidFill>
            <a:srgbClr val="C9A63C"/>
          </a:solidFill>
          <a:ln/>
        </p:spPr>
      </p:sp>
      <p:sp>
        <p:nvSpPr>
          <p:cNvPr id="12" name="Text 10"/>
          <p:cNvSpPr/>
          <p:nvPr/>
        </p:nvSpPr>
        <p:spPr>
          <a:xfrm>
            <a:off x="8219440" y="1663303"/>
            <a:ext cx="2992933" cy="239871"/>
          </a:xfrm>
          <a:prstGeom prst="rect">
            <a:avLst/>
          </a:prstGeom>
          <a:noFill/>
          <a:ln/>
        </p:spPr>
        <p:txBody>
          <a:bodyPr wrap="square" lIns="0" tIns="0" rIns="0" bIns="0" rtlCol="0" anchor="t">
            <a:normAutofit/>
          </a:bodyPr>
          <a:lstStyle/>
          <a:p>
            <a:pPr marL="0" indent="0" algn="l">
              <a:lnSpc>
                <a:spcPts val="1723"/>
              </a:lnSpc>
              <a:buNone/>
            </a:pPr>
            <a:r>
              <a:rPr lang="en-US" sz="1231" dirty="0">
                <a:solidFill>
                  <a:srgbClr val="3A342A"/>
                </a:solidFill>
                <a:latin typeface="Arial" pitchFamily="34" charset="0"/>
                <a:ea typeface="Arial" pitchFamily="34" charset="-122"/>
                <a:cs typeface="Arial" pitchFamily="34" charset="-120"/>
              </a:rPr>
              <a:t>Days 61–90 · Prove</a:t>
            </a:r>
            <a:endParaRPr lang="en-US" sz="1231" dirty="0"/>
          </a:p>
        </p:txBody>
      </p:sp>
      <p:sp>
        <p:nvSpPr>
          <p:cNvPr id="13" name="Text 11"/>
          <p:cNvSpPr/>
          <p:nvPr/>
        </p:nvSpPr>
        <p:spPr>
          <a:xfrm>
            <a:off x="8219440" y="1979364"/>
            <a:ext cx="2992933" cy="506174"/>
          </a:xfrm>
          <a:prstGeom prst="rect">
            <a:avLst/>
          </a:prstGeom>
          <a:noFill/>
          <a:ln/>
        </p:spPr>
        <p:txBody>
          <a:bodyPr wrap="square" lIns="0" tIns="0" rIns="0" bIns="0" rtlCol="0" anchor="t">
            <a:normAutofit/>
          </a:bodyPr>
          <a:lstStyle/>
          <a:p>
            <a:pPr marL="0" indent="0" algn="l">
              <a:lnSpc>
                <a:spcPts val="1906"/>
              </a:lnSpc>
              <a:buNone/>
            </a:pPr>
            <a:r>
              <a:rPr lang="en-US" sz="1588" b="1" dirty="0">
                <a:solidFill>
                  <a:srgbClr val="17140F"/>
                </a:solidFill>
                <a:latin typeface="Arial" pitchFamily="34" charset="0"/>
                <a:ea typeface="Arial" pitchFamily="34" charset="-122"/>
                <a:cs typeface="Arial" pitchFamily="34" charset="-120"/>
              </a:rPr>
              <a:t>Report on bookings, not clicks</a:t>
            </a:r>
            <a:endParaRPr lang="en-US" sz="1588" dirty="0"/>
          </a:p>
        </p:txBody>
      </p:sp>
      <p:sp>
        <p:nvSpPr>
          <p:cNvPr id="14" name="Text 12"/>
          <p:cNvSpPr/>
          <p:nvPr/>
        </p:nvSpPr>
        <p:spPr>
          <a:xfrm>
            <a:off x="8219440" y="2561779"/>
            <a:ext cx="2992933" cy="2093595"/>
          </a:xfrm>
          <a:prstGeom prst="rect">
            <a:avLst/>
          </a:prstGeom>
          <a:noFill/>
          <a:ln/>
        </p:spPr>
        <p:txBody>
          <a:bodyPr wrap="square" lIns="0" tIns="0" rIns="0" bIns="0" rtlCol="0" anchor="t">
            <a:normAutofit/>
          </a:bodyPr>
          <a:lstStyle/>
          <a:p>
            <a:pPr marL="188833" indent="-142792" algn="l">
              <a:lnSpc>
                <a:spcPts val="1859"/>
              </a:lnSpc>
              <a:buSzPct val="100000"/>
              <a:buChar char="•"/>
            </a:pPr>
            <a:r>
              <a:rPr lang="en-US" sz="1239" dirty="0">
                <a:solidFill>
                  <a:srgbClr val="3A342A"/>
                </a:solidFill>
                <a:latin typeface="Arial" pitchFamily="34" charset="0"/>
                <a:ea typeface="Arial" pitchFamily="34" charset="-122"/>
                <a:cs typeface="Arial" pitchFamily="34" charset="-120"/>
              </a:rPr>
              <a:t>First clean month of cost per booking</a:t>
            </a:r>
            <a:endParaRPr lang="en-US" sz="1239" dirty="0"/>
          </a:p>
          <a:p>
            <a:pPr marL="188833" indent="-142792" algn="l">
              <a:lnSpc>
                <a:spcPts val="1859"/>
              </a:lnSpc>
              <a:buSzPct val="100000"/>
              <a:buChar char="•"/>
            </a:pPr>
            <a:r>
              <a:rPr lang="en-US" sz="1239" dirty="0">
                <a:solidFill>
                  <a:srgbClr val="3A342A"/>
                </a:solidFill>
                <a:latin typeface="Arial" pitchFamily="34" charset="0"/>
                <a:ea typeface="Arial" pitchFamily="34" charset="-122"/>
                <a:cs typeface="Arial" pitchFamily="34" charset="-120"/>
              </a:rPr>
              <a:t>Weekday and weekend reported separately</a:t>
            </a:r>
            <a:endParaRPr lang="en-US" sz="1239" dirty="0"/>
          </a:p>
          <a:p>
            <a:pPr marL="188833" indent="-142792" algn="l">
              <a:lnSpc>
                <a:spcPts val="1859"/>
              </a:lnSpc>
              <a:buSzPct val="100000"/>
              <a:buChar char="•"/>
            </a:pPr>
            <a:r>
              <a:rPr lang="en-US" sz="1239" dirty="0">
                <a:solidFill>
                  <a:srgbClr val="3A342A"/>
                </a:solidFill>
                <a:latin typeface="Arial" pitchFamily="34" charset="0"/>
                <a:ea typeface="Arial" pitchFamily="34" charset="-122"/>
                <a:cs typeface="Arial" pitchFamily="34" charset="-120"/>
              </a:rPr>
              <a:t>MQL, SQL and booked rates baselined</a:t>
            </a:r>
            <a:endParaRPr lang="en-US" sz="1239" dirty="0"/>
          </a:p>
          <a:p>
            <a:pPr marL="188833" indent="-142792" algn="l">
              <a:lnSpc>
                <a:spcPts val="1859"/>
              </a:lnSpc>
              <a:buSzPct val="100000"/>
              <a:buChar char="•"/>
            </a:pPr>
            <a:r>
              <a:rPr lang="en-US" sz="1239" dirty="0">
                <a:solidFill>
                  <a:srgbClr val="3A342A"/>
                </a:solidFill>
                <a:latin typeface="Arial" pitchFamily="34" charset="0"/>
                <a:ea typeface="Arial" pitchFamily="34" charset="-122"/>
                <a:cs typeface="Arial" pitchFamily="34" charset="-120"/>
              </a:rPr>
              <a:t>Weekday offers live and measured</a:t>
            </a:r>
            <a:endParaRPr lang="en-US" sz="1239" dirty="0"/>
          </a:p>
          <a:p>
            <a:pPr marL="188833" indent="-142792" algn="l">
              <a:lnSpc>
                <a:spcPts val="1859"/>
              </a:lnSpc>
              <a:buSzPct val="100000"/>
              <a:buChar char="•"/>
            </a:pPr>
            <a:r>
              <a:rPr lang="en-US" sz="1239" dirty="0">
                <a:solidFill>
                  <a:srgbClr val="3A342A"/>
                </a:solidFill>
                <a:latin typeface="Arial" pitchFamily="34" charset="0"/>
                <a:ea typeface="Arial" pitchFamily="34" charset="-122"/>
                <a:cs typeface="Arial" pitchFamily="34" charset="-120"/>
              </a:rPr>
              <a:t>Brand territory agreed and applied</a:t>
            </a:r>
            <a:endParaRPr lang="en-US" sz="1239" dirty="0"/>
          </a:p>
          <a:p>
            <a:pPr marL="188833" indent="-142792" algn="l">
              <a:lnSpc>
                <a:spcPts val="1859"/>
              </a:lnSpc>
              <a:buSzPct val="100000"/>
              <a:buChar char="•"/>
            </a:pPr>
            <a:r>
              <a:rPr lang="en-US" sz="1239" dirty="0">
                <a:solidFill>
                  <a:srgbClr val="3A342A"/>
                </a:solidFill>
                <a:latin typeface="Arial" pitchFamily="34" charset="0"/>
                <a:ea typeface="Arial" pitchFamily="34" charset="-122"/>
                <a:cs typeface="Arial" pitchFamily="34" charset="-120"/>
              </a:rPr>
              <a:t>Spend reduction target set on real data</a:t>
            </a:r>
            <a:endParaRPr lang="en-US" sz="1239" dirty="0"/>
          </a:p>
        </p:txBody>
      </p:sp>
      <p:sp>
        <p:nvSpPr>
          <p:cNvPr id="15" name="Text 13"/>
          <p:cNvSpPr/>
          <p:nvPr/>
        </p:nvSpPr>
        <p:spPr>
          <a:xfrm>
            <a:off x="812800" y="5112544"/>
            <a:ext cx="10333990" cy="754856"/>
          </a:xfrm>
          <a:prstGeom prst="rect">
            <a:avLst/>
          </a:prstGeom>
          <a:noFill/>
          <a:ln/>
        </p:spPr>
        <p:txBody>
          <a:bodyPr wrap="square" lIns="0" tIns="0" rIns="0" bIns="0" rtlCol="0" anchor="t">
            <a:normAutofit/>
          </a:bodyPr>
          <a:lstStyle/>
          <a:p>
            <a:pPr marL="0" indent="0" algn="l">
              <a:lnSpc>
                <a:spcPts val="2148"/>
              </a:lnSpc>
              <a:buNone/>
            </a:pPr>
            <a:r>
              <a:rPr lang="en-US" sz="1481" dirty="0">
                <a:solidFill>
                  <a:srgbClr val="A79C89"/>
                </a:solidFill>
                <a:latin typeface="Arial" pitchFamily="34" charset="0"/>
                <a:ea typeface="Arial" pitchFamily="34" charset="-122"/>
                <a:cs typeface="Arial" pitchFamily="34" charset="-120"/>
              </a:rPr>
              <a:t>We will not promise a spend reduction percentage on day one. We will commit to a target at day 60, once one month of clean data exists. Quoting a number now would be guessing, and this client has had enough numbers that were not real.</a:t>
            </a:r>
            <a:endParaRPr lang="en-US" sz="1481" dirty="0"/>
          </a:p>
        </p:txBody>
      </p:sp>
      <p:sp>
        <p:nvSpPr>
          <p:cNvPr id="16" name="Text 14"/>
          <p:cNvSpPr/>
          <p:nvPr/>
        </p:nvSpPr>
        <p:spPr>
          <a:xfrm>
            <a:off x="812800" y="6238230"/>
            <a:ext cx="647452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071"/>
                </a:solidFill>
                <a:latin typeface="Arial" pitchFamily="34" charset="0"/>
                <a:ea typeface="Arial" pitchFamily="34" charset="-122"/>
                <a:cs typeface="Arial" pitchFamily="34" charset="-120"/>
              </a:rPr>
              <a:t>Days 1–30 depend on client-side actions listed earlier. Slippage there moves everything right.</a:t>
            </a:r>
            <a:endParaRPr lang="en-US" sz="12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65">
    <p:bg>
      <p:bgPr>
        <a:solidFill>
          <a:srgbClr val="F7F3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956786"/>
          </a:xfrm>
          <a:prstGeom prst="rect">
            <a:avLst/>
          </a:prstGeom>
          <a:noFill/>
          <a:ln/>
        </p:spPr>
        <p:txBody>
          <a:bodyPr wrap="square" lIns="0" tIns="0" rIns="0" bIns="0" rtlCol="0" anchor="t">
            <a:normAutofit/>
          </a:bodyPr>
          <a:lstStyle/>
          <a:p>
            <a:pPr marL="0" indent="0" algn="l">
              <a:lnSpc>
                <a:spcPts val="3682"/>
              </a:lnSpc>
              <a:buNone/>
            </a:pPr>
            <a:r>
              <a:rPr lang="en-US" sz="3506" dirty="0">
                <a:solidFill>
                  <a:srgbClr val="17140F"/>
                </a:solidFill>
                <a:latin typeface="Georgia" pitchFamily="34" charset="0"/>
                <a:ea typeface="Georgia" pitchFamily="34" charset="-122"/>
                <a:cs typeface="Georgia" pitchFamily="34" charset="-120"/>
              </a:rPr>
              <a:t>What we would report, and what we would stop reporting</a:t>
            </a:r>
            <a:endParaRPr lang="en-US" sz="3506" dirty="0"/>
          </a:p>
        </p:txBody>
      </p:sp>
      <p:sp>
        <p:nvSpPr>
          <p:cNvPr id="3" name="Shape 1"/>
          <p:cNvSpPr/>
          <p:nvPr/>
        </p:nvSpPr>
        <p:spPr>
          <a:xfrm>
            <a:off x="812800" y="1998216"/>
            <a:ext cx="5151120" cy="2380218"/>
          </a:xfrm>
          <a:prstGeom prst="roundRect">
            <a:avLst>
              <a:gd name="adj" fmla="val 4269"/>
            </a:avLst>
          </a:prstGeom>
          <a:solidFill>
            <a:srgbClr val="17140F"/>
          </a:solidFill>
          <a:ln/>
        </p:spPr>
      </p:sp>
      <p:sp>
        <p:nvSpPr>
          <p:cNvPr id="4" name="Text 2"/>
          <p:cNvSpPr/>
          <p:nvPr/>
        </p:nvSpPr>
        <p:spPr>
          <a:xfrm>
            <a:off x="1117600" y="2303016"/>
            <a:ext cx="4677766" cy="236696"/>
          </a:xfrm>
          <a:prstGeom prst="rect">
            <a:avLst/>
          </a:prstGeom>
          <a:noFill/>
          <a:ln/>
        </p:spPr>
        <p:txBody>
          <a:bodyPr wrap="square" lIns="0" tIns="0" rIns="0" bIns="0" rtlCol="0" anchor="t">
            <a:normAutofit/>
          </a:bodyPr>
          <a:lstStyle/>
          <a:p>
            <a:pPr marL="0" indent="0" algn="l">
              <a:lnSpc>
                <a:spcPts val="1674"/>
              </a:lnSpc>
              <a:buNone/>
            </a:pPr>
            <a:r>
              <a:rPr lang="en-US" sz="1395" b="1" dirty="0">
                <a:solidFill>
                  <a:srgbClr val="C9A63C"/>
                </a:solidFill>
                <a:latin typeface="Arial" pitchFamily="34" charset="0"/>
                <a:ea typeface="Arial" pitchFamily="34" charset="-122"/>
                <a:cs typeface="Arial" pitchFamily="34" charset="-120"/>
              </a:rPr>
              <a:t>Report from month one</a:t>
            </a:r>
            <a:endParaRPr lang="en-US" sz="1395" dirty="0"/>
          </a:p>
        </p:txBody>
      </p:sp>
      <p:sp>
        <p:nvSpPr>
          <p:cNvPr id="5" name="Text 3"/>
          <p:cNvSpPr/>
          <p:nvPr/>
        </p:nvSpPr>
        <p:spPr>
          <a:xfrm>
            <a:off x="1117600" y="2615902"/>
            <a:ext cx="4677766" cy="1483122"/>
          </a:xfrm>
          <a:prstGeom prst="rect">
            <a:avLst/>
          </a:prstGeom>
          <a:noFill/>
          <a:ln/>
        </p:spPr>
        <p:txBody>
          <a:bodyPr wrap="square" lIns="0" tIns="0" rIns="0" bIns="0" rtlCol="0" anchor="t">
            <a:normAutofit/>
          </a:bodyPr>
          <a:lstStyle/>
          <a:p>
            <a:pPr marL="161592" indent="-128730" algn="l">
              <a:lnSpc>
                <a:spcPts val="1643"/>
              </a:lnSpc>
              <a:buSzPct val="100000"/>
              <a:buChar char="•"/>
            </a:pPr>
            <a:r>
              <a:rPr lang="en-US" sz="1060" dirty="0">
                <a:solidFill>
                  <a:srgbClr val="A79C89"/>
                </a:solidFill>
                <a:latin typeface="Arial" pitchFamily="34" charset="0"/>
                <a:ea typeface="Arial" pitchFamily="34" charset="-122"/>
                <a:cs typeface="Arial" pitchFamily="34" charset="-120"/>
              </a:rPr>
              <a:t>Cost per booking, by product</a:t>
            </a:r>
            <a:endParaRPr lang="en-US" sz="1060" dirty="0"/>
          </a:p>
          <a:p>
            <a:pPr marL="161592" indent="-128730" algn="l">
              <a:lnSpc>
                <a:spcPts val="1643"/>
              </a:lnSpc>
              <a:buSzPct val="100000"/>
              <a:buChar char="•"/>
            </a:pPr>
            <a:r>
              <a:rPr lang="en-US" sz="1060" dirty="0">
                <a:solidFill>
                  <a:srgbClr val="A79C89"/>
                </a:solidFill>
                <a:latin typeface="Arial" pitchFamily="34" charset="0"/>
                <a:ea typeface="Arial" pitchFamily="34" charset="-122"/>
                <a:cs typeface="Arial" pitchFamily="34" charset="-120"/>
              </a:rPr>
              <a:t>Cost per MQL and per SQL</a:t>
            </a:r>
            <a:endParaRPr lang="en-US" sz="1060" dirty="0"/>
          </a:p>
          <a:p>
            <a:pPr marL="161592" indent="-128730" algn="l">
              <a:lnSpc>
                <a:spcPts val="1643"/>
              </a:lnSpc>
              <a:buSzPct val="100000"/>
              <a:buChar char="•"/>
            </a:pPr>
            <a:r>
              <a:rPr lang="en-US" sz="1060" dirty="0">
                <a:solidFill>
                  <a:srgbClr val="A79C89"/>
                </a:solidFill>
                <a:latin typeface="Arial" pitchFamily="34" charset="0"/>
                <a:ea typeface="Arial" pitchFamily="34" charset="-122"/>
                <a:cs typeface="Arial" pitchFamily="34" charset="-120"/>
              </a:rPr>
              <a:t>Qualified lead rate out of total leads</a:t>
            </a:r>
            <a:endParaRPr lang="en-US" sz="1060" dirty="0"/>
          </a:p>
          <a:p>
            <a:pPr marL="161592" indent="-128730" algn="l">
              <a:lnSpc>
                <a:spcPts val="1643"/>
              </a:lnSpc>
              <a:buSzPct val="100000"/>
              <a:buChar char="•"/>
            </a:pPr>
            <a:r>
              <a:rPr lang="en-US" sz="1060" dirty="0">
                <a:solidFill>
                  <a:srgbClr val="A79C89"/>
                </a:solidFill>
                <a:latin typeface="Arial" pitchFamily="34" charset="0"/>
                <a:ea typeface="Arial" pitchFamily="34" charset="-122"/>
                <a:cs typeface="Arial" pitchFamily="34" charset="-120"/>
              </a:rPr>
              <a:t>Weekday against weekend occupancy</a:t>
            </a:r>
            <a:endParaRPr lang="en-US" sz="1060" dirty="0"/>
          </a:p>
          <a:p>
            <a:pPr marL="161592" indent="-128730" algn="l">
              <a:lnSpc>
                <a:spcPts val="1643"/>
              </a:lnSpc>
              <a:buSzPct val="100000"/>
              <a:buChar char="•"/>
            </a:pPr>
            <a:r>
              <a:rPr lang="en-US" sz="1060" dirty="0">
                <a:solidFill>
                  <a:srgbClr val="A79C89"/>
                </a:solidFill>
                <a:latin typeface="Arial" pitchFamily="34" charset="0"/>
                <a:ea typeface="Arial" pitchFamily="34" charset="-122"/>
                <a:cs typeface="Arial" pitchFamily="34" charset="-120"/>
              </a:rPr>
              <a:t>Direct bookings against aggregator share</a:t>
            </a:r>
            <a:endParaRPr lang="en-US" sz="1060" dirty="0"/>
          </a:p>
          <a:p>
            <a:pPr marL="161592" indent="-128730" algn="l">
              <a:lnSpc>
                <a:spcPts val="1643"/>
              </a:lnSpc>
              <a:buSzPct val="100000"/>
              <a:buChar char="•"/>
            </a:pPr>
            <a:r>
              <a:rPr lang="en-US" sz="1060" dirty="0">
                <a:solidFill>
                  <a:srgbClr val="A79C89"/>
                </a:solidFill>
                <a:latin typeface="Arial" pitchFamily="34" charset="0"/>
                <a:ea typeface="Arial" pitchFamily="34" charset="-122"/>
                <a:cs typeface="Arial" pitchFamily="34" charset="-120"/>
              </a:rPr>
              <a:t>Landing page view rate, target 60–70%</a:t>
            </a:r>
            <a:endParaRPr lang="en-US" sz="1060" dirty="0"/>
          </a:p>
          <a:p>
            <a:pPr marL="161592" indent="-128730" algn="l">
              <a:lnSpc>
                <a:spcPts val="1643"/>
              </a:lnSpc>
              <a:buSzPct val="100000"/>
              <a:buChar char="•"/>
            </a:pPr>
            <a:r>
              <a:rPr lang="en-US" sz="1060" dirty="0">
                <a:solidFill>
                  <a:srgbClr val="A79C89"/>
                </a:solidFill>
                <a:latin typeface="Arial" pitchFamily="34" charset="0"/>
                <a:ea typeface="Arial" pitchFamily="34" charset="-122"/>
                <a:cs typeface="Arial" pitchFamily="34" charset="-120"/>
              </a:rPr>
              <a:t>Revenue per booking, before and after</a:t>
            </a:r>
            <a:endParaRPr lang="en-US" sz="1060" dirty="0"/>
          </a:p>
        </p:txBody>
      </p:sp>
      <p:sp>
        <p:nvSpPr>
          <p:cNvPr id="6" name="Shape 4"/>
          <p:cNvSpPr/>
          <p:nvPr/>
        </p:nvSpPr>
        <p:spPr>
          <a:xfrm>
            <a:off x="6221095" y="2001391"/>
            <a:ext cx="5154930" cy="2373868"/>
          </a:xfrm>
          <a:prstGeom prst="roundRect">
            <a:avLst>
              <a:gd name="adj" fmla="val 4146"/>
            </a:avLst>
          </a:prstGeom>
          <a:solidFill>
            <a:srgbClr val="FFFFFF"/>
          </a:solidFill>
          <a:ln w="6350">
            <a:solidFill>
              <a:srgbClr val="DDD5C5"/>
            </a:solidFill>
            <a:prstDash val="solid"/>
          </a:ln>
        </p:spPr>
      </p:sp>
      <p:sp>
        <p:nvSpPr>
          <p:cNvPr id="7" name="Text 5"/>
          <p:cNvSpPr/>
          <p:nvPr/>
        </p:nvSpPr>
        <p:spPr>
          <a:xfrm>
            <a:off x="6527800" y="2308076"/>
            <a:ext cx="4677766" cy="265351"/>
          </a:xfrm>
          <a:prstGeom prst="rect">
            <a:avLst/>
          </a:prstGeom>
          <a:noFill/>
          <a:ln/>
        </p:spPr>
        <p:txBody>
          <a:bodyPr wrap="square" lIns="0" tIns="0" rIns="0" bIns="0" rtlCol="0" anchor="t">
            <a:normAutofit/>
          </a:bodyPr>
          <a:lstStyle/>
          <a:p>
            <a:pPr marL="0" indent="0" algn="l">
              <a:lnSpc>
                <a:spcPts val="1924"/>
              </a:lnSpc>
              <a:buNone/>
            </a:pPr>
            <a:r>
              <a:rPr lang="en-US" sz="1603" b="1" dirty="0">
                <a:solidFill>
                  <a:srgbClr val="B54A28"/>
                </a:solidFill>
                <a:latin typeface="Arial" pitchFamily="34" charset="0"/>
                <a:ea typeface="Arial" pitchFamily="34" charset="-122"/>
                <a:cs typeface="Arial" pitchFamily="34" charset="-120"/>
              </a:rPr>
              <a:t>Stop reporting</a:t>
            </a:r>
            <a:endParaRPr lang="en-US" sz="1603" dirty="0"/>
          </a:p>
        </p:txBody>
      </p:sp>
      <p:sp>
        <p:nvSpPr>
          <p:cNvPr id="8" name="Text 6"/>
          <p:cNvSpPr/>
          <p:nvPr/>
        </p:nvSpPr>
        <p:spPr>
          <a:xfrm>
            <a:off x="6527800" y="2649637"/>
            <a:ext cx="4677766" cy="1444307"/>
          </a:xfrm>
          <a:prstGeom prst="rect">
            <a:avLst/>
          </a:prstGeom>
          <a:noFill/>
          <a:ln/>
        </p:spPr>
        <p:txBody>
          <a:bodyPr wrap="square" lIns="0" tIns="0" rIns="0" bIns="0" rtlCol="0" anchor="t">
            <a:normAutofit/>
          </a:bodyPr>
          <a:lstStyle/>
          <a:p>
            <a:pPr marL="182999" indent="-142500" algn="l">
              <a:lnSpc>
                <a:spcPts val="1861"/>
              </a:lnSpc>
              <a:buSzPct val="100000"/>
              <a:buChar char="•"/>
            </a:pPr>
            <a:r>
              <a:rPr lang="en-US" sz="1201" dirty="0">
                <a:solidFill>
                  <a:srgbClr val="5C5344"/>
                </a:solidFill>
                <a:latin typeface="Arial" pitchFamily="34" charset="0"/>
                <a:ea typeface="Arial" pitchFamily="34" charset="-122"/>
                <a:cs typeface="Arial" pitchFamily="34" charset="-120"/>
              </a:rPr>
              <a:t>Blended Google conversions</a:t>
            </a:r>
            <a:endParaRPr lang="en-US" sz="1201" dirty="0"/>
          </a:p>
          <a:p>
            <a:pPr marL="182999" indent="-142500" algn="l">
              <a:lnSpc>
                <a:spcPts val="1861"/>
              </a:lnSpc>
              <a:buSzPct val="100000"/>
              <a:buChar char="•"/>
            </a:pPr>
            <a:r>
              <a:rPr lang="en-US" sz="1201" dirty="0">
                <a:solidFill>
                  <a:srgbClr val="5C5344"/>
                </a:solidFill>
                <a:latin typeface="Arial" pitchFamily="34" charset="0"/>
                <a:ea typeface="Arial" pitchFamily="34" charset="-122"/>
                <a:cs typeface="Arial" pitchFamily="34" charset="-120"/>
              </a:rPr>
              <a:t>Any conversion value from the current setup</a:t>
            </a:r>
            <a:endParaRPr lang="en-US" sz="1201" dirty="0"/>
          </a:p>
          <a:p>
            <a:pPr marL="182999" indent="-142500" algn="l">
              <a:lnSpc>
                <a:spcPts val="1861"/>
              </a:lnSpc>
              <a:buSzPct val="100000"/>
              <a:buChar char="•"/>
            </a:pPr>
            <a:r>
              <a:rPr lang="en-US" sz="1201" dirty="0">
                <a:solidFill>
                  <a:srgbClr val="5C5344"/>
                </a:solidFill>
                <a:latin typeface="Arial" pitchFamily="34" charset="0"/>
                <a:ea typeface="Arial" pitchFamily="34" charset="-122"/>
                <a:cs typeface="Arial" pitchFamily="34" charset="-120"/>
              </a:rPr>
              <a:t>Impressions and reach as headline numbers</a:t>
            </a:r>
            <a:endParaRPr lang="en-US" sz="1201" dirty="0"/>
          </a:p>
          <a:p>
            <a:pPr marL="182999" indent="-142500" algn="l">
              <a:lnSpc>
                <a:spcPts val="1861"/>
              </a:lnSpc>
              <a:buSzPct val="100000"/>
              <a:buChar char="•"/>
            </a:pPr>
            <a:r>
              <a:rPr lang="en-US" sz="1201" dirty="0">
                <a:solidFill>
                  <a:srgbClr val="5C5344"/>
                </a:solidFill>
                <a:latin typeface="Arial" pitchFamily="34" charset="0"/>
                <a:ea typeface="Arial" pitchFamily="34" charset="-122"/>
                <a:cs typeface="Arial" pitchFamily="34" charset="-120"/>
              </a:rPr>
              <a:t>Cost per lead without a quality measure behind it</a:t>
            </a:r>
            <a:endParaRPr lang="en-US" sz="1201" dirty="0"/>
          </a:p>
          <a:p>
            <a:pPr marL="182999" indent="-142500" algn="l">
              <a:lnSpc>
                <a:spcPts val="1861"/>
              </a:lnSpc>
              <a:buSzPct val="100000"/>
              <a:buChar char="•"/>
            </a:pPr>
            <a:r>
              <a:rPr lang="en-US" sz="1201" dirty="0">
                <a:solidFill>
                  <a:srgbClr val="5C5344"/>
                </a:solidFill>
                <a:latin typeface="Arial" pitchFamily="34" charset="0"/>
                <a:ea typeface="Arial" pitchFamily="34" charset="-122"/>
                <a:cs typeface="Arial" pitchFamily="34" charset="-120"/>
              </a:rPr>
              <a:t>Anything that mixes the three resorts together</a:t>
            </a:r>
            <a:endParaRPr lang="en-US" sz="1201" dirty="0"/>
          </a:p>
          <a:p>
            <a:pPr marL="182999" indent="-142500" algn="l">
              <a:lnSpc>
                <a:spcPts val="1861"/>
              </a:lnSpc>
              <a:buSzPct val="100000"/>
              <a:buChar char="•"/>
            </a:pPr>
            <a:r>
              <a:rPr lang="en-US" sz="1201" dirty="0">
                <a:solidFill>
                  <a:srgbClr val="5C5344"/>
                </a:solidFill>
                <a:latin typeface="Arial" pitchFamily="34" charset="0"/>
                <a:ea typeface="Arial" pitchFamily="34" charset="-122"/>
                <a:cs typeface="Arial" pitchFamily="34" charset="-120"/>
              </a:rPr>
              <a:t>Anything from before the fix, compared to after it</a:t>
            </a:r>
            <a:endParaRPr lang="en-US" sz="1201" dirty="0"/>
          </a:p>
        </p:txBody>
      </p:sp>
      <p:sp>
        <p:nvSpPr>
          <p:cNvPr id="9" name="Shape 7"/>
          <p:cNvSpPr/>
          <p:nvPr/>
        </p:nvSpPr>
        <p:spPr>
          <a:xfrm>
            <a:off x="812800" y="4632424"/>
            <a:ext cx="10566400" cy="1209596"/>
          </a:xfrm>
          <a:prstGeom prst="roundRect">
            <a:avLst>
              <a:gd name="adj" fmla="val 8399"/>
            </a:avLst>
          </a:prstGeom>
          <a:solidFill>
            <a:srgbClr val="E8E1D3"/>
          </a:solidFill>
          <a:ln/>
        </p:spPr>
      </p:sp>
      <p:sp>
        <p:nvSpPr>
          <p:cNvPr id="10" name="Text 8"/>
          <p:cNvSpPr/>
          <p:nvPr/>
        </p:nvSpPr>
        <p:spPr>
          <a:xfrm>
            <a:off x="1066800" y="4886424"/>
            <a:ext cx="10203180" cy="726996"/>
          </a:xfrm>
          <a:prstGeom prst="rect">
            <a:avLst/>
          </a:prstGeom>
          <a:noFill/>
          <a:ln/>
        </p:spPr>
        <p:txBody>
          <a:bodyPr wrap="square" lIns="0" tIns="0" rIns="0" bIns="0" rtlCol="0" anchor="t">
            <a:normAutofit/>
          </a:bodyPr>
          <a:lstStyle/>
          <a:p>
            <a:pPr marL="0" indent="0" algn="l">
              <a:lnSpc>
                <a:spcPts val="1842"/>
              </a:lnSpc>
              <a:buNone/>
            </a:pPr>
            <a:r>
              <a:rPr lang="en-US" sz="1270" b="1" dirty="0">
                <a:solidFill>
                  <a:srgbClr val="17140F"/>
                </a:solidFill>
                <a:latin typeface="Arial" pitchFamily="34" charset="0"/>
                <a:ea typeface="Arial" pitchFamily="34" charset="-122"/>
                <a:cs typeface="Arial" pitchFamily="34" charset="-120"/>
              </a:rPr>
              <a:t>Expect the numbers to look worse before they look better.</a:t>
            </a:r>
            <a:r>
              <a:rPr lang="en-US" sz="1270" dirty="0">
                <a:solidFill>
                  <a:srgbClr val="17140F"/>
                </a:solidFill>
                <a:latin typeface="Arial" pitchFamily="34" charset="0"/>
                <a:ea typeface="Arial" pitchFamily="34" charset="-122"/>
                <a:cs typeface="Arial" pitchFamily="34" charset="-120"/>
              </a:rPr>
              <a:t> Conversions will fall sharply when the false ones are removed. Leads will look more expensive when they are counted honestly. That is the system starting to tell the truth, and it should be agreed now rather than explained later.</a:t>
            </a:r>
            <a:endParaRPr lang="en-US" sz="1270" dirty="0"/>
          </a:p>
        </p:txBody>
      </p:sp>
      <p:sp>
        <p:nvSpPr>
          <p:cNvPr id="11" name="Text 9"/>
          <p:cNvSpPr/>
          <p:nvPr/>
        </p:nvSpPr>
        <p:spPr>
          <a:xfrm>
            <a:off x="812800" y="6238230"/>
            <a:ext cx="538381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071"/>
                </a:solidFill>
                <a:latin typeface="Arial" pitchFamily="34" charset="0"/>
                <a:ea typeface="Arial" pitchFamily="34" charset="-122"/>
                <a:cs typeface="Arial" pitchFamily="34" charset="-120"/>
              </a:rPr>
              <a:t>One month of clean data is the baseline everything after is measured against.</a:t>
            </a:r>
            <a:endParaRPr lang="en-US" sz="12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66">
    <p:bg>
      <p:bgPr>
        <a:solidFill>
          <a:srgbClr val="17140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551815"/>
          </a:xfrm>
          <a:prstGeom prst="rect">
            <a:avLst/>
          </a:prstGeom>
          <a:noFill/>
          <a:ln/>
        </p:spPr>
        <p:txBody>
          <a:bodyPr wrap="square" lIns="0" tIns="0" rIns="0" bIns="0" rtlCol="0" anchor="t">
            <a:normAutofit/>
          </a:bodyPr>
          <a:lstStyle/>
          <a:p>
            <a:pPr marL="0" indent="0" algn="l">
              <a:lnSpc>
                <a:spcPts val="4172"/>
              </a:lnSpc>
              <a:buNone/>
            </a:pPr>
            <a:r>
              <a:rPr lang="en-US" sz="3974" dirty="0">
                <a:solidFill>
                  <a:srgbClr val="C9A63C"/>
                </a:solidFill>
                <a:latin typeface="Georgia" pitchFamily="34" charset="0"/>
                <a:ea typeface="Georgia" pitchFamily="34" charset="-122"/>
                <a:cs typeface="Georgia" pitchFamily="34" charset="-120"/>
              </a:rPr>
              <a:t>What we would take on</a:t>
            </a:r>
            <a:endParaRPr lang="en-US" sz="3974" dirty="0"/>
          </a:p>
        </p:txBody>
      </p:sp>
      <p:sp>
        <p:nvSpPr>
          <p:cNvPr id="3" name="Shape 1"/>
          <p:cNvSpPr/>
          <p:nvPr/>
        </p:nvSpPr>
        <p:spPr>
          <a:xfrm>
            <a:off x="815975" y="1596380"/>
            <a:ext cx="3397250" cy="1637824"/>
          </a:xfrm>
          <a:prstGeom prst="roundRect">
            <a:avLst>
              <a:gd name="adj" fmla="val 6009"/>
            </a:avLst>
          </a:prstGeom>
          <a:solidFill>
            <a:srgbClr val="221E18"/>
          </a:solidFill>
          <a:ln w="6350">
            <a:solidFill>
              <a:srgbClr val="3A342A"/>
            </a:solidFill>
            <a:prstDash val="solid"/>
          </a:ln>
        </p:spPr>
      </p:sp>
      <p:sp>
        <p:nvSpPr>
          <p:cNvPr id="4" name="Text 2"/>
          <p:cNvSpPr/>
          <p:nvPr/>
        </p:nvSpPr>
        <p:spPr>
          <a:xfrm>
            <a:off x="1071880" y="1852315"/>
            <a:ext cx="2972003" cy="242411"/>
          </a:xfrm>
          <a:prstGeom prst="rect">
            <a:avLst/>
          </a:prstGeom>
          <a:noFill/>
          <a:ln/>
        </p:spPr>
        <p:txBody>
          <a:bodyPr wrap="square" lIns="0" tIns="0" rIns="0" bIns="0" rtlCol="0" anchor="t">
            <a:normAutofit/>
          </a:bodyPr>
          <a:lstStyle/>
          <a:p>
            <a:pPr marL="0" indent="0" algn="l">
              <a:lnSpc>
                <a:spcPts val="1721"/>
              </a:lnSpc>
              <a:buNone/>
            </a:pPr>
            <a:r>
              <a:rPr lang="en-US" sz="1434" b="1" dirty="0">
                <a:solidFill>
                  <a:srgbClr val="F7F3EA"/>
                </a:solidFill>
                <a:latin typeface="Arial" pitchFamily="34" charset="0"/>
                <a:ea typeface="Arial" pitchFamily="34" charset="-122"/>
                <a:cs typeface="Arial" pitchFamily="34" charset="-120"/>
              </a:rPr>
              <a:t>Measurement</a:t>
            </a:r>
            <a:endParaRPr lang="en-US" sz="1434" dirty="0"/>
          </a:p>
        </p:txBody>
      </p:sp>
      <p:sp>
        <p:nvSpPr>
          <p:cNvPr id="5" name="Text 3"/>
          <p:cNvSpPr/>
          <p:nvPr/>
        </p:nvSpPr>
        <p:spPr>
          <a:xfrm>
            <a:off x="1071880" y="2145506"/>
            <a:ext cx="2972003" cy="858203"/>
          </a:xfrm>
          <a:prstGeom prst="rect">
            <a:avLst/>
          </a:prstGeom>
          <a:noFill/>
          <a:ln/>
        </p:spPr>
        <p:txBody>
          <a:bodyPr wrap="square" lIns="0" tIns="0" rIns="0" bIns="0" rtlCol="0" anchor="t">
            <a:normAutofit/>
          </a:bodyPr>
          <a:lstStyle/>
          <a:p>
            <a:pPr marL="0" indent="0" algn="l">
              <a:lnSpc>
                <a:spcPts val="1829"/>
              </a:lnSpc>
              <a:buNone/>
            </a:pPr>
            <a:r>
              <a:rPr lang="en-US" sz="1261" dirty="0">
                <a:solidFill>
                  <a:srgbClr val="A79C89"/>
                </a:solidFill>
                <a:latin typeface="Arial" pitchFamily="34" charset="0"/>
                <a:ea typeface="Arial" pitchFamily="34" charset="-122"/>
                <a:cs typeface="Arial" pitchFamily="34" charset="-120"/>
              </a:rPr>
              <a:t>Pixel consolidation, conversion rebuild, cross-domain tracking, Conversions API, CRM setup and integration, reporting.</a:t>
            </a:r>
            <a:endParaRPr lang="en-US" sz="1261" dirty="0"/>
          </a:p>
        </p:txBody>
      </p:sp>
      <p:sp>
        <p:nvSpPr>
          <p:cNvPr id="6" name="Shape 4"/>
          <p:cNvSpPr/>
          <p:nvPr/>
        </p:nvSpPr>
        <p:spPr>
          <a:xfrm>
            <a:off x="4397375" y="1596380"/>
            <a:ext cx="3397250" cy="1637824"/>
          </a:xfrm>
          <a:prstGeom prst="roundRect">
            <a:avLst>
              <a:gd name="adj" fmla="val 6009"/>
            </a:avLst>
          </a:prstGeom>
          <a:solidFill>
            <a:srgbClr val="221E18"/>
          </a:solidFill>
          <a:ln w="6350">
            <a:solidFill>
              <a:srgbClr val="3A342A"/>
            </a:solidFill>
            <a:prstDash val="solid"/>
          </a:ln>
        </p:spPr>
      </p:sp>
      <p:sp>
        <p:nvSpPr>
          <p:cNvPr id="7" name="Text 5"/>
          <p:cNvSpPr/>
          <p:nvPr/>
        </p:nvSpPr>
        <p:spPr>
          <a:xfrm>
            <a:off x="4653280" y="1852315"/>
            <a:ext cx="2972003" cy="242411"/>
          </a:xfrm>
          <a:prstGeom prst="rect">
            <a:avLst/>
          </a:prstGeom>
          <a:noFill/>
          <a:ln/>
        </p:spPr>
        <p:txBody>
          <a:bodyPr wrap="square" lIns="0" tIns="0" rIns="0" bIns="0" rtlCol="0" anchor="t">
            <a:normAutofit/>
          </a:bodyPr>
          <a:lstStyle/>
          <a:p>
            <a:pPr marL="0" indent="0" algn="l">
              <a:lnSpc>
                <a:spcPts val="1721"/>
              </a:lnSpc>
              <a:buNone/>
            </a:pPr>
            <a:r>
              <a:rPr lang="en-US" sz="1434" b="1" dirty="0">
                <a:solidFill>
                  <a:srgbClr val="F7F3EA"/>
                </a:solidFill>
                <a:latin typeface="Arial" pitchFamily="34" charset="0"/>
                <a:ea typeface="Arial" pitchFamily="34" charset="-122"/>
                <a:cs typeface="Arial" pitchFamily="34" charset="-120"/>
              </a:rPr>
              <a:t>Performance media</a:t>
            </a:r>
            <a:endParaRPr lang="en-US" sz="1434" dirty="0"/>
          </a:p>
        </p:txBody>
      </p:sp>
      <p:sp>
        <p:nvSpPr>
          <p:cNvPr id="8" name="Text 6"/>
          <p:cNvSpPr/>
          <p:nvPr/>
        </p:nvSpPr>
        <p:spPr>
          <a:xfrm>
            <a:off x="4653280" y="2145506"/>
            <a:ext cx="2972003" cy="858203"/>
          </a:xfrm>
          <a:prstGeom prst="rect">
            <a:avLst/>
          </a:prstGeom>
          <a:noFill/>
          <a:ln/>
        </p:spPr>
        <p:txBody>
          <a:bodyPr wrap="square" lIns="0" tIns="0" rIns="0" bIns="0" rtlCol="0" anchor="t">
            <a:normAutofit/>
          </a:bodyPr>
          <a:lstStyle/>
          <a:p>
            <a:pPr marL="0" indent="0" algn="l">
              <a:lnSpc>
                <a:spcPts val="1786"/>
              </a:lnSpc>
              <a:buNone/>
            </a:pPr>
            <a:r>
              <a:rPr lang="en-US" sz="1232" dirty="0">
                <a:solidFill>
                  <a:srgbClr val="A79C89"/>
                </a:solidFill>
                <a:latin typeface="Arial" pitchFamily="34" charset="0"/>
                <a:ea typeface="Arial" pitchFamily="34" charset="-122"/>
                <a:cs typeface="Arial" pitchFamily="34" charset="-120"/>
              </a:rPr>
              <a:t>Meta and Google, restructured by product and audience, with a creative testing cadence and monthly reallocation.</a:t>
            </a:r>
            <a:endParaRPr lang="en-US" sz="1232" dirty="0"/>
          </a:p>
        </p:txBody>
      </p:sp>
      <p:sp>
        <p:nvSpPr>
          <p:cNvPr id="9" name="Shape 7"/>
          <p:cNvSpPr/>
          <p:nvPr/>
        </p:nvSpPr>
        <p:spPr>
          <a:xfrm>
            <a:off x="7978775" y="1596380"/>
            <a:ext cx="3397250" cy="1637824"/>
          </a:xfrm>
          <a:prstGeom prst="roundRect">
            <a:avLst>
              <a:gd name="adj" fmla="val 6009"/>
            </a:avLst>
          </a:prstGeom>
          <a:solidFill>
            <a:srgbClr val="221E18"/>
          </a:solidFill>
          <a:ln w="6350">
            <a:solidFill>
              <a:srgbClr val="3A342A"/>
            </a:solidFill>
            <a:prstDash val="solid"/>
          </a:ln>
        </p:spPr>
      </p:sp>
      <p:sp>
        <p:nvSpPr>
          <p:cNvPr id="10" name="Text 8"/>
          <p:cNvSpPr/>
          <p:nvPr/>
        </p:nvSpPr>
        <p:spPr>
          <a:xfrm>
            <a:off x="8234680" y="1852315"/>
            <a:ext cx="2972003"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F7F3EA"/>
                </a:solidFill>
                <a:latin typeface="Arial" pitchFamily="34" charset="0"/>
                <a:ea typeface="Arial" pitchFamily="34" charset="-122"/>
                <a:cs typeface="Arial" pitchFamily="34" charset="-120"/>
              </a:rPr>
              <a:t>Landing pages</a:t>
            </a:r>
            <a:endParaRPr lang="en-US" sz="1700" dirty="0"/>
          </a:p>
        </p:txBody>
      </p:sp>
      <p:sp>
        <p:nvSpPr>
          <p:cNvPr id="11" name="Text 9"/>
          <p:cNvSpPr/>
          <p:nvPr/>
        </p:nvSpPr>
        <p:spPr>
          <a:xfrm>
            <a:off x="8234680" y="2187575"/>
            <a:ext cx="2972003" cy="522605"/>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A79C89"/>
                </a:solidFill>
                <a:latin typeface="Arial" pitchFamily="34" charset="0"/>
                <a:ea typeface="Arial" pitchFamily="34" charset="-122"/>
                <a:cs typeface="Arial" pitchFamily="34" charset="-120"/>
              </a:rPr>
              <a:t>Four pages, built and tested, with the booking flow kept inside the site.</a:t>
            </a:r>
            <a:endParaRPr lang="en-US" sz="1350" dirty="0"/>
          </a:p>
        </p:txBody>
      </p:sp>
      <p:sp>
        <p:nvSpPr>
          <p:cNvPr id="12" name="Shape 10"/>
          <p:cNvSpPr/>
          <p:nvPr/>
        </p:nvSpPr>
        <p:spPr>
          <a:xfrm>
            <a:off x="815975" y="3418384"/>
            <a:ext cx="3397250" cy="1637744"/>
          </a:xfrm>
          <a:prstGeom prst="roundRect">
            <a:avLst>
              <a:gd name="adj" fmla="val 6010"/>
            </a:avLst>
          </a:prstGeom>
          <a:solidFill>
            <a:srgbClr val="221E18"/>
          </a:solidFill>
          <a:ln w="6350">
            <a:solidFill>
              <a:srgbClr val="3A342A"/>
            </a:solidFill>
            <a:prstDash val="solid"/>
          </a:ln>
        </p:spPr>
      </p:sp>
      <p:sp>
        <p:nvSpPr>
          <p:cNvPr id="13" name="Text 11"/>
          <p:cNvSpPr/>
          <p:nvPr/>
        </p:nvSpPr>
        <p:spPr>
          <a:xfrm>
            <a:off x="1071880" y="3674269"/>
            <a:ext cx="2972003"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F7F3EA"/>
                </a:solidFill>
                <a:latin typeface="Arial" pitchFamily="34" charset="0"/>
                <a:ea typeface="Arial" pitchFamily="34" charset="-122"/>
                <a:cs typeface="Arial" pitchFamily="34" charset="-120"/>
              </a:rPr>
              <a:t>Brand and identity</a:t>
            </a:r>
            <a:endParaRPr lang="en-US" sz="1700" dirty="0"/>
          </a:p>
        </p:txBody>
      </p:sp>
      <p:sp>
        <p:nvSpPr>
          <p:cNvPr id="14" name="Text 12"/>
          <p:cNvSpPr/>
          <p:nvPr/>
        </p:nvSpPr>
        <p:spPr>
          <a:xfrm>
            <a:off x="1071880" y="4009579"/>
            <a:ext cx="2972003" cy="771208"/>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A79C89"/>
                </a:solidFill>
                <a:latin typeface="Arial" pitchFamily="34" charset="0"/>
                <a:ea typeface="Arial" pitchFamily="34" charset="-122"/>
                <a:cs typeface="Arial" pitchFamily="34" charset="-120"/>
              </a:rPr>
              <a:t>Territory, positioning line, tone of voice, visual language, logo system, the named spaces reclaimed.</a:t>
            </a:r>
            <a:endParaRPr lang="en-US" sz="1350" dirty="0"/>
          </a:p>
        </p:txBody>
      </p:sp>
      <p:sp>
        <p:nvSpPr>
          <p:cNvPr id="15" name="Shape 13"/>
          <p:cNvSpPr/>
          <p:nvPr/>
        </p:nvSpPr>
        <p:spPr>
          <a:xfrm>
            <a:off x="4397375" y="3418384"/>
            <a:ext cx="3397250" cy="1637744"/>
          </a:xfrm>
          <a:prstGeom prst="roundRect">
            <a:avLst>
              <a:gd name="adj" fmla="val 6010"/>
            </a:avLst>
          </a:prstGeom>
          <a:solidFill>
            <a:srgbClr val="221E18"/>
          </a:solidFill>
          <a:ln w="6350">
            <a:solidFill>
              <a:srgbClr val="3A342A"/>
            </a:solidFill>
            <a:prstDash val="solid"/>
          </a:ln>
        </p:spPr>
      </p:sp>
      <p:sp>
        <p:nvSpPr>
          <p:cNvPr id="16" name="Text 14"/>
          <p:cNvSpPr/>
          <p:nvPr/>
        </p:nvSpPr>
        <p:spPr>
          <a:xfrm>
            <a:off x="4653280" y="3674269"/>
            <a:ext cx="2972003"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F7F3EA"/>
                </a:solidFill>
                <a:latin typeface="Arial" pitchFamily="34" charset="0"/>
                <a:ea typeface="Arial" pitchFamily="34" charset="-122"/>
                <a:cs typeface="Arial" pitchFamily="34" charset="-120"/>
              </a:rPr>
              <a:t>Social and content</a:t>
            </a:r>
            <a:endParaRPr lang="en-US" sz="1700" dirty="0"/>
          </a:p>
        </p:txBody>
      </p:sp>
      <p:sp>
        <p:nvSpPr>
          <p:cNvPr id="17" name="Text 15"/>
          <p:cNvSpPr/>
          <p:nvPr/>
        </p:nvSpPr>
        <p:spPr>
          <a:xfrm>
            <a:off x="4653280" y="4009579"/>
            <a:ext cx="2972003" cy="771208"/>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A79C89"/>
                </a:solidFill>
                <a:latin typeface="Arial" pitchFamily="34" charset="0"/>
                <a:ea typeface="Arial" pitchFamily="34" charset="-122"/>
                <a:cs typeface="Arial" pitchFamily="34" charset="-120"/>
              </a:rPr>
              <a:t>Content pillars, cadence, the UGC engine, creator programme, and a library built around the descent.</a:t>
            </a:r>
            <a:endParaRPr lang="en-US" sz="1350" dirty="0"/>
          </a:p>
        </p:txBody>
      </p:sp>
      <p:sp>
        <p:nvSpPr>
          <p:cNvPr id="18" name="Shape 16"/>
          <p:cNvSpPr/>
          <p:nvPr/>
        </p:nvSpPr>
        <p:spPr>
          <a:xfrm>
            <a:off x="7975600" y="3415209"/>
            <a:ext cx="3403600" cy="1644094"/>
          </a:xfrm>
          <a:prstGeom prst="roundRect">
            <a:avLst>
              <a:gd name="adj" fmla="val 6180"/>
            </a:avLst>
          </a:prstGeom>
          <a:solidFill>
            <a:srgbClr val="C9A63C"/>
          </a:solidFill>
          <a:ln/>
        </p:spPr>
      </p:sp>
      <p:sp>
        <p:nvSpPr>
          <p:cNvPr id="19" name="Text 17"/>
          <p:cNvSpPr/>
          <p:nvPr/>
        </p:nvSpPr>
        <p:spPr>
          <a:xfrm>
            <a:off x="8229600" y="3669209"/>
            <a:ext cx="2982468" cy="244475"/>
          </a:xfrm>
          <a:prstGeom prst="rect">
            <a:avLst/>
          </a:prstGeom>
          <a:noFill/>
          <a:ln/>
        </p:spPr>
        <p:txBody>
          <a:bodyPr wrap="square" lIns="0" tIns="0" rIns="0" bIns="0" rtlCol="0" anchor="t">
            <a:normAutofit/>
          </a:bodyPr>
          <a:lstStyle/>
          <a:p>
            <a:pPr marL="0" indent="0" algn="l">
              <a:lnSpc>
                <a:spcPts val="1772"/>
              </a:lnSpc>
              <a:buNone/>
            </a:pPr>
            <a:r>
              <a:rPr lang="en-US" sz="1477" b="1" dirty="0">
                <a:solidFill>
                  <a:srgbClr val="17140F"/>
                </a:solidFill>
                <a:latin typeface="Arial" pitchFamily="34" charset="0"/>
                <a:ea typeface="Arial" pitchFamily="34" charset="-122"/>
                <a:cs typeface="Arial" pitchFamily="34" charset="-120"/>
              </a:rPr>
              <a:t>Not in scope</a:t>
            </a:r>
            <a:endParaRPr lang="en-US" sz="1477" dirty="0"/>
          </a:p>
        </p:txBody>
      </p:sp>
      <p:sp>
        <p:nvSpPr>
          <p:cNvPr id="20" name="Text 18"/>
          <p:cNvSpPr/>
          <p:nvPr/>
        </p:nvSpPr>
        <p:spPr>
          <a:xfrm>
            <a:off x="8229600" y="3964484"/>
            <a:ext cx="2982468" cy="866219"/>
          </a:xfrm>
          <a:prstGeom prst="rect">
            <a:avLst/>
          </a:prstGeom>
          <a:noFill/>
          <a:ln/>
        </p:spPr>
        <p:txBody>
          <a:bodyPr wrap="square" lIns="0" tIns="0" rIns="0" bIns="0" rtlCol="0" anchor="t">
            <a:normAutofit/>
          </a:bodyPr>
          <a:lstStyle/>
          <a:p>
            <a:pPr marL="0" indent="0" algn="l">
              <a:lnSpc>
                <a:spcPts val="1652"/>
              </a:lnSpc>
              <a:buNone/>
            </a:pPr>
            <a:r>
              <a:rPr lang="en-US" sz="1139" dirty="0">
                <a:solidFill>
                  <a:srgbClr val="3A342A"/>
                </a:solidFill>
                <a:latin typeface="Arial" pitchFamily="34" charset="0"/>
                <a:ea typeface="Arial" pitchFamily="34" charset="-122"/>
                <a:cs typeface="Arial" pitchFamily="34" charset="-120"/>
              </a:rPr>
              <a:t>Peak-day capacity management and the guest experience behind the 3.7 rating. We will flag it every month, but it is an operations decision.</a:t>
            </a:r>
            <a:endParaRPr lang="en-US" sz="1139" dirty="0"/>
          </a:p>
        </p:txBody>
      </p:sp>
      <p:sp>
        <p:nvSpPr>
          <p:cNvPr id="21" name="Text 19"/>
          <p:cNvSpPr/>
          <p:nvPr/>
        </p:nvSpPr>
        <p:spPr>
          <a:xfrm>
            <a:off x="812800" y="5313313"/>
            <a:ext cx="10333990" cy="554117"/>
          </a:xfrm>
          <a:prstGeom prst="rect">
            <a:avLst/>
          </a:prstGeom>
          <a:noFill/>
          <a:ln/>
        </p:spPr>
        <p:txBody>
          <a:bodyPr wrap="square" lIns="0" tIns="0" rIns="0" bIns="0" rtlCol="0" anchor="t">
            <a:normAutofit/>
          </a:bodyPr>
          <a:lstStyle/>
          <a:p>
            <a:pPr marL="0" indent="0" algn="l">
              <a:lnSpc>
                <a:spcPts val="2139"/>
              </a:lnSpc>
              <a:buNone/>
            </a:pPr>
            <a:r>
              <a:rPr lang="en-US" sz="1475" dirty="0">
                <a:solidFill>
                  <a:srgbClr val="A79C89"/>
                </a:solidFill>
                <a:latin typeface="Arial" pitchFamily="34" charset="0"/>
                <a:ea typeface="Arial" pitchFamily="34" charset="-122"/>
                <a:cs typeface="Arial" pitchFamily="34" charset="-120"/>
              </a:rPr>
              <a:t>Two decks follow this audit: a </a:t>
            </a:r>
            <a:r>
              <a:rPr lang="en-US" sz="1475" b="1" dirty="0">
                <a:solidFill>
                  <a:srgbClr val="A79C89"/>
                </a:solidFill>
                <a:latin typeface="Arial" pitchFamily="34" charset="0"/>
                <a:ea typeface="Arial" pitchFamily="34" charset="-122"/>
                <a:cs typeface="Arial" pitchFamily="34" charset="-120"/>
              </a:rPr>
              <a:t>branding deck</a:t>
            </a:r>
            <a:r>
              <a:rPr lang="en-US" sz="1475" dirty="0">
                <a:solidFill>
                  <a:srgbClr val="A79C89"/>
                </a:solidFill>
                <a:latin typeface="Arial" pitchFamily="34" charset="0"/>
                <a:ea typeface="Arial" pitchFamily="34" charset="-122"/>
                <a:cs typeface="Arial" pitchFamily="34" charset="-120"/>
              </a:rPr>
              <a:t> and a </a:t>
            </a:r>
            <a:r>
              <a:rPr lang="en-US" sz="1475" b="1" dirty="0">
                <a:solidFill>
                  <a:srgbClr val="A79C89"/>
                </a:solidFill>
                <a:latin typeface="Arial" pitchFamily="34" charset="0"/>
                <a:ea typeface="Arial" pitchFamily="34" charset="-122"/>
                <a:cs typeface="Arial" pitchFamily="34" charset="-120"/>
              </a:rPr>
              <a:t>social media deck</a:t>
            </a:r>
            <a:r>
              <a:rPr lang="en-US" sz="1475" dirty="0">
                <a:solidFill>
                  <a:srgbClr val="A79C89"/>
                </a:solidFill>
                <a:latin typeface="Arial" pitchFamily="34" charset="0"/>
                <a:ea typeface="Arial" pitchFamily="34" charset="-122"/>
                <a:cs typeface="Arial" pitchFamily="34" charset="-120"/>
              </a:rPr>
              <a:t>, both built on whichever territory is chosen today.</a:t>
            </a:r>
            <a:endParaRPr lang="en-US" sz="1475" dirty="0"/>
          </a:p>
        </p:txBody>
      </p:sp>
      <p:sp>
        <p:nvSpPr>
          <p:cNvPr id="22" name="Text 20"/>
          <p:cNvSpPr/>
          <p:nvPr/>
        </p:nvSpPr>
        <p:spPr>
          <a:xfrm>
            <a:off x="812800" y="6238230"/>
            <a:ext cx="23350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071"/>
                </a:solidFill>
                <a:latin typeface="Arial" pitchFamily="34" charset="0"/>
                <a:ea typeface="Arial" pitchFamily="34" charset="-122"/>
                <a:cs typeface="Arial" pitchFamily="34" charset="-120"/>
              </a:rPr>
              <a:t>Commercials to follow separately.</a:t>
            </a:r>
            <a:endParaRPr lang="en-US" sz="12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67">
    <p:bg>
      <p:bgPr>
        <a:solidFill>
          <a:srgbClr val="F7F3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34419"/>
          </a:xfrm>
          <a:prstGeom prst="rect">
            <a:avLst/>
          </a:prstGeom>
          <a:noFill/>
          <a:ln/>
        </p:spPr>
        <p:txBody>
          <a:bodyPr wrap="square" lIns="0" tIns="0" rIns="0" bIns="0" rtlCol="0" anchor="t">
            <a:normAutofit/>
          </a:bodyPr>
          <a:lstStyle/>
          <a:p>
            <a:pPr marL="0" indent="0" algn="l">
              <a:lnSpc>
                <a:spcPts val="3220"/>
              </a:lnSpc>
              <a:buNone/>
            </a:pPr>
            <a:r>
              <a:rPr lang="en-US" sz="3066" dirty="0">
                <a:solidFill>
                  <a:srgbClr val="17140F"/>
                </a:solidFill>
                <a:latin typeface="Georgia" pitchFamily="34" charset="0"/>
                <a:ea typeface="Georgia" pitchFamily="34" charset="-122"/>
                <a:cs typeface="Georgia" pitchFamily="34" charset="-120"/>
              </a:rPr>
              <a:t>What we need from you</a:t>
            </a:r>
            <a:endParaRPr lang="en-US" sz="3066"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1485989"/>
          <a:ext cx="10556240" cy="3485755"/>
        </p:xfrm>
        <a:graphic>
          <a:graphicData uri="http://schemas.openxmlformats.org/drawingml/2006/table">
            <a:tbl>
              <a:tblPr/>
              <a:tblGrid>
                <a:gridCol w="4855870">
                  <a:extLst>
                    <a:ext uri="{9D8B030D-6E8A-4147-A177-3AD203B41FA5}">
                      <a16:colId xmlns:a16="http://schemas.microsoft.com/office/drawing/2014/main" val="20000"/>
                    </a:ext>
                  </a:extLst>
                </a:gridCol>
                <a:gridCol w="2111248">
                  <a:extLst>
                    <a:ext uri="{9D8B030D-6E8A-4147-A177-3AD203B41FA5}">
                      <a16:colId xmlns:a16="http://schemas.microsoft.com/office/drawing/2014/main" val="20001"/>
                    </a:ext>
                  </a:extLst>
                </a:gridCol>
                <a:gridCol w="3589122">
                  <a:extLst>
                    <a:ext uri="{9D8B030D-6E8A-4147-A177-3AD203B41FA5}">
                      <a16:colId xmlns:a16="http://schemas.microsoft.com/office/drawing/2014/main" val="20002"/>
                    </a:ext>
                  </a:extLst>
                </a:gridCol>
              </a:tblGrid>
              <a:tr h="308769">
                <a:tc>
                  <a:txBody>
                    <a:bodyPr/>
                    <a:lstStyle/>
                    <a:p>
                      <a:pPr marL="0" indent="0">
                        <a:lnSpc>
                          <a:spcPts val="1567"/>
                        </a:lnSpc>
                        <a:buNone/>
                      </a:pPr>
                      <a:r>
                        <a:rPr lang="en-US" sz="1119" b="1" dirty="0">
                          <a:solidFill>
                            <a:srgbClr val="F7F3EA"/>
                          </a:solidFill>
                          <a:latin typeface="Arial" pitchFamily="34" charset="0"/>
                          <a:ea typeface="Arial" pitchFamily="34" charset="-122"/>
                          <a:cs typeface="Arial" pitchFamily="34" charset="-120"/>
                        </a:rPr>
                        <a:t>What</a:t>
                      </a:r>
                      <a:endParaRPr lang="en-US" sz="1119" dirty="0">
                        <a:latin typeface="Arial" charset="0"/>
                        <a:ea typeface="Arial" charset="0"/>
                        <a:cs typeface="Arial" charset="0"/>
                      </a:endParaRPr>
                    </a:p>
                  </a:txBody>
                  <a:tcPr marL="49749" marR="49749" marT="49749" marB="49749">
                    <a:lnL w="12700" cap="flat" cmpd="sng" algn="ctr">
                      <a:solidFill>
                        <a:srgbClr val="C5C2BB"/>
                      </a:solidFill>
                      <a:prstDash val="solid"/>
                      <a:round/>
                      <a:headEnd type="none" w="med" len="med"/>
                      <a:tailEnd type="none" w="med" len="med"/>
                    </a:lnL>
                    <a:lnR w="12700" cap="flat" cmpd="sng" algn="ctr">
                      <a:solidFill>
                        <a:srgbClr val="161410"/>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161410"/>
                      </a:solidFill>
                      <a:prstDash val="solid"/>
                      <a:round/>
                      <a:headEnd type="none" w="med" len="med"/>
                      <a:tailEnd type="none" w="med" len="med"/>
                    </a:lnB>
                    <a:solidFill>
                      <a:srgbClr val="17140F"/>
                    </a:solidFill>
                  </a:tcPr>
                </a:tc>
                <a:tc>
                  <a:txBody>
                    <a:bodyPr/>
                    <a:lstStyle/>
                    <a:p>
                      <a:pPr marL="0" indent="0">
                        <a:lnSpc>
                          <a:spcPts val="1567"/>
                        </a:lnSpc>
                        <a:buNone/>
                      </a:pPr>
                      <a:r>
                        <a:rPr lang="en-US" sz="1119" b="1" dirty="0">
                          <a:solidFill>
                            <a:srgbClr val="F7F3EA"/>
                          </a:solidFill>
                          <a:latin typeface="Arial" pitchFamily="34" charset="0"/>
                          <a:ea typeface="Arial" pitchFamily="34" charset="-122"/>
                          <a:cs typeface="Arial" pitchFamily="34" charset="-120"/>
                        </a:rPr>
                        <a:t>When</a:t>
                      </a:r>
                      <a:endParaRPr lang="en-US" sz="1119" dirty="0">
                        <a:latin typeface="Arial" charset="0"/>
                        <a:ea typeface="Arial" charset="0"/>
                        <a:cs typeface="Arial" charset="0"/>
                      </a:endParaRPr>
                    </a:p>
                  </a:txBody>
                  <a:tcPr marL="49749" marR="49749" marT="49749" marB="49749">
                    <a:lnL w="12700" cap="flat" cmpd="sng" algn="ctr">
                      <a:solidFill>
                        <a:srgbClr val="161410"/>
                      </a:solidFill>
                      <a:prstDash val="solid"/>
                      <a:round/>
                      <a:headEnd type="none" w="med" len="med"/>
                      <a:tailEnd type="none" w="med" len="med"/>
                    </a:lnL>
                    <a:lnR w="12700" cap="flat" cmpd="sng" algn="ctr">
                      <a:solidFill>
                        <a:srgbClr val="161410"/>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161410"/>
                      </a:solidFill>
                      <a:prstDash val="solid"/>
                      <a:round/>
                      <a:headEnd type="none" w="med" len="med"/>
                      <a:tailEnd type="none" w="med" len="med"/>
                    </a:lnB>
                    <a:solidFill>
                      <a:srgbClr val="17140F"/>
                    </a:solidFill>
                  </a:tcPr>
                </a:tc>
                <a:tc>
                  <a:txBody>
                    <a:bodyPr/>
                    <a:lstStyle/>
                    <a:p>
                      <a:pPr marL="0" indent="0">
                        <a:lnSpc>
                          <a:spcPts val="1567"/>
                        </a:lnSpc>
                        <a:buNone/>
                      </a:pPr>
                      <a:r>
                        <a:rPr lang="en-US" sz="1119" b="1" dirty="0">
                          <a:solidFill>
                            <a:srgbClr val="F7F3EA"/>
                          </a:solidFill>
                          <a:latin typeface="Arial" pitchFamily="34" charset="0"/>
                          <a:ea typeface="Arial" pitchFamily="34" charset="-122"/>
                          <a:cs typeface="Arial" pitchFamily="34" charset="-120"/>
                        </a:rPr>
                        <a:t>Why it blocks us</a:t>
                      </a:r>
                      <a:endParaRPr lang="en-US" sz="1119" dirty="0">
                        <a:latin typeface="Arial" charset="0"/>
                        <a:ea typeface="Arial" charset="0"/>
                        <a:cs typeface="Arial" charset="0"/>
                      </a:endParaRPr>
                    </a:p>
                  </a:txBody>
                  <a:tcPr marL="49749" marR="49749" marT="49749" marB="49749">
                    <a:lnL w="12700" cap="flat" cmpd="sng" algn="ctr">
                      <a:solidFill>
                        <a:srgbClr val="161410"/>
                      </a:solidFill>
                      <a:prstDash val="solid"/>
                      <a:round/>
                      <a:headEnd type="none" w="med" len="med"/>
                      <a:tailEnd type="none" w="med" len="med"/>
                    </a:lnL>
                    <a:lnR w="12700" cap="flat" cmpd="sng" algn="ctr">
                      <a:solidFill>
                        <a:srgbClr val="161410"/>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161410"/>
                      </a:solidFill>
                      <a:prstDash val="solid"/>
                      <a:round/>
                      <a:headEnd type="none" w="med" len="med"/>
                      <a:tailEnd type="none" w="med" len="med"/>
                    </a:lnB>
                    <a:solidFill>
                      <a:srgbClr val="17140F"/>
                    </a:solidFill>
                  </a:tcPr>
                </a:tc>
                <a:extLst>
                  <a:ext uri="{0D108BD9-81ED-4DB2-BD59-A6C34878D82A}">
                    <a16:rowId xmlns:a16="http://schemas.microsoft.com/office/drawing/2014/main" val="10000"/>
                  </a:ext>
                </a:extLst>
              </a:tr>
              <a:tr h="308769">
                <a:tc>
                  <a:txBody>
                    <a:bodyPr/>
                    <a:lstStyle/>
                    <a:p>
                      <a:pPr marL="0" indent="0">
                        <a:lnSpc>
                          <a:spcPts val="1567"/>
                        </a:lnSpc>
                        <a:buNone/>
                      </a:pPr>
                      <a:r>
                        <a:rPr lang="en-US" sz="1119" dirty="0">
                          <a:solidFill>
                            <a:srgbClr val="17140F"/>
                          </a:solidFill>
                          <a:latin typeface="Arial" pitchFamily="34" charset="0"/>
                          <a:ea typeface="Arial" pitchFamily="34" charset="-122"/>
                          <a:cs typeface="Arial" pitchFamily="34" charset="-120"/>
                        </a:rPr>
                        <a:t>A decision on the brand territory</a:t>
                      </a:r>
                      <a:endParaRPr lang="en-US" sz="1119" dirty="0">
                        <a:latin typeface="Arial" charset="0"/>
                        <a:ea typeface="Arial" charset="0"/>
                        <a:cs typeface="Arial" charset="0"/>
                      </a:endParaRPr>
                    </a:p>
                  </a:txBody>
                  <a:tcPr marL="49749" marR="49749" marT="49749" marB="49749">
                    <a:lnL w="12700" cap="flat" cmpd="sng" algn="ctr">
                      <a:solidFill>
                        <a:srgbClr val="C5C2BB"/>
                      </a:solidFill>
                      <a:prstDash val="solid"/>
                      <a:round/>
                      <a:headEnd type="none" w="med" len="med"/>
                      <a:tailEnd type="none" w="med" len="med"/>
                    </a:lnL>
                    <a:lnR w="12700" cap="flat" cmpd="sng" algn="ctr">
                      <a:solidFill>
                        <a:srgbClr val="B9B4A9"/>
                      </a:solidFill>
                      <a:prstDash val="solid"/>
                      <a:round/>
                      <a:headEnd type="none" w="med" len="med"/>
                      <a:tailEnd type="none" w="med" len="med"/>
                    </a:lnR>
                    <a:lnT w="12700" cap="flat" cmpd="sng" algn="ctr">
                      <a:solidFill>
                        <a:srgbClr val="161410"/>
                      </a:solidFill>
                      <a:prstDash val="solid"/>
                      <a:round/>
                      <a:headEnd type="none" w="med" len="med"/>
                      <a:tailEnd type="none" w="med" len="med"/>
                    </a:lnT>
                    <a:lnB w="12700" cap="flat" cmpd="sng" algn="ctr">
                      <a:solidFill>
                        <a:srgbClr val="B9B4A9"/>
                      </a:solidFill>
                      <a:prstDash val="solid"/>
                      <a:round/>
                      <a:headEnd type="none" w="med" len="med"/>
                      <a:tailEnd type="none" w="med" len="med"/>
                    </a:lnB>
                    <a:solidFill>
                      <a:srgbClr val="E8E1D3"/>
                    </a:solidFill>
                  </a:tcPr>
                </a:tc>
                <a:tc>
                  <a:txBody>
                    <a:bodyPr/>
                    <a:lstStyle/>
                    <a:p>
                      <a:pPr marL="0" indent="0">
                        <a:lnSpc>
                          <a:spcPts val="1567"/>
                        </a:lnSpc>
                        <a:buNone/>
                      </a:pPr>
                      <a:r>
                        <a:rPr lang="en-US" sz="1119" dirty="0">
                          <a:solidFill>
                            <a:srgbClr val="17140F"/>
                          </a:solidFill>
                          <a:latin typeface="Arial" pitchFamily="34" charset="0"/>
                          <a:ea typeface="Arial" pitchFamily="34" charset="-122"/>
                          <a:cs typeface="Arial" pitchFamily="34" charset="-120"/>
                        </a:rPr>
                        <a:t>Today</a:t>
                      </a:r>
                      <a:endParaRPr lang="en-US" sz="1119" dirty="0">
                        <a:latin typeface="Arial" charset="0"/>
                        <a:ea typeface="Arial" charset="0"/>
                        <a:cs typeface="Arial" charset="0"/>
                      </a:endParaRPr>
                    </a:p>
                  </a:txBody>
                  <a:tcPr marL="49749" marR="49749" marT="49749" marB="49749">
                    <a:lnL w="12700" cap="flat" cmpd="sng" algn="ctr">
                      <a:solidFill>
                        <a:srgbClr val="B9B4A9"/>
                      </a:solidFill>
                      <a:prstDash val="solid"/>
                      <a:round/>
                      <a:headEnd type="none" w="med" len="med"/>
                      <a:tailEnd type="none" w="med" len="med"/>
                    </a:lnL>
                    <a:lnR w="12700" cap="flat" cmpd="sng" algn="ctr">
                      <a:solidFill>
                        <a:srgbClr val="B9B4A9"/>
                      </a:solidFill>
                      <a:prstDash val="solid"/>
                      <a:round/>
                      <a:headEnd type="none" w="med" len="med"/>
                      <a:tailEnd type="none" w="med" len="med"/>
                    </a:lnR>
                    <a:lnT w="12700" cap="flat" cmpd="sng" algn="ctr">
                      <a:solidFill>
                        <a:srgbClr val="161410"/>
                      </a:solidFill>
                      <a:prstDash val="solid"/>
                      <a:round/>
                      <a:headEnd type="none" w="med" len="med"/>
                      <a:tailEnd type="none" w="med" len="med"/>
                    </a:lnT>
                    <a:lnB w="12700" cap="flat" cmpd="sng" algn="ctr">
                      <a:solidFill>
                        <a:srgbClr val="B9B4A9"/>
                      </a:solidFill>
                      <a:prstDash val="solid"/>
                      <a:round/>
                      <a:headEnd type="none" w="med" len="med"/>
                      <a:tailEnd type="none" w="med" len="med"/>
                    </a:lnB>
                    <a:solidFill>
                      <a:srgbClr val="E8E1D3"/>
                    </a:solidFill>
                  </a:tcPr>
                </a:tc>
                <a:tc>
                  <a:txBody>
                    <a:bodyPr/>
                    <a:lstStyle/>
                    <a:p>
                      <a:pPr marL="0" indent="0">
                        <a:lnSpc>
                          <a:spcPts val="1567"/>
                        </a:lnSpc>
                        <a:buNone/>
                      </a:pPr>
                      <a:r>
                        <a:rPr lang="en-US" sz="1119" dirty="0">
                          <a:solidFill>
                            <a:srgbClr val="17140F"/>
                          </a:solidFill>
                          <a:latin typeface="Arial" pitchFamily="34" charset="0"/>
                          <a:ea typeface="Arial" pitchFamily="34" charset="-122"/>
                          <a:cs typeface="Arial" pitchFamily="34" charset="-120"/>
                        </a:rPr>
                        <a:t>Both follow-on decks are built on it</a:t>
                      </a:r>
                      <a:endParaRPr lang="en-US" sz="1119" dirty="0">
                        <a:latin typeface="Arial" charset="0"/>
                        <a:ea typeface="Arial" charset="0"/>
                        <a:cs typeface="Arial" charset="0"/>
                      </a:endParaRPr>
                    </a:p>
                  </a:txBody>
                  <a:tcPr marL="49749" marR="49749" marT="49749" marB="49749">
                    <a:lnL w="12700" cap="flat" cmpd="sng" algn="ctr">
                      <a:solidFill>
                        <a:srgbClr val="B9B4A9"/>
                      </a:solidFill>
                      <a:prstDash val="solid"/>
                      <a:round/>
                      <a:headEnd type="none" w="med" len="med"/>
                      <a:tailEnd type="none" w="med" len="med"/>
                    </a:lnL>
                    <a:lnR w="12700" cap="flat" cmpd="sng" algn="ctr">
                      <a:solidFill>
                        <a:srgbClr val="B9B4A9"/>
                      </a:solidFill>
                      <a:prstDash val="solid"/>
                      <a:round/>
                      <a:headEnd type="none" w="med" len="med"/>
                      <a:tailEnd type="none" w="med" len="med"/>
                    </a:lnR>
                    <a:lnT w="12700" cap="flat" cmpd="sng" algn="ctr">
                      <a:solidFill>
                        <a:srgbClr val="161410"/>
                      </a:solidFill>
                      <a:prstDash val="solid"/>
                      <a:round/>
                      <a:headEnd type="none" w="med" len="med"/>
                      <a:tailEnd type="none" w="med" len="med"/>
                    </a:lnT>
                    <a:lnB w="12700" cap="flat" cmpd="sng" algn="ctr">
                      <a:solidFill>
                        <a:srgbClr val="B9B4A9"/>
                      </a:solidFill>
                      <a:prstDash val="solid"/>
                      <a:round/>
                      <a:headEnd type="none" w="med" len="med"/>
                      <a:tailEnd type="none" w="med" len="med"/>
                    </a:lnB>
                    <a:solidFill>
                      <a:srgbClr val="E8E1D3"/>
                    </a:solidFill>
                  </a:tcPr>
                </a:tc>
                <a:extLst>
                  <a:ext uri="{0D108BD9-81ED-4DB2-BD59-A6C34878D82A}">
                    <a16:rowId xmlns:a16="http://schemas.microsoft.com/office/drawing/2014/main" val="10001"/>
                  </a:ext>
                </a:extLst>
              </a:tr>
              <a:tr h="308769">
                <a:tc>
                  <a:txBody>
                    <a:bodyPr/>
                    <a:lstStyle/>
                    <a:p>
                      <a:pPr marL="0" indent="0">
                        <a:lnSpc>
                          <a:spcPts val="1567"/>
                        </a:lnSpc>
                        <a:buNone/>
                      </a:pPr>
                      <a:r>
                        <a:rPr lang="en-US" sz="1119" dirty="0">
                          <a:solidFill>
                            <a:srgbClr val="17140F"/>
                          </a:solidFill>
                          <a:latin typeface="Arial" pitchFamily="34" charset="0"/>
                          <a:ea typeface="Arial" pitchFamily="34" charset="-122"/>
                          <a:cs typeface="Arial" pitchFamily="34" charset="-120"/>
                        </a:rPr>
                        <a:t>Admin access to Meta, Google, the site and Djubo</a:t>
                      </a:r>
                      <a:endParaRPr lang="en-US" sz="1119" dirty="0">
                        <a:latin typeface="Arial" charset="0"/>
                        <a:ea typeface="Arial" charset="0"/>
                        <a:cs typeface="Arial" charset="0"/>
                      </a:endParaRPr>
                    </a:p>
                  </a:txBody>
                  <a:tcPr marL="49749" marR="49749" marT="49749" marB="49749">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B9B4A9"/>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567"/>
                        </a:lnSpc>
                        <a:buNone/>
                      </a:pPr>
                      <a:r>
                        <a:rPr lang="en-US" sz="1119" dirty="0">
                          <a:solidFill>
                            <a:srgbClr val="17140F"/>
                          </a:solidFill>
                          <a:latin typeface="Arial" pitchFamily="34" charset="0"/>
                          <a:ea typeface="Arial" pitchFamily="34" charset="-122"/>
                          <a:cs typeface="Arial" pitchFamily="34" charset="-120"/>
                        </a:rPr>
                        <a:t>Week 1</a:t>
                      </a:r>
                      <a:endParaRPr lang="en-US" sz="1119" dirty="0">
                        <a:latin typeface="Arial" charset="0"/>
                        <a:ea typeface="Arial" charset="0"/>
                        <a:cs typeface="Arial" charset="0"/>
                      </a:endParaRPr>
                    </a:p>
                  </a:txBody>
                  <a:tcPr marL="49749" marR="49749" marT="49749" marB="49749">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B9B4A9"/>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567"/>
                        </a:lnSpc>
                        <a:buNone/>
                      </a:pPr>
                      <a:r>
                        <a:rPr lang="en-US" sz="1119" dirty="0">
                          <a:solidFill>
                            <a:srgbClr val="5C5344"/>
                          </a:solidFill>
                          <a:latin typeface="Arial" pitchFamily="34" charset="0"/>
                          <a:ea typeface="Arial" pitchFamily="34" charset="-122"/>
                          <a:cs typeface="Arial" pitchFamily="34" charset="-120"/>
                        </a:rPr>
                        <a:t>Nothing in the fix list can start without it</a:t>
                      </a:r>
                      <a:endParaRPr lang="en-US" sz="1119" dirty="0">
                        <a:latin typeface="Arial" charset="0"/>
                        <a:ea typeface="Arial" charset="0"/>
                        <a:cs typeface="Arial" charset="0"/>
                      </a:endParaRPr>
                    </a:p>
                  </a:txBody>
                  <a:tcPr marL="49749" marR="49749" marT="49749" marB="49749">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B9B4A9"/>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extLst>
                  <a:ext uri="{0D108BD9-81ED-4DB2-BD59-A6C34878D82A}">
                    <a16:rowId xmlns:a16="http://schemas.microsoft.com/office/drawing/2014/main" val="10002"/>
                  </a:ext>
                </a:extLst>
              </a:tr>
              <a:tr h="308769">
                <a:tc>
                  <a:txBody>
                    <a:bodyPr/>
                    <a:lstStyle/>
                    <a:p>
                      <a:pPr marL="0" indent="0">
                        <a:lnSpc>
                          <a:spcPts val="1567"/>
                        </a:lnSpc>
                        <a:buNone/>
                      </a:pPr>
                      <a:r>
                        <a:rPr lang="en-US" sz="1119" dirty="0">
                          <a:solidFill>
                            <a:srgbClr val="17140F"/>
                          </a:solidFill>
                          <a:latin typeface="Arial" pitchFamily="34" charset="0"/>
                          <a:ea typeface="Arial" pitchFamily="34" charset="-122"/>
                          <a:cs typeface="Arial" pitchFamily="34" charset="-120"/>
                        </a:rPr>
                        <a:t>Confirmation of which Meta pixel is canonical</a:t>
                      </a:r>
                      <a:endParaRPr lang="en-US" sz="1119" dirty="0">
                        <a:latin typeface="Arial" charset="0"/>
                        <a:ea typeface="Arial" charset="0"/>
                        <a:cs typeface="Arial" charset="0"/>
                      </a:endParaRPr>
                    </a:p>
                  </a:txBody>
                  <a:tcPr marL="49749" marR="49749" marT="49749" marB="49749">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567"/>
                        </a:lnSpc>
                        <a:buNone/>
                      </a:pPr>
                      <a:r>
                        <a:rPr lang="en-US" sz="1119" dirty="0">
                          <a:solidFill>
                            <a:srgbClr val="17140F"/>
                          </a:solidFill>
                          <a:latin typeface="Arial" pitchFamily="34" charset="0"/>
                          <a:ea typeface="Arial" pitchFamily="34" charset="-122"/>
                          <a:cs typeface="Arial" pitchFamily="34" charset="-120"/>
                        </a:rPr>
                        <a:t>Week 1</a:t>
                      </a:r>
                      <a:endParaRPr lang="en-US" sz="1119" dirty="0">
                        <a:latin typeface="Arial" charset="0"/>
                        <a:ea typeface="Arial" charset="0"/>
                        <a:cs typeface="Arial" charset="0"/>
                      </a:endParaRPr>
                    </a:p>
                  </a:txBody>
                  <a:tcPr marL="49749" marR="49749" marT="49749" marB="49749">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567"/>
                        </a:lnSpc>
                        <a:buNone/>
                      </a:pPr>
                      <a:r>
                        <a:rPr lang="en-US" sz="1119" dirty="0">
                          <a:solidFill>
                            <a:srgbClr val="5C5344"/>
                          </a:solidFill>
                          <a:latin typeface="Arial" pitchFamily="34" charset="0"/>
                          <a:ea typeface="Arial" pitchFamily="34" charset="-122"/>
                          <a:cs typeface="Arial" pitchFamily="34" charset="-120"/>
                        </a:rPr>
                        <a:t>Reporting stays unreliable until resolved</a:t>
                      </a:r>
                      <a:endParaRPr lang="en-US" sz="1119" dirty="0">
                        <a:latin typeface="Arial" charset="0"/>
                        <a:ea typeface="Arial" charset="0"/>
                        <a:cs typeface="Arial" charset="0"/>
                      </a:endParaRPr>
                    </a:p>
                  </a:txBody>
                  <a:tcPr marL="49749" marR="49749" marT="49749" marB="49749">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extLst>
                  <a:ext uri="{0D108BD9-81ED-4DB2-BD59-A6C34878D82A}">
                    <a16:rowId xmlns:a16="http://schemas.microsoft.com/office/drawing/2014/main" val="10003"/>
                  </a:ext>
                </a:extLst>
              </a:tr>
              <a:tr h="308769">
                <a:tc>
                  <a:txBody>
                    <a:bodyPr/>
                    <a:lstStyle/>
                    <a:p>
                      <a:pPr marL="0" indent="0">
                        <a:lnSpc>
                          <a:spcPts val="1567"/>
                        </a:lnSpc>
                        <a:buNone/>
                      </a:pPr>
                      <a:r>
                        <a:rPr lang="en-US" sz="1119" dirty="0">
                          <a:solidFill>
                            <a:srgbClr val="17140F"/>
                          </a:solidFill>
                          <a:latin typeface="Arial" pitchFamily="34" charset="0"/>
                          <a:ea typeface="Arial" pitchFamily="34" charset="-122"/>
                          <a:cs typeface="Arial" pitchFamily="34" charset="-120"/>
                        </a:rPr>
                        <a:t>Whether Djubo can be embedded on your plan</a:t>
                      </a:r>
                      <a:endParaRPr lang="en-US" sz="1119" dirty="0">
                        <a:latin typeface="Arial" charset="0"/>
                        <a:ea typeface="Arial" charset="0"/>
                        <a:cs typeface="Arial" charset="0"/>
                      </a:endParaRPr>
                    </a:p>
                  </a:txBody>
                  <a:tcPr marL="49749" marR="49749" marT="49749" marB="49749">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567"/>
                        </a:lnSpc>
                        <a:buNone/>
                      </a:pPr>
                      <a:r>
                        <a:rPr lang="en-US" sz="1119" dirty="0">
                          <a:solidFill>
                            <a:srgbClr val="17140F"/>
                          </a:solidFill>
                          <a:latin typeface="Arial" pitchFamily="34" charset="0"/>
                          <a:ea typeface="Arial" pitchFamily="34" charset="-122"/>
                          <a:cs typeface="Arial" pitchFamily="34" charset="-120"/>
                        </a:rPr>
                        <a:t>Week 1</a:t>
                      </a:r>
                      <a:endParaRPr lang="en-US" sz="1119" dirty="0">
                        <a:latin typeface="Arial" charset="0"/>
                        <a:ea typeface="Arial" charset="0"/>
                        <a:cs typeface="Arial" charset="0"/>
                      </a:endParaRPr>
                    </a:p>
                  </a:txBody>
                  <a:tcPr marL="49749" marR="49749" marT="49749" marB="49749">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567"/>
                        </a:lnSpc>
                        <a:buNone/>
                      </a:pPr>
                      <a:r>
                        <a:rPr lang="en-US" sz="1119" dirty="0">
                          <a:solidFill>
                            <a:srgbClr val="5C5344"/>
                          </a:solidFill>
                          <a:latin typeface="Arial" pitchFamily="34" charset="0"/>
                          <a:ea typeface="Arial" pitchFamily="34" charset="-122"/>
                          <a:cs typeface="Arial" pitchFamily="34" charset="-120"/>
                        </a:rPr>
                        <a:t>Decides the booking event route</a:t>
                      </a:r>
                      <a:endParaRPr lang="en-US" sz="1119" dirty="0">
                        <a:latin typeface="Arial" charset="0"/>
                        <a:ea typeface="Arial" charset="0"/>
                        <a:cs typeface="Arial" charset="0"/>
                      </a:endParaRPr>
                    </a:p>
                  </a:txBody>
                  <a:tcPr marL="49749" marR="49749" marT="49749" marB="49749">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extLst>
                  <a:ext uri="{0D108BD9-81ED-4DB2-BD59-A6C34878D82A}">
                    <a16:rowId xmlns:a16="http://schemas.microsoft.com/office/drawing/2014/main" val="10004"/>
                  </a:ext>
                </a:extLst>
              </a:tr>
              <a:tr h="507762">
                <a:tc>
                  <a:txBody>
                    <a:bodyPr/>
                    <a:lstStyle/>
                    <a:p>
                      <a:pPr marL="0" indent="0">
                        <a:lnSpc>
                          <a:spcPts val="1567"/>
                        </a:lnSpc>
                        <a:buNone/>
                      </a:pPr>
                      <a:r>
                        <a:rPr lang="en-US" sz="1119" dirty="0">
                          <a:solidFill>
                            <a:srgbClr val="17140F"/>
                          </a:solidFill>
                          <a:latin typeface="Arial" pitchFamily="34" charset="0"/>
                          <a:ea typeface="Arial" pitchFamily="34" charset="-122"/>
                          <a:cs typeface="Arial" pitchFamily="34" charset="-120"/>
                        </a:rPr>
                        <a:t>A named CRM owner at the resort</a:t>
                      </a:r>
                      <a:endParaRPr lang="en-US" sz="1119" dirty="0">
                        <a:latin typeface="Arial" charset="0"/>
                        <a:ea typeface="Arial" charset="0"/>
                        <a:cs typeface="Arial" charset="0"/>
                      </a:endParaRPr>
                    </a:p>
                  </a:txBody>
                  <a:tcPr marL="49749" marR="49749" marT="49749" marB="49749">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567"/>
                        </a:lnSpc>
                        <a:buNone/>
                      </a:pPr>
                      <a:r>
                        <a:rPr lang="en-US" sz="1119" dirty="0">
                          <a:solidFill>
                            <a:srgbClr val="17140F"/>
                          </a:solidFill>
                          <a:latin typeface="Arial" pitchFamily="34" charset="0"/>
                          <a:ea typeface="Arial" pitchFamily="34" charset="-122"/>
                          <a:cs typeface="Arial" pitchFamily="34" charset="-120"/>
                        </a:rPr>
                        <a:t>Week 1</a:t>
                      </a:r>
                      <a:endParaRPr lang="en-US" sz="1119" dirty="0">
                        <a:latin typeface="Arial" charset="0"/>
                        <a:ea typeface="Arial" charset="0"/>
                        <a:cs typeface="Arial" charset="0"/>
                      </a:endParaRPr>
                    </a:p>
                  </a:txBody>
                  <a:tcPr marL="49749" marR="49749" marT="49749" marB="49749">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567"/>
                        </a:lnSpc>
                        <a:buNone/>
                      </a:pPr>
                      <a:r>
                        <a:rPr lang="en-US" sz="1119" dirty="0">
                          <a:solidFill>
                            <a:srgbClr val="5C5344"/>
                          </a:solidFill>
                          <a:latin typeface="Arial" pitchFamily="34" charset="0"/>
                          <a:ea typeface="Arial" pitchFamily="34" charset="-122"/>
                          <a:cs typeface="Arial" pitchFamily="34" charset="-120"/>
                        </a:rPr>
                        <a:t>A CRM without an owner becomes an empty database</a:t>
                      </a:r>
                      <a:endParaRPr lang="en-US" sz="1119" dirty="0">
                        <a:latin typeface="Arial" charset="0"/>
                        <a:ea typeface="Arial" charset="0"/>
                        <a:cs typeface="Arial" charset="0"/>
                      </a:endParaRPr>
                    </a:p>
                  </a:txBody>
                  <a:tcPr marL="49749" marR="49749" marT="49749" marB="49749">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extLst>
                  <a:ext uri="{0D108BD9-81ED-4DB2-BD59-A6C34878D82A}">
                    <a16:rowId xmlns:a16="http://schemas.microsoft.com/office/drawing/2014/main" val="10005"/>
                  </a:ext>
                </a:extLst>
              </a:tr>
              <a:tr h="308769">
                <a:tc>
                  <a:txBody>
                    <a:bodyPr/>
                    <a:lstStyle/>
                    <a:p>
                      <a:pPr marL="0" indent="0">
                        <a:lnSpc>
                          <a:spcPts val="1567"/>
                        </a:lnSpc>
                        <a:buNone/>
                      </a:pPr>
                      <a:r>
                        <a:rPr lang="en-US" sz="1119" dirty="0">
                          <a:solidFill>
                            <a:srgbClr val="17140F"/>
                          </a:solidFill>
                          <a:latin typeface="Arial" pitchFamily="34" charset="0"/>
                          <a:ea typeface="Arial" pitchFamily="34" charset="-122"/>
                          <a:cs typeface="Arial" pitchFamily="34" charset="-120"/>
                        </a:rPr>
                        <a:t>Booking mix by product, last 12 months</a:t>
                      </a:r>
                      <a:endParaRPr lang="en-US" sz="1119" dirty="0">
                        <a:latin typeface="Arial" charset="0"/>
                        <a:ea typeface="Arial" charset="0"/>
                        <a:cs typeface="Arial" charset="0"/>
                      </a:endParaRPr>
                    </a:p>
                  </a:txBody>
                  <a:tcPr marL="49749" marR="49749" marT="49749" marB="49749">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567"/>
                        </a:lnSpc>
                        <a:buNone/>
                      </a:pPr>
                      <a:r>
                        <a:rPr lang="en-US" sz="1119" dirty="0">
                          <a:solidFill>
                            <a:srgbClr val="17140F"/>
                          </a:solidFill>
                          <a:latin typeface="Arial" pitchFamily="34" charset="0"/>
                          <a:ea typeface="Arial" pitchFamily="34" charset="-122"/>
                          <a:cs typeface="Arial" pitchFamily="34" charset="-120"/>
                        </a:rPr>
                        <a:t>Week 2</a:t>
                      </a:r>
                      <a:endParaRPr lang="en-US" sz="1119" dirty="0">
                        <a:latin typeface="Arial" charset="0"/>
                        <a:ea typeface="Arial" charset="0"/>
                        <a:cs typeface="Arial" charset="0"/>
                      </a:endParaRPr>
                    </a:p>
                  </a:txBody>
                  <a:tcPr marL="49749" marR="49749" marT="49749" marB="49749">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567"/>
                        </a:lnSpc>
                        <a:buNone/>
                      </a:pPr>
                      <a:r>
                        <a:rPr lang="en-US" sz="1119" dirty="0">
                          <a:solidFill>
                            <a:srgbClr val="5C5344"/>
                          </a:solidFill>
                          <a:latin typeface="Arial" pitchFamily="34" charset="0"/>
                          <a:ea typeface="Arial" pitchFamily="34" charset="-122"/>
                          <a:cs typeface="Arial" pitchFamily="34" charset="-120"/>
                        </a:rPr>
                        <a:t>Confirms or kills the rain-dance reading</a:t>
                      </a:r>
                      <a:endParaRPr lang="en-US" sz="1119" dirty="0">
                        <a:latin typeface="Arial" charset="0"/>
                        <a:ea typeface="Arial" charset="0"/>
                        <a:cs typeface="Arial" charset="0"/>
                      </a:endParaRPr>
                    </a:p>
                  </a:txBody>
                  <a:tcPr marL="49749" marR="49749" marT="49749" marB="49749">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extLst>
                  <a:ext uri="{0D108BD9-81ED-4DB2-BD59-A6C34878D82A}">
                    <a16:rowId xmlns:a16="http://schemas.microsoft.com/office/drawing/2014/main" val="10006"/>
                  </a:ext>
                </a:extLst>
              </a:tr>
              <a:tr h="308769">
                <a:tc>
                  <a:txBody>
                    <a:bodyPr/>
                    <a:lstStyle/>
                    <a:p>
                      <a:pPr marL="0" indent="0">
                        <a:lnSpc>
                          <a:spcPts val="1567"/>
                        </a:lnSpc>
                        <a:buNone/>
                      </a:pPr>
                      <a:r>
                        <a:rPr lang="en-US" sz="1119" dirty="0">
                          <a:solidFill>
                            <a:srgbClr val="17140F"/>
                          </a:solidFill>
                          <a:latin typeface="Arial" pitchFamily="34" charset="0"/>
                          <a:ea typeface="Arial" pitchFamily="34" charset="-122"/>
                          <a:cs typeface="Arial" pitchFamily="34" charset="-120"/>
                        </a:rPr>
                        <a:t>Enquiry sources and weekday occupancy</a:t>
                      </a:r>
                      <a:endParaRPr lang="en-US" sz="1119" dirty="0">
                        <a:latin typeface="Arial" charset="0"/>
                        <a:ea typeface="Arial" charset="0"/>
                        <a:cs typeface="Arial" charset="0"/>
                      </a:endParaRPr>
                    </a:p>
                  </a:txBody>
                  <a:tcPr marL="49749" marR="49749" marT="49749" marB="49749">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567"/>
                        </a:lnSpc>
                        <a:buNone/>
                      </a:pPr>
                      <a:r>
                        <a:rPr lang="en-US" sz="1119" dirty="0">
                          <a:solidFill>
                            <a:srgbClr val="17140F"/>
                          </a:solidFill>
                          <a:latin typeface="Arial" pitchFamily="34" charset="0"/>
                          <a:ea typeface="Arial" pitchFamily="34" charset="-122"/>
                          <a:cs typeface="Arial" pitchFamily="34" charset="-120"/>
                        </a:rPr>
                        <a:t>Week 2</a:t>
                      </a:r>
                      <a:endParaRPr lang="en-US" sz="1119" dirty="0">
                        <a:latin typeface="Arial" charset="0"/>
                        <a:ea typeface="Arial" charset="0"/>
                        <a:cs typeface="Arial" charset="0"/>
                      </a:endParaRPr>
                    </a:p>
                  </a:txBody>
                  <a:tcPr marL="49749" marR="49749" marT="49749" marB="49749">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567"/>
                        </a:lnSpc>
                        <a:buNone/>
                      </a:pPr>
                      <a:r>
                        <a:rPr lang="en-US" sz="1119" dirty="0">
                          <a:solidFill>
                            <a:srgbClr val="5C5344"/>
                          </a:solidFill>
                          <a:latin typeface="Arial" pitchFamily="34" charset="0"/>
                          <a:ea typeface="Arial" pitchFamily="34" charset="-122"/>
                          <a:cs typeface="Arial" pitchFamily="34" charset="-120"/>
                        </a:rPr>
                        <a:t>Sets the baseline we will be judged against</a:t>
                      </a:r>
                      <a:endParaRPr lang="en-US" sz="1119" dirty="0">
                        <a:latin typeface="Arial" charset="0"/>
                        <a:ea typeface="Arial" charset="0"/>
                        <a:cs typeface="Arial" charset="0"/>
                      </a:endParaRPr>
                    </a:p>
                  </a:txBody>
                  <a:tcPr marL="49749" marR="49749" marT="49749" marB="49749">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extLst>
                  <a:ext uri="{0D108BD9-81ED-4DB2-BD59-A6C34878D82A}">
                    <a16:rowId xmlns:a16="http://schemas.microsoft.com/office/drawing/2014/main" val="10007"/>
                  </a:ext>
                </a:extLst>
              </a:tr>
              <a:tr h="308769">
                <a:tc>
                  <a:txBody>
                    <a:bodyPr/>
                    <a:lstStyle/>
                    <a:p>
                      <a:pPr marL="0" indent="0">
                        <a:lnSpc>
                          <a:spcPts val="1567"/>
                        </a:lnSpc>
                        <a:buNone/>
                      </a:pPr>
                      <a:r>
                        <a:rPr lang="en-US" sz="1119" dirty="0">
                          <a:solidFill>
                            <a:srgbClr val="17140F"/>
                          </a:solidFill>
                          <a:latin typeface="Arial" pitchFamily="34" charset="0"/>
                          <a:ea typeface="Arial" pitchFamily="34" charset="-122"/>
                          <a:cs typeface="Arial" pitchFamily="34" charset="-120"/>
                        </a:rPr>
                        <a:t>Photography and video of the cave interiors, the amphitheatre and the spa</a:t>
                      </a:r>
                      <a:endParaRPr lang="en-US" sz="1119" dirty="0">
                        <a:latin typeface="Arial" charset="0"/>
                        <a:ea typeface="Arial" charset="0"/>
                        <a:cs typeface="Arial" charset="0"/>
                      </a:endParaRPr>
                    </a:p>
                  </a:txBody>
                  <a:tcPr marL="49749" marR="49749" marT="49749" marB="49749">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567"/>
                        </a:lnSpc>
                        <a:buNone/>
                      </a:pPr>
                      <a:r>
                        <a:rPr lang="en-US" sz="1119" dirty="0">
                          <a:solidFill>
                            <a:srgbClr val="17140F"/>
                          </a:solidFill>
                          <a:latin typeface="Arial" pitchFamily="34" charset="0"/>
                          <a:ea typeface="Arial" pitchFamily="34" charset="-122"/>
                          <a:cs typeface="Arial" pitchFamily="34" charset="-120"/>
                        </a:rPr>
                        <a:t>Week 2</a:t>
                      </a:r>
                      <a:endParaRPr lang="en-US" sz="1119" dirty="0">
                        <a:latin typeface="Arial" charset="0"/>
                        <a:ea typeface="Arial" charset="0"/>
                        <a:cs typeface="Arial" charset="0"/>
                      </a:endParaRPr>
                    </a:p>
                  </a:txBody>
                  <a:tcPr marL="49749" marR="49749" marT="49749" marB="49749">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567"/>
                        </a:lnSpc>
                        <a:buNone/>
                      </a:pPr>
                      <a:r>
                        <a:rPr lang="en-US" sz="1119" dirty="0">
                          <a:solidFill>
                            <a:srgbClr val="5C5344"/>
                          </a:solidFill>
                          <a:latin typeface="Arial" pitchFamily="34" charset="0"/>
                          <a:ea typeface="Arial" pitchFamily="34" charset="-122"/>
                          <a:cs typeface="Arial" pitchFamily="34" charset="-120"/>
                        </a:rPr>
                        <a:t>The brand story cannot be told without it</a:t>
                      </a:r>
                      <a:endParaRPr lang="en-US" sz="1119" dirty="0">
                        <a:latin typeface="Arial" charset="0"/>
                        <a:ea typeface="Arial" charset="0"/>
                        <a:cs typeface="Arial" charset="0"/>
                      </a:endParaRPr>
                    </a:p>
                  </a:txBody>
                  <a:tcPr marL="49749" marR="49749" marT="49749" marB="49749">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extLst>
                  <a:ext uri="{0D108BD9-81ED-4DB2-BD59-A6C34878D82A}">
                    <a16:rowId xmlns:a16="http://schemas.microsoft.com/office/drawing/2014/main" val="10008"/>
                  </a:ext>
                </a:extLst>
              </a:tr>
              <a:tr h="507841">
                <a:tc>
                  <a:txBody>
                    <a:bodyPr/>
                    <a:lstStyle/>
                    <a:p>
                      <a:pPr marL="0" indent="0">
                        <a:lnSpc>
                          <a:spcPts val="1567"/>
                        </a:lnSpc>
                        <a:buNone/>
                      </a:pPr>
                      <a:r>
                        <a:rPr lang="en-US" sz="1119" dirty="0">
                          <a:solidFill>
                            <a:srgbClr val="17140F"/>
                          </a:solidFill>
                          <a:latin typeface="Arial" pitchFamily="34" charset="0"/>
                          <a:ea typeface="Arial" pitchFamily="34" charset="-122"/>
                          <a:cs typeface="Arial" pitchFamily="34" charset="-120"/>
                        </a:rPr>
                        <a:t>Thirty minutes with whoever built the cave</a:t>
                      </a:r>
                      <a:endParaRPr lang="en-US" sz="1119" dirty="0">
                        <a:latin typeface="Arial" charset="0"/>
                        <a:ea typeface="Arial" charset="0"/>
                        <a:cs typeface="Arial" charset="0"/>
                      </a:endParaRPr>
                    </a:p>
                  </a:txBody>
                  <a:tcPr marL="49749" marR="49749" marT="49749" marB="49749">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567"/>
                        </a:lnSpc>
                        <a:buNone/>
                      </a:pPr>
                      <a:r>
                        <a:rPr lang="en-US" sz="1119" dirty="0">
                          <a:solidFill>
                            <a:srgbClr val="17140F"/>
                          </a:solidFill>
                          <a:latin typeface="Arial" pitchFamily="34" charset="0"/>
                          <a:ea typeface="Arial" pitchFamily="34" charset="-122"/>
                          <a:cs typeface="Arial" pitchFamily="34" charset="-120"/>
                        </a:rPr>
                        <a:t>Week 3</a:t>
                      </a:r>
                      <a:endParaRPr lang="en-US" sz="1119" dirty="0">
                        <a:latin typeface="Arial" charset="0"/>
                        <a:ea typeface="Arial" charset="0"/>
                        <a:cs typeface="Arial" charset="0"/>
                      </a:endParaRPr>
                    </a:p>
                  </a:txBody>
                  <a:tcPr marL="49749" marR="49749" marT="49749" marB="49749">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marL="0" indent="0">
                        <a:lnSpc>
                          <a:spcPts val="1567"/>
                        </a:lnSpc>
                        <a:buNone/>
                      </a:pPr>
                      <a:r>
                        <a:rPr lang="en-US" sz="1119" dirty="0">
                          <a:solidFill>
                            <a:srgbClr val="5C5344"/>
                          </a:solidFill>
                          <a:latin typeface="Arial" pitchFamily="34" charset="0"/>
                          <a:ea typeface="Arial" pitchFamily="34" charset="-122"/>
                          <a:cs typeface="Arial" pitchFamily="34" charset="-120"/>
                        </a:rPr>
                        <a:t>The origin story is undocumented and it is your most valuable asset</a:t>
                      </a:r>
                      <a:endParaRPr lang="en-US" sz="1119" dirty="0">
                        <a:latin typeface="Arial" charset="0"/>
                        <a:ea typeface="Arial" charset="0"/>
                        <a:cs typeface="Arial" charset="0"/>
                      </a:endParaRPr>
                    </a:p>
                  </a:txBody>
                  <a:tcPr marL="49749" marR="49749" marT="49749" marB="49749">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4" name="Text 1"/>
          <p:cNvSpPr/>
          <p:nvPr/>
        </p:nvSpPr>
        <p:spPr>
          <a:xfrm>
            <a:off x="812800" y="5225752"/>
            <a:ext cx="10333990" cy="641668"/>
          </a:xfrm>
          <a:prstGeom prst="rect">
            <a:avLst/>
          </a:prstGeom>
          <a:noFill/>
          <a:ln/>
        </p:spPr>
        <p:txBody>
          <a:bodyPr wrap="square" lIns="0" tIns="0" rIns="0" bIns="0" rtlCol="0" anchor="t">
            <a:normAutofit/>
          </a:bodyPr>
          <a:lstStyle/>
          <a:p>
            <a:pPr marL="0" indent="0" algn="l">
              <a:lnSpc>
                <a:spcPts val="2226"/>
              </a:lnSpc>
              <a:buNone/>
            </a:pPr>
            <a:r>
              <a:rPr lang="en-US" sz="1535" dirty="0">
                <a:solidFill>
                  <a:srgbClr val="5C5344"/>
                </a:solidFill>
                <a:latin typeface="Arial" pitchFamily="34" charset="0"/>
                <a:ea typeface="Arial" pitchFamily="34" charset="-122"/>
                <a:cs typeface="Arial" pitchFamily="34" charset="-120"/>
              </a:rPr>
              <a:t>The last one matters more than it sounds. Who built it, when, why, what it was before, what "Guhantara" means, who chose the Sanskrit names — none of it exists in writing anywhere. It is the one story no competitor can ever tell.</a:t>
            </a:r>
            <a:endParaRPr lang="en-US" sz="1535" dirty="0"/>
          </a:p>
        </p:txBody>
      </p:sp>
      <p:sp>
        <p:nvSpPr>
          <p:cNvPr id="5" name="Text 2"/>
          <p:cNvSpPr/>
          <p:nvPr/>
        </p:nvSpPr>
        <p:spPr>
          <a:xfrm>
            <a:off x="812800" y="6238230"/>
            <a:ext cx="547946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071"/>
                </a:solidFill>
                <a:latin typeface="Arial" pitchFamily="34" charset="0"/>
                <a:ea typeface="Arial" pitchFamily="34" charset="-122"/>
                <a:cs typeface="Arial" pitchFamily="34" charset="-120"/>
              </a:rPr>
              <a:t>Everything above is either a decision or an access request. None of it is a cost.</a:t>
            </a:r>
            <a:endParaRPr lang="en-US" sz="12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68">
    <p:bg>
      <p:bgPr>
        <a:solidFill>
          <a:srgbClr val="17140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kern="0" spc="200" dirty="0">
                <a:solidFill>
                  <a:srgbClr val="C9A63C"/>
                </a:solidFill>
                <a:latin typeface="Arial" pitchFamily="34" charset="0"/>
                <a:ea typeface="Arial" pitchFamily="34" charset="-122"/>
                <a:cs typeface="Arial" pitchFamily="34" charset="-120"/>
              </a:rPr>
              <a:t>ALTTRED NEXXUS  ×  GUHANTARA</a:t>
            </a:r>
            <a:endParaRPr lang="en-US" sz="1300" dirty="0"/>
          </a:p>
        </p:txBody>
      </p:sp>
      <p:sp>
        <p:nvSpPr>
          <p:cNvPr id="3" name="Text 1"/>
          <p:cNvSpPr/>
          <p:nvPr/>
        </p:nvSpPr>
        <p:spPr>
          <a:xfrm>
            <a:off x="812800" y="1598960"/>
            <a:ext cx="10595610" cy="2425700"/>
          </a:xfrm>
          <a:prstGeom prst="rect">
            <a:avLst/>
          </a:prstGeom>
          <a:noFill/>
          <a:ln/>
        </p:spPr>
        <p:txBody>
          <a:bodyPr wrap="square" lIns="0" tIns="0" rIns="0" bIns="0" rtlCol="0" anchor="t">
            <a:normAutofit/>
          </a:bodyPr>
          <a:lstStyle/>
          <a:p>
            <a:pPr marL="0" indent="0" algn="l">
              <a:lnSpc>
                <a:spcPts val="6300"/>
              </a:lnSpc>
              <a:buNone/>
            </a:pPr>
            <a:r>
              <a:rPr lang="en-US" sz="6000" dirty="0">
                <a:solidFill>
                  <a:srgbClr val="F7F3EA"/>
                </a:solidFill>
                <a:latin typeface="Georgia" pitchFamily="34" charset="0"/>
                <a:ea typeface="Georgia" pitchFamily="34" charset="-122"/>
                <a:cs typeface="Georgia" pitchFamily="34" charset="-120"/>
              </a:rPr>
              <a:t>You already have the demand. What you do not have is a way to see it.</a:t>
            </a:r>
            <a:endParaRPr lang="en-US" sz="6000" dirty="0"/>
          </a:p>
        </p:txBody>
      </p:sp>
      <p:sp>
        <p:nvSpPr>
          <p:cNvPr id="4" name="Text 2"/>
          <p:cNvSpPr/>
          <p:nvPr/>
        </p:nvSpPr>
        <p:spPr>
          <a:xfrm>
            <a:off x="812800" y="4227860"/>
            <a:ext cx="9810750" cy="1038860"/>
          </a:xfrm>
          <a:prstGeom prst="rect">
            <a:avLst/>
          </a:prstGeom>
          <a:noFill/>
          <a:ln/>
        </p:spPr>
        <p:txBody>
          <a:bodyPr wrap="square" lIns="0" tIns="0" rIns="0" bIns="0" rtlCol="0" anchor="t">
            <a:normAutofit/>
          </a:bodyPr>
          <a:lstStyle/>
          <a:p>
            <a:pPr marL="0" indent="0" algn="l">
              <a:lnSpc>
                <a:spcPts val="2660"/>
              </a:lnSpc>
              <a:buNone/>
            </a:pPr>
            <a:r>
              <a:rPr lang="en-US" sz="1900" dirty="0">
                <a:solidFill>
                  <a:srgbClr val="A79C89"/>
                </a:solidFill>
                <a:latin typeface="Arial" pitchFamily="34" charset="0"/>
                <a:ea typeface="Arial" pitchFamily="34" charset="-122"/>
                <a:cs typeface="Arial" pitchFamily="34" charset="-120"/>
              </a:rPr>
              <a:t>Twenty-one months, ₹45.65 lakh, 21,392 reviews and a cave nobody else in India has. Build the measurement, tell the story that is actually yours, and every rupee after this one starts working harder than the ones before it.</a:t>
            </a:r>
            <a:endParaRPr lang="en-US" sz="1900" dirty="0"/>
          </a:p>
        </p:txBody>
      </p:sp>
      <p:sp>
        <p:nvSpPr>
          <p:cNvPr id="5" name="Text 3"/>
          <p:cNvSpPr/>
          <p:nvPr/>
        </p:nvSpPr>
        <p:spPr>
          <a:xfrm>
            <a:off x="812800" y="5796310"/>
            <a:ext cx="4620781"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A63C"/>
                </a:solidFill>
                <a:latin typeface="Arial" pitchFamily="34" charset="0"/>
                <a:ea typeface="Arial" pitchFamily="34" charset="-122"/>
                <a:cs typeface="Arial" pitchFamily="34" charset="-120"/>
              </a:rPr>
              <a:t>Territory decision · account access · a name for the CRM</a:t>
            </a:r>
            <a:endParaRPr lang="en-US" sz="1400" dirty="0"/>
          </a:p>
        </p:txBody>
      </p:sp>
      <p:sp>
        <p:nvSpPr>
          <p:cNvPr id="6" name="Text 4"/>
          <p:cNvSpPr/>
          <p:nvPr/>
        </p:nvSpPr>
        <p:spPr>
          <a:xfrm>
            <a:off x="10040462" y="5831830"/>
            <a:ext cx="138953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071"/>
                </a:solidFill>
                <a:latin typeface="Arial" pitchFamily="34" charset="0"/>
                <a:ea typeface="Arial" pitchFamily="34" charset="-122"/>
                <a:cs typeface="Arial" pitchFamily="34" charset="-120"/>
              </a:rPr>
              <a:t>29 September 2026</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149</TotalTime>
  <Words>12758</Words>
  <Application>Microsoft Office PowerPoint</Application>
  <PresentationFormat>Widescreen</PresentationFormat>
  <Paragraphs>1506</Paragraphs>
  <Slides>73</Slides>
  <Notes>68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73</vt:i4>
      </vt:variant>
    </vt:vector>
  </HeadingPairs>
  <TitlesOfParts>
    <vt:vector size="76" baseType="lpstr">
      <vt:lpstr>Arial</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Guhantara — Full Account &amp; Brand Audit</dc:title>
  <dc:subject>PptxGenJS Presentation</dc:subject>
  <dc:creator>PptxGenJS</dc:creator>
  <cp:lastModifiedBy>akhil ashokan</cp:lastModifiedBy>
  <cp:revision>4</cp:revision>
  <dcterms:created xsi:type="dcterms:W3CDTF">2026-09-29T14:01:41Z</dcterms:created>
  <dcterms:modified xsi:type="dcterms:W3CDTF">2026-09-29T23:15:08Z</dcterms:modified>
</cp:coreProperties>
</file>